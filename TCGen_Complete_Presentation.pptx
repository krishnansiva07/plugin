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TCGen  |  AI Test Case Generator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8E6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Internal Use • Professional Green Theme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0563A"/>
          </a:solidFill>
          <a:ln w="12700">
            <a:solidFill>
              <a:srgbClr val="005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960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TCGen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7F2"/>
                </a:solidFill>
              </a:rPr>
              <a:t>AI Test Case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EAF7F2"/>
                </a:solidFill>
              </a:rPr>
              <a:t>Generator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2788920"/>
            <a:ext cx="2788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D"/>
                </a:solidFill>
              </a:rPr>
              <a:t>Complete tool overview, usage guide, architecture and Reset All workflow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97764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041648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6B46"/>
                </a:solidFill>
              </a:rPr>
              <a:t>AI4Dev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1792224" y="3977640"/>
            <a:ext cx="1115568" cy="310896"/>
          </a:xfrm>
          <a:prstGeom prst="roundRect">
            <a:avLst>
              <a:gd name="adj" fmla="val 47059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5376" y="4041648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6B46"/>
                </a:solidFill>
              </a:rPr>
              <a:t>LLM@CIB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58368" y="4645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FCE"/>
                </a:solidFill>
              </a:rPr>
              <a:t>Professional green design</a:t>
            </a:r>
            <a:endParaRPr lang="en-US" sz="1100" dirty="0"/>
          </a:p>
        </p:txBody>
      </p:sp>
      <p:pic>
        <p:nvPicPr>
          <p:cNvPr id="11" name="Image 0" descr="/mnt/data/tcgen05/docs/screenshots/09-curren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95994"/>
            <a:ext cx="7360920" cy="483060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61104" y="896112"/>
            <a:ext cx="7434072" cy="5230368"/>
          </a:xfrm>
          <a:prstGeom prst="roundRect">
            <a:avLst>
              <a:gd name="adj" fmla="val 1399"/>
            </a:avLst>
          </a:prstGeom>
          <a:solidFill>
            <a:srgbClr val="FFFFFF">
              <a:alpha val="0"/>
            </a:srgbClr>
          </a:solidFill>
          <a:ln w="13970">
            <a:solidFill>
              <a:srgbClr val="CFE3D9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3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TCGen does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Turns requirement artefacts into structured, reviewable test cases and Excel output.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322580000" dist="129032000" dir="162000000000">
              <a:srgbClr val="000000">
                <a:alpha val="13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64008" cy="1417320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63624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1. Understand requirements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92808"/>
            <a:ext cx="3227832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Documents, spreadsheets, structured text and images. DOCX embedded images can be OCR processed.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4096766000000" dist="1638706400000" dir="9720000000000000">
              <a:srgbClr val="000000">
                <a:alpha val="130000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5112" y="1417320"/>
            <a:ext cx="64008" cy="1417320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563624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2. Design test coverage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1892808"/>
            <a:ext cx="3227832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Manual, API, BDD and regression templates with editable additional instructions.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55864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52028928200000000" dist="20811571280000000" dir="583200000000000000000">
              <a:srgbClr val="000000">
                <a:alpha val="130000000000000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55864" y="1417320"/>
            <a:ext cx="64008" cy="1417320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563624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3. Standardise output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8744" y="1892808"/>
            <a:ext cx="3227832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Dynamic columns, Excel-driven schemas, custom columns and XLSX export.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31729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Core outcomes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" y="3703320"/>
            <a:ext cx="256032" cy="256032"/>
          </a:xfrm>
          <a:prstGeom prst="ellipse">
            <a:avLst/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216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6941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Faster preparation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39593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Generate a first-pass test set from common requirement and design artefacts.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3611880" y="3703320"/>
            <a:ext cx="256032" cy="256032"/>
          </a:xfrm>
          <a:prstGeom prst="ellipse">
            <a:avLst/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37216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36941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Reviewable reasoning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977640" y="39593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Summary, follow-up questions and assumptions are shown with the test cases.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565392" y="3703320"/>
            <a:ext cx="256032" cy="256032"/>
          </a:xfrm>
          <a:prstGeom prst="ellipse">
            <a:avLst/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37216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31152" y="36941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Team-aligned schema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31152" y="39593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Load the expected column set from Excel or tailor it in the UI.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9518904" y="3703320"/>
            <a:ext cx="256032" cy="256032"/>
          </a:xfrm>
          <a:prstGeom prst="ellipse">
            <a:avLst/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46336" y="37216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84664" y="36941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Repeatable runs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884664" y="39593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Reset the workspace without re-entering the LLM connection.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40080" y="489204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EAF7F2"/>
          </a:solidFill>
          <a:ln w="12700">
            <a:solidFill>
              <a:srgbClr val="B7DF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1389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46"/>
                </a:solidFill>
              </a:rPr>
              <a:t>Current improvement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633472" y="5029200"/>
            <a:ext cx="8549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“Refresh Prompt” has been removed. Prompt preview updates automatically; “Reset All” restores the complete working area to its initial state while preserving provider, token, model and base URL.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working pattern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six-step flow keeps setup, generation, review and cleanup simple.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883664"/>
            <a:ext cx="566928" cy="566928"/>
          </a:xfrm>
          <a:prstGeom prst="ellipse">
            <a:avLst/>
          </a:prstGeom>
          <a:solidFill>
            <a:srgbClr val="00885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60767388140000000000" dist="264306955256000000000" dir="3.4992e+25">
              <a:srgbClr val="000000">
                <a:alpha val="1.3e+2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116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9184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Connect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" y="2990088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Provider, token, model and base URL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1316736" y="2167128"/>
            <a:ext cx="1133856" cy="0"/>
          </a:xfrm>
          <a:prstGeom prst="line">
            <a:avLst/>
          </a:prstGeom>
          <a:noFill/>
          <a:ln w="25400">
            <a:solidFill>
              <a:srgbClr val="9ABFA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42032" y="1883664"/>
            <a:ext cx="566928" cy="566928"/>
          </a:xfrm>
          <a:prstGeom prst="ellipse">
            <a:avLst/>
          </a:prstGeom>
          <a:solidFill>
            <a:srgbClr val="00885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.391745829378e+24" dist="3.3566983317512e+24" dir="2.09952e+30">
              <a:srgbClr val="000000">
                <a:alpha val="1.3e+2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20116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12848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Upload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29968" y="2990088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Requirement source + optional schema Excel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200400" y="2167128"/>
            <a:ext cx="1133856" cy="0"/>
          </a:xfrm>
          <a:prstGeom prst="line">
            <a:avLst/>
          </a:prstGeom>
          <a:noFill/>
          <a:ln w="25400">
            <a:solidFill>
              <a:srgbClr val="9ABFA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25696" y="1883664"/>
            <a:ext cx="566928" cy="566928"/>
          </a:xfrm>
          <a:prstGeom prst="ellipse">
            <a:avLst/>
          </a:prstGeom>
          <a:solidFill>
            <a:srgbClr val="00885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.0657517203310059e+29" dist="4.2630068813240235e+28" dir="1.259712e+35">
              <a:srgbClr val="000000">
                <a:alpha val="1.3e+3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25696" y="20116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96512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Guide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13632" y="2990088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Understanding mode + test template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084064" y="2167128"/>
            <a:ext cx="1133856" cy="0"/>
          </a:xfrm>
          <a:prstGeom prst="line">
            <a:avLst/>
          </a:prstGeom>
          <a:noFill/>
          <a:ln w="25400">
            <a:solidFill>
              <a:srgbClr val="9ABFA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09360" y="1883664"/>
            <a:ext cx="566928" cy="566928"/>
          </a:xfrm>
          <a:prstGeom prst="ellipse">
            <a:avLst/>
          </a:prstGeom>
          <a:solidFill>
            <a:srgbClr val="00885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.3535046848203775e+33" dist="5.4140187392815096e+32" dir="7.558272e+39">
              <a:srgbClr val="000000">
                <a:alpha val="1.3e+3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20116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0176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Shape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97296" y="2990088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Prompt additions + output columns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6967728" y="2167128"/>
            <a:ext cx="1133856" cy="0"/>
          </a:xfrm>
          <a:prstGeom prst="line">
            <a:avLst/>
          </a:prstGeom>
          <a:noFill/>
          <a:ln w="25400">
            <a:solidFill>
              <a:srgbClr val="9ABFA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93024" y="1883664"/>
            <a:ext cx="566928" cy="566928"/>
          </a:xfrm>
          <a:prstGeom prst="ellipse">
            <a:avLst/>
          </a:prstGeom>
          <a:solidFill>
            <a:srgbClr val="00885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.7189509497218795e+37" dist="6.875803798887517e+36" dir="4.5349632000000006e+44">
              <a:srgbClr val="000000">
                <a:alpha val="1.3e+44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93024" y="20116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63840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Generate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0" y="2990088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Review summary, questions, assumptions, cases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8851392" y="2167128"/>
            <a:ext cx="1133856" cy="0"/>
          </a:xfrm>
          <a:prstGeom prst="line">
            <a:avLst/>
          </a:prstGeom>
          <a:noFill/>
          <a:ln w="25400">
            <a:solidFill>
              <a:srgbClr val="9ABFA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076688" y="1883664"/>
            <a:ext cx="566928" cy="566928"/>
          </a:xfrm>
          <a:prstGeom prst="ellipse">
            <a:avLst/>
          </a:prstGeom>
          <a:solidFill>
            <a:srgbClr val="00563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2.183067706146787e+41" dist="8.732270824587147e+40" dir="2.72097792e+49">
              <a:srgbClr val="000000">
                <a:alpha val="1.3e+49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76688" y="20116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47504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Export / Reset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564624" y="2990088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Download Excel, then Reset All for the next run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1143000" y="4334256"/>
            <a:ext cx="99303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2.7724959868064195e+45" dist="1.1089983947225676e+45" dir="1.6325867520000003e+54">
              <a:srgbClr val="000000">
                <a:alpha val="1.2999999999999999e+54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17320" y="45902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46"/>
                </a:solidFill>
              </a:rPr>
              <a:t>Key operating principle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03320" y="4553712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Configure the LLM once. Reset All cleans the workspace between requirements but leaves the LLM details intact.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Java 17 Spring Boot backend, static browser UI, focused services and OpenAI-compatible LLM calls.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2057400" cy="768096"/>
          </a:xfrm>
          <a:prstGeom prst="roundRect">
            <a:avLst>
              <a:gd name="adj" fmla="val 7143"/>
            </a:avLst>
          </a:prstGeom>
          <a:solidFill>
            <a:srgbClr val="EAF7F2"/>
          </a:solidFill>
          <a:ln w="12700">
            <a:solidFill>
              <a:srgbClr val="B9DDCE"/>
            </a:solidFill>
            <a:prstDash val="solid"/>
          </a:ln>
          <a:effectLst>
            <a:outerShdw sx="100000" sy="100000" kx="0" ky="0" algn="bl" rotWithShape="0" blurRad="3.5210699032441527e+49" dist="1.408427961297661e+49" dir="9.795520512000002e+58">
              <a:srgbClr val="000000">
                <a:alpha val="1.2999999999999998e+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0078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B46"/>
                </a:solidFill>
              </a:rPr>
              <a:t>Browser UI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199339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HTML / CSS / JavaScript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2880360" y="1956816"/>
            <a:ext cx="109728" cy="0"/>
          </a:xfrm>
          <a:prstGeom prst="line">
            <a:avLst/>
          </a:prstGeom>
          <a:noFill/>
          <a:ln w="25400">
            <a:solidFill>
              <a:srgbClr val="00885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54680" y="1572768"/>
            <a:ext cx="20574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9DDCE"/>
            </a:solidFill>
            <a:prstDash val="solid"/>
          </a:ln>
          <a:effectLst>
            <a:outerShdw sx="100000" sy="100000" kx="0" ky="0" algn="bl" rotWithShape="0" blurRad="4.471758777120074e+53" dist="1.7887035108480293e+53" dir="5.877312307200001e+63">
              <a:srgbClr val="000000">
                <a:alpha val="1.2999999999999998e+6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64408" y="170078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B46"/>
                </a:solidFill>
              </a:rPr>
              <a:t>REST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64408" y="199339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/api/testcases/*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376672" y="1956816"/>
            <a:ext cx="109728" cy="0"/>
          </a:xfrm>
          <a:prstGeom prst="line">
            <a:avLst/>
          </a:prstGeom>
          <a:noFill/>
          <a:ln w="25400">
            <a:solidFill>
              <a:srgbClr val="00885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50992" y="1572768"/>
            <a:ext cx="2057400" cy="768096"/>
          </a:xfrm>
          <a:prstGeom prst="roundRect">
            <a:avLst>
              <a:gd name="adj" fmla="val 7143"/>
            </a:avLst>
          </a:prstGeom>
          <a:solidFill>
            <a:srgbClr val="EAF7F2"/>
          </a:solidFill>
          <a:ln w="12700">
            <a:solidFill>
              <a:srgbClr val="B9DDCE"/>
            </a:solidFill>
            <a:prstDash val="solid"/>
          </a:ln>
          <a:effectLst>
            <a:outerShdw sx="100000" sy="100000" kx="0" ky="0" algn="bl" rotWithShape="0" blurRad="5.679133646942494e+57" dist="2.271653458776997e+57" dir="3.526387384320001e+68">
              <a:srgbClr val="000000">
                <a:alpha val="1.2999999999999999e+6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170078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B46"/>
                </a:solidFill>
              </a:rPr>
              <a:t>Generation Service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199339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orchestrates workflow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872984" y="1956816"/>
            <a:ext cx="109728" cy="0"/>
          </a:xfrm>
          <a:prstGeom prst="line">
            <a:avLst/>
          </a:prstGeom>
          <a:noFill/>
          <a:ln w="25400">
            <a:solidFill>
              <a:srgbClr val="00885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47304" y="1572768"/>
            <a:ext cx="20574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9DDCE"/>
            </a:solidFill>
            <a:prstDash val="solid"/>
          </a:ln>
          <a:effectLst>
            <a:outerShdw sx="100000" sy="100000" kx="0" ky="0" algn="bl" rotWithShape="0" blurRad="7.212499731616968e+61" dist="2.8849998926467865e+61" dir="2.1158324305920003e+73">
              <a:srgbClr val="000000">
                <a:alpha val="1.3e+7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57032" y="170078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B46"/>
                </a:solidFill>
              </a:rPr>
              <a:t>LLM Client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57032" y="199339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OpenAI-compatible chat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41248" y="3127248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2644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</a:rPr>
              <a:t>File extraction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932688" y="35570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Apache Tika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3182112" y="3127248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32644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</a:rPr>
              <a:t>Excel / DOCX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3273552" y="35570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Apache POI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522976" y="3127248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32644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</a:rPr>
              <a:t>OCR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5614416" y="35570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Tess4J / Tesseract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863840" y="3127248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32644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</a:rPr>
              <a:t>Prompt + JSON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7955280" y="35570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PromptBuilder + parser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10204704" y="3127248"/>
            <a:ext cx="13258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96144" y="32644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</a:rPr>
              <a:t>Export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10296144" y="35570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XLSX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58952" y="4636008"/>
            <a:ext cx="10762488" cy="896112"/>
          </a:xfrm>
          <a:prstGeom prst="roundRect">
            <a:avLst>
              <a:gd name="adj" fmla="val 6122"/>
            </a:avLst>
          </a:prstGeom>
          <a:solidFill>
            <a:srgbClr val="F3FBF7"/>
          </a:solidFill>
          <a:ln w="12700">
            <a:solidFill>
              <a:srgbClr val="CFE3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48554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46"/>
                </a:solidFill>
              </a:rPr>
              <a:t>Runtime flow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450592" y="4800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Resolve columns → extract text/OCR → build focused prompt → call selected provider/model → parse strict JSON → render + export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Usage 1 - Configure the LLM connection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AI4Dev and LLM@CIB are available; model and base URL remain editable.</a:t>
            </a:r>
            <a:endParaRPr lang="en-US" sz="1250" dirty="0"/>
          </a:p>
        </p:txBody>
      </p:sp>
      <p:pic>
        <p:nvPicPr>
          <p:cNvPr id="4" name="Image 0" descr="/mnt/data/tcgen05/docs/screenshots/10-llm-conn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39" y="1353312"/>
            <a:ext cx="3979978" cy="4828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444752"/>
            <a:ext cx="5760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9.15987465915355e+65" dist="3.6639498636614186e+65" dir="1.2694994583552002e+78">
              <a:srgbClr val="000000">
                <a:alpha val="1.3e+79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1444752"/>
            <a:ext cx="64008" cy="1024128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1591056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Provider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1920240"/>
            <a:ext cx="54681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Choose AI4Dev or LLM@CIB. The provider selection updates defaults and the connection summary.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0" y="2688336"/>
            <a:ext cx="5760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1.1633040817125008e+70" dist="4.653216326850002e+69" dir="7.616996750131201e+82">
              <a:srgbClr val="000000">
                <a:alpha val="1.3e+84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688336"/>
            <a:ext cx="64008" cy="1024128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2834640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Token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52160" y="3163824"/>
            <a:ext cx="54681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Enter a request-specific API key/user token only when needed. Blank input can use backend configuration.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0" y="3931920"/>
            <a:ext cx="5760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1.477396183774876e+74" dist="5.909584735099503e+73" dir="4.57019805007872e+87">
              <a:srgbClr val="000000">
                <a:alpha val="1.3e+89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3931920"/>
            <a:ext cx="64008" cy="1024128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4078224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Model + Base URL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160" y="4407408"/>
            <a:ext cx="54681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Both fields are editable, allowing new supported models or gateway endpoints without code changes.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0" y="5212080"/>
            <a:ext cx="5760720" cy="713232"/>
          </a:xfrm>
          <a:prstGeom prst="roundRect">
            <a:avLst>
              <a:gd name="adj" fmla="val 6410"/>
            </a:avLst>
          </a:prstGeom>
          <a:solidFill>
            <a:srgbClr val="EAF7F2"/>
          </a:solidFill>
          <a:ln w="12700">
            <a:solidFill>
              <a:srgbClr val="B7DFC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25312" y="5449824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46"/>
                </a:solidFill>
              </a:rPr>
              <a:t>Security: UI-entered token is not persisted in browser storage.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Usage 2 - Upload and interpret requirements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Use a normal document, workbook, structured file, image or Word document with embedded images.</a:t>
            </a:r>
            <a:endParaRPr lang="en-US" sz="1250" dirty="0"/>
          </a:p>
        </p:txBody>
      </p:sp>
      <p:pic>
        <p:nvPicPr>
          <p:cNvPr id="4" name="Image 0" descr="/mnt/data/tcgen05/docs/screenshots/11-requirements-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807" y="1325880"/>
            <a:ext cx="4375145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05856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B46"/>
                </a:solidFill>
              </a:rPr>
              <a:t>File Understanding Mode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87568" y="1920240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F0F8F4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70448" y="20391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Auto Detect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12480" y="20391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General default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687568" y="2542032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70448" y="26609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Document / Excel AC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12480" y="26609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Primary text requirements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5687568" y="3163824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F0F8F4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70448" y="328269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Image with AC Text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412480" y="328269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Screenshot with readable AC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5687568" y="3785616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0448" y="39044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UI Design / Figma Screenshot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412480" y="390448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UI labels / validation ideas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687568" y="4407408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F0F8F4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70448" y="452628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Word Document with Images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412480" y="45262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DOCX text + OCR of embedded pictures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5742432" y="5239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46"/>
                </a:solidFill>
              </a:rPr>
              <a:t>Optional schema Excel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92440" y="519379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Upload an XLS/XLSX whose first non-empty row represents the expected output columns.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Usage 3 - Choose the test design style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Additional Prompt supplements built-in test-architect rules; templates change the expected test structure.</a:t>
            </a:r>
            <a:endParaRPr lang="en-US" sz="1250" dirty="0"/>
          </a:p>
        </p:txBody>
      </p:sp>
      <p:pic>
        <p:nvPicPr>
          <p:cNvPr id="4" name="Image 0" descr="/mnt/data/tcgen05/docs/screenshots/12-test-design-templ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83161"/>
            <a:ext cx="4754880" cy="30595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1572768"/>
            <a:ext cx="257860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1.8762931533940924e+78" dist="7.505172613576369e+77" dir="2.742118830047232e+92">
              <a:srgbClr val="000000">
                <a:alpha val="1.3e+94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15000" y="1572768"/>
            <a:ext cx="64008" cy="1353312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Manual TC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97880" y="2048256"/>
            <a:ext cx="228600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End-to-end functional cases with steps, data, expected results, priority and automation candidate.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22792" y="1572768"/>
            <a:ext cx="257860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2.3828923048104974e+82" dist="9.531569219241989e+81" dir="1.6452712980283393e+97">
              <a:srgbClr val="000000">
                <a:alpha val="1.3e+99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22792" y="1572768"/>
            <a:ext cx="64008" cy="1353312"/>
          </a:xfrm>
          <a:prstGeom prst="rect">
            <a:avLst/>
          </a:prstGeom>
          <a:solidFill>
            <a:srgbClr val="006B46"/>
          </a:solidFill>
          <a:ln w="12700">
            <a:solidFill>
              <a:srgbClr val="006B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05672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API TC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05672" y="2048256"/>
            <a:ext cx="228600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Adds method, endpoint, request payload, status code and DB validation.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0" y="3273552"/>
            <a:ext cx="257860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3.0262732271093317e+86" dist="1.2105092908437325e+86" dir="9.871627788170037e+101">
              <a:srgbClr val="000000">
                <a:alpha val="1.3e+104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0" y="3273552"/>
            <a:ext cx="64008" cy="1353312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419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BDD TC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97880" y="3749040"/>
            <a:ext cx="228600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Feature, Scenario, Given, When, Then, Examples and Tags.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622792" y="3273552"/>
            <a:ext cx="257860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3.8433669984288512e+90" dist="1.5373467993715403e+90" dir="5.9229766729020215e+106">
              <a:srgbClr val="000000">
                <a:alpha val="1.3e+10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622792" y="3273552"/>
            <a:ext cx="64008" cy="1353312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05672" y="3419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Regression TC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05672" y="3749040"/>
            <a:ext cx="228600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Impact-focused coverage for reusable regression packs.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13232" y="4892040"/>
            <a:ext cx="10533888" cy="786384"/>
          </a:xfrm>
          <a:prstGeom prst="roundRect">
            <a:avLst>
              <a:gd name="adj" fmla="val 5814"/>
            </a:avLst>
          </a:prstGeom>
          <a:solidFill>
            <a:srgbClr val="EAF7F2"/>
          </a:solidFill>
          <a:ln w="12700">
            <a:solidFill>
              <a:srgbClr val="B7DFC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0976" y="51389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46"/>
                </a:solidFill>
              </a:rPr>
              <a:t>Prompt preview is dynamic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063240" y="5074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</a:rPr>
              <a:t>It refreshes automatically when prompt, mode or selected columns change — no separate Refresh Prompt action is required.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Usage 4 - Output columns and Excel schema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Select defaults, load a team schema from Excel, or add custom columns such as Risk, Sprint or Jira ID.</a:t>
            </a:r>
            <a:endParaRPr lang="en-US" sz="1250" dirty="0"/>
          </a:p>
        </p:txBody>
      </p:sp>
      <p:pic>
        <p:nvPicPr>
          <p:cNvPr id="4" name="Image 0" descr="/mnt/data/tcgen05/docs/screenshots/13-output-colum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218" y="1298448"/>
            <a:ext cx="3103125" cy="5047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1517904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4.8810760880046414e+94" dist="1.952430435201856e+94" dir="3.553786003741213e+111">
              <a:srgbClr val="000000">
                <a:alpha val="1.3e+114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1517904"/>
            <a:ext cx="64008" cy="914400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16642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A. Default set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0" y="1993392"/>
            <a:ext cx="1627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Start from the template’s selected columns.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06640" y="1517904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6.198966631765894e+98" dist="2.4795866527063574e+98" dir="2.1322716022447277e+116">
              <a:srgbClr val="000000">
                <a:alpha val="1.3e+119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06640" y="1517904"/>
            <a:ext cx="64008" cy="914400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0" y="16642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B. Load Excel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89520" y="1993392"/>
            <a:ext cx="1627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Detect headers from the uploaded schema workbook.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509760" y="1517904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7.872687622342685e+102" dist="3.149075048937074e+102" dir="1.2793629613468366e+121">
              <a:srgbClr val="000000">
                <a:alpha val="1.3e+124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509760" y="1517904"/>
            <a:ext cx="64008" cy="914400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0" y="16642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C. Customise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92640" y="1993392"/>
            <a:ext cx="1627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Add/remove optional or custom fields in the UI.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42048" y="1984248"/>
            <a:ext cx="91440" cy="0"/>
          </a:xfrm>
          <a:prstGeom prst="line">
            <a:avLst/>
          </a:prstGeom>
          <a:noFill/>
          <a:ln w="25400">
            <a:solidFill>
              <a:srgbClr val="008859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345168" y="1984248"/>
            <a:ext cx="91440" cy="0"/>
          </a:xfrm>
          <a:prstGeom prst="line">
            <a:avLst/>
          </a:prstGeom>
          <a:noFill/>
          <a:ln w="25400">
            <a:solidFill>
              <a:srgbClr val="008859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5321808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B46"/>
                </a:solidFill>
              </a:rPr>
              <a:t>Column resolution priority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58384" y="3246120"/>
            <a:ext cx="56692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</a:rPr>
              <a:t>Separate expected-column Excel (when enabled)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</a:rPr>
              <a:t>Requirement workbook schema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</a:rPr>
              <a:t>UI-selected columns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</a:rPr>
              <a:t>Built-in defaults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5321808" y="4892040"/>
            <a:ext cx="5989320" cy="822960"/>
          </a:xfrm>
          <a:prstGeom prst="roundRect">
            <a:avLst>
              <a:gd name="adj" fmla="val 5556"/>
            </a:avLst>
          </a:prstGeom>
          <a:solidFill>
            <a:srgbClr val="F3FBF7"/>
          </a:solidFill>
          <a:ln w="12700">
            <a:solidFill>
              <a:srgbClr val="CFE3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77840" y="5138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46"/>
                </a:solidFill>
              </a:rPr>
              <a:t>S.No is auto-generated in Excel and is ignored when detected as an input schema column.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Usage 5 - Generate, review and export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model response is reviewed as context + test cases before you download the workbook.</a:t>
            </a:r>
            <a:endParaRPr lang="en-US" sz="1250" dirty="0"/>
          </a:p>
        </p:txBody>
      </p:sp>
      <p:pic>
        <p:nvPicPr>
          <p:cNvPr id="4" name="Image 0" descr="/mnt/data/tcgen05/docs/screenshots/14-generated-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42" y="1353312"/>
            <a:ext cx="6238732" cy="4773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90688" y="1481328"/>
            <a:ext cx="34930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9.998313280375211e+106" dist="3.999325312150084e+106" dir="7.67617776808102e+125">
              <a:srgbClr val="000000">
                <a:alpha val="1.3e+129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90688" y="1481328"/>
            <a:ext cx="64008" cy="987552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73568" y="1627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Requirement Summary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73568" y="1956816"/>
            <a:ext cx="3200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Quickly confirm the model understood the core business flow.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90688" y="2688336"/>
            <a:ext cx="34930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1.2697857866076517e+111" dist="5.079143146430607e+110" dir="4.605706660848612e+130">
              <a:srgbClr val="000000">
                <a:alpha val="1.3e+134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90688" y="2688336"/>
            <a:ext cx="64008" cy="987552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73568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Follow-up Questions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73568" y="3163824"/>
            <a:ext cx="3200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Expose missing or ambiguous details before accepting coverage.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90688" y="3895344"/>
            <a:ext cx="34930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1.6126279489917177e+115" dist="6.450511795966871e+114" dir="2.763423996509167e+135">
              <a:srgbClr val="000000">
                <a:alpha val="1.3e+139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90688" y="3895344"/>
            <a:ext cx="64008" cy="987552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73568" y="4041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Assumptions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73568" y="4370832"/>
            <a:ext cx="3200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Make inferred business rules visible for review.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90688" y="5138928"/>
            <a:ext cx="3493008" cy="685800"/>
          </a:xfrm>
          <a:prstGeom prst="roundRect">
            <a:avLst>
              <a:gd name="adj" fmla="val 6667"/>
            </a:avLst>
          </a:prstGeom>
          <a:solidFill>
            <a:srgbClr val="EAF7F2"/>
          </a:solidFill>
          <a:ln w="12700">
            <a:solidFill>
              <a:srgbClr val="B7DFC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10144" y="53218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6B46"/>
                </a:solidFill>
              </a:rPr>
              <a:t>Download Excel → Test Cases + Follow Up Questions + Assumptions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Reset All - clean workspace, preserve LLM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old Refresh Prompt action is removed; Reset All is the single workspace cleanup action.</a:t>
            </a:r>
            <a:endParaRPr lang="en-US" sz="1250" dirty="0"/>
          </a:p>
        </p:txBody>
      </p:sp>
      <p:pic>
        <p:nvPicPr>
          <p:cNvPr id="4" name="Image 0" descr="/mnt/data/tcgen05/docs/screenshots/16-reset-before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21463"/>
            <a:ext cx="4846320" cy="3256121"/>
          </a:xfrm>
          <a:prstGeom prst="rect">
            <a:avLst/>
          </a:prstGeom>
        </p:spPr>
      </p:pic>
      <p:pic>
        <p:nvPicPr>
          <p:cNvPr id="5" name="Image 1" descr="/mnt/data/tcgen05/docs/screenshots/17-reset-after-sl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21463"/>
            <a:ext cx="4846320" cy="325612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59552" y="3017520"/>
            <a:ext cx="1024128" cy="0"/>
          </a:xfrm>
          <a:prstGeom prst="line">
            <a:avLst/>
          </a:prstGeom>
          <a:noFill/>
          <a:ln w="25400">
            <a:solidFill>
              <a:srgbClr val="008859"/>
            </a:solidFill>
            <a:prstDash val="solid"/>
            <a:headEnd type="none"/>
            <a:tailEnd type="triangle"/>
          </a:ln>
        </p:spPr>
      </p:sp>
      <p:sp>
        <p:nvSpPr>
          <p:cNvPr id="7" name="Shape 3"/>
          <p:cNvSpPr/>
          <p:nvPr/>
        </p:nvSpPr>
        <p:spPr>
          <a:xfrm>
            <a:off x="2240280" y="4864608"/>
            <a:ext cx="1783080" cy="310896"/>
          </a:xfrm>
          <a:prstGeom prst="roundRect">
            <a:avLst>
              <a:gd name="adj" fmla="val 4705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313432" y="4928616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8A2D2D"/>
                </a:solidFill>
              </a:rPr>
              <a:t>Before Reset All</a:t>
            </a:r>
            <a:endParaRPr lang="en-US" sz="920" dirty="0"/>
          </a:p>
        </p:txBody>
      </p:sp>
      <p:sp>
        <p:nvSpPr>
          <p:cNvPr id="9" name="Shape 5"/>
          <p:cNvSpPr/>
          <p:nvPr/>
        </p:nvSpPr>
        <p:spPr>
          <a:xfrm>
            <a:off x="8156448" y="4864608"/>
            <a:ext cx="1783080" cy="310896"/>
          </a:xfrm>
          <a:prstGeom prst="roundRect">
            <a:avLst>
              <a:gd name="adj" fmla="val 47059"/>
            </a:avLst>
          </a:prstGeom>
          <a:solidFill>
            <a:srgbClr val="DFF3EA"/>
          </a:solidFill>
          <a:ln w="12700">
            <a:solidFill>
              <a:srgbClr val="DFF3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0" y="4928616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6B46"/>
                </a:solidFill>
              </a:rPr>
              <a:t>After Reset All</a:t>
            </a:r>
            <a:endParaRPr lang="en-US" sz="920" dirty="0"/>
          </a:p>
        </p:txBody>
      </p:sp>
      <p:sp>
        <p:nvSpPr>
          <p:cNvPr id="11" name="Text 7"/>
          <p:cNvSpPr/>
          <p:nvPr/>
        </p:nvSpPr>
        <p:spPr>
          <a:xfrm>
            <a:off x="553212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B46"/>
                </a:solidFill>
              </a:rPr>
              <a:t>RESET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" y="5358384"/>
            <a:ext cx="5376672" cy="612648"/>
          </a:xfrm>
          <a:prstGeom prst="roundRect">
            <a:avLst>
              <a:gd name="adj" fmla="val 5970"/>
            </a:avLst>
          </a:prstGeom>
          <a:solidFill>
            <a:srgbClr val="FFF7F6"/>
          </a:solidFill>
          <a:ln w="12700">
            <a:solidFill>
              <a:srgbClr val="F3CBC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32688" y="5504688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Cleared: files, mode, prompt, template, custom/output columns, OCR/Excel status, generated results, errors, count and export state.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63640" y="5358384"/>
            <a:ext cx="5257800" cy="612648"/>
          </a:xfrm>
          <a:prstGeom prst="roundRect">
            <a:avLst>
              <a:gd name="adj" fmla="val 5970"/>
            </a:avLst>
          </a:prstGeom>
          <a:solidFill>
            <a:srgbClr val="F3FBF7"/>
          </a:solidFill>
          <a:ln w="12700">
            <a:solidFill>
              <a:srgbClr val="B7DFC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5522976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46"/>
                </a:solidFill>
              </a:rPr>
              <a:t>Preserved: selected provider, API key/user token, model name and base URL.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OCR and Word-with-image processing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Direct images and embedded DOCX pictures can be converted to text before the LLM prompt is built.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7DFCE"/>
            </a:solidFill>
            <a:prstDash val="solid"/>
          </a:ln>
          <a:effectLst>
            <a:outerShdw sx="100000" sy="100000" kx="0" ky="0" algn="bl" rotWithShape="0" blurRad="2.0480374952194813e+119" dist="8.192149980877926e+118" dir="1.6580543979055002e+140">
              <a:srgbClr val="000000">
                <a:alpha val="1.3000000000000001e+14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207568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6B46"/>
                </a:solidFill>
              </a:rPr>
              <a:t>Requirement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758952" y="242316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Image / DOCX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2770632" y="2377440"/>
            <a:ext cx="109728" cy="0"/>
          </a:xfrm>
          <a:prstGeom prst="line">
            <a:avLst/>
          </a:prstGeom>
          <a:noFill/>
          <a:ln w="25400">
            <a:solidFill>
              <a:srgbClr val="00885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99232" y="187452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7DFCE"/>
            </a:solidFill>
            <a:prstDash val="solid"/>
          </a:ln>
          <a:effectLst>
            <a:outerShdw sx="100000" sy="100000" kx="0" ky="0" algn="bl" rotWithShape="0" blurRad="2.6010076189287412e+123" dist="1.0404030475714966e+123" dir="9.948326387433002e+144">
              <a:srgbClr val="000000">
                <a:alpha val="1.3000000000000001e+14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72384" y="207568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6B46"/>
                </a:solidFill>
              </a:rPr>
              <a:t>Extract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072384" y="242316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Tika + POI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084064" y="2377440"/>
            <a:ext cx="109728" cy="0"/>
          </a:xfrm>
          <a:prstGeom prst="line">
            <a:avLst/>
          </a:prstGeom>
          <a:noFill/>
          <a:ln w="25400">
            <a:solidFill>
              <a:srgbClr val="00885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12664" y="187452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AF7F2"/>
          </a:solidFill>
          <a:ln w="12700">
            <a:solidFill>
              <a:srgbClr val="B7DFCE"/>
            </a:solidFill>
            <a:prstDash val="solid"/>
          </a:ln>
          <a:effectLst>
            <a:outerShdw sx="100000" sy="100000" kx="0" ky="0" algn="bl" rotWithShape="0" blurRad="3.303279676039501e+127" dist="1.3213118704158007e+127" dir="5.968995832459801e+149">
              <a:srgbClr val="000000">
                <a:alpha val="1.3000000000000001e+15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85816" y="207568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6B46"/>
                </a:solidFill>
              </a:rPr>
              <a:t>OCR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385816" y="242316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Tess4J / Tesseract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97496" y="2377440"/>
            <a:ext cx="109728" cy="0"/>
          </a:xfrm>
          <a:prstGeom prst="line">
            <a:avLst/>
          </a:prstGeom>
          <a:noFill/>
          <a:ln w="25400">
            <a:solidFill>
              <a:srgbClr val="00885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26096" y="187452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7DFCE"/>
            </a:solidFill>
            <a:prstDash val="solid"/>
          </a:ln>
          <a:effectLst>
            <a:outerShdw sx="100000" sy="100000" kx="0" ky="0" algn="bl" rotWithShape="0" blurRad="4.195165188570166e+131" dist="1.678066075428067e+131" dir="3.581397499475881e+154">
              <a:srgbClr val="000000">
                <a:alpha val="1.3e+15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99248" y="2075688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6B46"/>
                </a:solidFill>
              </a:rPr>
              <a:t>Merge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699248" y="242316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Document + OCR text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710928" y="2377440"/>
            <a:ext cx="109728" cy="0"/>
          </a:xfrm>
          <a:prstGeom prst="line">
            <a:avLst/>
          </a:prstGeom>
          <a:noFill/>
          <a:ln w="25400">
            <a:solidFill>
              <a:srgbClr val="00885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39528" y="187452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7DFCE"/>
            </a:solidFill>
            <a:prstDash val="solid"/>
          </a:ln>
          <a:effectLst>
            <a:outerShdw sx="100000" sy="100000" kx="0" ky="0" algn="bl" rotWithShape="0" blurRad="5.327859789484111e+135" dist="2.131143915793645e+135" dir="2.1488384996855287e+159">
              <a:srgbClr val="000000">
                <a:alpha val="1.3e+16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12680" y="2075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6B46"/>
                </a:solidFill>
              </a:rPr>
              <a:t>Prompt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0012680" y="242316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LLM input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77724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B46"/>
                </a:solidFill>
              </a:rPr>
              <a:t>Key defaults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" y="41879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OCR enabled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2194560" y="4187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008859"/>
                </a:solidFill>
              </a:rPr>
              <a:t>true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804672" y="4690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Language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2194560" y="46908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008859"/>
                </a:solidFill>
              </a:rPr>
              <a:t>eng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804672" y="51937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Minimum image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2194560" y="51937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008859"/>
                </a:solidFill>
              </a:rPr>
              <a:t>900 × 600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3931920" y="41879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DOCX image OCR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5321808" y="4187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008859"/>
                </a:solidFill>
              </a:rPr>
              <a:t>enabled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3931920" y="4690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Max embedded images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5321808" y="46908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008859"/>
                </a:solidFill>
              </a:rPr>
              <a:t>20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3931920" y="51937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Bundled tessdata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5321808" y="51937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008859"/>
                </a:solidFill>
              </a:rPr>
              <a:t>enabled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242048" y="3767328"/>
            <a:ext cx="416052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6.766381932644821e+139" dist="2.706552773057929e+139" dir="1.2893030998113172e+164">
              <a:srgbClr val="000000">
                <a:alpha val="1.3e+169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498080" y="402336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6B46"/>
                </a:solidFill>
              </a:rPr>
              <a:t>Use “Check OCR Setup” when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7498080" y="4407408"/>
            <a:ext cx="36118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F2937"/>
                </a:solidFill>
              </a:rPr>
              <a:t>Image upload text is not extracted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F2937"/>
                </a:solidFill>
              </a:rPr>
              <a:t>Word embedded image processing fails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F2937"/>
                </a:solidFill>
              </a:rPr>
              <a:t>Tessdata path or language needs diagnosis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request and response behavior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Focused, structured calls keep the generation path predictable.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8.593305054458923e+143" dist="3.43732202178357e+143" dir="7.735818598867904e+168">
              <a:srgbClr val="000000">
                <a:alpha val="1.3e+17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08760"/>
            <a:ext cx="64008" cy="1115568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5506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1. OpenAI-compatible chat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984248"/>
            <a:ext cx="31363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TCGen calls /chat/completions with the selected provider, model and bearer token.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1.0913497419162833e+148" dist="4.365398967665134e+147" dir="4.6414911593207425e+173">
              <a:srgbClr val="000000">
                <a:alpha val="1.2999999999999998e+17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508760"/>
            <a:ext cx="64008" cy="1115568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5506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2. JSON-first response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84248"/>
            <a:ext cx="31363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The request initially asks for response_format=json_object to obtain structured output.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19872" y="1508760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1.38601417223368e+152" dist="5.544056688934719e+151" dir="2.7848946955924455e+178">
              <a:srgbClr val="000000">
                <a:alpha val="1.2999999999999998e+18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19872" y="1508760"/>
            <a:ext cx="64008" cy="1115568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65506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3. Gateway compatibility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984248"/>
            <a:ext cx="31363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If the gateway explicitly rejects JSON mode, TCGen retries once without response_format.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14600" y="3017520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1.7602379987367734e+156" dist="7.040951994947093e+155" dir="1.6709368173554673e+183">
              <a:srgbClr val="000000">
                <a:alpha val="1.2999999999999997e+18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3017520"/>
            <a:ext cx="64008" cy="1115568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316382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4. Strict parse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3493008"/>
            <a:ext cx="31363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Response is parsed into summary, questions, assumptions, selected columns and testCases.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5352" y="3017520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2.235502258395702e+160" dist="8.942009033582809e+159" dir="1.0025620904132804e+188">
              <a:srgbClr val="000000">
                <a:alpha val="1.2999999999999996e+19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45352" y="3017520"/>
            <a:ext cx="64008" cy="1115568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316382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5. One strict JSON retry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8232" y="3493008"/>
            <a:ext cx="31363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Only when JSON parsing fails; the same provider/model is used.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0" y="4663440"/>
            <a:ext cx="8887968" cy="914400"/>
          </a:xfrm>
          <a:prstGeom prst="roundRect">
            <a:avLst>
              <a:gd name="adj" fmla="val 6000"/>
            </a:avLst>
          </a:prstGeom>
          <a:solidFill>
            <a:srgbClr val="EAF7F2"/>
          </a:solidFill>
          <a:ln w="12700">
            <a:solidFill>
              <a:srgbClr val="B7DF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49194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006B46"/>
                </a:solidFill>
              </a:rPr>
              <a:t>Operational guardrails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3977640" y="485546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HTTP request timeout: 4 minutes  •  max_tokens omitted by default when configured as 0  •  same-model retry preserves context and avoids provider drift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APIs, runtime and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browser uses a small API surface on a Spring Boot service running on port 8090.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B46"/>
                </a:solidFill>
              </a:rPr>
              <a:t>API surface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56232"/>
            <a:ext cx="640080" cy="310896"/>
          </a:xfrm>
          <a:prstGeom prst="roundRect">
            <a:avLst>
              <a:gd name="adj" fmla="val 47059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20240"/>
            <a:ext cx="493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6B46"/>
                </a:solidFill>
              </a:rPr>
              <a:t>GET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1499616" y="19110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/api/testcases/health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3886200" y="1911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667085"/>
                </a:solidFill>
              </a:rPr>
              <a:t>service status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640080" cy="310896"/>
          </a:xfrm>
          <a:prstGeom prst="roundRect">
            <a:avLst>
              <a:gd name="adj" fmla="val 47059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395728"/>
            <a:ext cx="493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6B46"/>
                </a:solidFill>
              </a:rPr>
              <a:t>GET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499616" y="23865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/api/testcases/ocr/status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3886200" y="23865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667085"/>
                </a:solidFill>
              </a:rPr>
              <a:t>OCR diagnostics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731520" y="2807208"/>
            <a:ext cx="640080" cy="310896"/>
          </a:xfrm>
          <a:prstGeom prst="roundRect">
            <a:avLst>
              <a:gd name="adj" fmla="val 47059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871216"/>
            <a:ext cx="493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6B46"/>
                </a:solidFill>
              </a:rPr>
              <a:t>GET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1499616" y="2862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/api/testcases/columns/defaults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3886200" y="28620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667085"/>
                </a:solidFill>
              </a:rPr>
              <a:t>default columns</a:t>
            </a:r>
            <a:endParaRPr lang="en-US" sz="990" dirty="0"/>
          </a:p>
        </p:txBody>
      </p:sp>
      <p:sp>
        <p:nvSpPr>
          <p:cNvPr id="17" name="Shape 15"/>
          <p:cNvSpPr/>
          <p:nvPr/>
        </p:nvSpPr>
        <p:spPr>
          <a:xfrm>
            <a:off x="731520" y="3282696"/>
            <a:ext cx="640080" cy="310896"/>
          </a:xfrm>
          <a:prstGeom prst="roundRect">
            <a:avLst>
              <a:gd name="adj" fmla="val 4705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346704"/>
            <a:ext cx="493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85E9B"/>
                </a:solidFill>
              </a:rPr>
              <a:t>POST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1499616" y="33375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/api/testcases/columns/from-excel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3886200" y="33375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667085"/>
                </a:solidFill>
              </a:rPr>
              <a:t>detect schema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731520" y="3758184"/>
            <a:ext cx="640080" cy="310896"/>
          </a:xfrm>
          <a:prstGeom prst="roundRect">
            <a:avLst>
              <a:gd name="adj" fmla="val 4705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822192"/>
            <a:ext cx="493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85E9B"/>
                </a:solidFill>
              </a:rPr>
              <a:t>POST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499616" y="3813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/api/testcases/prompt-preview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3886200" y="38130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667085"/>
                </a:solidFill>
              </a:rPr>
              <a:t>build preview</a:t>
            </a:r>
            <a:endParaRPr lang="en-US" sz="990" dirty="0"/>
          </a:p>
        </p:txBody>
      </p:sp>
      <p:sp>
        <p:nvSpPr>
          <p:cNvPr id="25" name="Shape 23"/>
          <p:cNvSpPr/>
          <p:nvPr/>
        </p:nvSpPr>
        <p:spPr>
          <a:xfrm>
            <a:off x="731520" y="4233672"/>
            <a:ext cx="640080" cy="310896"/>
          </a:xfrm>
          <a:prstGeom prst="roundRect">
            <a:avLst>
              <a:gd name="adj" fmla="val 4705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297680"/>
            <a:ext cx="493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85E9B"/>
                </a:solidFill>
              </a:rPr>
              <a:t>POST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1499616" y="42885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/api/testcases/generate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3886200" y="42885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667085"/>
                </a:solidFill>
              </a:rPr>
              <a:t>generate test cases</a:t>
            </a:r>
            <a:endParaRPr lang="en-US" sz="990" dirty="0"/>
          </a:p>
        </p:txBody>
      </p:sp>
      <p:sp>
        <p:nvSpPr>
          <p:cNvPr id="29" name="Shape 27"/>
          <p:cNvSpPr/>
          <p:nvPr/>
        </p:nvSpPr>
        <p:spPr>
          <a:xfrm>
            <a:off x="731520" y="4709160"/>
            <a:ext cx="640080" cy="310896"/>
          </a:xfrm>
          <a:prstGeom prst="roundRect">
            <a:avLst>
              <a:gd name="adj" fmla="val 4705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773168"/>
            <a:ext cx="493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85E9B"/>
                </a:solidFill>
              </a:rPr>
              <a:t>POST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499616" y="47640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F2937"/>
                </a:solidFill>
              </a:rPr>
              <a:t>/api/testcases/export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3886200" y="47640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667085"/>
                </a:solidFill>
              </a:rPr>
              <a:t>XLSX output</a:t>
            </a:r>
            <a:endParaRPr lang="en-US" sz="990" dirty="0"/>
          </a:p>
        </p:txBody>
      </p:sp>
      <p:sp>
        <p:nvSpPr>
          <p:cNvPr id="33" name="Shape 31"/>
          <p:cNvSpPr/>
          <p:nvPr/>
        </p:nvSpPr>
        <p:spPr>
          <a:xfrm>
            <a:off x="5715000" y="1517904"/>
            <a:ext cx="257860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2.8390878681625417e+164" dist="1.1356351472650167e+164" dir="6.015372542479682e+192">
              <a:srgbClr val="000000">
                <a:alpha val="1.2999999999999996e+19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15000" y="1517904"/>
            <a:ext cx="64008" cy="1152144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Runtime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97880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Java 17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Spring Boot 3.1.5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Default port 8090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522208" y="1517904"/>
            <a:ext cx="257860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3.605641592566428e+168" dist="1.4422566370265711e+168" dir="3.6092235254878095e+197">
              <a:srgbClr val="000000">
                <a:alpha val="1.2999999999999998e+204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522208" y="1517904"/>
            <a:ext cx="64008" cy="1152144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05088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Libraries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705088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Apache Tika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Apache POI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Tess4J / Tesseract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15000" y="2962656"/>
            <a:ext cx="538581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4.579164822559364e+172" dist="1.8316659290237455e+172" dir="2.1655341152926858e+202">
              <a:srgbClr val="000000">
                <a:alpha val="1.2999999999999998e+209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715000" y="2962656"/>
            <a:ext cx="64008" cy="1051560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3108960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Build &amp; run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897880" y="3438144"/>
            <a:ext cx="509320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mvn clean package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java -jar target/tcgen-service-0.0.7-SNAPSHOT.jar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715000" y="4297680"/>
            <a:ext cx="53858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5.815539324650392e+176" dist="2.3262157298601567e+176" dir="1.2993204691756116e+207">
              <a:srgbClr val="000000">
                <a:alpha val="1.2999999999999997e+214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715000" y="4297680"/>
            <a:ext cx="64008" cy="1225296"/>
          </a:xfrm>
          <a:prstGeom prst="rect">
            <a:avLst/>
          </a:prstGeom>
          <a:solidFill>
            <a:srgbClr val="008859"/>
          </a:solidFill>
          <a:ln w="12700">
            <a:solidFill>
              <a:srgbClr val="00885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4443984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Environment configuration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897880" y="4773168"/>
            <a:ext cx="50932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Provider keys, model names and base URLs can be supplied through environment variables; generation limits and OCR behavior are configurable as well.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Validation, security and troubleshooting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What was verified for this package and what to check in a production deployment.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B46"/>
                </a:solidFill>
              </a:rPr>
              <a:t>Reset All validation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85623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8653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Provider preserved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331720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23408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Token preserved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807208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8163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Model preserved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3282696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Base URL preserved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75818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7673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Files cleared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42336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42428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Mode reset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47288" y="185623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21608" y="18653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Prompt reset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47288" y="2331720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21608" y="23408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Template reset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47288" y="2807208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21608" y="28163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Columns reset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47288" y="3282696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21608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Results cleared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47288" y="375818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21608" y="37673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Export disabled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47288" y="42336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59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21608" y="42428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No UI JavaScript errors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1499616"/>
            <a:ext cx="523036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7.385734942305998e+180" dist="2.9542939769223992e+180" dir="7.795922815053669e+211">
              <a:srgbClr val="000000">
                <a:alpha val="1.2999999999999997e+219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82512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46"/>
                </a:solidFill>
              </a:rPr>
              <a:t>Production security notes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82512" y="2103120"/>
            <a:ext cx="46177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F2937"/>
                </a:solidFill>
              </a:rPr>
              <a:t>Use HTTPS at ingress/reverse proxy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F2937"/>
                </a:solidFill>
              </a:rPr>
              <a:t>Externalise secrets and restrict network egress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F2937"/>
                </a:solidFill>
              </a:rPr>
              <a:t>Restrict CORS to approved origins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F2937"/>
                </a:solidFill>
              </a:rPr>
              <a:t>Use only approved artefacts with the selected LLM endpoint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6126480" y="3273552"/>
            <a:ext cx="5230368" cy="1417320"/>
          </a:xfrm>
          <a:prstGeom prst="roundRect">
            <a:avLst>
              <a:gd name="adj" fmla="val 3871"/>
            </a:avLst>
          </a:prstGeom>
          <a:solidFill>
            <a:srgbClr val="F3FBF7"/>
          </a:solidFill>
          <a:ln w="12700">
            <a:solidFill>
              <a:srgbClr val="CFE3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3529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46"/>
                </a:solidFill>
              </a:rPr>
              <a:t>Common checks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82512" y="3886200"/>
            <a:ext cx="4572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401/403 → token / entitlement  •  404 → base URL  •  429 → quota/rate limit  •  OCR failure → /ocr/status  •  Excel schema issue → first non-empty row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9808" y="5047488"/>
            <a:ext cx="10607040" cy="576072"/>
          </a:xfrm>
          <a:prstGeom prst="roundRect">
            <a:avLst>
              <a:gd name="adj" fmla="val 6349"/>
            </a:avLst>
          </a:prstGeom>
          <a:solidFill>
            <a:srgbClr val="FFF9E8"/>
          </a:solidFill>
          <a:ln w="12700">
            <a:solidFill>
              <a:srgbClr val="E8D7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" y="5202936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E5717"/>
                </a:solidFill>
              </a:rPr>
              <a:t>Packaging note: browser Reset All behavior and JavaScript syntax were validated. Maven is not installed in the packaging environment, so a full Maven build could not be executed; no Java source was changed for this enhancement.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operating pattern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Configure once, generate consistently, review visibly, export, then reset safely.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1554480" cy="1115568"/>
          </a:xfrm>
          <a:prstGeom prst="roundRect">
            <a:avLst>
              <a:gd name="adj" fmla="val 4918"/>
            </a:avLst>
          </a:prstGeom>
          <a:solidFill>
            <a:srgbClr val="EAF7F2"/>
          </a:solidFill>
          <a:ln w="12700">
            <a:solidFill>
              <a:srgbClr val="B7DFCE"/>
            </a:solidFill>
            <a:prstDash val="solid"/>
          </a:ln>
          <a:effectLst>
            <a:outerShdw sx="100000" sy="100000" kx="0" ky="0" algn="bl" rotWithShape="0" blurRad="9.379883376728618e+184" dist="3.751953350691447e+184" dir="4.677553689032201e+216">
              <a:srgbClr val="000000">
                <a:alpha val="1.2999999999999996e+22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14884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B46"/>
                </a:solidFill>
              </a:rPr>
              <a:t>CONNECT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" y="24871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Provider + model + URL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267712" y="2468880"/>
            <a:ext cx="219456" cy="0"/>
          </a:xfrm>
          <a:prstGeom prst="line">
            <a:avLst/>
          </a:prstGeom>
          <a:noFill/>
          <a:ln w="25400">
            <a:solidFill>
              <a:srgbClr val="9ABFA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42032" y="1920240"/>
            <a:ext cx="155448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B7DFCE"/>
            </a:solidFill>
            <a:prstDash val="solid"/>
          </a:ln>
          <a:effectLst>
            <a:outerShdw sx="100000" sy="100000" kx="0" ky="0" algn="bl" rotWithShape="0" blurRad="1.1912451888445345e+189" dist="4.7649807553781375e+188" dir="2.806532213419321e+221">
              <a:srgbClr val="000000">
                <a:alpha val="1.2999999999999997e+22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33472" y="214884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B46"/>
                </a:solidFill>
              </a:rPr>
              <a:t>LOAD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51760" y="24871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Requirement + schema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151376" y="2468880"/>
            <a:ext cx="219456" cy="0"/>
          </a:xfrm>
          <a:prstGeom prst="line">
            <a:avLst/>
          </a:prstGeom>
          <a:noFill/>
          <a:ln w="25400">
            <a:solidFill>
              <a:srgbClr val="9ABFA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25696" y="1920240"/>
            <a:ext cx="1554480" cy="1115568"/>
          </a:xfrm>
          <a:prstGeom prst="roundRect">
            <a:avLst>
              <a:gd name="adj" fmla="val 4918"/>
            </a:avLst>
          </a:prstGeom>
          <a:solidFill>
            <a:srgbClr val="EAF7F2"/>
          </a:solidFill>
          <a:ln w="12700">
            <a:solidFill>
              <a:srgbClr val="B7DFCE"/>
            </a:solidFill>
            <a:prstDash val="solid"/>
          </a:ln>
          <a:effectLst>
            <a:outerShdw sx="100000" sy="100000" kx="0" ky="0" algn="bl" rotWithShape="0" blurRad="1.5128813898325588e+193" dist="6.051525559330234e+192" dir="1.6839193280515925e+226">
              <a:srgbClr val="000000">
                <a:alpha val="1.2999999999999997e+23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17136" y="214884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B46"/>
                </a:solidFill>
              </a:rPr>
              <a:t>DESIGN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35424" y="24871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Mode + template + columns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035040" y="2468880"/>
            <a:ext cx="219456" cy="0"/>
          </a:xfrm>
          <a:prstGeom prst="line">
            <a:avLst/>
          </a:prstGeom>
          <a:noFill/>
          <a:ln w="25400">
            <a:solidFill>
              <a:srgbClr val="9ABFA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1920240"/>
            <a:ext cx="155448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B7DFCE"/>
            </a:solidFill>
            <a:prstDash val="solid"/>
          </a:ln>
          <a:effectLst>
            <a:outerShdw sx="100000" sy="100000" kx="0" ky="0" algn="bl" rotWithShape="0" blurRad="1.9213593650873497e+197" dist="7.685437460349397e+196" dir="1.0103515968309554e+231">
              <a:srgbClr val="000000">
                <a:alpha val="1.2999999999999996e+23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214884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B46"/>
                </a:solidFill>
              </a:rPr>
              <a:t>GENERATE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19088" y="24871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Review context + cases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918704" y="2468880"/>
            <a:ext cx="219456" cy="0"/>
          </a:xfrm>
          <a:prstGeom prst="line">
            <a:avLst/>
          </a:prstGeom>
          <a:noFill/>
          <a:ln w="25400">
            <a:solidFill>
              <a:srgbClr val="9ABFA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93024" y="1920240"/>
            <a:ext cx="1554480" cy="1115568"/>
          </a:xfrm>
          <a:prstGeom prst="roundRect">
            <a:avLst>
              <a:gd name="adj" fmla="val 4918"/>
            </a:avLst>
          </a:prstGeom>
          <a:solidFill>
            <a:srgbClr val="EAF7F2"/>
          </a:solidFill>
          <a:ln w="12700">
            <a:solidFill>
              <a:srgbClr val="B7DFCE"/>
            </a:solidFill>
            <a:prstDash val="solid"/>
          </a:ln>
          <a:effectLst>
            <a:outerShdw sx="100000" sy="100000" kx="0" ky="0" algn="bl" rotWithShape="0" blurRad="2.440126393660934e+201" dist="9.760505574643735e+200" dir="6.062109580985733e+235">
              <a:srgbClr val="000000">
                <a:alpha val="1.2999999999999996e+24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84464" y="214884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B46"/>
                </a:solidFill>
              </a:rPr>
              <a:t>EXPORT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02752" y="24871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Excel workbook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9802368" y="2468880"/>
            <a:ext cx="219456" cy="0"/>
          </a:xfrm>
          <a:prstGeom prst="line">
            <a:avLst/>
          </a:prstGeom>
          <a:noFill/>
          <a:ln w="25400">
            <a:solidFill>
              <a:srgbClr val="9ABFA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76688" y="1920240"/>
            <a:ext cx="1554480" cy="1115568"/>
          </a:xfrm>
          <a:prstGeom prst="roundRect">
            <a:avLst>
              <a:gd name="adj" fmla="val 4918"/>
            </a:avLst>
          </a:prstGeom>
          <a:solidFill>
            <a:srgbClr val="00563A"/>
          </a:solidFill>
          <a:ln w="12700">
            <a:solidFill>
              <a:srgbClr val="B7DFCE"/>
            </a:solidFill>
            <a:prstDash val="solid"/>
          </a:ln>
          <a:effectLst>
            <a:outerShdw sx="100000" sy="100000" kx="0" ky="0" algn="bl" rotWithShape="0" blurRad="3.0989605199493864e+205" dist="1.2395842079797543e+205" dir="3.63726574859144e+240">
              <a:srgbClr val="000000">
                <a:alpha val="1.2999999999999995e+24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168128" y="214884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RESET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186416" y="24871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DFF3EA"/>
                </a:solidFill>
              </a:rPr>
              <a:t>Clean workspace; retain LLM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914400" y="3749040"/>
            <a:ext cx="1028700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8E6DF"/>
            </a:solidFill>
            <a:prstDash val="solid"/>
          </a:ln>
          <a:effectLst>
            <a:outerShdw sx="100000" sy="100000" kx="0" ky="0" algn="bl" rotWithShape="0" blurRad="3.9356798603357206e+209" dist="1.574271944134288e+209" dir="2.182359449154864e+245">
              <a:srgbClr val="000000">
                <a:alpha val="1.2999999999999995e+25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234440" y="4050792"/>
            <a:ext cx="9656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B46"/>
                </a:solidFill>
              </a:rPr>
              <a:t>Reset All is now the clean boundary between requirements.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17320" y="4507992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No Refresh Prompt button. No need to re-enter LLM details. No stale file, prompt, column or result state carried into the next run.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4160520" y="5623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859"/>
                </a:solidFill>
              </a:rPr>
              <a:t>TCGen • AI Test Case Generator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TCGen - AI Test Case Generator</dc:title>
  <dc:subject>TCGen AI Test Case Generator - complete usage, architecture and Reset All behavior</dc:subject>
  <dc:creator>TCGen</dc:creator>
  <cp:lastModifiedBy>TCGen</cp:lastModifiedBy>
  <cp:revision>1</cp:revision>
  <dcterms:created xsi:type="dcterms:W3CDTF">2026-09-21T16:36:59Z</dcterms:created>
  <dcterms:modified xsi:type="dcterms:W3CDTF">2026-09-21T16:36:59Z</dcterms:modified>
</cp:coreProperties>
</file>