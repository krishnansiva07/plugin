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91440"/>
            <a:ext cx="6858000" cy="384048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2800" b="1">
                <a:solidFill>
                  <a:srgbClr val="113A2D"/>
                </a:solidFill>
                <a:latin typeface="Arial"/>
              </a:rPr>
              <a:t>S4TP AI Initiatives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02920"/>
            <a:ext cx="9601200" cy="219456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250" b="0">
                <a:solidFill>
                  <a:srgbClr val="566176"/>
                </a:solidFill>
                <a:latin typeface="Arial"/>
              </a:rPr>
              <a:t>AI-powered accelerators for quality engineering, automation, productivity, collaboration, and intelligent delivery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9829800" y="155448"/>
            <a:ext cx="146304" cy="274320"/>
          </a:xfrm>
          <a:prstGeom prst="parallelogram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957816" y="155448"/>
            <a:ext cx="146304" cy="274320"/>
          </a:xfrm>
          <a:prstGeom prst="parallelogram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10085832" y="155448"/>
            <a:ext cx="146304" cy="274320"/>
          </a:xfrm>
          <a:prstGeom prst="parallelogram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69880" y="91440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24744" y="91440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79608" y="91440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89336" y="91440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44200" y="91440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99064" y="91440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53928" y="91440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63656" y="91440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18520" y="91440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69880" y="155448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24744" y="155448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79608" y="155448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89336" y="155448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44200" y="155448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99064" y="155448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53928" y="155448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63656" y="155448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018520" y="155448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469880" y="219456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24744" y="219456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79608" y="219456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89336" y="219456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44200" y="219456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99064" y="219456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853928" y="219456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963656" y="219456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018520" y="219456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69880" y="283464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24744" y="283464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79608" y="283464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89336" y="283464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44200" y="283464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99064" y="283464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853928" y="283464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63656" y="283464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18520" y="283464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24744" y="347472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744200" y="347472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99064" y="347472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018520" y="347472"/>
            <a:ext cx="16459" cy="16459"/>
          </a:xfrm>
          <a:prstGeom prst="ellipse">
            <a:avLst/>
          </a:prstGeom>
          <a:solidFill>
            <a:srgbClr val="79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82880" y="850392"/>
            <a:ext cx="11704320" cy="0"/>
          </a:xfrm>
          <a:prstGeom prst="line">
            <a:avLst/>
          </a:prstGeom>
          <a:ln w="15240">
            <a:solidFill>
              <a:srgbClr val="61B2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64592" y="960120"/>
            <a:ext cx="3867912" cy="384048"/>
          </a:xfrm>
          <a:prstGeom prst="roundRect">
            <a:avLst>
              <a:gd name="adj" fmla="val 12000"/>
            </a:avLst>
          </a:prstGeom>
          <a:solidFill>
            <a:srgbClr val="007A53"/>
          </a:solidFill>
          <a:ln w="10160">
            <a:solidFill>
              <a:srgbClr val="00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996696"/>
            <a:ext cx="384048" cy="310896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[=]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" y="978408"/>
            <a:ext cx="3264408" cy="34747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rial"/>
              </a:rPr>
              <a:t>Engineering Accelerators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42232" y="960120"/>
            <a:ext cx="3867912" cy="384048"/>
          </a:xfrm>
          <a:prstGeom prst="roundRect">
            <a:avLst>
              <a:gd name="adj" fmla="val 12000"/>
            </a:avLst>
          </a:prstGeom>
          <a:solidFill>
            <a:srgbClr val="007A53"/>
          </a:solidFill>
          <a:ln w="10160">
            <a:solidFill>
              <a:srgbClr val="00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51960" y="996696"/>
            <a:ext cx="384048" cy="310896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[|]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54296" y="978408"/>
            <a:ext cx="3264408" cy="34747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rial"/>
              </a:rPr>
              <a:t>Automation &amp; Intelligent Execution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19872" y="960120"/>
            <a:ext cx="3867912" cy="384048"/>
          </a:xfrm>
          <a:prstGeom prst="roundRect">
            <a:avLst>
              <a:gd name="adj" fmla="val 12000"/>
            </a:avLst>
          </a:prstGeom>
          <a:solidFill>
            <a:srgbClr val="007A53"/>
          </a:solidFill>
          <a:ln w="10160">
            <a:solidFill>
              <a:srgbClr val="00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0" y="996696"/>
            <a:ext cx="384048" cy="310896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[+]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31936" y="978408"/>
            <a:ext cx="3264408" cy="34747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rial"/>
              </a:rPr>
              <a:t>Productivity, Communication &amp; Team Engagement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64592" y="1426464"/>
            <a:ext cx="3867912" cy="1325880"/>
          </a:xfrm>
          <a:prstGeom prst="roundRect">
            <a:avLst>
              <a:gd name="adj" fmla="val 12000"/>
            </a:avLst>
          </a:prstGeom>
          <a:solidFill>
            <a:srgbClr val="F7FBF9"/>
          </a:solidFill>
          <a:ln w="10160">
            <a:solidFill>
              <a:srgbClr val="C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56032" y="1517904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 w="10160">
            <a:solidFill>
              <a:srgbClr val="E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" y="1627632"/>
            <a:ext cx="731520" cy="43891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2400" b="1">
                <a:solidFill>
                  <a:srgbClr val="007A53"/>
                </a:solidFill>
                <a:latin typeface="Arial"/>
              </a:rPr>
              <a:t>TC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70432" y="1536192"/>
            <a:ext cx="2770632" cy="2743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19202"/>
          <a:lstStyle/>
          <a:p>
            <a:pPr algn="l"/>
            <a:r>
              <a:rPr sz="1320" b="1">
                <a:solidFill>
                  <a:srgbClr val="007A53"/>
                </a:solidFill>
                <a:latin typeface="Arial"/>
              </a:rPr>
              <a:t>AI-Enabled TCGen Tool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0432" y="1865376"/>
            <a:ext cx="2770632" cy="822960"/>
          </a:xfrm>
          <a:prstGeom prst="rect">
            <a:avLst/>
          </a:prstGeom>
          <a:noFill/>
        </p:spPr>
        <p:txBody>
          <a:bodyPr wrap="square" lIns="27432" rIns="18288" t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Generates test cases from requirements and business flows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Improves coverage and reduces manual effort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Supports faster test design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64592" y="2862072"/>
            <a:ext cx="3867912" cy="1325880"/>
          </a:xfrm>
          <a:prstGeom prst="roundRect">
            <a:avLst>
              <a:gd name="adj" fmla="val 12000"/>
            </a:avLst>
          </a:prstGeom>
          <a:solidFill>
            <a:srgbClr val="F7FBF9"/>
          </a:solidFill>
          <a:ln w="10160">
            <a:solidFill>
              <a:srgbClr val="C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56032" y="2953512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 w="10160">
            <a:solidFill>
              <a:srgbClr val="E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1752" y="3063240"/>
            <a:ext cx="731520" cy="43891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2400" b="1">
                <a:solidFill>
                  <a:srgbClr val="007A53"/>
                </a:solidFill>
                <a:latin typeface="Arial"/>
              </a:rPr>
              <a:t>CR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170432" y="2971800"/>
            <a:ext cx="2770632" cy="2743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19202"/>
          <a:lstStyle/>
          <a:p>
            <a:pPr algn="l"/>
            <a:r>
              <a:rPr sz="1320" b="1">
                <a:solidFill>
                  <a:srgbClr val="007A53"/>
                </a:solidFill>
                <a:latin typeface="Arial"/>
              </a:rPr>
              <a:t>AI Code Review Tool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70432" y="3300984"/>
            <a:ext cx="2770632" cy="822960"/>
          </a:xfrm>
          <a:prstGeom prst="rect">
            <a:avLst/>
          </a:prstGeom>
          <a:noFill/>
        </p:spPr>
        <p:txBody>
          <a:bodyPr wrap="square" lIns="27432" rIns="18288" t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Reviews shared project workspace code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Highlights defects, risks, and improvement areas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Helps maintain better code quality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64592" y="4297680"/>
            <a:ext cx="3867912" cy="1325880"/>
          </a:xfrm>
          <a:prstGeom prst="roundRect">
            <a:avLst>
              <a:gd name="adj" fmla="val 12000"/>
            </a:avLst>
          </a:prstGeom>
          <a:solidFill>
            <a:srgbClr val="F7FBF9"/>
          </a:solidFill>
          <a:ln w="10160">
            <a:solidFill>
              <a:srgbClr val="C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56032" y="4389120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 w="10160">
            <a:solidFill>
              <a:srgbClr val="E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1752" y="4498848"/>
            <a:ext cx="731520" cy="43891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2400" b="1">
                <a:solidFill>
                  <a:srgbClr val="007A53"/>
                </a:solidFill>
                <a:latin typeface="Arial"/>
              </a:rPr>
              <a:t>RCA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70432" y="4407408"/>
            <a:ext cx="2770632" cy="2743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19202"/>
          <a:lstStyle/>
          <a:p>
            <a:pPr algn="l"/>
            <a:r>
              <a:rPr sz="1320" b="1">
                <a:solidFill>
                  <a:srgbClr val="007A53"/>
                </a:solidFill>
                <a:latin typeface="Arial"/>
              </a:rPr>
              <a:t>AI-Assisted Root Cause Analysis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70432" y="4736592"/>
            <a:ext cx="2770632" cy="822960"/>
          </a:xfrm>
          <a:prstGeom prst="rect">
            <a:avLst/>
          </a:prstGeom>
          <a:noFill/>
        </p:spPr>
        <p:txBody>
          <a:bodyPr wrap="square" lIns="27432" rIns="18288" t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Enhances reporting with RCA insights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Summarizes probable failure causes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Supports quicker defect triage and resolution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42232" y="1426464"/>
            <a:ext cx="3867912" cy="1325880"/>
          </a:xfrm>
          <a:prstGeom prst="roundRect">
            <a:avLst>
              <a:gd name="adj" fmla="val 12000"/>
            </a:avLst>
          </a:prstGeom>
          <a:solidFill>
            <a:srgbClr val="F7FBF9"/>
          </a:solidFill>
          <a:ln w="10160">
            <a:solidFill>
              <a:srgbClr val="C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233672" y="1517904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 w="10160">
            <a:solidFill>
              <a:srgbClr val="E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79392" y="1627632"/>
            <a:ext cx="731520" cy="43891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2400" b="1">
                <a:solidFill>
                  <a:srgbClr val="007A53"/>
                </a:solidFill>
                <a:latin typeface="Arial"/>
              </a:rPr>
              <a:t>AC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148072" y="1536192"/>
            <a:ext cx="2770632" cy="2743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19202"/>
          <a:lstStyle/>
          <a:p>
            <a:pPr algn="l"/>
            <a:r>
              <a:rPr sz="1320" b="1">
                <a:solidFill>
                  <a:srgbClr val="007A53"/>
                </a:solidFill>
                <a:latin typeface="Arial"/>
              </a:rPr>
              <a:t>AI Automation Code Generation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48072" y="1865376"/>
            <a:ext cx="2770632" cy="822960"/>
          </a:xfrm>
          <a:prstGeom prst="rect">
            <a:avLst/>
          </a:prstGeom>
          <a:noFill/>
        </p:spPr>
        <p:txBody>
          <a:bodyPr wrap="square" lIns="27432" rIns="18288" t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Record-and-play style code generation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Speeds up automation development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Helps convert user actions into reusable scripts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42232" y="2862072"/>
            <a:ext cx="3867912" cy="1325880"/>
          </a:xfrm>
          <a:prstGeom prst="roundRect">
            <a:avLst>
              <a:gd name="adj" fmla="val 12000"/>
            </a:avLst>
          </a:prstGeom>
          <a:solidFill>
            <a:srgbClr val="F7FBF9"/>
          </a:solidFill>
          <a:ln w="10160">
            <a:solidFill>
              <a:srgbClr val="C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233672" y="2953512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 w="10160">
            <a:solidFill>
              <a:srgbClr val="E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79392" y="3063240"/>
            <a:ext cx="731520" cy="43891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2400" b="1">
                <a:solidFill>
                  <a:srgbClr val="007A53"/>
                </a:solidFill>
                <a:latin typeface="Arial"/>
              </a:rPr>
              <a:t>VB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48072" y="2971800"/>
            <a:ext cx="2770632" cy="2743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19202"/>
          <a:lstStyle/>
          <a:p>
            <a:pPr algn="l"/>
            <a:r>
              <a:rPr sz="1320" b="1">
                <a:solidFill>
                  <a:srgbClr val="007A53"/>
                </a:solidFill>
                <a:latin typeface="Arial"/>
              </a:rPr>
              <a:t>Prompt-Based VIBIUM UI Automation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48072" y="3300984"/>
            <a:ext cx="2770632" cy="822960"/>
          </a:xfrm>
          <a:prstGeom prst="rect">
            <a:avLst/>
          </a:prstGeom>
          <a:noFill/>
        </p:spPr>
        <p:txBody>
          <a:bodyPr wrap="square" lIns="27432" rIns="18288" t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AI-powered prompt-driven UI automation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Simplifies test creation through natural language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Supports faster validation workflows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142232" y="4297680"/>
            <a:ext cx="3867912" cy="1325880"/>
          </a:xfrm>
          <a:prstGeom prst="roundRect">
            <a:avLst>
              <a:gd name="adj" fmla="val 12000"/>
            </a:avLst>
          </a:prstGeom>
          <a:solidFill>
            <a:srgbClr val="F7FBF9"/>
          </a:solidFill>
          <a:ln w="10160">
            <a:solidFill>
              <a:srgbClr val="C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233672" y="4389120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 w="10160">
            <a:solidFill>
              <a:srgbClr val="E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279392" y="4498848"/>
            <a:ext cx="731520" cy="43891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2400" b="1">
                <a:solidFill>
                  <a:srgbClr val="007A53"/>
                </a:solidFill>
                <a:latin typeface="Arial"/>
              </a:rPr>
              <a:t>EL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148072" y="4407408"/>
            <a:ext cx="2770632" cy="2743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19202"/>
          <a:lstStyle/>
          <a:p>
            <a:pPr algn="l"/>
            <a:r>
              <a:rPr sz="1320" b="1">
                <a:solidFill>
                  <a:srgbClr val="007A53"/>
                </a:solidFill>
                <a:latin typeface="Arial"/>
              </a:rPr>
              <a:t>General Purpose AI Agent – Eliya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48072" y="4736592"/>
            <a:ext cx="2770632" cy="822960"/>
          </a:xfrm>
          <a:prstGeom prst="rect">
            <a:avLst/>
          </a:prstGeom>
          <a:noFill/>
        </p:spPr>
        <p:txBody>
          <a:bodyPr wrap="square" lIns="27432" rIns="18288" t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Uses memory-backed inputs and context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Supports chat, analysis, and agentic execution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Helps with planning, tool usage, and task execution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Acts as a general-purpose AI work assistant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119872" y="1426464"/>
            <a:ext cx="3867912" cy="1325880"/>
          </a:xfrm>
          <a:prstGeom prst="roundRect">
            <a:avLst>
              <a:gd name="adj" fmla="val 12000"/>
            </a:avLst>
          </a:prstGeom>
          <a:solidFill>
            <a:srgbClr val="F7FBF9"/>
          </a:solidFill>
          <a:ln w="10160">
            <a:solidFill>
              <a:srgbClr val="C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211312" y="1517904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 w="10160">
            <a:solidFill>
              <a:srgbClr val="E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57032" y="1627632"/>
            <a:ext cx="731520" cy="43891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2400" b="1">
                <a:solidFill>
                  <a:srgbClr val="007A53"/>
                </a:solidFill>
                <a:latin typeface="Arial"/>
              </a:rPr>
              <a:t>FT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125712" y="1536192"/>
            <a:ext cx="2770632" cy="2743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19202"/>
          <a:lstStyle/>
          <a:p>
            <a:pPr algn="l"/>
            <a:r>
              <a:rPr sz="1320" b="1">
                <a:solidFill>
                  <a:srgbClr val="007A53"/>
                </a:solidFill>
                <a:latin typeface="Arial"/>
              </a:rPr>
              <a:t>AI Formatting Tool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25712" y="1865376"/>
            <a:ext cx="2770632" cy="822960"/>
          </a:xfrm>
          <a:prstGeom prst="rect">
            <a:avLst/>
          </a:prstGeom>
          <a:noFill/>
        </p:spPr>
        <p:txBody>
          <a:bodyPr wrap="square" lIns="27432" rIns="18288" t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Formats content for Confluence and email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Improves readability and communication quality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Saves effort in documentation and reporting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119872" y="2862072"/>
            <a:ext cx="3867912" cy="1508760"/>
          </a:xfrm>
          <a:prstGeom prst="roundRect">
            <a:avLst>
              <a:gd name="adj" fmla="val 12000"/>
            </a:avLst>
          </a:prstGeom>
          <a:solidFill>
            <a:srgbClr val="F7FBF9"/>
          </a:solidFill>
          <a:ln w="10160">
            <a:solidFill>
              <a:srgbClr val="C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211312" y="2953512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 w="10160">
            <a:solidFill>
              <a:srgbClr val="E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257032" y="3063240"/>
            <a:ext cx="731520" cy="43891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2400" b="1">
                <a:solidFill>
                  <a:srgbClr val="007A53"/>
                </a:solidFill>
                <a:latin typeface="Arial"/>
              </a:rPr>
              <a:t>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125712" y="2971800"/>
            <a:ext cx="2770632" cy="2743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19202"/>
          <a:lstStyle/>
          <a:p>
            <a:pPr algn="l"/>
            <a:r>
              <a:rPr sz="1320" b="1">
                <a:solidFill>
                  <a:srgbClr val="007A53"/>
                </a:solidFill>
                <a:latin typeface="Arial"/>
              </a:rPr>
              <a:t>AI Team Engagement Tools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25712" y="3300984"/>
            <a:ext cx="2770632" cy="1005840"/>
          </a:xfrm>
          <a:prstGeom prst="rect">
            <a:avLst/>
          </a:prstGeom>
          <a:noFill/>
        </p:spPr>
        <p:txBody>
          <a:bodyPr wrap="square" lIns="27432" rIns="18288" t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Includes live quiz and Teams Spark activities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Used during coffee-break team engagement sessions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Makes collaboration more interactive and fun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119872" y="4480560"/>
            <a:ext cx="3867912" cy="1280160"/>
          </a:xfrm>
          <a:prstGeom prst="roundRect">
            <a:avLst>
              <a:gd name="adj" fmla="val 12000"/>
            </a:avLst>
          </a:prstGeom>
          <a:solidFill>
            <a:srgbClr val="F7FBF9"/>
          </a:solidFill>
          <a:ln w="10160">
            <a:solidFill>
              <a:srgbClr val="C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211312" y="4572000"/>
            <a:ext cx="822960" cy="685800"/>
          </a:xfrm>
          <a:prstGeom prst="roundRect">
            <a:avLst>
              <a:gd name="adj" fmla="val 12000"/>
            </a:avLst>
          </a:prstGeom>
          <a:solidFill>
            <a:srgbClr val="E7F4EE"/>
          </a:solidFill>
          <a:ln w="10160">
            <a:solidFill>
              <a:srgbClr val="E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57032" y="4681728"/>
            <a:ext cx="731520" cy="438912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2400" b="1">
                <a:solidFill>
                  <a:srgbClr val="007A53"/>
                </a:solidFill>
                <a:latin typeface="Arial"/>
              </a:rPr>
              <a:t>KM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125712" y="4590288"/>
            <a:ext cx="2770632" cy="274320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19202"/>
          <a:lstStyle/>
          <a:p>
            <a:pPr algn="l"/>
            <a:r>
              <a:rPr sz="1320" b="1">
                <a:solidFill>
                  <a:srgbClr val="007A53"/>
                </a:solidFill>
                <a:latin typeface="Arial"/>
              </a:rPr>
              <a:t>AI Knowledge &amp; Memory Support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25712" y="4919472"/>
            <a:ext cx="2770632" cy="777240"/>
          </a:xfrm>
          <a:prstGeom prst="rect">
            <a:avLst/>
          </a:prstGeom>
          <a:noFill/>
        </p:spPr>
        <p:txBody>
          <a:bodyPr wrap="square" lIns="27432" rIns="18288" t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Uses stored context and reusable knowledge inputs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Helps AI tools retain continuity across tasks</a:t>
            </a:r>
          </a:p>
          <a:p>
            <a:pPr>
              <a:spcAft>
                <a:spcPts val="0"/>
              </a:spcAft>
              <a:defRPr sz="1000">
                <a:solidFill>
                  <a:srgbClr val="2A2A2A"/>
                </a:solidFill>
                <a:latin typeface="Arial"/>
              </a:defRPr>
            </a:pPr>
            <a:r>
              <a:t>Improves smarter assistance and faster decision support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64592" y="5687568"/>
            <a:ext cx="11841480" cy="576072"/>
          </a:xfrm>
          <a:prstGeom prst="roundRect">
            <a:avLst>
              <a:gd name="adj" fmla="val 12000"/>
            </a:avLst>
          </a:prstGeom>
          <a:solidFill>
            <a:srgbClr val="F1F7F4"/>
          </a:solidFill>
          <a:ln w="10160">
            <a:solidFill>
              <a:srgbClr val="F1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10312" y="5715000"/>
            <a:ext cx="1993392" cy="521207"/>
          </a:xfrm>
          <a:prstGeom prst="roundRect">
            <a:avLst>
              <a:gd name="adj" fmla="val 12000"/>
            </a:avLst>
          </a:prstGeom>
          <a:solidFill>
            <a:srgbClr val="007A53"/>
          </a:solidFill>
          <a:ln w="10160">
            <a:solidFill>
              <a:srgbClr val="00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10896" y="5760720"/>
            <a:ext cx="292608" cy="274320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792" y="5769864"/>
            <a:ext cx="1463040" cy="274320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Key AI Impact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32304" y="5788152"/>
            <a:ext cx="347472" cy="219456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1200" b="1">
                <a:solidFill>
                  <a:srgbClr val="007A53"/>
                </a:solidFill>
                <a:latin typeface="Arial"/>
              </a:rPr>
              <a:t>TD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816352" y="5760720"/>
            <a:ext cx="1325880" cy="320040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080" b="1">
                <a:solidFill>
                  <a:srgbClr val="113A2D"/>
                </a:solidFill>
                <a:latin typeface="Arial"/>
              </a:rPr>
              <a:t>Faster
Test Design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233671" y="5779008"/>
            <a:ext cx="0" cy="393192"/>
          </a:xfrm>
          <a:prstGeom prst="line">
            <a:avLst/>
          </a:prstGeom>
          <a:ln w="12700">
            <a:solidFill>
              <a:srgbClr val="7EB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4306823" y="5788152"/>
            <a:ext cx="347472" cy="219456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1200" b="1">
                <a:solidFill>
                  <a:srgbClr val="007A53"/>
                </a:solidFill>
                <a:latin typeface="Arial"/>
              </a:rPr>
              <a:t>SR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90871" y="5760720"/>
            <a:ext cx="1325880" cy="320040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080" b="1">
                <a:solidFill>
                  <a:srgbClr val="113A2D"/>
                </a:solidFill>
                <a:latin typeface="Arial"/>
              </a:rPr>
              <a:t>Smarter
Reporting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108190" y="5779008"/>
            <a:ext cx="0" cy="393192"/>
          </a:xfrm>
          <a:prstGeom prst="line">
            <a:avLst/>
          </a:prstGeom>
          <a:ln w="12700">
            <a:solidFill>
              <a:srgbClr val="7EB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6181342" y="5788152"/>
            <a:ext cx="347472" cy="219456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1200" b="1">
                <a:solidFill>
                  <a:srgbClr val="007A53"/>
                </a:solidFill>
                <a:latin typeface="Arial"/>
              </a:rPr>
              <a:t>ME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65390" y="5760720"/>
            <a:ext cx="1325880" cy="320040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080" b="1">
                <a:solidFill>
                  <a:srgbClr val="113A2D"/>
                </a:solidFill>
                <a:latin typeface="Arial"/>
              </a:rPr>
              <a:t>Reduced
Manual Effort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7982709" y="5779008"/>
            <a:ext cx="0" cy="393192"/>
          </a:xfrm>
          <a:prstGeom prst="line">
            <a:avLst/>
          </a:prstGeom>
          <a:ln w="12700">
            <a:solidFill>
              <a:srgbClr val="7EB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8055861" y="5788152"/>
            <a:ext cx="347472" cy="219456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1200" b="1">
                <a:solidFill>
                  <a:srgbClr val="007A53"/>
                </a:solidFill>
                <a:latin typeface="Arial"/>
              </a:rPr>
              <a:t>AA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39909" y="5760720"/>
            <a:ext cx="1325880" cy="320040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080" b="1">
                <a:solidFill>
                  <a:srgbClr val="113A2D"/>
                </a:solidFill>
                <a:latin typeface="Arial"/>
              </a:rPr>
              <a:t>Accelerated
Automation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9857228" y="5779008"/>
            <a:ext cx="0" cy="393192"/>
          </a:xfrm>
          <a:prstGeom prst="line">
            <a:avLst/>
          </a:prstGeom>
          <a:ln w="12700">
            <a:solidFill>
              <a:srgbClr val="7EB1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9930380" y="5788152"/>
            <a:ext cx="347472" cy="219456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1200" b="1">
                <a:solidFill>
                  <a:srgbClr val="007A53"/>
                </a:solidFill>
                <a:latin typeface="Arial"/>
              </a:rPr>
              <a:t>TG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14428" y="5760720"/>
            <a:ext cx="1325880" cy="320040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080" b="1">
                <a:solidFill>
                  <a:srgbClr val="113A2D"/>
                </a:solidFill>
                <a:latin typeface="Arial"/>
              </a:rPr>
              <a:t>Better Team
Engagement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10312" y="6446520"/>
            <a:ext cx="301752" cy="228600"/>
          </a:xfrm>
          <a:prstGeom prst="rect">
            <a:avLst/>
          </a:prstGeom>
          <a:solidFill>
            <a:srgbClr val="007A53"/>
          </a:solidFill>
          <a:ln w="10160">
            <a:solidFill>
              <a:srgbClr val="007A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10312" y="6437376"/>
            <a:ext cx="301752" cy="228600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*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6928" y="6428232"/>
            <a:ext cx="1463040" cy="201168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500" b="1">
                <a:solidFill>
                  <a:srgbClr val="2A2A2A"/>
                </a:solidFill>
                <a:latin typeface="Arial"/>
              </a:rPr>
              <a:t>BNP PARIBAS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2011680" y="6556248"/>
            <a:ext cx="7680960" cy="0"/>
          </a:xfrm>
          <a:prstGeom prst="line">
            <a:avLst/>
          </a:prstGeom>
          <a:ln w="12700">
            <a:solidFill>
              <a:srgbClr val="B1B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9802368" y="6428232"/>
            <a:ext cx="2011680" cy="201168"/>
          </a:xfrm>
          <a:prstGeom prst="rect">
            <a:avLst/>
          </a:prstGeom>
          <a:noFill/>
        </p:spPr>
        <p:txBody>
          <a:bodyPr wrap="square" anchor="ctr" lIns="54864" rIns="54864" tIns="27432" bIns="19202">
            <a:spAutoFit/>
          </a:bodyPr>
          <a:lstStyle/>
          <a:p>
            <a:pPr algn="l"/>
            <a:r>
              <a:rPr sz="1200" b="0">
                <a:solidFill>
                  <a:srgbClr val="2A2A2A"/>
                </a:solidFill>
                <a:latin typeface="Arial"/>
              </a:rPr>
              <a:t>The bank for a changing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