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80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ELIYA  |  Functional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315200" y="6492240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980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Functional flow • productivity • governance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35"/>
          </a:solidFill>
          <a:ln w="12700">
            <a:solidFill>
              <a:srgbClr val="123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8641080" y="228600"/>
            <a:ext cx="3246120" cy="3246120"/>
          </a:xfrm>
          <a:prstGeom prst="arc">
            <a:avLst/>
          </a:prstGeom>
          <a:solidFill>
            <a:srgbClr val="1E6558">
              <a:alpha val="92000"/>
            </a:srgbClr>
          </a:solidFill>
          <a:ln w="12700">
            <a:solidFill>
              <a:srgbClr val="1E655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9281160" y="3886200"/>
            <a:ext cx="2560320" cy="2560320"/>
          </a:xfrm>
          <a:prstGeom prst="arc">
            <a:avLst/>
          </a:prstGeom>
          <a:solidFill>
            <a:srgbClr val="2BBF8A">
              <a:alpha val="70000"/>
            </a:srgbClr>
          </a:solidFill>
          <a:ln w="12700">
            <a:solidFill>
              <a:srgbClr val="2BBF8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85800"/>
            <a:ext cx="1874520" cy="301752"/>
          </a:xfrm>
          <a:prstGeom prst="roundRect">
            <a:avLst>
              <a:gd name="adj" fmla="val 24242"/>
            </a:avLst>
          </a:prstGeom>
          <a:solidFill>
            <a:srgbClr val="254E47"/>
          </a:solidFill>
          <a:ln w="12700">
            <a:solidFill>
              <a:srgbClr val="254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4523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F3DE"/>
                </a:solidFill>
              </a:rPr>
              <a:t>MANAGEMENT PROPOSAL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ELIYA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76656" y="2377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9F4DE"/>
                </a:solidFill>
              </a:rPr>
              <a:t>Functional Productivity Platform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94944" y="3017520"/>
            <a:ext cx="6629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4F1ED"/>
                </a:solidFill>
              </a:rPr>
              <a:t>A functional view of how Eliya connects workspace knowledge, enterprise sources, Chat and Agent workflows to improve day-to-day delivery productivity.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" y="4937760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C9C1"/>
                </a:solidFill>
              </a:rPr>
              <a:t>Functional flow  •  Features  •  Token optimization  •  Stakeholder use cases  •  Demo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" y="5760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C9C1"/>
                </a:solidFill>
              </a:rPr>
              <a:t>Based on ELIYA29 functional baseline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Why Eliya?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The objective is not “another AI chat”. It is a shared productivity layer for software delivery.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BUSINESS NEED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54864" cy="33832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10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76272"/>
            <a:ext cx="32004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Teams repeatedly search across code, Jira, Confluence, test assets and documents. Context is fragmented, handoffs are manual, and the same analysis is repeated by different roles.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334256" y="164592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1645920"/>
            <a:ext cx="54864" cy="3383280"/>
          </a:xfrm>
          <a:prstGeom prst="rect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810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With Eliya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7136" y="2176272"/>
            <a:ext cx="32004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A user defines the workspace and authorized sources once, then asks role-specific questions or runs approved tasks using the same shared context.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74152" y="164592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4152" y="1645920"/>
            <a:ext cx="54864" cy="3383280"/>
          </a:xfrm>
          <a:prstGeom prst="rect">
            <a:avLst/>
          </a:prstGeom>
          <a:solidFill>
            <a:srgbClr val="4D76D9"/>
          </a:solidFill>
          <a:ln w="12700">
            <a:solidFill>
              <a:srgbClr val="4D76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810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Business outcome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57032" y="2176272"/>
            <a:ext cx="32004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Less time spent collecting information; faster traceability, test design, documentation and implementation support; clearer evidence and review points.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640080" y="53218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8D78"/>
                </a:solidFill>
              </a:rPr>
              <a:t>Management proposition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52303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35"/>
                </a:solidFill>
              </a:rPr>
              <a:t>Pilot Eliya on a small set of measurable workflows, preserve human approval, and expand only where quality and effort improvement are demonstrated.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1. What is Eliya?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A functional assistant that can understand project context, answer questions and execute bounded, approved tasks.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OVERVIEW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719072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9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883664"/>
            <a:ext cx="347472" cy="347472"/>
          </a:xfrm>
          <a:prstGeom prst="ellipse">
            <a:avLst/>
          </a:prstGeom>
          <a:solidFill>
            <a:srgbClr val="1C8D78"/>
          </a:solidFill>
          <a:ln w="12700">
            <a:solidFill>
              <a:srgbClr val="1C8D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1856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Shared context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359152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7772"/>
                </a:solidFill>
              </a:rPr>
              <a:t>Primary workspace, up to 5 references, uploads and indexed knowledge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291840" y="1719072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9E6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1883664"/>
            <a:ext cx="347472" cy="347472"/>
          </a:xfrm>
          <a:prstGeom prst="ellipse">
            <a:avLst/>
          </a:prstGeom>
          <a:solidFill>
            <a:srgbClr val="4D76D9"/>
          </a:solidFill>
          <a:ln w="12700">
            <a:solidFill>
              <a:srgbClr val="4D7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1856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Enterprise sources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56432" y="2359152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7772"/>
                </a:solidFill>
              </a:rPr>
              <a:t>Jira, Confluence, GitLab, SonarQube and other discovered MCP tools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897880" y="1719072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9E6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62472" y="1883664"/>
            <a:ext cx="347472" cy="347472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856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Two working modes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62472" y="2359152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7772"/>
                </a:solidFill>
              </a:rPr>
              <a:t>Chat for analysis; Agent for planned execution and verification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503920" y="1719072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9E6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68512" y="1883664"/>
            <a:ext cx="347472" cy="34747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25712" y="1856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Evidence &amp; outputs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68512" y="2359152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7772"/>
                </a:solidFill>
              </a:rPr>
              <a:t>Reports, files, tests, documentation, formatted Confluence content and history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017520" y="2377440"/>
            <a:ext cx="228600" cy="0"/>
          </a:xfrm>
          <a:prstGeom prst="line">
            <a:avLst/>
          </a:prstGeom>
          <a:noFill/>
          <a:ln w="19050">
            <a:solidFill>
              <a:srgbClr val="627772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23560" y="2377440"/>
            <a:ext cx="228600" cy="0"/>
          </a:xfrm>
          <a:prstGeom prst="line">
            <a:avLst/>
          </a:prstGeom>
          <a:noFill/>
          <a:ln w="19050">
            <a:solidFill>
              <a:srgbClr val="62777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0" y="2377440"/>
            <a:ext cx="228600" cy="0"/>
          </a:xfrm>
          <a:prstGeom prst="line">
            <a:avLst/>
          </a:prstGeom>
          <a:noFill/>
          <a:ln w="19050">
            <a:solidFill>
              <a:srgbClr val="62777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51560" y="3822192"/>
            <a:ext cx="10104120" cy="1234440"/>
          </a:xfrm>
          <a:prstGeom prst="roundRect">
            <a:avLst>
              <a:gd name="adj" fmla="val 4444"/>
            </a:avLst>
          </a:prstGeom>
          <a:solidFill>
            <a:srgbClr val="E5F5EF"/>
          </a:solidFill>
          <a:ln w="12700">
            <a:solidFill>
              <a:srgbClr val="B9E4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D78"/>
                </a:solidFill>
              </a:rPr>
              <a:t>Functional positioning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398678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Eliya supports decisions and execution; it does not replace Jira, source control, approved test repositories, CI/CD or human sign-off.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57400" y="544068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DFF7EE"/>
          </a:solidFill>
          <a:ln w="12700">
            <a:solidFill>
              <a:srgbClr val="DFF7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0552" y="55001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Analyze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94760" y="544068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DFF7EE"/>
          </a:solidFill>
          <a:ln w="12700">
            <a:solidFill>
              <a:srgbClr val="DFF7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7912" y="55001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Compare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32120" y="544068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DFF7EE"/>
          </a:solidFill>
          <a:ln w="12700">
            <a:solidFill>
              <a:srgbClr val="DFF7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05272" y="55001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Plan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69480" y="544068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DFF7EE"/>
          </a:solidFill>
          <a:ln w="12700">
            <a:solidFill>
              <a:srgbClr val="DFF7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2632" y="55001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Execute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006840" y="544068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DFF7EE"/>
          </a:solidFill>
          <a:ln w="12700">
            <a:solidFill>
              <a:srgbClr val="DFF7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79992" y="55001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Verify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2. Functional flow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One common flow supports analysis-only questions and execution-oriented tasks.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1572768" cy="2240280"/>
          </a:xfrm>
          <a:prstGeom prst="roundRect">
            <a:avLst>
              <a:gd name="adj" fmla="val 2907"/>
            </a:avLst>
          </a:prstGeom>
          <a:solidFill>
            <a:srgbClr val="E8F6F1"/>
          </a:solidFill>
          <a:ln w="12700">
            <a:solidFill>
              <a:srgbClr val="BFE6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2057400"/>
            <a:ext cx="566928" cy="566928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072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35"/>
                </a:solidFill>
              </a:rPr>
              <a:t>1  Connect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3236976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Workspace + references + uploads + MCP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1984248" y="2889504"/>
            <a:ext cx="365760" cy="0"/>
          </a:xfrm>
          <a:prstGeom prst="line">
            <a:avLst/>
          </a:prstGeom>
          <a:noFill/>
          <a:ln w="1905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23160" y="1828800"/>
            <a:ext cx="1572768" cy="224028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7E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16936" y="2057400"/>
            <a:ext cx="566928" cy="566928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8072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35"/>
                </a:solidFill>
              </a:rPr>
              <a:t>2  Understand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3236976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Index and build reusable knowledge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995928" y="2889504"/>
            <a:ext cx="365760" cy="0"/>
          </a:xfrm>
          <a:prstGeom prst="line">
            <a:avLst/>
          </a:prstGeom>
          <a:noFill/>
          <a:ln w="1905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1828800"/>
            <a:ext cx="1572768" cy="2240280"/>
          </a:xfrm>
          <a:prstGeom prst="roundRect">
            <a:avLst>
              <a:gd name="adj" fmla="val 2907"/>
            </a:avLst>
          </a:prstGeom>
          <a:solidFill>
            <a:srgbClr val="E8F6F1"/>
          </a:solidFill>
          <a:ln w="12700">
            <a:solidFill>
              <a:srgbClr val="BFE6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28616" y="2057400"/>
            <a:ext cx="566928" cy="566928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8072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35"/>
                </a:solidFill>
              </a:rPr>
              <a:t>3  Retrieve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53712" y="3236976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Bring only relevant local/external context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007608" y="2889504"/>
            <a:ext cx="365760" cy="0"/>
          </a:xfrm>
          <a:prstGeom prst="line">
            <a:avLst/>
          </a:prstGeom>
          <a:noFill/>
          <a:ln w="1905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1828800"/>
            <a:ext cx="1572768" cy="224028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7E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0296" y="2057400"/>
            <a:ext cx="566928" cy="566928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8072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35"/>
                </a:solidFill>
              </a:rPr>
              <a:t>4  Choose mode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65392" y="3236976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Chat for insight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Agent for action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019288" y="2889504"/>
            <a:ext cx="365760" cy="0"/>
          </a:xfrm>
          <a:prstGeom prst="line">
            <a:avLst/>
          </a:prstGeom>
          <a:noFill/>
          <a:ln w="1905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458200" y="1828800"/>
            <a:ext cx="1572768" cy="2240280"/>
          </a:xfrm>
          <a:prstGeom prst="roundRect">
            <a:avLst>
              <a:gd name="adj" fmla="val 2907"/>
            </a:avLst>
          </a:prstGeom>
          <a:solidFill>
            <a:srgbClr val="E8F6F1"/>
          </a:solidFill>
          <a:ln w="12700">
            <a:solidFill>
              <a:srgbClr val="BFE6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51976" y="2057400"/>
            <a:ext cx="566928" cy="566928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28072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35"/>
                </a:solidFill>
              </a:rPr>
              <a:t>5  Act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77072" y="3236976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Answer / compare / plan / edit / run / format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0030968" y="2889504"/>
            <a:ext cx="365760" cy="0"/>
          </a:xfrm>
          <a:prstGeom prst="line">
            <a:avLst/>
          </a:prstGeom>
          <a:noFill/>
          <a:ln w="1905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469880" y="1828800"/>
            <a:ext cx="1572768" cy="224028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7E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63656" y="2057400"/>
            <a:ext cx="566928" cy="5669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0" y="28072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35"/>
                </a:solidFill>
              </a:rPr>
              <a:t>6  Evidence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588752" y="3236976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Result + source evidence + changed files + follow-up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1143000" y="4754880"/>
            <a:ext cx="9829800" cy="868680"/>
          </a:xfrm>
          <a:prstGeom prst="roundRect">
            <a:avLst>
              <a:gd name="adj" fmla="val 5263"/>
            </a:avLst>
          </a:prstGeom>
          <a:solidFill>
            <a:srgbClr val="FFF5E9"/>
          </a:solidFill>
          <a:ln w="12700">
            <a:solidFill>
              <a:srgbClr val="F4D5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44752" y="5010912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552C"/>
                </a:solidFill>
              </a:rPr>
              <a:t>Human control remains in the loop: plan approval, tool permissions, deletion confirmation, output review and business / release sign-off.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3. Shared workspace and reference model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Set project context once; reuse it across Chat and Agent.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CONTEXT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123B35"/>
          </a:solidFill>
          <a:ln w="12700">
            <a:solidFill>
              <a:srgbClr val="123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933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Workspace [workspace]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5CD"/>
                </a:solidFill>
              </a:rPr>
              <a:t>Primary working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3054096"/>
            <a:ext cx="3163824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E8F1EE"/>
                </a:solidFill>
              </a:rPr>
              <a:t>Indexed for reusable retrieval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E8F1EE"/>
                </a:solidFill>
              </a:rPr>
              <a:t>Available to Chat and Agent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E8F1EE"/>
                </a:solidFill>
              </a:rPr>
              <a:t>Agent may write only when permissions and task allow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E8F1EE"/>
                </a:solidFill>
              </a:rPr>
              <a:t>External edits can be refreshed with Rescan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325880" y="4800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D5CD"/>
                </a:solidFill>
              </a:rPr>
              <a:t>READ / WRITE BOUNDARY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45152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BF8A"/>
                </a:solidFill>
              </a:rPr>
              <a:t>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12080" y="17190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35"/>
                </a:solidFill>
              </a:rPr>
              <a:t>Up to 5 Reference [AliasName] projects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212080" y="2450592"/>
            <a:ext cx="2880360" cy="393192"/>
          </a:xfrm>
          <a:prstGeom prst="roundRect">
            <a:avLst>
              <a:gd name="adj" fmla="val 11628"/>
            </a:avLst>
          </a:prstGeom>
          <a:solidFill>
            <a:srgbClr val="E0F7EE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25420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5332E"/>
                </a:solidFill>
              </a:rPr>
              <a:t>LegacySelenium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086600" y="25420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C8D78"/>
                </a:solidFill>
              </a:rPr>
              <a:t>read-only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12080" y="2990088"/>
            <a:ext cx="288036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30815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5332E"/>
                </a:solidFill>
              </a:rPr>
              <a:t>TargetDesign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086600" y="3081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C8D78"/>
                </a:solidFill>
              </a:rPr>
              <a:t>read-only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12080" y="3529584"/>
            <a:ext cx="288036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2392" y="362102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5332E"/>
                </a:solidFill>
              </a:rPr>
              <a:t>Requirements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086600" y="36210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C8D78"/>
                </a:solidFill>
              </a:rPr>
              <a:t>read-only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12080" y="4069080"/>
            <a:ext cx="288036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41605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5332E"/>
                </a:solidFill>
              </a:rPr>
              <a:t>SharedLibrary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086600" y="41605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C8D78"/>
                </a:solidFill>
              </a:rPr>
              <a:t>read-only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12080" y="4608576"/>
            <a:ext cx="288036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2392" y="4700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5332E"/>
                </a:solidFill>
              </a:rPr>
              <a:t>ReferenceDeck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7086600" y="47000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C8D78"/>
                </a:solidFill>
              </a:rPr>
              <a:t>read-only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30368" y="5257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7772"/>
                </a:solidFill>
              </a:rPr>
              <a:t>Use aliases in prompts instead of repeatedly passing physical paths.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549640" y="1691640"/>
            <a:ext cx="2880360" cy="36118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7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2396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35"/>
                </a:solidFill>
              </a:rPr>
              <a:t>Other context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69680" y="2542032"/>
            <a:ext cx="22402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970" dirty="0">
                <a:solidFill>
                  <a:srgbClr val="15332E"/>
                </a:solidFill>
              </a:rPr>
              <a:t>Uploaded Word / PDF / text / images</a:t>
            </a:r>
            <a:endParaRPr lang="en-US" sz="970" dirty="0"/>
          </a:p>
          <a:p>
            <a:pPr marL="177800" indent="-177800">
              <a:buSzPct val="100000"/>
              <a:buChar char="•"/>
            </a:pPr>
            <a:r>
              <a:rPr lang="en-US" sz="970" dirty="0">
                <a:solidFill>
                  <a:srgbClr val="15332E"/>
                </a:solidFill>
              </a:rPr>
              <a:t>Indexed document knowledge</a:t>
            </a:r>
            <a:endParaRPr lang="en-US" sz="970" dirty="0"/>
          </a:p>
          <a:p>
            <a:pPr marL="177800" indent="-177800">
              <a:buSzPct val="100000"/>
              <a:buChar char="•"/>
            </a:pPr>
            <a:r>
              <a:rPr lang="en-US" sz="970" dirty="0">
                <a:solidFill>
                  <a:srgbClr val="15332E"/>
                </a:solidFill>
              </a:rPr>
              <a:t>Conversation history</a:t>
            </a:r>
            <a:endParaRPr lang="en-US" sz="970" dirty="0"/>
          </a:p>
          <a:p>
            <a:pPr marL="177800" indent="-177800">
              <a:buSzPct val="100000"/>
              <a:buChar char="•"/>
            </a:pPr>
            <a:r>
              <a:rPr lang="en-US" sz="970" dirty="0">
                <a:solidFill>
                  <a:srgbClr val="15332E"/>
                </a:solidFill>
              </a:rPr>
              <a:t>Authorized MCP sources</a:t>
            </a:r>
            <a:endParaRPr lang="en-US" sz="970" dirty="0"/>
          </a:p>
          <a:p>
            <a:pPr marL="177800" indent="-177800">
              <a:buSzPct val="100000"/>
              <a:buChar char="•"/>
            </a:pPr>
            <a:r>
              <a:rPr lang="en-US" sz="970" dirty="0">
                <a:solidFill>
                  <a:srgbClr val="15332E"/>
                </a:solidFill>
              </a:rPr>
              <a:t>Optional visual understanding for document images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4a. Chat Mode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Use Chat when the primary need is understanding, comparison, analysis or drafting — without changing local files.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CHAT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337560" cy="39319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54864" cy="3931920"/>
          </a:xfrm>
          <a:prstGeom prst="rect">
            <a:avLst/>
          </a:prstGeom>
          <a:solidFill>
            <a:srgbClr val="1C8D78"/>
          </a:solidFill>
          <a:ln w="12700">
            <a:solidFill>
              <a:srgbClr val="1C8D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10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Best for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301752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Codebase Q&amp;A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Jira / Confluence analysis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Requirement-to-code comparison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Test-case design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Root-cause exploration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Document and image discussion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Architecture / impact analysis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187952" y="1645920"/>
            <a:ext cx="3337560" cy="39319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87952" y="1645920"/>
            <a:ext cx="54864" cy="3931920"/>
          </a:xfrm>
          <a:prstGeom prst="rect">
            <a:avLst/>
          </a:prstGeom>
          <a:solidFill>
            <a:srgbClr val="4D76D9"/>
          </a:solidFill>
          <a:ln w="12700">
            <a:solidFill>
              <a:srgbClr val="4D7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1810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What Chat can 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70832" y="2176272"/>
            <a:ext cx="301752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Workspace retrieval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Named reference folders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Current attachments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Earlier uploaded document context when enabled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Permitted MCP read/search tools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Conversation history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735824" y="1645920"/>
            <a:ext cx="3337560" cy="39319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1645920"/>
            <a:ext cx="54864" cy="3931920"/>
          </a:xfrm>
          <a:prstGeom prst="rect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18704" y="1810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18704" y="2176272"/>
            <a:ext cx="301752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Source-grounded answer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Traceability matrix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Gap / risk list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Test scenarios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Summary / recommendation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Draft content ready for review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31520" y="57790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8D78"/>
                </a:solidFill>
              </a:rPr>
              <a:t>Example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56692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B35"/>
                </a:solidFill>
              </a:rPr>
              <a:t>“Compare Jira PAY-142 acceptance criteria with Workspace [workspace]. Mark matched, partial, missing, conflicting and not verified. Cite the relevant files and tests.”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4b. Agent Mode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Use Agent when the task requires a plan, file changes, commands, tests or structured multi-step execution.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AGENT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75488" y="1755648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6E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75104"/>
            <a:ext cx="512064" cy="512064"/>
          </a:xfrm>
          <a:prstGeom prst="ellipse">
            <a:avLst/>
          </a:prstGeom>
          <a:solidFill>
            <a:srgbClr val="2BBF8A"/>
          </a:solidFill>
          <a:ln>
            <a:solidFill>
              <a:srgbClr val="2BBF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B35"/>
                </a:solidFill>
              </a:rPr>
              <a:t>Explore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03504" y="312724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Understand project, references and allowed sources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048256" y="2770632"/>
            <a:ext cx="246888" cy="0"/>
          </a:xfrm>
          <a:prstGeom prst="line">
            <a:avLst/>
          </a:prstGeom>
          <a:noFill/>
          <a:ln w="1651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95728" y="1755648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6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975104"/>
            <a:ext cx="512064" cy="512064"/>
          </a:xfrm>
          <a:prstGeom prst="ellipse">
            <a:avLst/>
          </a:prstGeom>
          <a:solidFill>
            <a:srgbClr val="2BBF8A"/>
          </a:solidFill>
          <a:ln>
            <a:solidFill>
              <a:srgbClr val="2BBF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0" y="2697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B35"/>
                </a:solidFill>
              </a:rPr>
              <a:t>Plan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2523744" y="312724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Propose steps and intended changes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968496" y="2770632"/>
            <a:ext cx="246888" cy="0"/>
          </a:xfrm>
          <a:prstGeom prst="line">
            <a:avLst/>
          </a:prstGeom>
          <a:noFill/>
          <a:ln w="1651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15968" y="1755648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FFF3E5"/>
          </a:solidFill>
          <a:ln w="12700">
            <a:solidFill>
              <a:srgbClr val="F3C5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975104"/>
            <a:ext cx="512064" cy="512064"/>
          </a:xfrm>
          <a:prstGeom prst="ellipse">
            <a:avLst/>
          </a:prstGeom>
          <a:solidFill>
            <a:srgbClr val="F2A65A"/>
          </a:solidFill>
          <a:ln>
            <a:solidFill>
              <a:srgbClr val="F2A6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97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B35"/>
                </a:solidFill>
              </a:rPr>
              <a:t>Approve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443984" y="312724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User edits / approves plan when enabled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888736" y="2770632"/>
            <a:ext cx="246888" cy="0"/>
          </a:xfrm>
          <a:prstGeom prst="line">
            <a:avLst/>
          </a:prstGeom>
          <a:noFill/>
          <a:ln w="1651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36208" y="1755648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6E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975104"/>
            <a:ext cx="512064" cy="512064"/>
          </a:xfrm>
          <a:prstGeom prst="ellipse">
            <a:avLst/>
          </a:prstGeom>
          <a:solidFill>
            <a:srgbClr val="2BBF8A"/>
          </a:solidFill>
          <a:ln>
            <a:solidFill>
              <a:srgbClr val="2BBF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2697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B35"/>
                </a:solidFill>
              </a:rPr>
              <a:t>Execute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364224" y="312724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Use permitted tools and make bounded changes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808976" y="2770632"/>
            <a:ext cx="246888" cy="0"/>
          </a:xfrm>
          <a:prstGeom prst="line">
            <a:avLst/>
          </a:prstGeom>
          <a:noFill/>
          <a:ln w="1651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56448" y="1755648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6E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1975104"/>
            <a:ext cx="512064" cy="512064"/>
          </a:xfrm>
          <a:prstGeom prst="ellipse">
            <a:avLst/>
          </a:prstGeom>
          <a:solidFill>
            <a:srgbClr val="2BBF8A"/>
          </a:solidFill>
          <a:ln>
            <a:solidFill>
              <a:srgbClr val="2BBF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21040" y="2697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B35"/>
                </a:solidFill>
              </a:rPr>
              <a:t>Verify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284464" y="312724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Run targeted build / tests / checks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9729216" y="2770632"/>
            <a:ext cx="246888" cy="0"/>
          </a:xfrm>
          <a:prstGeom prst="line">
            <a:avLst/>
          </a:prstGeom>
          <a:noFill/>
          <a:ln w="1651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76688" y="1755648"/>
            <a:ext cx="1572768" cy="2011680"/>
          </a:xfrm>
          <a:prstGeom prst="roundRect">
            <a:avLst>
              <a:gd name="adj" fmla="val 2907"/>
            </a:avLst>
          </a:prstGeom>
          <a:solidFill>
            <a:srgbClr val="E3F7EF"/>
          </a:solidFill>
          <a:ln w="12700">
            <a:solidFill>
              <a:srgbClr val="D6E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0" y="1975104"/>
            <a:ext cx="512064" cy="512064"/>
          </a:xfrm>
          <a:prstGeom prst="ellipse">
            <a:avLst/>
          </a:prstGeom>
          <a:solidFill>
            <a:srgbClr val="2BBF8A"/>
          </a:solidFill>
          <a:ln>
            <a:solidFill>
              <a:srgbClr val="2BBF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241280" y="2697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B35"/>
                </a:solidFill>
              </a:rPr>
              <a:t>Report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10204704" y="312724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772"/>
                </a:solidFill>
              </a:rPr>
              <a:t>Summarize outcomes and changed files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60120" y="431596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9FBFA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" y="4315968"/>
            <a:ext cx="54864" cy="1234440"/>
          </a:xfrm>
          <a:prstGeom prst="rect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4480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Controlled execution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43000" y="4846320"/>
            <a:ext cx="2743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File edits, shell/build/tests, workspace review, MCP, subagents and LSP can each be Allow / Ask / Deny.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4553712" y="431596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9FBFA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53712" y="4315968"/>
            <a:ext cx="54864" cy="12344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4480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Deletion protection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736592" y="4846320"/>
            <a:ext cx="2743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Optional separate approval pauses the run for up to 60 seconds; rejection/timeout stops and attempts managed rollback.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8147304" y="431596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9FBFA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47304" y="4315968"/>
            <a:ext cx="54864" cy="1234440"/>
          </a:xfrm>
          <a:prstGeom prst="rect">
            <a:avLst/>
          </a:prstGeom>
          <a:solidFill>
            <a:srgbClr val="4D76D9"/>
          </a:solidFill>
          <a:ln w="12700">
            <a:solidFill>
              <a:srgbClr val="4D76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0184" y="4480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Recovery &amp; continuity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30184" y="4846320"/>
            <a:ext cx="2743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Up to two optional fallback models can continue the same approved run when the active provider/model is unavailable.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4c. Enterprise MCP integrations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Eliya can combine project context with authorized external sources exposed by the configured MCP server.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MCP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2487168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2011680"/>
            <a:ext cx="822960" cy="822960"/>
          </a:xfrm>
          <a:prstGeom prst="ellipse">
            <a:avLst/>
          </a:prstGeom>
          <a:solidFill>
            <a:srgbClr val="4D76D9"/>
          </a:solidFill>
          <a:ln w="12700">
            <a:solidFill>
              <a:srgbClr val="4D76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226771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29992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JIRA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34670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27772"/>
                </a:solidFill>
              </a:rPr>
              <a:t>Requirements, acceptance criteria, sprint / issue evidence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3474720" y="1755648"/>
            <a:ext cx="2487168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2011680"/>
            <a:ext cx="822960" cy="822960"/>
          </a:xfrm>
          <a:prstGeom prst="ellipse">
            <a:avLst/>
          </a:prstGeom>
          <a:solidFill>
            <a:srgbClr val="1C8D78"/>
          </a:solidFill>
          <a:ln w="12700">
            <a:solidFill>
              <a:srgbClr val="1C8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226771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29992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CONFLUENCE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30752" y="334670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27772"/>
                </a:solidFill>
              </a:rPr>
              <a:t>Specifications, functional knowledge, approved documentation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6291072" y="1755648"/>
            <a:ext cx="2487168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23176" y="2011680"/>
            <a:ext cx="822960" cy="822960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226771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19672" y="29992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GITLAB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47104" y="334670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27772"/>
                </a:solidFill>
              </a:rPr>
              <a:t>Repository / merge-request context when discovered and permitted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9107424" y="1755648"/>
            <a:ext cx="2487168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39528" y="2011680"/>
            <a:ext cx="822960" cy="8229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4976" y="226771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36024" y="29992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SONARQUBE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63456" y="334670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27772"/>
                </a:solidFill>
              </a:rPr>
              <a:t>Quality findings and analysis context when discovered and permitted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960120" y="4315968"/>
            <a:ext cx="10241280" cy="1188720"/>
          </a:xfrm>
          <a:prstGeom prst="roundRect">
            <a:avLst>
              <a:gd name="adj" fmla="val 4615"/>
            </a:avLst>
          </a:prstGeom>
          <a:solidFill>
            <a:srgbClr val="E9F5F1"/>
          </a:solidFill>
          <a:ln w="12700">
            <a:solidFill>
              <a:srgbClr val="C6E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5902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8D78"/>
                </a:solidFill>
              </a:rPr>
              <a:t>Functional rule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448970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23B35"/>
                </a:solidFill>
              </a:rPr>
              <a:t>Availability depends on the configured MCP server, discovered tools and user permissions. Chat exposes read/search-oriented workflows; Agent can use permitted actions.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1243584" y="5084064"/>
            <a:ext cx="9464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27772"/>
                </a:solidFill>
              </a:rPr>
              <a:t>Example: Jira acceptance criteria → compare with current implementation → inspect SonarQube findings → prepare a review-ready gap report.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4d. Automation with Playwright MCP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Use browser evidence to strengthen automation analysis while preserving the project’s existing test stack.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AUTOMATION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2880360" cy="3703320"/>
          </a:xfrm>
          <a:prstGeom prst="roundRect">
            <a:avLst>
              <a:gd name="adj" fmla="val 2540"/>
            </a:avLst>
          </a:prstGeom>
          <a:solidFill>
            <a:srgbClr val="123B35"/>
          </a:solidFill>
          <a:ln w="12700">
            <a:solidFill>
              <a:srgbClr val="123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04825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Existing automation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697480"/>
            <a:ext cx="2176272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960" dirty="0">
                <a:solidFill>
                  <a:srgbClr val="E8F1EE"/>
                </a:solidFill>
              </a:rPr>
              <a:t>Selenium / TestNG / Cucumber</a:t>
            </a:r>
            <a:endParaRPr lang="en-US" sz="960" dirty="0"/>
          </a:p>
          <a:p>
            <a:pPr marL="177800" indent="-177800">
              <a:buSzPct val="100000"/>
              <a:buChar char="•"/>
            </a:pPr>
            <a:r>
              <a:rPr lang="en-US" sz="960" dirty="0">
                <a:solidFill>
                  <a:srgbClr val="E8F1EE"/>
                </a:solidFill>
              </a:rPr>
              <a:t>Playwright TypeScript</a:t>
            </a:r>
            <a:endParaRPr lang="en-US" sz="960" dirty="0"/>
          </a:p>
          <a:p>
            <a:pPr marL="177800" indent="-177800">
              <a:buSzPct val="100000"/>
              <a:buChar char="•"/>
            </a:pPr>
            <a:r>
              <a:rPr lang="en-US" sz="960" dirty="0">
                <a:solidFill>
                  <a:srgbClr val="E8F1EE"/>
                </a:solidFill>
              </a:rPr>
              <a:t>Project conventions and data files</a:t>
            </a:r>
            <a:endParaRPr lang="en-US" sz="960" dirty="0"/>
          </a:p>
          <a:p>
            <a:pPr marL="177800" indent="-177800">
              <a:buSzPct val="100000"/>
              <a:buChar char="•"/>
            </a:pPr>
            <a:r>
              <a:rPr lang="en-US" sz="960" dirty="0">
                <a:solidFill>
                  <a:srgbClr val="E8F1EE"/>
                </a:solidFill>
              </a:rPr>
              <a:t>Existing runner / tags / page objects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024128" y="4773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9C8C0"/>
                </a:solidFill>
              </a:rPr>
              <a:t>Keep the existing framework authoritative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794760" y="3566160"/>
            <a:ext cx="868680" cy="0"/>
          </a:xfrm>
          <a:prstGeom prst="line">
            <a:avLst/>
          </a:prstGeom>
          <a:noFill/>
          <a:ln w="25400">
            <a:solidFill>
              <a:srgbClr val="2BBF8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1719072"/>
            <a:ext cx="2880360" cy="370332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F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0482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35"/>
                </a:solidFill>
              </a:rPr>
              <a:t>Playwright MCP evidence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697480"/>
            <a:ext cx="221284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960" dirty="0">
                <a:solidFill>
                  <a:srgbClr val="15332E"/>
                </a:solidFill>
              </a:rPr>
              <a:t>Inspect live DOM / accessibility tree</a:t>
            </a:r>
            <a:endParaRPr lang="en-US" sz="960" dirty="0"/>
          </a:p>
          <a:p>
            <a:pPr marL="177800" indent="-177800">
              <a:buSzPct val="100000"/>
              <a:buChar char="•"/>
            </a:pPr>
            <a:r>
              <a:rPr lang="en-US" sz="960" dirty="0">
                <a:solidFill>
                  <a:srgbClr val="15332E"/>
                </a:solidFill>
              </a:rPr>
              <a:t>Frames, overlays and redirects</a:t>
            </a:r>
            <a:endParaRPr lang="en-US" sz="960" dirty="0"/>
          </a:p>
          <a:p>
            <a:pPr marL="177800" indent="-177800">
              <a:buSzPct val="100000"/>
              <a:buChar char="•"/>
            </a:pPr>
            <a:r>
              <a:rPr lang="en-US" sz="960" dirty="0">
                <a:solidFill>
                  <a:srgbClr val="15332E"/>
                </a:solidFill>
              </a:rPr>
              <a:t>Visibility and stable locator state</a:t>
            </a:r>
            <a:endParaRPr lang="en-US" sz="960" dirty="0"/>
          </a:p>
          <a:p>
            <a:pPr marL="177800" indent="-177800">
              <a:buSzPct val="100000"/>
              <a:buChar char="•"/>
            </a:pPr>
            <a:r>
              <a:rPr lang="en-US" sz="960" dirty="0">
                <a:solidFill>
                  <a:srgbClr val="15332E"/>
                </a:solidFill>
              </a:rPr>
              <a:t>Browser evidence for failure diagnosis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010912" y="4773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8D78"/>
                </a:solidFill>
              </a:rPr>
              <a:t>Used when browser evidence is required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90688" y="3566160"/>
            <a:ext cx="868680" cy="0"/>
          </a:xfrm>
          <a:prstGeom prst="line">
            <a:avLst/>
          </a:prstGeom>
          <a:noFill/>
          <a:ln w="25400">
            <a:solidFill>
              <a:srgbClr val="2BBF8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05088" y="1719072"/>
            <a:ext cx="2743200" cy="3703320"/>
          </a:xfrm>
          <a:prstGeom prst="roundRect">
            <a:avLst>
              <a:gd name="adj" fmla="val 2667"/>
            </a:avLst>
          </a:prstGeom>
          <a:solidFill>
            <a:srgbClr val="E7F6F0"/>
          </a:solidFill>
          <a:ln w="12700">
            <a:solidFill>
              <a:srgbClr val="BFE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9408" y="20482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35"/>
                </a:solidFill>
              </a:rPr>
              <a:t>Functional outcome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34272" y="2697480"/>
            <a:ext cx="21031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15332E"/>
                </a:solidFill>
              </a:rPr>
              <a:t>Run a targeted test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15332E"/>
                </a:solidFill>
              </a:rPr>
              <a:t>Diagnose from actual evidence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15332E"/>
                </a:solidFill>
              </a:rPr>
              <a:t>Propose minimal maintainable fix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15332E"/>
                </a:solidFill>
              </a:rPr>
              <a:t>Rerun and report current result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15332E"/>
                </a:solidFill>
              </a:rPr>
              <a:t>Support Selenium → Playwright migration workflows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4e. Prompt Factory and “How to use Eliya”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Reduce prompt-writing effort and guide users toward consistent, bounded workflows.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ENABLEMENT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664208"/>
            <a:ext cx="4983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64208"/>
            <a:ext cx="54864" cy="3611880"/>
          </a:xfrm>
          <a:prstGeom prst="rect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288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Prompt Factory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46634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A searchable catalogue of ready-to-use workflows for development, testing, Playwright, API, documentation, migration, Jira analysis, presentations and operational tasks.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Users choose a task, replace the example inputs and run it in the recommended mode. Templates reinforce Workspace [workspace], Reference [AliasName], expected output, safety boundaries and evidence requirements.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961888" y="1664208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1888" y="1664208"/>
            <a:ext cx="54864" cy="3611880"/>
          </a:xfrm>
          <a:prstGeom prst="rect">
            <a:avLst/>
          </a:prstGeom>
          <a:solidFill>
            <a:srgbClr val="4D76D9"/>
          </a:solidFill>
          <a:ln w="12700">
            <a:solidFill>
              <a:srgbClr val="4D7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828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How to use Eliya page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44768" y="2194560"/>
            <a:ext cx="51206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Built-in onboarding page covering quick start, model settings, workspace/reference setup, aliases, Chat vs Agent, Prompt Factory, indexing, plan/tool approvals, MCP, outputs/history, troubleshooting and Playwright workflows.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Purpose: make the product self-guided and reduce dependency on the creator for every new user.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86384" y="5532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8D78"/>
                </a:solidFill>
              </a:rPr>
              <a:t>Adoption principle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54498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Good prompts are scoped, source-aware and explicit about the expected deliverable and “not verified” evidence.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4f. Confluence Formatter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Convert reviewed Markdown or plain text into portable, structured Confluence-ready content — without rewriting facts.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FORMATTER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920240" cy="257860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2057400"/>
            <a:ext cx="585216" cy="585216"/>
          </a:xfrm>
          <a:prstGeom prst="ellipse">
            <a:avLst/>
          </a:prstGeom>
          <a:solidFill>
            <a:srgbClr val="1C8D78"/>
          </a:solidFill>
          <a:ln>
            <a:solidFill>
              <a:srgbClr val="1C8D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3816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Source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3255264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772"/>
                </a:solidFill>
              </a:rPr>
              <a:t>Paste text, use latest answer or load Agent-generated Markdown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3090672"/>
            <a:ext cx="265176" cy="0"/>
          </a:xfrm>
          <a:prstGeom prst="line">
            <a:avLst/>
          </a:prstGeom>
          <a:noFill/>
          <a:ln w="1524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1828800"/>
            <a:ext cx="1920240" cy="257860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2057400"/>
            <a:ext cx="585216" cy="585216"/>
          </a:xfrm>
          <a:prstGeom prst="ellipse">
            <a:avLst/>
          </a:prstGeom>
          <a:solidFill>
            <a:srgbClr val="1C8D78"/>
          </a:solidFill>
          <a:ln>
            <a:solidFill>
              <a:srgbClr val="1C8D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99816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Theme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81528" y="3255264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772"/>
                </a:solidFill>
              </a:rPr>
              <a:t>Choose BNP Green, Corporate Blue or Minimal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0600" y="3090672"/>
            <a:ext cx="265176" cy="0"/>
          </a:xfrm>
          <a:prstGeom prst="line">
            <a:avLst/>
          </a:prstGeom>
          <a:noFill/>
          <a:ln w="1524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828800"/>
            <a:ext cx="1920240" cy="257860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4728" y="2057400"/>
            <a:ext cx="585216" cy="585216"/>
          </a:xfrm>
          <a:prstGeom prst="ellipse">
            <a:avLst/>
          </a:prstGeom>
          <a:solidFill>
            <a:srgbClr val="1C8D78"/>
          </a:solidFill>
          <a:ln>
            <a:solidFill>
              <a:srgbClr val="1C8D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85816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Preview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67528" y="3255264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772"/>
                </a:solidFill>
              </a:rPr>
              <a:t>Validate headings, tables, code and visual hierarchy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86600" y="3090672"/>
            <a:ext cx="265176" cy="0"/>
          </a:xfrm>
          <a:prstGeom prst="line">
            <a:avLst/>
          </a:prstGeom>
          <a:noFill/>
          <a:ln w="1524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1828800"/>
            <a:ext cx="1920240" cy="257860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057400"/>
            <a:ext cx="585216" cy="585216"/>
          </a:xfrm>
          <a:prstGeom prst="ellipse">
            <a:avLst/>
          </a:prstGeom>
          <a:solidFill>
            <a:srgbClr val="1C8D78"/>
          </a:solidFill>
          <a:ln>
            <a:solidFill>
              <a:srgbClr val="1C8D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71816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Copy / HTML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53528" y="3255264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772"/>
                </a:solidFill>
              </a:rPr>
              <a:t>Copy rich + plain text formats or download HTML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372600" y="3090672"/>
            <a:ext cx="265176" cy="0"/>
          </a:xfrm>
          <a:prstGeom prst="line">
            <a:avLst/>
          </a:prstGeom>
          <a:noFill/>
          <a:ln w="15240">
            <a:solidFill>
              <a:srgbClr val="1C8D7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38360" y="1828800"/>
            <a:ext cx="1920240" cy="2578608"/>
          </a:xfrm>
          <a:prstGeom prst="roundRect">
            <a:avLst>
              <a:gd name="adj" fmla="val 2857"/>
            </a:avLst>
          </a:prstGeom>
          <a:solidFill>
            <a:srgbClr val="E6F7F0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96728" y="2057400"/>
            <a:ext cx="585216" cy="585216"/>
          </a:xfrm>
          <a:prstGeom prst="ellipse">
            <a:avLst/>
          </a:prstGeom>
          <a:solidFill>
            <a:srgbClr val="2BBF8A"/>
          </a:solidFill>
          <a:ln>
            <a:solidFill>
              <a:srgbClr val="2BBF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57816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Publish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939528" y="3255264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772"/>
                </a:solidFill>
              </a:rPr>
              <a:t>User pastes into Confluence and performs final review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43000" y="4846320"/>
            <a:ext cx="9875520" cy="822960"/>
          </a:xfrm>
          <a:prstGeom prst="roundRect">
            <a:avLst>
              <a:gd name="adj" fmla="val 5556"/>
            </a:avLst>
          </a:prstGeom>
          <a:solidFill>
            <a:srgbClr val="FFF5E9"/>
          </a:solidFill>
          <a:ln w="12700">
            <a:solidFill>
              <a:srgbClr val="F4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44752" y="5093208"/>
            <a:ext cx="9290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74502B"/>
                </a:solidFill>
              </a:rPr>
              <a:t>Functional safeguard: the formatter is for presentation and portability. It does not automatically publish a page or intentionally change source facts.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5. How Eliya saves tokens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The design goal is to send the model relevant context — not repeatedly resend the whole project or every tool schema.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EFFICIENCY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E6F7F0"/>
          </a:solidFill>
          <a:ln w="12700">
            <a:solidFill>
              <a:srgbClr val="D2E3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37944"/>
            <a:ext cx="438912" cy="438912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1828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Index once, reuse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89888" y="224942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27772"/>
                </a:solidFill>
              </a:rPr>
              <a:t>Workspace indexing is cached and unchanged files are reused on rescans.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4462272" y="1627632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2E3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1837944"/>
            <a:ext cx="438912" cy="438912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828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Retrieve selectively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12080" y="224942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27772"/>
                </a:solidFill>
              </a:rPr>
              <a:t>Relevant files/chunks are selected for the current question instead of blindly attaching the repository.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8284464" y="1627632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2E3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1837944"/>
            <a:ext cx="438912" cy="438912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4272" y="1828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Incremental refresh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34272" y="224942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27772"/>
                </a:solidFill>
              </a:rPr>
              <a:t>Known changed paths refresh after Agent edits rather than forcing a full rebuild.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640080" y="3639312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2E3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49624"/>
            <a:ext cx="438912" cy="438912"/>
          </a:xfrm>
          <a:prstGeom prst="ellipse">
            <a:avLst/>
          </a:prstGeom>
          <a:solidFill>
            <a:srgbClr val="1C8D78"/>
          </a:solidFill>
          <a:ln w="12700">
            <a:solidFill>
              <a:srgbClr val="1C8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888" y="3840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Compact long runs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89888" y="426110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27772"/>
                </a:solidFill>
              </a:rPr>
              <a:t>Older conversation/tool context can be summarized when a run grows large.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4462272" y="3639312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2E3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5152" y="3849624"/>
            <a:ext cx="438912" cy="438912"/>
          </a:xfrm>
          <a:prstGeom prst="ellipse">
            <a:avLst/>
          </a:prstGeom>
          <a:solidFill>
            <a:srgbClr val="1C8D78"/>
          </a:solidFill>
          <a:ln w="12700">
            <a:solidFill>
              <a:srgbClr val="1C8D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840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Prune tool output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12080" y="426110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27772"/>
                </a:solidFill>
              </a:rPr>
              <a:t>Old or oversized tool observations are trimmed while durable plan/workspace facts are retained.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8284464" y="3639312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2E3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67344" y="3849624"/>
            <a:ext cx="438912" cy="438912"/>
          </a:xfrm>
          <a:prstGeom prst="ellipse">
            <a:avLst/>
          </a:prstGeom>
          <a:solidFill>
            <a:srgbClr val="1C8D78"/>
          </a:solidFill>
          <a:ln w="12700">
            <a:solidFill>
              <a:srgbClr val="1C8D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34272" y="3840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3B35"/>
                </a:solidFill>
              </a:rPr>
              <a:t>Defer MCP schemas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034272" y="426110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27772"/>
                </a:solidFill>
              </a:rPr>
              <a:t>Specialized MCP tools are discovered/loaded when needed instead of always occupying context.</a:t>
            </a:r>
            <a:endParaRPr lang="en-US" sz="890" dirty="0"/>
          </a:p>
        </p:txBody>
      </p:sp>
      <p:sp>
        <p:nvSpPr>
          <p:cNvPr id="30" name="Text 28"/>
          <p:cNvSpPr/>
          <p:nvPr/>
        </p:nvSpPr>
        <p:spPr>
          <a:xfrm>
            <a:off x="749808" y="5632704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8D78"/>
                </a:solidFill>
              </a:rPr>
              <a:t>Measure, do not guess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5532120"/>
            <a:ext cx="8796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B35"/>
                </a:solidFill>
              </a:rPr>
              <a:t>Agent runs record provider input/output tokens, cached input, compactions, pruning and estimated pruning savings. A controlled pilot can compare identical tasks before and after optimization.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6. Governance, rollback and completion evidence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Eliya is designed to make Agent actions reviewable and recoverable within defined boundaries.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CONTROL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64208"/>
            <a:ext cx="54864" cy="3611880"/>
          </a:xfrm>
          <a:prstGeom prst="rect">
            <a:avLst/>
          </a:prstGeom>
          <a:solidFill>
            <a:srgbClr val="4D76D9"/>
          </a:solidFill>
          <a:ln w="12700">
            <a:solidFill>
              <a:srgbClr val="4D76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Before execution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194560"/>
            <a:ext cx="30175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Editable plan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Plan approval (optional but recommended)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Allow / Ask / Deny for tool categories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Separate destructive-file confirmation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Explicit workspace and reference boundaries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187952" y="1664208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87952" y="1664208"/>
            <a:ext cx="54864" cy="36118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1828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During execution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70832" y="2194560"/>
            <a:ext cx="30175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Visible step progress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Deletion approval timeout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Protected run-start snapshot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Targeted verification where environment allows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Fallback model continuity without changing the approved task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717536" y="1664208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17536" y="1664208"/>
            <a:ext cx="54864" cy="3611880"/>
          </a:xfrm>
          <a:prstGeom prst="rect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0416" y="1828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After execution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00416" y="2194560"/>
            <a:ext cx="30175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Completion summary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Created / modified / deleted tracked local files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Commands / verification results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Outstanding or unverified items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5332E"/>
                </a:solidFill>
              </a:rPr>
              <a:t>Undo last eligible Agent task when safe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68096" y="5577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8D78"/>
                </a:solidFill>
              </a:rPr>
              <a:t>Rollback boundary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93392" y="5486400"/>
            <a:ext cx="9217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23B35"/>
                </a:solidFill>
              </a:rPr>
              <a:t>Rollback protects managed local workspace changes. It is not a substitute for source control and cannot guarantee reversal of unrestricted external programs or remote MCP-side effects.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7. Settings — functional options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Settings centralize model choice, external connections and execution controls.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SETTINGS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8523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2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55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Connection &amp;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API key / Base URL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Chat model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Agentic model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Optional Agent Vision model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Temperature / max output tokens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6291072" y="1572768"/>
            <a:ext cx="528523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2E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55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Remote MCP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17627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Enable MCP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Connection name / URL / timeout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User ID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Jira / Confluence tokens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Optional GitLab / SonarQube tokens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Test connection &amp; discover tools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640080" y="3813048"/>
            <a:ext cx="528523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2E3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95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Retrieval &amp; continuity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441655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Optional embedding model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Semantic search toggle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Use earlier uploaded document context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Up to two fallback models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Recovery / stall controls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6291072" y="3813048"/>
            <a:ext cx="5285232" cy="1938528"/>
          </a:xfrm>
          <a:prstGeom prst="roundRect">
            <a:avLst>
              <a:gd name="adj" fmla="val 2830"/>
            </a:avLst>
          </a:prstGeom>
          <a:solidFill>
            <a:srgbClr val="E7F6F0"/>
          </a:solidFill>
          <a:ln w="12700">
            <a:solidFill>
              <a:srgbClr val="D2E3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3995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35"/>
                </a:solidFill>
              </a:rPr>
              <a:t>Agent permissions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41655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File edits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Shell / build / tests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Workspace review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MCP tools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Subagents / LSP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Plan approval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15332E"/>
                </a:solidFill>
              </a:rPr>
              <a:t>Deletion confirmation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768096" y="5961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C8D78"/>
                </a:solidFill>
              </a:rPr>
              <a:t>Security note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1828800" y="5870448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B35"/>
                </a:solidFill>
              </a:rPr>
              <a:t>Credentials stay in the current OS user’s Eliya configuration and are not intended to be inserted into prompts. Use least-privilege access.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8. Productivity by stakeholder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The same shared context supports different questions without forcing every role to repeat discovery.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VALUE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03504" y="1572768"/>
            <a:ext cx="11000232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D1E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013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8D78"/>
                </a:solidFill>
              </a:rPr>
              <a:t>Role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88920" y="180136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8D78"/>
                </a:solidFill>
              </a:rPr>
              <a:t>Typical Eliya workflow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73568" y="180136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8D78"/>
                </a:solidFill>
              </a:rPr>
              <a:t>Potential productivity impact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" y="2176272"/>
            <a:ext cx="10588752" cy="0"/>
          </a:xfrm>
          <a:prstGeom prst="line">
            <a:avLst/>
          </a:prstGeom>
          <a:noFill/>
          <a:ln w="15240">
            <a:solidFill>
              <a:srgbClr val="CF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3408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B35"/>
                </a:solidFill>
              </a:rPr>
              <a:t>Developer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2788920" y="23408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332E"/>
                </a:solidFill>
              </a:rPr>
              <a:t>Jira → code coverage, impact analysis, review, approved fixes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73568" y="234086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772"/>
                </a:solidFill>
              </a:rPr>
              <a:t>Reduce discovery and requirement-to-code rework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2834640"/>
            <a:ext cx="10735056" cy="502920"/>
          </a:xfrm>
          <a:prstGeom prst="rect">
            <a:avLst/>
          </a:prstGeom>
          <a:solidFill>
            <a:srgbClr val="F5F9F8"/>
          </a:solidFill>
          <a:ln w="12700">
            <a:solidFill>
              <a:srgbClr val="F5F9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077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B35"/>
                </a:solidFill>
              </a:rPr>
              <a:t>QA / Automation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2788920" y="290779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332E"/>
                </a:solidFill>
              </a:rPr>
              <a:t>Requirement coverage, test design, automation gaps, Playwright diagnosis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73568" y="290779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772"/>
                </a:solidFill>
              </a:rPr>
              <a:t>Improve scenario completeness and shorten automation cycles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" y="3474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B35"/>
                </a:solidFill>
              </a:rPr>
              <a:t>Business Analyst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2788920" y="34747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332E"/>
                </a:solidFill>
              </a:rPr>
              <a:t>Requirement ambiguity, delta analysis, functional 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73568" y="347472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772"/>
                </a:solidFill>
              </a:rPr>
              <a:t>Find gaps earlier and improve requirement quality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" y="3968496"/>
            <a:ext cx="10735056" cy="502920"/>
          </a:xfrm>
          <a:prstGeom prst="rect">
            <a:avLst/>
          </a:prstGeom>
          <a:solidFill>
            <a:srgbClr val="F5F9F8"/>
          </a:solidFill>
          <a:ln w="12700">
            <a:solidFill>
              <a:srgbClr val="F5F9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0416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B35"/>
                </a:solidFill>
              </a:rPr>
              <a:t>Product Owner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2788920" y="40416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332E"/>
                </a:solidFill>
              </a:rPr>
              <a:t>Acceptance readiness, scope / risk summary, open decisions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73568" y="404164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772"/>
                </a:solidFill>
              </a:rPr>
              <a:t>Faster evidence-based acceptance discussions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" y="46085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B35"/>
                </a:solidFill>
              </a:rPr>
              <a:t>Tech / Delivery Lead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2788920" y="460857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332E"/>
                </a:solidFill>
              </a:rPr>
              <a:t>Cross-source status, risk and change evidence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6085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772"/>
                </a:solidFill>
              </a:rPr>
              <a:t>Consolidated review without manual information gathering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" y="5102352"/>
            <a:ext cx="10735056" cy="502920"/>
          </a:xfrm>
          <a:prstGeom prst="rect">
            <a:avLst/>
          </a:prstGeom>
          <a:solidFill>
            <a:srgbClr val="F5F9F8"/>
          </a:solidFill>
          <a:ln w="12700">
            <a:solidFill>
              <a:srgbClr val="F5F9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51755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23B35"/>
                </a:solidFill>
              </a:rPr>
              <a:t>Documentation / Support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2788920" y="51755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332E"/>
                </a:solidFill>
              </a:rPr>
              <a:t>Functional docs, Confluence-ready pages, RCA summaries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73568" y="517550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772"/>
                </a:solidFill>
              </a:rPr>
              <a:t>Reduce repetitive documentation and knowledge transfer effort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9. Recommended management demo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Use one story end-to-end instead of showing disconnected features.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DEMO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530352" cy="530352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0992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44752" y="15819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Jira 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1545336"/>
            <a:ext cx="8065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332E"/>
                </a:solidFill>
              </a:rPr>
              <a:t>Open one approved sample story and ask Eliya to enumerate acceptance criteria.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978408" y="2093976"/>
            <a:ext cx="0" cy="393192"/>
          </a:xfrm>
          <a:prstGeom prst="line">
            <a:avLst/>
          </a:prstGeom>
          <a:noFill/>
          <a:ln w="19050">
            <a:solidFill>
              <a:srgbClr val="BDD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487168"/>
            <a:ext cx="530352" cy="530352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4261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44752" y="251460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Developer 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2478024"/>
            <a:ext cx="8065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332E"/>
                </a:solidFill>
              </a:rPr>
              <a:t>Compare the criteria with Workspace [workspace] and expose one deliberate partial/missing scenario.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978408" y="3026664"/>
            <a:ext cx="0" cy="393192"/>
          </a:xfrm>
          <a:prstGeom prst="line">
            <a:avLst/>
          </a:prstGeom>
          <a:noFill/>
          <a:ln w="19050">
            <a:solidFill>
              <a:srgbClr val="BDD8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419856"/>
            <a:ext cx="530352" cy="530352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57530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44752" y="344728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QA 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3410712"/>
            <a:ext cx="8065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332E"/>
                </a:solidFill>
              </a:rPr>
              <a:t>Generate missing negative/boundary scenarios and compare with existing tests.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978408" y="3959352"/>
            <a:ext cx="0" cy="393192"/>
          </a:xfrm>
          <a:prstGeom prst="line">
            <a:avLst/>
          </a:prstGeom>
          <a:noFill/>
          <a:ln w="19050">
            <a:solidFill>
              <a:srgbClr val="BDD8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352544"/>
            <a:ext cx="530352" cy="530352"/>
          </a:xfrm>
          <a:prstGeom prst="ellipse">
            <a:avLst/>
          </a:prstGeom>
          <a:solidFill>
            <a:srgbClr val="2BBF8A"/>
          </a:solidFill>
          <a:ln w="12700">
            <a:solidFill>
              <a:srgbClr val="2BB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5079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44752" y="437997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Agent 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360" y="4343400"/>
            <a:ext cx="8065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332E"/>
                </a:solidFill>
              </a:rPr>
              <a:t>Show a bounded plan, approval, small change, targeted verification and completion report.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978408" y="4892040"/>
            <a:ext cx="0" cy="393192"/>
          </a:xfrm>
          <a:prstGeom prst="line">
            <a:avLst/>
          </a:prstGeom>
          <a:noFill/>
          <a:ln w="19050">
            <a:solidFill>
              <a:srgbClr val="BDD8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5285232"/>
            <a:ext cx="530352" cy="53035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44068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444752" y="531266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PO / Confluence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80360" y="5276088"/>
            <a:ext cx="8065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332E"/>
                </a:solidFill>
              </a:rPr>
              <a:t>Create a readiness summary and format the reviewed content for Confluence.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1536192" y="5943600"/>
            <a:ext cx="9098280" cy="411480"/>
          </a:xfrm>
          <a:prstGeom prst="roundRect">
            <a:avLst>
              <a:gd name="adj" fmla="val 8889"/>
            </a:avLst>
          </a:prstGeom>
          <a:solidFill>
            <a:srgbClr val="E7F6F0"/>
          </a:solidFill>
          <a:ln w="12700">
            <a:solidFill>
              <a:srgbClr val="C0E4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55648" y="6053328"/>
            <a:ext cx="8641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23B35"/>
                </a:solidFill>
              </a:rPr>
              <a:t>Demo principle: use non-sensitive sample data, pre-test the MCP connection, and keep a pre-generated result as contingency.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10. Demo queries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Copy-ready prompts for a functional demo.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QUERIES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67512" y="141732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544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C8D78"/>
                </a:solidFill>
              </a:rPr>
              <a:t>Developer — Jira to code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10128" y="150876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5332E"/>
                </a:solidFill>
              </a:rPr>
              <a:t>Using Jira PAY-142 and Workspace [workspace], compare each acceptance criterion with the current implementation and existing tests. Return matched / partial / missing / conflicting / not verified with file evidence.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67512" y="237744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514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C8D78"/>
                </a:solidFill>
              </a:rPr>
              <a:t>QA — coverage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10128" y="246888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5332E"/>
                </a:solidFill>
              </a:rPr>
              <a:t>Using the same story, generate positive, negative, boundary, role and recovery scenarios. Compare them with existing tests and highlight gaps.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67512" y="333756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4747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C8D78"/>
                </a:solidFill>
              </a:rPr>
              <a:t>Agent — bounded change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10128" y="342900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5332E"/>
                </a:solidFill>
              </a:rPr>
              <a:t>Address only the approved gap for AC-3. Show an editable plan first, implement after approval, run targeted verification and report changed files and remaining risks.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67512" y="429768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4348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C8D78"/>
                </a:solidFill>
              </a:rPr>
              <a:t>Automation — Playwright MCP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0128" y="438912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5332E"/>
                </a:solidFill>
              </a:rPr>
              <a:t>Run the smallest affected test. When browser evidence is needed, use Playwright MCP to inspect the live DOM / accessibility state, diagnose the failure, propose the smallest maintainable fix and rerun.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67512" y="525780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4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3949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C8D78"/>
                </a:solidFill>
              </a:rPr>
              <a:t>PO / Lead — readiness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5349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5332E"/>
                </a:solidFill>
              </a:rPr>
              <a:t>Summarize story readiness using accessible Jira, implementation and test evidence. Separate completed, blocked, unverified and decision-required items.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5"/>
                </a:solidFill>
              </a:rPr>
              <a:t>11. Pilot and measurable outcomes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772"/>
                </a:solidFill>
              </a:rPr>
              <a:t>Position the first rollout as a controlled productivity experiment, not a blanket AI deployment.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2F7EF"/>
          </a:solidFill>
          <a:ln w="12700">
            <a:solidFill>
              <a:srgbClr val="E2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298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PILOT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4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856232"/>
            <a:ext cx="768096" cy="768096"/>
          </a:xfrm>
          <a:prstGeom prst="ellipse">
            <a:avLst/>
          </a:prstGeom>
          <a:solidFill>
            <a:srgbClr val="1C8D78"/>
          </a:solidFill>
          <a:ln>
            <a:solidFill>
              <a:srgbClr val="1C8D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31638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27772"/>
                </a:solidFill>
              </a:rPr>
              <a:t>Measure current effort and quality for 3–5 repeatable tasks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127248" y="2679192"/>
            <a:ext cx="237744" cy="0"/>
          </a:xfrm>
          <a:prstGeom prst="line">
            <a:avLst/>
          </a:prstGeom>
          <a:noFill/>
          <a:ln w="16510">
            <a:solidFill>
              <a:srgbClr val="2BBF8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627632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4E4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856232"/>
            <a:ext cx="768096" cy="768096"/>
          </a:xfrm>
          <a:prstGeom prst="ellipse">
            <a:avLst/>
          </a:prstGeom>
          <a:solidFill>
            <a:srgbClr val="1C8D78"/>
          </a:solidFill>
          <a:ln>
            <a:solidFill>
              <a:srgbClr val="1C8D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Pilot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31638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27772"/>
                </a:solidFill>
              </a:rPr>
              <a:t>2–3 users per role; preserve normal reviews and approvals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943600" y="2679192"/>
            <a:ext cx="237744" cy="0"/>
          </a:xfrm>
          <a:prstGeom prst="line">
            <a:avLst/>
          </a:prstGeom>
          <a:noFill/>
          <a:ln w="16510">
            <a:solidFill>
              <a:srgbClr val="2BBF8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91072" y="1627632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4E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1464" y="1856232"/>
            <a:ext cx="768096" cy="768096"/>
          </a:xfrm>
          <a:prstGeom prst="ellipse">
            <a:avLst/>
          </a:prstGeom>
          <a:solidFill>
            <a:srgbClr val="1C8D78"/>
          </a:solidFill>
          <a:ln>
            <a:solidFill>
              <a:srgbClr val="1C8D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19672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Compare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9672" y="31638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27772"/>
                </a:solidFill>
              </a:rPr>
              <a:t>Measure end-to-end time, corrections, coverage and token usage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8759952" y="2679192"/>
            <a:ext cx="237744" cy="0"/>
          </a:xfrm>
          <a:prstGeom prst="line">
            <a:avLst/>
          </a:prstGeom>
          <a:noFill/>
          <a:ln w="16510">
            <a:solidFill>
              <a:srgbClr val="2BBF8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07424" y="1627632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E5F6EF"/>
          </a:solidFill>
          <a:ln w="12700">
            <a:solidFill>
              <a:srgbClr val="D4E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57816" y="1856232"/>
            <a:ext cx="768096" cy="768096"/>
          </a:xfrm>
          <a:prstGeom prst="ellipse">
            <a:avLst/>
          </a:prstGeom>
          <a:solidFill>
            <a:srgbClr val="2BBF8A"/>
          </a:solidFill>
          <a:ln>
            <a:solidFill>
              <a:srgbClr val="2BBF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36024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Decide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36024" y="31638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27772"/>
                </a:solidFill>
              </a:rPr>
              <a:t>Scale workflows that demonstrate value and acceptable risk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713232" y="4069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8D78"/>
                </a:solidFill>
              </a:rPr>
              <a:t>Suggested KPI set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" y="4480560"/>
            <a:ext cx="3246120" cy="301752"/>
          </a:xfrm>
          <a:prstGeom prst="roundRect">
            <a:avLst>
              <a:gd name="adj" fmla="val 24242"/>
            </a:avLst>
          </a:prstGeom>
          <a:solidFill>
            <a:srgbClr val="E3F6EF"/>
          </a:solidFill>
          <a:ln w="12700">
            <a:solidFill>
              <a:srgbClr val="E3F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539996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Median task cycle time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89120" y="4480560"/>
            <a:ext cx="3246120" cy="301752"/>
          </a:xfrm>
          <a:prstGeom prst="roundRect">
            <a:avLst>
              <a:gd name="adj" fmla="val 24242"/>
            </a:avLst>
          </a:prstGeom>
          <a:solidFill>
            <a:srgbClr val="E3F6EF"/>
          </a:solidFill>
          <a:ln w="12700">
            <a:solidFill>
              <a:srgbClr val="E3F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4539996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Reviewer corrections / rework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65008" y="4480560"/>
            <a:ext cx="3246120" cy="301752"/>
          </a:xfrm>
          <a:prstGeom prst="roundRect">
            <a:avLst>
              <a:gd name="adj" fmla="val 24242"/>
            </a:avLst>
          </a:prstGeom>
          <a:solidFill>
            <a:srgbClr val="E3F6EF"/>
          </a:solidFill>
          <a:ln w="12700">
            <a:solidFill>
              <a:srgbClr val="E3F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4539996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8D78"/>
                </a:solidFill>
              </a:rPr>
              <a:t>Requirement &amp; test traceability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3232" y="5102352"/>
            <a:ext cx="3246120" cy="301752"/>
          </a:xfrm>
          <a:prstGeom prst="roundRect">
            <a:avLst>
              <a:gd name="adj" fmla="val 2424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5161788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D76D9"/>
                </a:solidFill>
              </a:rPr>
              <a:t>Defects / gaps found earlier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89120" y="5102352"/>
            <a:ext cx="3246120" cy="301752"/>
          </a:xfrm>
          <a:prstGeom prst="roundRect">
            <a:avLst>
              <a:gd name="adj" fmla="val 2424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62272" y="5161788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D76D9"/>
                </a:solidFill>
              </a:rPr>
              <a:t>Successful task completion rate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065008" y="5102352"/>
            <a:ext cx="3246120" cy="301752"/>
          </a:xfrm>
          <a:prstGeom prst="roundRect">
            <a:avLst>
              <a:gd name="adj" fmla="val 2424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5161788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D76D9"/>
                </a:solidFill>
              </a:rPr>
              <a:t>Model input/output token usage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88720" y="5897880"/>
            <a:ext cx="9765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62F"/>
                </a:solidFill>
              </a:rPr>
              <a:t>Do not present unmeasured percentage savings as achieved results. Use baseline vs pilot data.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3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35"/>
          </a:solidFill>
          <a:ln w="12700">
            <a:solidFill>
              <a:srgbClr val="123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713232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254E47"/>
          </a:solidFill>
          <a:ln w="12700">
            <a:solidFill>
              <a:srgbClr val="254E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772668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F3DE"/>
                </a:solidFill>
              </a:rPr>
              <a:t>PROPOSAL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" y="148132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Start small. Measure. Scale what works.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CE7"/>
                </a:solidFill>
              </a:rPr>
              <a:t>Propose a four-week Eliya pilot using representative workflows for Developer, QA and BA / Product Owner users.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75888"/>
            <a:ext cx="2423160" cy="1353312"/>
          </a:xfrm>
          <a:prstGeom prst="roundRect">
            <a:avLst>
              <a:gd name="adj" fmla="val 4054"/>
            </a:avLst>
          </a:prstGeom>
          <a:solidFill>
            <a:srgbClr val="1A4A42"/>
          </a:solidFill>
          <a:ln w="12700">
            <a:solidFill>
              <a:srgbClr val="285C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858768"/>
            <a:ext cx="347472" cy="347472"/>
          </a:xfrm>
          <a:prstGeom prst="ellipse">
            <a:avLst/>
          </a:prstGeom>
          <a:solidFill>
            <a:srgbClr val="B9F4DE"/>
          </a:solidFill>
          <a:ln>
            <a:solidFill>
              <a:srgbClr val="B9F4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3312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value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53312" y="42245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9D5CD"/>
                </a:solidFill>
              </a:rPr>
              <a:t>Less repeated discovery and faster evidence preparation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502152" y="3675888"/>
            <a:ext cx="2423160" cy="1353312"/>
          </a:xfrm>
          <a:prstGeom prst="roundRect">
            <a:avLst>
              <a:gd name="adj" fmla="val 4054"/>
            </a:avLst>
          </a:prstGeom>
          <a:solidFill>
            <a:srgbClr val="1A4A42"/>
          </a:solidFill>
          <a:ln w="12700">
            <a:solidFill>
              <a:srgbClr val="285C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6744" y="3858768"/>
            <a:ext cx="347472" cy="347472"/>
          </a:xfrm>
          <a:prstGeom prst="ellipse">
            <a:avLst/>
          </a:prstGeom>
          <a:solidFill>
            <a:srgbClr val="B9F4DE"/>
          </a:solidFill>
          <a:ln>
            <a:solidFill>
              <a:srgbClr val="B9F4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23944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23944" y="42245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9D5CD"/>
                </a:solidFill>
              </a:rPr>
              <a:t>More systematic traceability, coverage and review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6272784" y="3675888"/>
            <a:ext cx="2423160" cy="1353312"/>
          </a:xfrm>
          <a:prstGeom prst="roundRect">
            <a:avLst>
              <a:gd name="adj" fmla="val 4054"/>
            </a:avLst>
          </a:prstGeom>
          <a:solidFill>
            <a:srgbClr val="1A4A42"/>
          </a:solidFill>
          <a:ln w="12700">
            <a:solidFill>
              <a:srgbClr val="285C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3858768"/>
            <a:ext cx="347472" cy="347472"/>
          </a:xfrm>
          <a:prstGeom prst="ellipse">
            <a:avLst/>
          </a:prstGeom>
          <a:solidFill>
            <a:srgbClr val="B9F4DE"/>
          </a:solidFill>
          <a:ln>
            <a:solidFill>
              <a:srgbClr val="B9F4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94576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94576" y="42245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9D5CD"/>
                </a:solidFill>
              </a:rPr>
              <a:t>Approvals, permissions, reporting and rollback boundaries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9043416" y="3675888"/>
            <a:ext cx="2423160" cy="1353312"/>
          </a:xfrm>
          <a:prstGeom prst="roundRect">
            <a:avLst>
              <a:gd name="adj" fmla="val 4054"/>
            </a:avLst>
          </a:prstGeom>
          <a:solidFill>
            <a:srgbClr val="1A4A42"/>
          </a:solidFill>
          <a:ln w="12700">
            <a:solidFill>
              <a:srgbClr val="285C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08008" y="3858768"/>
            <a:ext cx="347472" cy="347472"/>
          </a:xfrm>
          <a:prstGeom prst="ellipse">
            <a:avLst/>
          </a:prstGeom>
          <a:solidFill>
            <a:srgbClr val="B9F4DE"/>
          </a:solidFill>
          <a:ln>
            <a:solidFill>
              <a:srgbClr val="B9F4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35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65208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Efficiency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65208" y="42245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9D5CD"/>
                </a:solidFill>
              </a:rPr>
              <a:t>Selective retrieval, compaction and measurable token usage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731520" y="58155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F4DE"/>
                </a:solidFill>
              </a:rPr>
              <a:t>Questions / Discussion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62910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B4AA"/>
                </a:solidFill>
              </a:rPr>
              <a:t>ELIYA29 functional baseline • external integration availability depends on configured MCP tools and permissions.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980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ELIYA — Functional Productivity Platform</dc:title>
  <dc:subject>ELIYA functional overview and management proposal</dc:subject>
  <dc:creator>OpenAI</dc:creator>
  <cp:lastModifiedBy>OpenAI</cp:lastModifiedBy>
  <cp:revision>1</cp:revision>
  <dcterms:created xsi:type="dcterms:W3CDTF">2026-10-04T07:00:05Z</dcterms:created>
  <dcterms:modified xsi:type="dcterms:W3CDTF">2026-10-04T07:00:05Z</dcterms:modified>
</cp:coreProperties>
</file>