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ELIYA is one AI delivery workspace that understands the application context and enables approved, traceable work. It can analyze one primary codebase and up to five reference workspaces, use Chat to explain and Agent to plan/act/verify, and optionally connect to Jira, Confluence, GitLab, SonarQube and Playwright when explicitly enabled and configured. Examples are business outcomes and possible workflows; no time-saving percentage is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one short scenario for each stakeholder, not an exhaustive feature tour. Developers compare a Jira story with implementation. QA teams migrate or repair tests. Analysts compare acceptance criteria with implementation. Architects and SMEs trace how alert values or business KPIs are computed across frontend, service and data layers. Security teams review SonarQube results if connected and enabled. Delivery leaders publish summaries, documentation or presentations. These are suggested use cases, not guaranteed measured outcomes. Agent controls include approved plans, read-only references, change reports and last-task rollback. Suggested pilot metrics are time saved, quality, and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2121"/>
          </a:xfrm>
          <a:prstGeom prst="rect">
            <a:avLst>
              <a:gd name="adj" fmla="val 175438"/>
            </a:avLst>
          </a:prstGeom>
          <a:solidFill>
            <a:srgbClr val="1967CE"/>
          </a:solidFill>
          <a:ln w="12700">
            <a:solidFill>
              <a:srgbClr val="1967CE">
                <a:alpha val="0"/>
              </a:srgbClr>
            </a:solidFill>
            <a:prstDash val="solid"/>
          </a:ln>
        </p:spPr>
      </p:sp>
      <p:sp>
        <p:nvSpPr>
          <p:cNvPr id="3" name="Shape 1"/>
          <p:cNvSpPr/>
          <p:nvPr/>
        </p:nvSpPr>
        <p:spPr>
          <a:xfrm>
            <a:off x="649224" y="310896"/>
            <a:ext cx="365760" cy="365760"/>
          </a:xfrm>
          <a:prstGeom prst="roundRect">
            <a:avLst>
              <a:gd name="adj" fmla="val 23750"/>
            </a:avLst>
          </a:prstGeom>
          <a:solidFill>
            <a:srgbClr val="1967CE"/>
          </a:solidFill>
          <a:ln w="12700">
            <a:solidFill>
              <a:srgbClr val="1967CE">
                <a:alpha val="0"/>
              </a:srgbClr>
            </a:solidFill>
            <a:prstDash val="solid"/>
          </a:ln>
        </p:spPr>
      </p:sp>
      <p:sp>
        <p:nvSpPr>
          <p:cNvPr id="4" name="Text 2"/>
          <p:cNvSpPr/>
          <p:nvPr/>
        </p:nvSpPr>
        <p:spPr>
          <a:xfrm>
            <a:off x="734263" y="365760"/>
            <a:ext cx="198425" cy="246888"/>
          </a:xfrm>
          <a:prstGeom prst="rect">
            <a:avLst/>
          </a:prstGeom>
          <a:noFill/>
          <a:ln/>
        </p:spPr>
        <p:txBody>
          <a:bodyPr wrap="square" lIns="0" tIns="0" rIns="0" bIns="0" rtlCol="0" anchor="ctr">
            <a:normAutofit/>
          </a:bodyPr>
          <a:lstStyle/>
          <a:p>
            <a:pPr algn="ctr" indent="0" marL="0">
              <a:buNone/>
            </a:pPr>
            <a:r>
              <a:rPr lang="en-US" sz="1730" b="1" dirty="0">
                <a:solidFill>
                  <a:srgbClr val="FFFFFF"/>
                </a:solidFill>
                <a:latin typeface="Inter" pitchFamily="34" charset="0"/>
                <a:ea typeface="Inter" pitchFamily="34" charset="-122"/>
                <a:cs typeface="Inter" pitchFamily="34" charset="-120"/>
              </a:rPr>
              <a:t>E</a:t>
            </a:r>
            <a:endParaRPr lang="en-US" sz="1730" dirty="0"/>
          </a:p>
        </p:txBody>
      </p:sp>
      <p:sp>
        <p:nvSpPr>
          <p:cNvPr id="5" name="Text 3"/>
          <p:cNvSpPr/>
          <p:nvPr/>
        </p:nvSpPr>
        <p:spPr>
          <a:xfrm>
            <a:off x="1124712" y="352044"/>
            <a:ext cx="1024128" cy="274320"/>
          </a:xfrm>
          <a:prstGeom prst="rect">
            <a:avLst/>
          </a:prstGeom>
          <a:noFill/>
          <a:ln/>
        </p:spPr>
        <p:txBody>
          <a:bodyPr wrap="square" lIns="0" tIns="0" rIns="0" bIns="0" rtlCol="0" anchor="ctr">
            <a:normAutofit/>
          </a:bodyPr>
          <a:lstStyle/>
          <a:p>
            <a:pPr indent="0" marL="0">
              <a:buNone/>
            </a:pPr>
            <a:r>
              <a:rPr lang="en-US" sz="1930" b="1" spc="120" kern="0" dirty="0">
                <a:solidFill>
                  <a:srgbClr val="122C4B"/>
                </a:solidFill>
                <a:latin typeface="Inter" pitchFamily="34" charset="0"/>
                <a:ea typeface="Inter" pitchFamily="34" charset="-122"/>
                <a:cs typeface="Inter" pitchFamily="34" charset="-120"/>
              </a:rPr>
              <a:t>ELIYA</a:t>
            </a:r>
            <a:endParaRPr lang="en-US" sz="1930" dirty="0"/>
          </a:p>
        </p:txBody>
      </p:sp>
      <p:sp>
        <p:nvSpPr>
          <p:cNvPr id="6" name="Shape 4"/>
          <p:cNvSpPr/>
          <p:nvPr/>
        </p:nvSpPr>
        <p:spPr>
          <a:xfrm>
            <a:off x="2258568" y="369418"/>
            <a:ext cx="0" cy="252374"/>
          </a:xfrm>
          <a:prstGeom prst="line">
            <a:avLst/>
          </a:prstGeom>
          <a:noFill/>
          <a:ln w="12700">
            <a:solidFill>
              <a:srgbClr val="DCE6F0"/>
            </a:solidFill>
            <a:prstDash val="solid"/>
          </a:ln>
        </p:spPr>
      </p:sp>
      <p:sp>
        <p:nvSpPr>
          <p:cNvPr id="7" name="Text 5"/>
          <p:cNvSpPr/>
          <p:nvPr/>
        </p:nvSpPr>
        <p:spPr>
          <a:xfrm>
            <a:off x="2441448" y="376733"/>
            <a:ext cx="3182112" cy="219456"/>
          </a:xfrm>
          <a:prstGeom prst="rect">
            <a:avLst/>
          </a:prstGeom>
          <a:noFill/>
          <a:ln/>
        </p:spPr>
        <p:txBody>
          <a:bodyPr wrap="square" lIns="0" tIns="0" rIns="0" bIns="0" rtlCol="0" anchor="ctr">
            <a:normAutofit/>
          </a:bodyPr>
          <a:lstStyle/>
          <a:p>
            <a:pPr indent="0" marL="0">
              <a:buNone/>
            </a:pPr>
            <a:r>
              <a:rPr lang="en-US" sz="970" b="1" spc="155" kern="0" dirty="0">
                <a:solidFill>
                  <a:srgbClr val="63768B"/>
                </a:solidFill>
                <a:latin typeface="Inter" pitchFamily="34" charset="0"/>
                <a:ea typeface="Inter" pitchFamily="34" charset="-122"/>
                <a:cs typeface="Inter" pitchFamily="34" charset="-120"/>
              </a:rPr>
              <a:t>EXECUTIVE OVERVIEW</a:t>
            </a:r>
            <a:endParaRPr lang="en-US" sz="970" dirty="0"/>
          </a:p>
        </p:txBody>
      </p:sp>
      <p:sp>
        <p:nvSpPr>
          <p:cNvPr id="8" name="Text 6"/>
          <p:cNvSpPr/>
          <p:nvPr/>
        </p:nvSpPr>
        <p:spPr>
          <a:xfrm>
            <a:off x="10817352" y="374904"/>
            <a:ext cx="694944" cy="201168"/>
          </a:xfrm>
          <a:prstGeom prst="rect">
            <a:avLst/>
          </a:prstGeom>
          <a:noFill/>
          <a:ln/>
        </p:spPr>
        <p:txBody>
          <a:bodyPr wrap="square" lIns="0" tIns="0" rIns="0" bIns="0" rtlCol="0" anchor="ctr">
            <a:normAutofit/>
          </a:bodyPr>
          <a:lstStyle/>
          <a:p>
            <a:pPr indent="0" marL="0">
              <a:buNone/>
            </a:pPr>
            <a:r>
              <a:rPr lang="en-US" sz="980" b="1" spc="155" kern="0" dirty="0">
                <a:solidFill>
                  <a:srgbClr val="63768B"/>
                </a:solidFill>
                <a:latin typeface="Inter" pitchFamily="34" charset="0"/>
                <a:ea typeface="Inter" pitchFamily="34" charset="-122"/>
                <a:cs typeface="Inter" pitchFamily="34" charset="-120"/>
              </a:rPr>
              <a:t>01  /  02</a:t>
            </a:r>
            <a:endParaRPr lang="en-US" sz="980" dirty="0"/>
          </a:p>
        </p:txBody>
      </p:sp>
      <p:sp>
        <p:nvSpPr>
          <p:cNvPr id="9" name="Shape 7"/>
          <p:cNvSpPr/>
          <p:nvPr/>
        </p:nvSpPr>
        <p:spPr>
          <a:xfrm>
            <a:off x="667512" y="827532"/>
            <a:ext cx="10853928" cy="0"/>
          </a:xfrm>
          <a:prstGeom prst="line">
            <a:avLst/>
          </a:prstGeom>
          <a:noFill/>
          <a:ln w="9525">
            <a:solidFill>
              <a:srgbClr val="E8EFF5"/>
            </a:solidFill>
            <a:prstDash val="solid"/>
          </a:ln>
        </p:spPr>
      </p:sp>
      <p:sp>
        <p:nvSpPr>
          <p:cNvPr id="10" name="Text 8"/>
          <p:cNvSpPr/>
          <p:nvPr/>
        </p:nvSpPr>
        <p:spPr>
          <a:xfrm>
            <a:off x="713232" y="1042416"/>
            <a:ext cx="3474720" cy="219456"/>
          </a:xfrm>
          <a:prstGeom prst="rect">
            <a:avLst/>
          </a:prstGeom>
          <a:noFill/>
          <a:ln/>
        </p:spPr>
        <p:txBody>
          <a:bodyPr wrap="square" lIns="0" tIns="0" rIns="0" bIns="0" rtlCol="0" anchor="ctr">
            <a:normAutofit/>
          </a:bodyPr>
          <a:lstStyle/>
          <a:p>
            <a:pPr indent="0" marL="0">
              <a:buNone/>
            </a:pPr>
            <a:r>
              <a:rPr lang="en-US" sz="1040" b="1" spc="155" kern="0" dirty="0">
                <a:solidFill>
                  <a:srgbClr val="09978C"/>
                </a:solidFill>
                <a:latin typeface="Inter" pitchFamily="34" charset="0"/>
                <a:ea typeface="Inter" pitchFamily="34" charset="-122"/>
                <a:cs typeface="Inter" pitchFamily="34" charset="-120"/>
              </a:rPr>
              <a:t>INTRODUCING ELIYA</a:t>
            </a:r>
            <a:endParaRPr lang="en-US" sz="1040" dirty="0"/>
          </a:p>
        </p:txBody>
      </p:sp>
      <p:sp>
        <p:nvSpPr>
          <p:cNvPr id="11" name="Text 9"/>
          <p:cNvSpPr/>
          <p:nvPr/>
        </p:nvSpPr>
        <p:spPr>
          <a:xfrm>
            <a:off x="694944" y="1426464"/>
            <a:ext cx="5943600" cy="557784"/>
          </a:xfrm>
          <a:prstGeom prst="rect">
            <a:avLst/>
          </a:prstGeom>
          <a:noFill/>
          <a:ln/>
        </p:spPr>
        <p:txBody>
          <a:bodyPr wrap="square" lIns="0" tIns="0" rIns="0" bIns="0" rtlCol="0" anchor="ctr">
            <a:normAutofit/>
          </a:bodyPr>
          <a:lstStyle/>
          <a:p>
            <a:pPr indent="0" marL="0">
              <a:buNone/>
            </a:pPr>
            <a:r>
              <a:rPr lang="en-US" sz="3740" b="1" spc="-65" kern="0" dirty="0">
                <a:solidFill>
                  <a:srgbClr val="122C4B"/>
                </a:solidFill>
                <a:latin typeface="Inter" pitchFamily="34" charset="0"/>
                <a:ea typeface="Inter" pitchFamily="34" charset="-122"/>
                <a:cs typeface="Inter" pitchFamily="34" charset="-120"/>
              </a:rPr>
              <a:t>Understand more.</a:t>
            </a:r>
            <a:endParaRPr lang="en-US" sz="3740" dirty="0"/>
          </a:p>
        </p:txBody>
      </p:sp>
      <p:sp>
        <p:nvSpPr>
          <p:cNvPr id="12" name="Text 10"/>
          <p:cNvSpPr/>
          <p:nvPr/>
        </p:nvSpPr>
        <p:spPr>
          <a:xfrm>
            <a:off x="694944" y="2011680"/>
            <a:ext cx="5925312" cy="557784"/>
          </a:xfrm>
          <a:prstGeom prst="rect">
            <a:avLst/>
          </a:prstGeom>
          <a:noFill/>
          <a:ln/>
        </p:spPr>
        <p:txBody>
          <a:bodyPr wrap="square" lIns="0" tIns="0" rIns="0" bIns="0" rtlCol="0" anchor="ctr">
            <a:normAutofit/>
          </a:bodyPr>
          <a:lstStyle/>
          <a:p>
            <a:pPr indent="0" marL="0">
              <a:buNone/>
            </a:pPr>
            <a:r>
              <a:rPr lang="en-US" sz="3900" b="1" spc="-70" kern="0" dirty="0">
                <a:solidFill>
                  <a:srgbClr val="1967CE"/>
                </a:solidFill>
                <a:latin typeface="Inter" pitchFamily="34" charset="0"/>
                <a:ea typeface="Inter" pitchFamily="34" charset="-122"/>
                <a:cs typeface="Inter" pitchFamily="34" charset="-120"/>
              </a:rPr>
              <a:t>Deliver faster.</a:t>
            </a:r>
            <a:endParaRPr lang="en-US" sz="3900" dirty="0"/>
          </a:p>
        </p:txBody>
      </p:sp>
      <p:sp>
        <p:nvSpPr>
          <p:cNvPr id="13" name="Shape 11"/>
          <p:cNvSpPr/>
          <p:nvPr/>
        </p:nvSpPr>
        <p:spPr>
          <a:xfrm>
            <a:off x="704088" y="2734056"/>
            <a:ext cx="676656" cy="50292"/>
          </a:xfrm>
          <a:prstGeom prst="rect">
            <a:avLst>
              <a:gd name="adj" fmla="val 181818"/>
            </a:avLst>
          </a:prstGeom>
          <a:solidFill>
            <a:srgbClr val="09978C"/>
          </a:solidFill>
          <a:ln w="12700">
            <a:solidFill>
              <a:srgbClr val="09978C">
                <a:alpha val="0"/>
              </a:srgbClr>
            </a:solidFill>
            <a:prstDash val="solid"/>
          </a:ln>
        </p:spPr>
      </p:sp>
      <p:sp>
        <p:nvSpPr>
          <p:cNvPr id="14" name="Text 12"/>
          <p:cNvSpPr/>
          <p:nvPr/>
        </p:nvSpPr>
        <p:spPr>
          <a:xfrm>
            <a:off x="722376" y="2953512"/>
            <a:ext cx="5550408" cy="310896"/>
          </a:xfrm>
          <a:prstGeom prst="rect">
            <a:avLst/>
          </a:prstGeom>
          <a:noFill/>
          <a:ln/>
        </p:spPr>
        <p:txBody>
          <a:bodyPr wrap="square" lIns="0" tIns="0" rIns="0" bIns="0" rtlCol="0" anchor="ctr">
            <a:normAutofit/>
          </a:bodyPr>
          <a:lstStyle/>
          <a:p>
            <a:pPr indent="0" marL="0">
              <a:buNone/>
            </a:pPr>
            <a:r>
              <a:rPr lang="en-US" sz="1400" dirty="0">
                <a:solidFill>
                  <a:srgbClr val="324760"/>
                </a:solidFill>
                <a:latin typeface="Inter" pitchFamily="34" charset="0"/>
                <a:ea typeface="Inter" pitchFamily="34" charset="-122"/>
                <a:cs typeface="Inter" pitchFamily="34" charset="-120"/>
              </a:rPr>
              <a:t>A single AI delivery workspace that connects application</a:t>
            </a:r>
            <a:endParaRPr lang="en-US" sz="1400" dirty="0"/>
          </a:p>
        </p:txBody>
      </p:sp>
      <p:sp>
        <p:nvSpPr>
          <p:cNvPr id="15" name="Text 13"/>
          <p:cNvSpPr/>
          <p:nvPr/>
        </p:nvSpPr>
        <p:spPr>
          <a:xfrm>
            <a:off x="722376" y="3282696"/>
            <a:ext cx="5504688" cy="310896"/>
          </a:xfrm>
          <a:prstGeom prst="rect">
            <a:avLst/>
          </a:prstGeom>
          <a:noFill/>
          <a:ln/>
        </p:spPr>
        <p:txBody>
          <a:bodyPr wrap="square" lIns="0" tIns="0" rIns="0" bIns="0" rtlCol="0" anchor="ctr">
            <a:normAutofit/>
          </a:bodyPr>
          <a:lstStyle/>
          <a:p>
            <a:pPr indent="0" marL="0">
              <a:buNone/>
            </a:pPr>
            <a:r>
              <a:rPr lang="en-US" sz="1400" dirty="0">
                <a:solidFill>
                  <a:srgbClr val="324760"/>
                </a:solidFill>
                <a:latin typeface="Inter" pitchFamily="34" charset="0"/>
                <a:ea typeface="Inter" pitchFamily="34" charset="-122"/>
                <a:cs typeface="Inter" pitchFamily="34" charset="-120"/>
              </a:rPr>
              <a:t>knowledge with planned, governed execution.</a:t>
            </a:r>
            <a:endParaRPr lang="en-US" sz="1400" dirty="0"/>
          </a:p>
        </p:txBody>
      </p:sp>
      <p:sp>
        <p:nvSpPr>
          <p:cNvPr id="16" name="Shape 14"/>
          <p:cNvSpPr/>
          <p:nvPr/>
        </p:nvSpPr>
        <p:spPr>
          <a:xfrm>
            <a:off x="722376" y="3924605"/>
            <a:ext cx="338328" cy="338328"/>
          </a:xfrm>
          <a:prstGeom prst="ellipse">
            <a:avLst/>
          </a:prstGeom>
          <a:solidFill>
            <a:srgbClr val="1967CE"/>
          </a:solidFill>
          <a:ln w="12700">
            <a:solidFill>
              <a:srgbClr val="1967CE">
                <a:alpha val="0"/>
              </a:srgbClr>
            </a:solidFill>
            <a:prstDash val="solid"/>
          </a:ln>
        </p:spPr>
      </p:sp>
      <p:sp>
        <p:nvSpPr>
          <p:cNvPr id="17" name="Text 15"/>
          <p:cNvSpPr/>
          <p:nvPr/>
        </p:nvSpPr>
        <p:spPr>
          <a:xfrm>
            <a:off x="800100" y="3994099"/>
            <a:ext cx="187452" cy="1554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8" name="Text 16"/>
          <p:cNvSpPr/>
          <p:nvPr/>
        </p:nvSpPr>
        <p:spPr>
          <a:xfrm>
            <a:off x="1207008" y="3886200"/>
            <a:ext cx="4681728" cy="256032"/>
          </a:xfrm>
          <a:prstGeom prst="rect">
            <a:avLst/>
          </a:prstGeom>
          <a:noFill/>
          <a:ln/>
        </p:spPr>
        <p:txBody>
          <a:bodyPr wrap="square" lIns="0" tIns="0" rIns="0" bIns="0" rtlCol="0" anchor="ctr">
            <a:normAutofit/>
          </a:bodyPr>
          <a:lstStyle/>
          <a:p>
            <a:pPr indent="0" marL="0">
              <a:buNone/>
            </a:pPr>
            <a:r>
              <a:rPr lang="en-US" sz="1355" b="1" dirty="0">
                <a:solidFill>
                  <a:srgbClr val="122C4B"/>
                </a:solidFill>
                <a:latin typeface="Inter" pitchFamily="34" charset="0"/>
                <a:ea typeface="Inter" pitchFamily="34" charset="-122"/>
                <a:cs typeface="Inter" pitchFamily="34" charset="-120"/>
              </a:rPr>
              <a:t>UNDERSTAND</a:t>
            </a:r>
            <a:endParaRPr lang="en-US" sz="1355" dirty="0"/>
          </a:p>
        </p:txBody>
      </p:sp>
      <p:sp>
        <p:nvSpPr>
          <p:cNvPr id="19" name="Text 17"/>
          <p:cNvSpPr/>
          <p:nvPr/>
        </p:nvSpPr>
        <p:spPr>
          <a:xfrm>
            <a:off x="1207008" y="4192524"/>
            <a:ext cx="4919472" cy="265176"/>
          </a:xfrm>
          <a:prstGeom prst="rect">
            <a:avLst/>
          </a:prstGeom>
          <a:noFill/>
          <a:ln/>
        </p:spPr>
        <p:txBody>
          <a:bodyPr wrap="square" lIns="0" tIns="0" rIns="0" bIns="0" rtlCol="0" anchor="ctr">
            <a:normAutofit/>
          </a:bodyPr>
          <a:lstStyle/>
          <a:p>
            <a:pPr indent="0" marL="0">
              <a:buNone/>
            </a:pPr>
            <a:r>
              <a:rPr lang="en-US" sz="1150" dirty="0">
                <a:solidFill>
                  <a:srgbClr val="63768B"/>
                </a:solidFill>
                <a:latin typeface="Inter" pitchFamily="34" charset="0"/>
                <a:ea typeface="Inter" pitchFamily="34" charset="-122"/>
                <a:cs typeface="Inter" pitchFamily="34" charset="-120"/>
              </a:rPr>
              <a:t>Explain business flows, alert logic, histograms and KPIs.</a:t>
            </a:r>
            <a:endParaRPr lang="en-US" sz="1150" dirty="0"/>
          </a:p>
        </p:txBody>
      </p:sp>
      <p:sp>
        <p:nvSpPr>
          <p:cNvPr id="20" name="Shape 18"/>
          <p:cNvSpPr/>
          <p:nvPr/>
        </p:nvSpPr>
        <p:spPr>
          <a:xfrm>
            <a:off x="722376" y="4596689"/>
            <a:ext cx="338328" cy="338328"/>
          </a:xfrm>
          <a:prstGeom prst="ellipse">
            <a:avLst/>
          </a:prstGeom>
          <a:solidFill>
            <a:srgbClr val="09978C"/>
          </a:solidFill>
          <a:ln w="12700">
            <a:solidFill>
              <a:srgbClr val="09978C">
                <a:alpha val="0"/>
              </a:srgbClr>
            </a:solidFill>
            <a:prstDash val="solid"/>
          </a:ln>
        </p:spPr>
      </p:sp>
      <p:sp>
        <p:nvSpPr>
          <p:cNvPr id="21" name="Text 19"/>
          <p:cNvSpPr/>
          <p:nvPr/>
        </p:nvSpPr>
        <p:spPr>
          <a:xfrm>
            <a:off x="800100" y="4666183"/>
            <a:ext cx="187452" cy="1554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22" name="Text 20"/>
          <p:cNvSpPr/>
          <p:nvPr/>
        </p:nvSpPr>
        <p:spPr>
          <a:xfrm>
            <a:off x="1207008" y="4558284"/>
            <a:ext cx="4681728" cy="256032"/>
          </a:xfrm>
          <a:prstGeom prst="rect">
            <a:avLst/>
          </a:prstGeom>
          <a:noFill/>
          <a:ln/>
        </p:spPr>
        <p:txBody>
          <a:bodyPr wrap="square" lIns="0" tIns="0" rIns="0" bIns="0" rtlCol="0" anchor="ctr">
            <a:normAutofit/>
          </a:bodyPr>
          <a:lstStyle/>
          <a:p>
            <a:pPr indent="0" marL="0">
              <a:buNone/>
            </a:pPr>
            <a:r>
              <a:rPr lang="en-US" sz="1355" b="1" dirty="0">
                <a:solidFill>
                  <a:srgbClr val="122C4B"/>
                </a:solidFill>
                <a:latin typeface="Inter" pitchFamily="34" charset="0"/>
                <a:ea typeface="Inter" pitchFamily="34" charset="-122"/>
                <a:cs typeface="Inter" pitchFamily="34" charset="-120"/>
              </a:rPr>
              <a:t>ACT</a:t>
            </a:r>
            <a:endParaRPr lang="en-US" sz="1355" dirty="0"/>
          </a:p>
        </p:txBody>
      </p:sp>
      <p:sp>
        <p:nvSpPr>
          <p:cNvPr id="23" name="Text 21"/>
          <p:cNvSpPr/>
          <p:nvPr/>
        </p:nvSpPr>
        <p:spPr>
          <a:xfrm>
            <a:off x="1207008" y="4864608"/>
            <a:ext cx="4919472" cy="265176"/>
          </a:xfrm>
          <a:prstGeom prst="rect">
            <a:avLst/>
          </a:prstGeom>
          <a:noFill/>
          <a:ln/>
        </p:spPr>
        <p:txBody>
          <a:bodyPr wrap="square" lIns="0" tIns="0" rIns="0" bIns="0" rtlCol="0" anchor="ctr">
            <a:normAutofit/>
          </a:bodyPr>
          <a:lstStyle/>
          <a:p>
            <a:pPr indent="0" marL="0">
              <a:buNone/>
            </a:pPr>
            <a:r>
              <a:rPr lang="en-US" sz="1150" dirty="0">
                <a:solidFill>
                  <a:srgbClr val="63768B"/>
                </a:solidFill>
                <a:latin typeface="Inter" pitchFamily="34" charset="0"/>
                <a:ea typeface="Inter" pitchFamily="34" charset="-122"/>
                <a:cs typeface="Inter" pitchFamily="34" charset="-120"/>
              </a:rPr>
              <a:t>Plan, implement, test and verify approved changes.</a:t>
            </a:r>
            <a:endParaRPr lang="en-US" sz="1150" dirty="0"/>
          </a:p>
        </p:txBody>
      </p:sp>
      <p:sp>
        <p:nvSpPr>
          <p:cNvPr id="24" name="Shape 22"/>
          <p:cNvSpPr/>
          <p:nvPr/>
        </p:nvSpPr>
        <p:spPr>
          <a:xfrm>
            <a:off x="722376" y="5268773"/>
            <a:ext cx="338328" cy="338328"/>
          </a:xfrm>
          <a:prstGeom prst="ellipse">
            <a:avLst/>
          </a:prstGeom>
          <a:solidFill>
            <a:srgbClr val="7656CF"/>
          </a:solidFill>
          <a:ln w="12700">
            <a:solidFill>
              <a:srgbClr val="7656CF">
                <a:alpha val="0"/>
              </a:srgbClr>
            </a:solidFill>
            <a:prstDash val="solid"/>
          </a:ln>
        </p:spPr>
      </p:sp>
      <p:sp>
        <p:nvSpPr>
          <p:cNvPr id="25" name="Text 23"/>
          <p:cNvSpPr/>
          <p:nvPr/>
        </p:nvSpPr>
        <p:spPr>
          <a:xfrm>
            <a:off x="800100" y="5338267"/>
            <a:ext cx="187452" cy="1554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26" name="Text 24"/>
          <p:cNvSpPr/>
          <p:nvPr/>
        </p:nvSpPr>
        <p:spPr>
          <a:xfrm>
            <a:off x="1207008" y="5230368"/>
            <a:ext cx="4681728" cy="256032"/>
          </a:xfrm>
          <a:prstGeom prst="rect">
            <a:avLst/>
          </a:prstGeom>
          <a:noFill/>
          <a:ln/>
        </p:spPr>
        <p:txBody>
          <a:bodyPr wrap="square" lIns="0" tIns="0" rIns="0" bIns="0" rtlCol="0" anchor="ctr">
            <a:normAutofit/>
          </a:bodyPr>
          <a:lstStyle/>
          <a:p>
            <a:pPr indent="0" marL="0">
              <a:buNone/>
            </a:pPr>
            <a:r>
              <a:rPr lang="en-US" sz="1355" b="1" dirty="0">
                <a:solidFill>
                  <a:srgbClr val="122C4B"/>
                </a:solidFill>
                <a:latin typeface="Inter" pitchFamily="34" charset="0"/>
                <a:ea typeface="Inter" pitchFamily="34" charset="-122"/>
                <a:cs typeface="Inter" pitchFamily="34" charset="-120"/>
              </a:rPr>
              <a:t>REUSE</a:t>
            </a:r>
            <a:endParaRPr lang="en-US" sz="1355" dirty="0"/>
          </a:p>
        </p:txBody>
      </p:sp>
      <p:sp>
        <p:nvSpPr>
          <p:cNvPr id="27" name="Text 25"/>
          <p:cNvSpPr/>
          <p:nvPr/>
        </p:nvSpPr>
        <p:spPr>
          <a:xfrm>
            <a:off x="1207008" y="5536692"/>
            <a:ext cx="4919472" cy="265176"/>
          </a:xfrm>
          <a:prstGeom prst="rect">
            <a:avLst/>
          </a:prstGeom>
          <a:noFill/>
          <a:ln/>
        </p:spPr>
        <p:txBody>
          <a:bodyPr wrap="square" lIns="0" tIns="0" rIns="0" bIns="0" rtlCol="0" anchor="ctr">
            <a:normAutofit/>
          </a:bodyPr>
          <a:lstStyle/>
          <a:p>
            <a:pPr indent="0" marL="0">
              <a:buNone/>
            </a:pPr>
            <a:r>
              <a:rPr lang="en-US" sz="1150" dirty="0">
                <a:solidFill>
                  <a:srgbClr val="63768B"/>
                </a:solidFill>
                <a:latin typeface="Inter" pitchFamily="34" charset="0"/>
                <a:ea typeface="Inter" pitchFamily="34" charset="-122"/>
                <a:cs typeface="Inter" pitchFamily="34" charset="-120"/>
              </a:rPr>
              <a:t>Generate reusable tests, documents and reporting assets.</a:t>
            </a:r>
            <a:endParaRPr lang="en-US" sz="1150" dirty="0"/>
          </a:p>
        </p:txBody>
      </p:sp>
      <p:sp>
        <p:nvSpPr>
          <p:cNvPr id="28" name="Shape 26"/>
          <p:cNvSpPr/>
          <p:nvPr/>
        </p:nvSpPr>
        <p:spPr>
          <a:xfrm>
            <a:off x="6611112" y="1042416"/>
            <a:ext cx="4946904" cy="4745736"/>
          </a:xfrm>
          <a:prstGeom prst="roundRect">
            <a:avLst>
              <a:gd name="adj" fmla="val 4239"/>
            </a:avLst>
          </a:prstGeom>
          <a:solidFill>
            <a:srgbClr val="F7FAFD"/>
          </a:solidFill>
          <a:ln w="9525">
            <a:solidFill>
              <a:srgbClr val="E7EEF6"/>
            </a:solidFill>
            <a:prstDash val="solid"/>
          </a:ln>
        </p:spPr>
      </p:sp>
      <p:sp>
        <p:nvSpPr>
          <p:cNvPr id="29" name="Text 27"/>
          <p:cNvSpPr/>
          <p:nvPr/>
        </p:nvSpPr>
        <p:spPr>
          <a:xfrm>
            <a:off x="6903720" y="1289304"/>
            <a:ext cx="3931920" cy="228600"/>
          </a:xfrm>
          <a:prstGeom prst="rect">
            <a:avLst/>
          </a:prstGeom>
          <a:noFill/>
          <a:ln/>
        </p:spPr>
        <p:txBody>
          <a:bodyPr wrap="square" lIns="0" tIns="0" rIns="0" bIns="0" rtlCol="0" anchor="ctr">
            <a:normAutofit/>
          </a:bodyPr>
          <a:lstStyle/>
          <a:p>
            <a:pPr indent="0" marL="0">
              <a:buNone/>
            </a:pPr>
            <a:r>
              <a:rPr lang="en-US" sz="910" b="1" spc="155" kern="0" dirty="0">
                <a:solidFill>
                  <a:srgbClr val="63768B"/>
                </a:solidFill>
                <a:latin typeface="Inter" pitchFamily="34" charset="0"/>
                <a:ea typeface="Inter" pitchFamily="34" charset="-122"/>
                <a:cs typeface="Inter" pitchFamily="34" charset="-120"/>
              </a:rPr>
              <a:t>HOW ELIYA WORKS</a:t>
            </a:r>
            <a:endParaRPr lang="en-US" sz="910" dirty="0"/>
          </a:p>
        </p:txBody>
      </p:sp>
      <p:sp>
        <p:nvSpPr>
          <p:cNvPr id="30" name="Shape 28"/>
          <p:cNvSpPr/>
          <p:nvPr/>
        </p:nvSpPr>
        <p:spPr>
          <a:xfrm>
            <a:off x="7488936" y="1700784"/>
            <a:ext cx="3182112" cy="649224"/>
          </a:xfrm>
          <a:prstGeom prst="roundRect">
            <a:avLst>
              <a:gd name="adj" fmla="val 21127"/>
            </a:avLst>
          </a:prstGeom>
          <a:solidFill>
            <a:srgbClr val="FFFFFF"/>
          </a:solidFill>
          <a:ln w="11430">
            <a:solidFill>
              <a:srgbClr val="D4E1EF"/>
            </a:solidFill>
            <a:prstDash val="solid"/>
          </a:ln>
        </p:spPr>
      </p:sp>
      <p:sp>
        <p:nvSpPr>
          <p:cNvPr id="31" name="Text 29"/>
          <p:cNvSpPr/>
          <p:nvPr/>
        </p:nvSpPr>
        <p:spPr>
          <a:xfrm>
            <a:off x="7626096" y="1810512"/>
            <a:ext cx="2926080" cy="210312"/>
          </a:xfrm>
          <a:prstGeom prst="rect">
            <a:avLst/>
          </a:prstGeom>
          <a:noFill/>
          <a:ln/>
        </p:spPr>
        <p:txBody>
          <a:bodyPr wrap="square" lIns="0" tIns="0" rIns="0" bIns="0" rtlCol="0" anchor="ctr">
            <a:normAutofit/>
          </a:bodyPr>
          <a:lstStyle/>
          <a:p>
            <a:pPr algn="ctr" indent="0" marL="0">
              <a:buNone/>
            </a:pPr>
            <a:r>
              <a:rPr lang="en-US" sz="1120" b="1" spc="40" kern="0" dirty="0">
                <a:solidFill>
                  <a:srgbClr val="122C4B"/>
                </a:solidFill>
                <a:latin typeface="Inter" pitchFamily="34" charset="0"/>
                <a:ea typeface="Inter" pitchFamily="34" charset="-122"/>
                <a:cs typeface="Inter" pitchFamily="34" charset="-120"/>
              </a:rPr>
              <a:t>APPLICATION KNOWLEDGE</a:t>
            </a:r>
            <a:endParaRPr lang="en-US" sz="1120" dirty="0"/>
          </a:p>
        </p:txBody>
      </p:sp>
      <p:sp>
        <p:nvSpPr>
          <p:cNvPr id="32" name="Text 30"/>
          <p:cNvSpPr/>
          <p:nvPr/>
        </p:nvSpPr>
        <p:spPr>
          <a:xfrm>
            <a:off x="7571232" y="2084832"/>
            <a:ext cx="3044952" cy="164592"/>
          </a:xfrm>
          <a:prstGeom prst="rect">
            <a:avLst/>
          </a:prstGeom>
          <a:noFill/>
          <a:ln/>
        </p:spPr>
        <p:txBody>
          <a:bodyPr wrap="square" lIns="0" tIns="0" rIns="0" bIns="0" rtlCol="0" anchor="ctr">
            <a:normAutofit/>
          </a:bodyPr>
          <a:lstStyle/>
          <a:p>
            <a:pPr algn="ctr" indent="0" marL="0">
              <a:buNone/>
            </a:pPr>
            <a:r>
              <a:rPr lang="en-US" sz="950" dirty="0">
                <a:solidFill>
                  <a:srgbClr val="63768B"/>
                </a:solidFill>
                <a:latin typeface="Inter" pitchFamily="34" charset="0"/>
                <a:ea typeface="Inter" pitchFamily="34" charset="-122"/>
                <a:cs typeface="Inter" pitchFamily="34" charset="-120"/>
              </a:rPr>
              <a:t>Primary workspace  +  up to 5 references</a:t>
            </a:r>
            <a:endParaRPr lang="en-US" sz="950" dirty="0"/>
          </a:p>
        </p:txBody>
      </p:sp>
      <p:sp>
        <p:nvSpPr>
          <p:cNvPr id="33" name="Shape 31"/>
          <p:cNvSpPr/>
          <p:nvPr/>
        </p:nvSpPr>
        <p:spPr>
          <a:xfrm>
            <a:off x="9079992" y="2350008"/>
            <a:ext cx="0" cy="310896"/>
          </a:xfrm>
          <a:prstGeom prst="line">
            <a:avLst/>
          </a:prstGeom>
          <a:noFill/>
          <a:ln w="25400">
            <a:solidFill>
              <a:srgbClr val="1967CE"/>
            </a:solidFill>
            <a:prstDash val="solid"/>
          </a:ln>
        </p:spPr>
      </p:sp>
      <p:sp>
        <p:nvSpPr>
          <p:cNvPr id="34" name="Shape 32"/>
          <p:cNvSpPr/>
          <p:nvPr/>
        </p:nvSpPr>
        <p:spPr>
          <a:xfrm>
            <a:off x="9025128" y="2606040"/>
            <a:ext cx="109728" cy="109728"/>
          </a:xfrm>
          <a:prstGeom prst="ellipse">
            <a:avLst/>
          </a:prstGeom>
          <a:solidFill>
            <a:srgbClr val="1967CE"/>
          </a:solidFill>
          <a:ln w="12700">
            <a:solidFill>
              <a:srgbClr val="1967CE">
                <a:alpha val="0"/>
              </a:srgbClr>
            </a:solidFill>
            <a:prstDash val="solid"/>
          </a:ln>
        </p:spPr>
      </p:sp>
      <p:sp>
        <p:nvSpPr>
          <p:cNvPr id="35" name="Shape 33"/>
          <p:cNvSpPr/>
          <p:nvPr/>
        </p:nvSpPr>
        <p:spPr>
          <a:xfrm>
            <a:off x="7827264" y="3410712"/>
            <a:ext cx="365760" cy="0"/>
          </a:xfrm>
          <a:prstGeom prst="line">
            <a:avLst/>
          </a:prstGeom>
          <a:noFill/>
          <a:ln w="25400">
            <a:solidFill>
              <a:srgbClr val="377BE1"/>
            </a:solidFill>
            <a:prstDash val="solid"/>
          </a:ln>
        </p:spPr>
      </p:sp>
      <p:sp>
        <p:nvSpPr>
          <p:cNvPr id="36" name="Shape 34"/>
          <p:cNvSpPr/>
          <p:nvPr/>
        </p:nvSpPr>
        <p:spPr>
          <a:xfrm>
            <a:off x="8138160" y="3355848"/>
            <a:ext cx="109728" cy="109728"/>
          </a:xfrm>
          <a:prstGeom prst="ellipse">
            <a:avLst/>
          </a:prstGeom>
          <a:solidFill>
            <a:srgbClr val="377BE1"/>
          </a:solidFill>
          <a:ln w="12700">
            <a:solidFill>
              <a:srgbClr val="377BE1">
                <a:alpha val="0"/>
              </a:srgbClr>
            </a:solidFill>
            <a:prstDash val="solid"/>
          </a:ln>
        </p:spPr>
      </p:sp>
      <p:sp>
        <p:nvSpPr>
          <p:cNvPr id="37" name="Shape 35"/>
          <p:cNvSpPr/>
          <p:nvPr/>
        </p:nvSpPr>
        <p:spPr>
          <a:xfrm>
            <a:off x="9994392" y="3410712"/>
            <a:ext cx="329184" cy="0"/>
          </a:xfrm>
          <a:prstGeom prst="line">
            <a:avLst/>
          </a:prstGeom>
          <a:noFill/>
          <a:ln w="25400">
            <a:solidFill>
              <a:srgbClr val="7656CF"/>
            </a:solidFill>
            <a:prstDash val="solid"/>
          </a:ln>
        </p:spPr>
      </p:sp>
      <p:sp>
        <p:nvSpPr>
          <p:cNvPr id="38" name="Shape 36"/>
          <p:cNvSpPr/>
          <p:nvPr/>
        </p:nvSpPr>
        <p:spPr>
          <a:xfrm>
            <a:off x="10268712" y="3355848"/>
            <a:ext cx="109728" cy="109728"/>
          </a:xfrm>
          <a:prstGeom prst="ellipse">
            <a:avLst/>
          </a:prstGeom>
          <a:solidFill>
            <a:srgbClr val="7656CF"/>
          </a:solidFill>
          <a:ln w="12700">
            <a:solidFill>
              <a:srgbClr val="7656CF">
                <a:alpha val="0"/>
              </a:srgbClr>
            </a:solidFill>
            <a:prstDash val="solid"/>
          </a:ln>
        </p:spPr>
      </p:sp>
      <p:sp>
        <p:nvSpPr>
          <p:cNvPr id="39" name="Shape 37"/>
          <p:cNvSpPr/>
          <p:nvPr/>
        </p:nvSpPr>
        <p:spPr>
          <a:xfrm>
            <a:off x="9079992" y="4224528"/>
            <a:ext cx="0" cy="246888"/>
          </a:xfrm>
          <a:prstGeom prst="line">
            <a:avLst/>
          </a:prstGeom>
          <a:noFill/>
          <a:ln w="25400">
            <a:solidFill>
              <a:srgbClr val="09978C"/>
            </a:solidFill>
            <a:prstDash val="solid"/>
          </a:ln>
        </p:spPr>
      </p:sp>
      <p:sp>
        <p:nvSpPr>
          <p:cNvPr id="40" name="Shape 38"/>
          <p:cNvSpPr/>
          <p:nvPr/>
        </p:nvSpPr>
        <p:spPr>
          <a:xfrm>
            <a:off x="9025128" y="4416552"/>
            <a:ext cx="109728" cy="109728"/>
          </a:xfrm>
          <a:prstGeom prst="ellipse">
            <a:avLst/>
          </a:prstGeom>
          <a:solidFill>
            <a:srgbClr val="09978C"/>
          </a:solidFill>
          <a:ln w="12700">
            <a:solidFill>
              <a:srgbClr val="09978C">
                <a:alpha val="0"/>
              </a:srgbClr>
            </a:solidFill>
            <a:prstDash val="solid"/>
          </a:ln>
        </p:spPr>
      </p:sp>
      <p:sp>
        <p:nvSpPr>
          <p:cNvPr id="41" name="Shape 39"/>
          <p:cNvSpPr/>
          <p:nvPr/>
        </p:nvSpPr>
        <p:spPr>
          <a:xfrm>
            <a:off x="8174736" y="2551176"/>
            <a:ext cx="1810512" cy="1810512"/>
          </a:xfrm>
          <a:prstGeom prst="ellipse">
            <a:avLst/>
          </a:prstGeom>
          <a:solidFill>
            <a:srgbClr val="E9F5FE"/>
          </a:solidFill>
          <a:ln w="17780">
            <a:solidFill>
              <a:srgbClr val="B8D9F0"/>
            </a:solidFill>
            <a:prstDash val="solid"/>
          </a:ln>
        </p:spPr>
      </p:sp>
      <p:sp>
        <p:nvSpPr>
          <p:cNvPr id="42" name="Shape 40"/>
          <p:cNvSpPr/>
          <p:nvPr/>
        </p:nvSpPr>
        <p:spPr>
          <a:xfrm>
            <a:off x="8330184" y="2706624"/>
            <a:ext cx="1499616" cy="1499616"/>
          </a:xfrm>
          <a:prstGeom prst="ellipse">
            <a:avLst/>
          </a:prstGeom>
          <a:solidFill>
            <a:srgbClr val="D4ECFE"/>
          </a:solidFill>
          <a:ln w="19050">
            <a:solidFill>
              <a:srgbClr val="4F9CE4"/>
            </a:solidFill>
            <a:prstDash val="solid"/>
          </a:ln>
        </p:spPr>
      </p:sp>
      <p:sp>
        <p:nvSpPr>
          <p:cNvPr id="43" name="Shape 41"/>
          <p:cNvSpPr/>
          <p:nvPr/>
        </p:nvSpPr>
        <p:spPr>
          <a:xfrm>
            <a:off x="8522208" y="2898648"/>
            <a:ext cx="1115568" cy="1115568"/>
          </a:xfrm>
          <a:prstGeom prst="ellipse">
            <a:avLst/>
          </a:prstGeom>
          <a:solidFill>
            <a:srgbClr val="1967CE"/>
          </a:solidFill>
          <a:ln w="12700">
            <a:solidFill>
              <a:srgbClr val="1967CE">
                <a:alpha val="0"/>
              </a:srgbClr>
            </a:solidFill>
            <a:prstDash val="solid"/>
          </a:ln>
        </p:spPr>
      </p:sp>
      <p:sp>
        <p:nvSpPr>
          <p:cNvPr id="44" name="Text 42"/>
          <p:cNvSpPr/>
          <p:nvPr/>
        </p:nvSpPr>
        <p:spPr>
          <a:xfrm>
            <a:off x="8604504" y="3282696"/>
            <a:ext cx="960120" cy="274320"/>
          </a:xfrm>
          <a:prstGeom prst="rect">
            <a:avLst/>
          </a:prstGeom>
          <a:noFill/>
          <a:ln/>
        </p:spPr>
        <p:txBody>
          <a:bodyPr wrap="square" lIns="0" tIns="0" rIns="0" bIns="0" rtlCol="0" anchor="ctr">
            <a:normAutofit/>
          </a:bodyPr>
          <a:lstStyle/>
          <a:p>
            <a:pPr algn="ctr" indent="0" marL="0">
              <a:buNone/>
            </a:pPr>
            <a:r>
              <a:rPr lang="en-US" sz="1920" b="1" spc="100" kern="0" dirty="0">
                <a:solidFill>
                  <a:srgbClr val="FFFFFF"/>
                </a:solidFill>
                <a:latin typeface="Inter" pitchFamily="34" charset="0"/>
                <a:ea typeface="Inter" pitchFamily="34" charset="-122"/>
                <a:cs typeface="Inter" pitchFamily="34" charset="-120"/>
              </a:rPr>
              <a:t>ELIYA</a:t>
            </a:r>
            <a:endParaRPr lang="en-US" sz="1920" dirty="0"/>
          </a:p>
        </p:txBody>
      </p:sp>
      <p:sp>
        <p:nvSpPr>
          <p:cNvPr id="45" name="Text 43"/>
          <p:cNvSpPr/>
          <p:nvPr/>
        </p:nvSpPr>
        <p:spPr>
          <a:xfrm>
            <a:off x="8732520" y="3602736"/>
            <a:ext cx="685800" cy="164592"/>
          </a:xfrm>
          <a:prstGeom prst="rect">
            <a:avLst/>
          </a:prstGeom>
          <a:noFill/>
          <a:ln/>
        </p:spPr>
        <p:txBody>
          <a:bodyPr wrap="square" lIns="0" tIns="0" rIns="0" bIns="0" rtlCol="0" anchor="ctr">
            <a:normAutofit/>
          </a:bodyPr>
          <a:lstStyle/>
          <a:p>
            <a:pPr algn="ctr" indent="0" marL="0">
              <a:buNone/>
            </a:pPr>
            <a:r>
              <a:rPr lang="en-US" sz="810" b="1" spc="120" kern="0" dirty="0">
                <a:solidFill>
                  <a:srgbClr val="E6F4FF"/>
                </a:solidFill>
                <a:latin typeface="Inter" pitchFamily="34" charset="0"/>
                <a:ea typeface="Inter" pitchFamily="34" charset="-122"/>
                <a:cs typeface="Inter" pitchFamily="34" charset="-120"/>
              </a:rPr>
              <a:t>AI HUB</a:t>
            </a:r>
            <a:endParaRPr lang="en-US" sz="810" dirty="0"/>
          </a:p>
        </p:txBody>
      </p:sp>
      <p:sp>
        <p:nvSpPr>
          <p:cNvPr id="46" name="Shape 44"/>
          <p:cNvSpPr/>
          <p:nvPr/>
        </p:nvSpPr>
        <p:spPr>
          <a:xfrm>
            <a:off x="6766560" y="2980944"/>
            <a:ext cx="1371600" cy="877824"/>
          </a:xfrm>
          <a:prstGeom prst="roundRect">
            <a:avLst>
              <a:gd name="adj" fmla="val 17708"/>
            </a:avLst>
          </a:prstGeom>
          <a:solidFill>
            <a:srgbClr val="EDF5FE"/>
          </a:solidFill>
          <a:ln w="11684">
            <a:solidFill>
              <a:srgbClr val="1967CE"/>
            </a:solidFill>
            <a:prstDash val="solid"/>
          </a:ln>
        </p:spPr>
      </p:sp>
      <p:sp>
        <p:nvSpPr>
          <p:cNvPr id="47" name="Text 45"/>
          <p:cNvSpPr/>
          <p:nvPr/>
        </p:nvSpPr>
        <p:spPr>
          <a:xfrm>
            <a:off x="6858000" y="3099816"/>
            <a:ext cx="1188720" cy="228600"/>
          </a:xfrm>
          <a:prstGeom prst="rect">
            <a:avLst/>
          </a:prstGeom>
          <a:noFill/>
          <a:ln/>
        </p:spPr>
        <p:txBody>
          <a:bodyPr wrap="square" lIns="0" tIns="0" rIns="0" bIns="0" rtlCol="0" anchor="ctr">
            <a:normAutofit/>
          </a:bodyPr>
          <a:lstStyle/>
          <a:p>
            <a:pPr algn="ctr" indent="0" marL="0">
              <a:buNone/>
            </a:pPr>
            <a:r>
              <a:rPr lang="en-US" sz="1210" b="1" dirty="0">
                <a:solidFill>
                  <a:srgbClr val="1967CE"/>
                </a:solidFill>
                <a:latin typeface="Inter" pitchFamily="34" charset="0"/>
                <a:ea typeface="Inter" pitchFamily="34" charset="-122"/>
                <a:cs typeface="Inter" pitchFamily="34" charset="-120"/>
              </a:rPr>
              <a:t>CHAT</a:t>
            </a:r>
            <a:endParaRPr lang="en-US" sz="1210" dirty="0"/>
          </a:p>
        </p:txBody>
      </p:sp>
      <p:sp>
        <p:nvSpPr>
          <p:cNvPr id="48" name="Text 46"/>
          <p:cNvSpPr/>
          <p:nvPr/>
        </p:nvSpPr>
        <p:spPr>
          <a:xfrm>
            <a:off x="6848856" y="3355848"/>
            <a:ext cx="1207008" cy="246888"/>
          </a:xfrm>
          <a:prstGeom prst="rect">
            <a:avLst/>
          </a:prstGeom>
          <a:noFill/>
          <a:ln/>
        </p:spPr>
        <p:txBody>
          <a:bodyPr wrap="square" lIns="0" tIns="0" rIns="0" bIns="0" rtlCol="0" anchor="ctr">
            <a:normAutofit/>
          </a:bodyPr>
          <a:lstStyle/>
          <a:p>
            <a:pPr algn="ctr" indent="0" marL="0">
              <a:buNone/>
            </a:pPr>
            <a:r>
              <a:rPr lang="en-US" sz="985" dirty="0">
                <a:solidFill>
                  <a:srgbClr val="324760"/>
                </a:solidFill>
                <a:latin typeface="Inter" pitchFamily="34" charset="0"/>
                <a:ea typeface="Inter" pitchFamily="34" charset="-122"/>
                <a:cs typeface="Inter" pitchFamily="34" charset="-120"/>
              </a:rPr>
              <a:t>Investigate &amp; explain</a:t>
            </a:r>
            <a:endParaRPr lang="en-US" sz="985" dirty="0"/>
          </a:p>
        </p:txBody>
      </p:sp>
      <p:sp>
        <p:nvSpPr>
          <p:cNvPr id="49" name="Shape 47"/>
          <p:cNvSpPr/>
          <p:nvPr/>
        </p:nvSpPr>
        <p:spPr>
          <a:xfrm>
            <a:off x="10296144" y="2980944"/>
            <a:ext cx="1106424" cy="877824"/>
          </a:xfrm>
          <a:prstGeom prst="roundRect">
            <a:avLst>
              <a:gd name="adj" fmla="val 17708"/>
            </a:avLst>
          </a:prstGeom>
          <a:solidFill>
            <a:srgbClr val="F4F0FF"/>
          </a:solidFill>
          <a:ln w="11684">
            <a:solidFill>
              <a:srgbClr val="7656CF"/>
            </a:solidFill>
            <a:prstDash val="solid"/>
          </a:ln>
        </p:spPr>
      </p:sp>
      <p:sp>
        <p:nvSpPr>
          <p:cNvPr id="50" name="Text 48"/>
          <p:cNvSpPr/>
          <p:nvPr/>
        </p:nvSpPr>
        <p:spPr>
          <a:xfrm>
            <a:off x="10387584" y="3099816"/>
            <a:ext cx="923544" cy="228600"/>
          </a:xfrm>
          <a:prstGeom prst="rect">
            <a:avLst/>
          </a:prstGeom>
          <a:noFill/>
          <a:ln/>
        </p:spPr>
        <p:txBody>
          <a:bodyPr wrap="square" lIns="0" tIns="0" rIns="0" bIns="0" rtlCol="0" anchor="ctr">
            <a:normAutofit/>
          </a:bodyPr>
          <a:lstStyle/>
          <a:p>
            <a:pPr algn="ctr" indent="0" marL="0">
              <a:buNone/>
            </a:pPr>
            <a:r>
              <a:rPr lang="en-US" sz="1210" b="1" dirty="0">
                <a:solidFill>
                  <a:srgbClr val="7656CF"/>
                </a:solidFill>
                <a:latin typeface="Inter" pitchFamily="34" charset="0"/>
                <a:ea typeface="Inter" pitchFamily="34" charset="-122"/>
                <a:cs typeface="Inter" pitchFamily="34" charset="-120"/>
              </a:rPr>
              <a:t>AGENT</a:t>
            </a:r>
            <a:endParaRPr lang="en-US" sz="1210" dirty="0"/>
          </a:p>
        </p:txBody>
      </p:sp>
      <p:sp>
        <p:nvSpPr>
          <p:cNvPr id="51" name="Text 49"/>
          <p:cNvSpPr/>
          <p:nvPr/>
        </p:nvSpPr>
        <p:spPr>
          <a:xfrm>
            <a:off x="10378440" y="3355848"/>
            <a:ext cx="941832" cy="246888"/>
          </a:xfrm>
          <a:prstGeom prst="rect">
            <a:avLst/>
          </a:prstGeom>
          <a:noFill/>
          <a:ln/>
        </p:spPr>
        <p:txBody>
          <a:bodyPr wrap="square" lIns="0" tIns="0" rIns="0" bIns="0" rtlCol="0" anchor="ctr">
            <a:normAutofit/>
          </a:bodyPr>
          <a:lstStyle/>
          <a:p>
            <a:pPr algn="ctr" indent="0" marL="0">
              <a:buNone/>
            </a:pPr>
            <a:r>
              <a:rPr lang="en-US" sz="985" dirty="0">
                <a:solidFill>
                  <a:srgbClr val="324760"/>
                </a:solidFill>
                <a:latin typeface="Inter" pitchFamily="34" charset="0"/>
                <a:ea typeface="Inter" pitchFamily="34" charset="-122"/>
                <a:cs typeface="Inter" pitchFamily="34" charset="-120"/>
              </a:rPr>
              <a:t>Act &amp; verify</a:t>
            </a:r>
            <a:endParaRPr lang="en-US" sz="985" dirty="0"/>
          </a:p>
        </p:txBody>
      </p:sp>
      <p:sp>
        <p:nvSpPr>
          <p:cNvPr id="52" name="Shape 50"/>
          <p:cNvSpPr/>
          <p:nvPr/>
        </p:nvSpPr>
        <p:spPr>
          <a:xfrm>
            <a:off x="7040880" y="4471416"/>
            <a:ext cx="4078224" cy="914400"/>
          </a:xfrm>
          <a:prstGeom prst="roundRect">
            <a:avLst>
              <a:gd name="adj" fmla="val 15000"/>
            </a:avLst>
          </a:prstGeom>
          <a:solidFill>
            <a:srgbClr val="FFFFFF"/>
          </a:solidFill>
          <a:ln w="11430">
            <a:solidFill>
              <a:srgbClr val="CDE7E4"/>
            </a:solidFill>
            <a:prstDash val="solid"/>
          </a:ln>
        </p:spPr>
      </p:sp>
      <p:sp>
        <p:nvSpPr>
          <p:cNvPr id="53" name="Text 51"/>
          <p:cNvSpPr/>
          <p:nvPr/>
        </p:nvSpPr>
        <p:spPr>
          <a:xfrm>
            <a:off x="7178040" y="4626864"/>
            <a:ext cx="3803904" cy="228600"/>
          </a:xfrm>
          <a:prstGeom prst="rect">
            <a:avLst/>
          </a:prstGeom>
          <a:noFill/>
          <a:ln/>
        </p:spPr>
        <p:txBody>
          <a:bodyPr wrap="square" lIns="0" tIns="0" rIns="0" bIns="0" rtlCol="0" anchor="ctr">
            <a:normAutofit/>
          </a:bodyPr>
          <a:lstStyle/>
          <a:p>
            <a:pPr algn="ctr" indent="0" marL="0">
              <a:buNone/>
            </a:pPr>
            <a:r>
              <a:rPr lang="en-US" sz="1065" b="1" spc="40" kern="0" dirty="0">
                <a:solidFill>
                  <a:srgbClr val="09978C"/>
                </a:solidFill>
                <a:latin typeface="Inter" pitchFamily="34" charset="0"/>
                <a:ea typeface="Inter" pitchFamily="34" charset="-122"/>
                <a:cs typeface="Inter" pitchFamily="34" charset="-120"/>
              </a:rPr>
              <a:t>OPTIONAL ENTERPRISE CONNECTIONS</a:t>
            </a:r>
            <a:endParaRPr lang="en-US" sz="1065" dirty="0"/>
          </a:p>
        </p:txBody>
      </p:sp>
      <p:sp>
        <p:nvSpPr>
          <p:cNvPr id="54" name="Text 52"/>
          <p:cNvSpPr/>
          <p:nvPr/>
        </p:nvSpPr>
        <p:spPr>
          <a:xfrm>
            <a:off x="7141464" y="4956048"/>
            <a:ext cx="3877056" cy="274320"/>
          </a:xfrm>
          <a:prstGeom prst="rect">
            <a:avLst/>
          </a:prstGeom>
          <a:noFill/>
          <a:ln/>
        </p:spPr>
        <p:txBody>
          <a:bodyPr wrap="square" lIns="0" tIns="0" rIns="0" bIns="0" rtlCol="0" anchor="ctr">
            <a:normAutofit/>
          </a:bodyPr>
          <a:lstStyle/>
          <a:p>
            <a:pPr algn="ctr" indent="0" marL="0">
              <a:buNone/>
            </a:pPr>
            <a:r>
              <a:rPr lang="en-US" sz="910" dirty="0">
                <a:solidFill>
                  <a:srgbClr val="324760"/>
                </a:solidFill>
                <a:latin typeface="Inter" pitchFamily="34" charset="0"/>
                <a:ea typeface="Inter" pitchFamily="34" charset="-122"/>
                <a:cs typeface="Inter" pitchFamily="34" charset="-120"/>
              </a:rPr>
              <a:t>Jira  ·  Confluence  ·  GitLab  ·  SonarQube  ·  Playwright</a:t>
            </a:r>
            <a:endParaRPr lang="en-US" sz="910" dirty="0"/>
          </a:p>
        </p:txBody>
      </p:sp>
      <p:sp>
        <p:nvSpPr>
          <p:cNvPr id="55" name="Shape 53"/>
          <p:cNvSpPr/>
          <p:nvPr/>
        </p:nvSpPr>
        <p:spPr>
          <a:xfrm>
            <a:off x="0" y="6035040"/>
            <a:ext cx="12192000" cy="822960"/>
          </a:xfrm>
          <a:prstGeom prst="rect">
            <a:avLst>
              <a:gd name="adj" fmla="val 11111"/>
            </a:avLst>
          </a:prstGeom>
          <a:solidFill>
            <a:srgbClr val="F1F6FB"/>
          </a:solidFill>
          <a:ln w="12700">
            <a:solidFill>
              <a:srgbClr val="F1F6FB">
                <a:alpha val="0"/>
              </a:srgbClr>
            </a:solidFill>
            <a:prstDash val="solid"/>
          </a:ln>
        </p:spPr>
      </p:sp>
      <p:sp>
        <p:nvSpPr>
          <p:cNvPr id="56" name="Text 54"/>
          <p:cNvSpPr/>
          <p:nvPr/>
        </p:nvSpPr>
        <p:spPr>
          <a:xfrm>
            <a:off x="694944" y="6300216"/>
            <a:ext cx="1645920" cy="182880"/>
          </a:xfrm>
          <a:prstGeom prst="rect">
            <a:avLst/>
          </a:prstGeom>
          <a:noFill/>
          <a:ln/>
        </p:spPr>
        <p:txBody>
          <a:bodyPr wrap="square" lIns="0" tIns="0" rIns="0" bIns="0" rtlCol="0" anchor="ctr">
            <a:normAutofit/>
          </a:bodyPr>
          <a:lstStyle/>
          <a:p>
            <a:pPr indent="0" marL="0">
              <a:buNone/>
            </a:pPr>
            <a:r>
              <a:rPr lang="en-US" sz="940" b="1" spc="155" kern="0" dirty="0">
                <a:solidFill>
                  <a:srgbClr val="1967CE"/>
                </a:solidFill>
                <a:latin typeface="Inter" pitchFamily="34" charset="0"/>
                <a:ea typeface="Inter" pitchFamily="34" charset="-122"/>
                <a:cs typeface="Inter" pitchFamily="34" charset="-120"/>
              </a:rPr>
              <a:t>WHY IT MATTERS</a:t>
            </a:r>
            <a:endParaRPr lang="en-US" sz="940" dirty="0"/>
          </a:p>
        </p:txBody>
      </p:sp>
      <p:sp>
        <p:nvSpPr>
          <p:cNvPr id="57" name="Shape 55"/>
          <p:cNvSpPr/>
          <p:nvPr/>
        </p:nvSpPr>
        <p:spPr>
          <a:xfrm>
            <a:off x="2432304" y="6199632"/>
            <a:ext cx="0" cy="484632"/>
          </a:xfrm>
          <a:prstGeom prst="line">
            <a:avLst/>
          </a:prstGeom>
          <a:noFill/>
          <a:ln w="10160">
            <a:solidFill>
              <a:srgbClr val="D2DEEB"/>
            </a:solidFill>
            <a:prstDash val="solid"/>
          </a:ln>
        </p:spPr>
      </p:sp>
      <p:sp>
        <p:nvSpPr>
          <p:cNvPr id="58" name="Text 56"/>
          <p:cNvSpPr/>
          <p:nvPr/>
        </p:nvSpPr>
        <p:spPr>
          <a:xfrm>
            <a:off x="2679192" y="6172200"/>
            <a:ext cx="2423160" cy="219456"/>
          </a:xfrm>
          <a:prstGeom prst="rect">
            <a:avLst/>
          </a:prstGeom>
          <a:noFill/>
          <a:ln/>
        </p:spPr>
        <p:txBody>
          <a:bodyPr wrap="square" lIns="0" tIns="0" rIns="0" bIns="0" rtlCol="0" anchor="ctr">
            <a:normAutofit/>
          </a:bodyPr>
          <a:lstStyle/>
          <a:p>
            <a:pPr indent="0" marL="0">
              <a:buNone/>
            </a:pPr>
            <a:r>
              <a:rPr lang="en-US" sz="1275" b="1" dirty="0">
                <a:solidFill>
                  <a:srgbClr val="122C4B"/>
                </a:solidFill>
                <a:latin typeface="Inter" pitchFamily="34" charset="0"/>
                <a:ea typeface="Inter" pitchFamily="34" charset="-122"/>
                <a:cs typeface="Inter" pitchFamily="34" charset="-120"/>
              </a:rPr>
              <a:t>FASTER</a:t>
            </a:r>
            <a:endParaRPr lang="en-US" sz="1275" dirty="0"/>
          </a:p>
        </p:txBody>
      </p:sp>
      <p:sp>
        <p:nvSpPr>
          <p:cNvPr id="59" name="Text 57"/>
          <p:cNvSpPr/>
          <p:nvPr/>
        </p:nvSpPr>
        <p:spPr>
          <a:xfrm>
            <a:off x="2679192" y="6437376"/>
            <a:ext cx="2688336" cy="201168"/>
          </a:xfrm>
          <a:prstGeom prst="rect">
            <a:avLst/>
          </a:prstGeom>
          <a:noFill/>
          <a:ln/>
        </p:spPr>
        <p:txBody>
          <a:bodyPr wrap="square" lIns="0" tIns="0" rIns="0" bIns="0" rtlCol="0" anchor="ctr">
            <a:normAutofit/>
          </a:bodyPr>
          <a:lstStyle/>
          <a:p>
            <a:pPr indent="0" marL="0">
              <a:buNone/>
            </a:pPr>
            <a:r>
              <a:rPr lang="en-US" sz="1140" dirty="0">
                <a:solidFill>
                  <a:srgbClr val="63768B"/>
                </a:solidFill>
                <a:latin typeface="Inter" pitchFamily="34" charset="0"/>
                <a:ea typeface="Inter" pitchFamily="34" charset="-122"/>
                <a:cs typeface="Inter" pitchFamily="34" charset="-120"/>
              </a:rPr>
              <a:t>root-cause insight</a:t>
            </a:r>
            <a:endParaRPr lang="en-US" sz="1140" dirty="0"/>
          </a:p>
        </p:txBody>
      </p:sp>
      <p:sp>
        <p:nvSpPr>
          <p:cNvPr id="60" name="Shape 58"/>
          <p:cNvSpPr/>
          <p:nvPr/>
        </p:nvSpPr>
        <p:spPr>
          <a:xfrm>
            <a:off x="5202936" y="6199632"/>
            <a:ext cx="0" cy="484632"/>
          </a:xfrm>
          <a:prstGeom prst="line">
            <a:avLst/>
          </a:prstGeom>
          <a:noFill/>
          <a:ln w="10160">
            <a:solidFill>
              <a:srgbClr val="D2DEEB"/>
            </a:solidFill>
            <a:prstDash val="solid"/>
          </a:ln>
        </p:spPr>
      </p:sp>
      <p:sp>
        <p:nvSpPr>
          <p:cNvPr id="61" name="Text 59"/>
          <p:cNvSpPr/>
          <p:nvPr/>
        </p:nvSpPr>
        <p:spPr>
          <a:xfrm>
            <a:off x="5532120" y="6172200"/>
            <a:ext cx="2423160" cy="219456"/>
          </a:xfrm>
          <a:prstGeom prst="rect">
            <a:avLst/>
          </a:prstGeom>
          <a:noFill/>
          <a:ln/>
        </p:spPr>
        <p:txBody>
          <a:bodyPr wrap="square" lIns="0" tIns="0" rIns="0" bIns="0" rtlCol="0" anchor="ctr">
            <a:normAutofit/>
          </a:bodyPr>
          <a:lstStyle/>
          <a:p>
            <a:pPr indent="0" marL="0">
              <a:buNone/>
            </a:pPr>
            <a:r>
              <a:rPr lang="en-US" sz="1275" b="1" dirty="0">
                <a:solidFill>
                  <a:srgbClr val="122C4B"/>
                </a:solidFill>
                <a:latin typeface="Inter" pitchFamily="34" charset="0"/>
                <a:ea typeface="Inter" pitchFamily="34" charset="-122"/>
                <a:cs typeface="Inter" pitchFamily="34" charset="-120"/>
              </a:rPr>
              <a:t>REUSABLE</a:t>
            </a:r>
            <a:endParaRPr lang="en-US" sz="1275" dirty="0"/>
          </a:p>
        </p:txBody>
      </p:sp>
      <p:sp>
        <p:nvSpPr>
          <p:cNvPr id="62" name="Text 60"/>
          <p:cNvSpPr/>
          <p:nvPr/>
        </p:nvSpPr>
        <p:spPr>
          <a:xfrm>
            <a:off x="5532120" y="6437376"/>
            <a:ext cx="2688336" cy="201168"/>
          </a:xfrm>
          <a:prstGeom prst="rect">
            <a:avLst/>
          </a:prstGeom>
          <a:noFill/>
          <a:ln/>
        </p:spPr>
        <p:txBody>
          <a:bodyPr wrap="square" lIns="0" tIns="0" rIns="0" bIns="0" rtlCol="0" anchor="ctr">
            <a:normAutofit/>
          </a:bodyPr>
          <a:lstStyle/>
          <a:p>
            <a:pPr indent="0" marL="0">
              <a:buNone/>
            </a:pPr>
            <a:r>
              <a:rPr lang="en-US" sz="1140" dirty="0">
                <a:solidFill>
                  <a:srgbClr val="63768B"/>
                </a:solidFill>
                <a:latin typeface="Inter" pitchFamily="34" charset="0"/>
                <a:ea typeface="Inter" pitchFamily="34" charset="-122"/>
                <a:cs typeface="Inter" pitchFamily="34" charset="-120"/>
              </a:rPr>
              <a:t>delivery knowledge</a:t>
            </a:r>
            <a:endParaRPr lang="en-US" sz="1140" dirty="0"/>
          </a:p>
        </p:txBody>
      </p:sp>
      <p:sp>
        <p:nvSpPr>
          <p:cNvPr id="63" name="Shape 61"/>
          <p:cNvSpPr/>
          <p:nvPr/>
        </p:nvSpPr>
        <p:spPr>
          <a:xfrm>
            <a:off x="8055864" y="6199632"/>
            <a:ext cx="0" cy="484632"/>
          </a:xfrm>
          <a:prstGeom prst="line">
            <a:avLst/>
          </a:prstGeom>
          <a:noFill/>
          <a:ln w="10160">
            <a:solidFill>
              <a:srgbClr val="D2DEEB"/>
            </a:solidFill>
            <a:prstDash val="solid"/>
          </a:ln>
        </p:spPr>
      </p:sp>
      <p:sp>
        <p:nvSpPr>
          <p:cNvPr id="64" name="Text 62"/>
          <p:cNvSpPr/>
          <p:nvPr/>
        </p:nvSpPr>
        <p:spPr>
          <a:xfrm>
            <a:off x="8467344" y="6172200"/>
            <a:ext cx="2423160" cy="219456"/>
          </a:xfrm>
          <a:prstGeom prst="rect">
            <a:avLst/>
          </a:prstGeom>
          <a:noFill/>
          <a:ln/>
        </p:spPr>
        <p:txBody>
          <a:bodyPr wrap="square" lIns="0" tIns="0" rIns="0" bIns="0" rtlCol="0" anchor="ctr">
            <a:normAutofit/>
          </a:bodyPr>
          <a:lstStyle/>
          <a:p>
            <a:pPr indent="0" marL="0">
              <a:buNone/>
            </a:pPr>
            <a:r>
              <a:rPr lang="en-US" sz="1275" b="1" dirty="0">
                <a:solidFill>
                  <a:srgbClr val="122C4B"/>
                </a:solidFill>
                <a:latin typeface="Inter" pitchFamily="34" charset="0"/>
                <a:ea typeface="Inter" pitchFamily="34" charset="-122"/>
                <a:cs typeface="Inter" pitchFamily="34" charset="-120"/>
              </a:rPr>
              <a:t>CONTROLLED</a:t>
            </a:r>
            <a:endParaRPr lang="en-US" sz="1275" dirty="0"/>
          </a:p>
        </p:txBody>
      </p:sp>
      <p:sp>
        <p:nvSpPr>
          <p:cNvPr id="65" name="Text 63"/>
          <p:cNvSpPr/>
          <p:nvPr/>
        </p:nvSpPr>
        <p:spPr>
          <a:xfrm>
            <a:off x="8467344" y="6437376"/>
            <a:ext cx="2688336" cy="201168"/>
          </a:xfrm>
          <a:prstGeom prst="rect">
            <a:avLst/>
          </a:prstGeom>
          <a:noFill/>
          <a:ln/>
        </p:spPr>
        <p:txBody>
          <a:bodyPr wrap="square" lIns="0" tIns="0" rIns="0" bIns="0" rtlCol="0" anchor="ctr">
            <a:normAutofit/>
          </a:bodyPr>
          <a:lstStyle/>
          <a:p>
            <a:pPr indent="0" marL="0">
              <a:buNone/>
            </a:pPr>
            <a:r>
              <a:rPr lang="en-US" sz="1140" dirty="0">
                <a:solidFill>
                  <a:srgbClr val="63768B"/>
                </a:solidFill>
                <a:latin typeface="Inter" pitchFamily="34" charset="0"/>
                <a:ea typeface="Inter" pitchFamily="34" charset="-122"/>
                <a:cs typeface="Inter" pitchFamily="34" charset="-120"/>
              </a:rPr>
              <a:t>change execution</a:t>
            </a:r>
            <a:endParaRPr lang="en-US" sz="11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52121"/>
          </a:xfrm>
          <a:prstGeom prst="rect">
            <a:avLst>
              <a:gd name="adj" fmla="val 175438"/>
            </a:avLst>
          </a:prstGeom>
          <a:solidFill>
            <a:srgbClr val="1967CE"/>
          </a:solidFill>
          <a:ln w="12700">
            <a:solidFill>
              <a:srgbClr val="1967CE">
                <a:alpha val="0"/>
              </a:srgbClr>
            </a:solidFill>
            <a:prstDash val="solid"/>
          </a:ln>
        </p:spPr>
      </p:sp>
      <p:sp>
        <p:nvSpPr>
          <p:cNvPr id="3" name="Shape 1"/>
          <p:cNvSpPr/>
          <p:nvPr/>
        </p:nvSpPr>
        <p:spPr>
          <a:xfrm>
            <a:off x="649224" y="310896"/>
            <a:ext cx="365760" cy="365760"/>
          </a:xfrm>
          <a:prstGeom prst="roundRect">
            <a:avLst>
              <a:gd name="adj" fmla="val 23750"/>
            </a:avLst>
          </a:prstGeom>
          <a:solidFill>
            <a:srgbClr val="1967CE"/>
          </a:solidFill>
          <a:ln w="12700">
            <a:solidFill>
              <a:srgbClr val="1967CE">
                <a:alpha val="0"/>
              </a:srgbClr>
            </a:solidFill>
            <a:prstDash val="solid"/>
          </a:ln>
        </p:spPr>
      </p:sp>
      <p:sp>
        <p:nvSpPr>
          <p:cNvPr id="4" name="Text 2"/>
          <p:cNvSpPr/>
          <p:nvPr/>
        </p:nvSpPr>
        <p:spPr>
          <a:xfrm>
            <a:off x="734263" y="365760"/>
            <a:ext cx="198425" cy="246888"/>
          </a:xfrm>
          <a:prstGeom prst="rect">
            <a:avLst/>
          </a:prstGeom>
          <a:noFill/>
          <a:ln/>
        </p:spPr>
        <p:txBody>
          <a:bodyPr wrap="square" lIns="0" tIns="0" rIns="0" bIns="0" rtlCol="0" anchor="ctr">
            <a:normAutofit/>
          </a:bodyPr>
          <a:lstStyle/>
          <a:p>
            <a:pPr algn="ctr" indent="0" marL="0">
              <a:buNone/>
            </a:pPr>
            <a:r>
              <a:rPr lang="en-US" sz="1730" b="1" dirty="0">
                <a:solidFill>
                  <a:srgbClr val="FFFFFF"/>
                </a:solidFill>
                <a:latin typeface="Inter" pitchFamily="34" charset="0"/>
                <a:ea typeface="Inter" pitchFamily="34" charset="-122"/>
                <a:cs typeface="Inter" pitchFamily="34" charset="-120"/>
              </a:rPr>
              <a:t>E</a:t>
            </a:r>
            <a:endParaRPr lang="en-US" sz="1730" dirty="0"/>
          </a:p>
        </p:txBody>
      </p:sp>
      <p:sp>
        <p:nvSpPr>
          <p:cNvPr id="5" name="Text 3"/>
          <p:cNvSpPr/>
          <p:nvPr/>
        </p:nvSpPr>
        <p:spPr>
          <a:xfrm>
            <a:off x="1124712" y="352044"/>
            <a:ext cx="1024128" cy="274320"/>
          </a:xfrm>
          <a:prstGeom prst="rect">
            <a:avLst/>
          </a:prstGeom>
          <a:noFill/>
          <a:ln/>
        </p:spPr>
        <p:txBody>
          <a:bodyPr wrap="square" lIns="0" tIns="0" rIns="0" bIns="0" rtlCol="0" anchor="ctr">
            <a:normAutofit/>
          </a:bodyPr>
          <a:lstStyle/>
          <a:p>
            <a:pPr indent="0" marL="0">
              <a:buNone/>
            </a:pPr>
            <a:r>
              <a:rPr lang="en-US" sz="1930" b="1" spc="120" kern="0" dirty="0">
                <a:solidFill>
                  <a:srgbClr val="122C4B"/>
                </a:solidFill>
                <a:latin typeface="Inter" pitchFamily="34" charset="0"/>
                <a:ea typeface="Inter" pitchFamily="34" charset="-122"/>
                <a:cs typeface="Inter" pitchFamily="34" charset="-120"/>
              </a:rPr>
              <a:t>ELIYA</a:t>
            </a:r>
            <a:endParaRPr lang="en-US" sz="1930" dirty="0"/>
          </a:p>
        </p:txBody>
      </p:sp>
      <p:sp>
        <p:nvSpPr>
          <p:cNvPr id="6" name="Shape 4"/>
          <p:cNvSpPr/>
          <p:nvPr/>
        </p:nvSpPr>
        <p:spPr>
          <a:xfrm>
            <a:off x="2258568" y="369418"/>
            <a:ext cx="0" cy="252374"/>
          </a:xfrm>
          <a:prstGeom prst="line">
            <a:avLst/>
          </a:prstGeom>
          <a:noFill/>
          <a:ln w="12700">
            <a:solidFill>
              <a:srgbClr val="DCE6F0"/>
            </a:solidFill>
            <a:prstDash val="solid"/>
          </a:ln>
        </p:spPr>
      </p:sp>
      <p:sp>
        <p:nvSpPr>
          <p:cNvPr id="7" name="Text 5"/>
          <p:cNvSpPr/>
          <p:nvPr/>
        </p:nvSpPr>
        <p:spPr>
          <a:xfrm>
            <a:off x="2441448" y="376733"/>
            <a:ext cx="3182112" cy="219456"/>
          </a:xfrm>
          <a:prstGeom prst="rect">
            <a:avLst/>
          </a:prstGeom>
          <a:noFill/>
          <a:ln/>
        </p:spPr>
        <p:txBody>
          <a:bodyPr wrap="square" lIns="0" tIns="0" rIns="0" bIns="0" rtlCol="0" anchor="ctr">
            <a:normAutofit/>
          </a:bodyPr>
          <a:lstStyle/>
          <a:p>
            <a:pPr indent="0" marL="0">
              <a:buNone/>
            </a:pPr>
            <a:r>
              <a:rPr lang="en-US" sz="970" b="1" spc="155" kern="0" dirty="0">
                <a:solidFill>
                  <a:srgbClr val="63768B"/>
                </a:solidFill>
                <a:latin typeface="Inter" pitchFamily="34" charset="0"/>
                <a:ea typeface="Inter" pitchFamily="34" charset="-122"/>
                <a:cs typeface="Inter" pitchFamily="34" charset="-120"/>
              </a:rPr>
              <a:t>STAKEHOLDER IMPACT</a:t>
            </a:r>
            <a:endParaRPr lang="en-US" sz="970" dirty="0"/>
          </a:p>
        </p:txBody>
      </p:sp>
      <p:sp>
        <p:nvSpPr>
          <p:cNvPr id="8" name="Text 6"/>
          <p:cNvSpPr/>
          <p:nvPr/>
        </p:nvSpPr>
        <p:spPr>
          <a:xfrm>
            <a:off x="10817352" y="374904"/>
            <a:ext cx="694944" cy="201168"/>
          </a:xfrm>
          <a:prstGeom prst="rect">
            <a:avLst/>
          </a:prstGeom>
          <a:noFill/>
          <a:ln/>
        </p:spPr>
        <p:txBody>
          <a:bodyPr wrap="square" lIns="0" tIns="0" rIns="0" bIns="0" rtlCol="0" anchor="ctr">
            <a:normAutofit/>
          </a:bodyPr>
          <a:lstStyle/>
          <a:p>
            <a:pPr indent="0" marL="0">
              <a:buNone/>
            </a:pPr>
            <a:r>
              <a:rPr lang="en-US" sz="980" b="1" spc="155" kern="0" dirty="0">
                <a:solidFill>
                  <a:srgbClr val="63768B"/>
                </a:solidFill>
                <a:latin typeface="Inter" pitchFamily="34" charset="0"/>
                <a:ea typeface="Inter" pitchFamily="34" charset="-122"/>
                <a:cs typeface="Inter" pitchFamily="34" charset="-120"/>
              </a:rPr>
              <a:t>02  /  02</a:t>
            </a:r>
            <a:endParaRPr lang="en-US" sz="980" dirty="0"/>
          </a:p>
        </p:txBody>
      </p:sp>
      <p:sp>
        <p:nvSpPr>
          <p:cNvPr id="9" name="Shape 7"/>
          <p:cNvSpPr/>
          <p:nvPr/>
        </p:nvSpPr>
        <p:spPr>
          <a:xfrm>
            <a:off x="667512" y="827532"/>
            <a:ext cx="10853928" cy="0"/>
          </a:xfrm>
          <a:prstGeom prst="line">
            <a:avLst/>
          </a:prstGeom>
          <a:noFill/>
          <a:ln w="9525">
            <a:solidFill>
              <a:srgbClr val="E8EFF5"/>
            </a:solidFill>
            <a:prstDash val="solid"/>
          </a:ln>
        </p:spPr>
      </p:sp>
      <p:sp>
        <p:nvSpPr>
          <p:cNvPr id="10" name="Text 8"/>
          <p:cNvSpPr/>
          <p:nvPr/>
        </p:nvSpPr>
        <p:spPr>
          <a:xfrm>
            <a:off x="685800" y="1060704"/>
            <a:ext cx="10853928" cy="502920"/>
          </a:xfrm>
          <a:prstGeom prst="rect">
            <a:avLst/>
          </a:prstGeom>
          <a:noFill/>
          <a:ln/>
        </p:spPr>
        <p:txBody>
          <a:bodyPr wrap="square" lIns="0" tIns="0" rIns="0" bIns="0" rtlCol="0" anchor="ctr">
            <a:normAutofit/>
          </a:bodyPr>
          <a:lstStyle/>
          <a:p>
            <a:pPr indent="0" marL="0">
              <a:buNone/>
            </a:pPr>
            <a:r>
              <a:rPr lang="en-US" sz="3290" b="1" spc="-60" kern="0" dirty="0">
                <a:solidFill>
                  <a:srgbClr val="122C4B"/>
                </a:solidFill>
                <a:latin typeface="Inter" pitchFamily="34" charset="0"/>
                <a:ea typeface="Inter" pitchFamily="34" charset="-122"/>
                <a:cs typeface="Inter" pitchFamily="34" charset="-120"/>
              </a:rPr>
              <a:t>One platform. Every delivery role.</a:t>
            </a:r>
            <a:endParaRPr lang="en-US" sz="3290" dirty="0"/>
          </a:p>
        </p:txBody>
      </p:sp>
      <p:sp>
        <p:nvSpPr>
          <p:cNvPr id="11" name="Text 9"/>
          <p:cNvSpPr/>
          <p:nvPr/>
        </p:nvSpPr>
        <p:spPr>
          <a:xfrm>
            <a:off x="704088" y="1664208"/>
            <a:ext cx="10607040" cy="265176"/>
          </a:xfrm>
          <a:prstGeom prst="rect">
            <a:avLst/>
          </a:prstGeom>
          <a:noFill/>
          <a:ln/>
        </p:spPr>
        <p:txBody>
          <a:bodyPr wrap="square" lIns="0" tIns="0" rIns="0" bIns="0" rtlCol="0" anchor="ctr">
            <a:normAutofit/>
          </a:bodyPr>
          <a:lstStyle/>
          <a:p>
            <a:pPr indent="0" marL="0">
              <a:buNone/>
            </a:pPr>
            <a:r>
              <a:rPr lang="en-US" sz="1355" dirty="0">
                <a:solidFill>
                  <a:srgbClr val="63768B"/>
                </a:solidFill>
                <a:latin typeface="Inter" pitchFamily="34" charset="0"/>
                <a:ea typeface="Inter" pitchFamily="34" charset="-122"/>
                <a:cs typeface="Inter" pitchFamily="34" charset="-120"/>
              </a:rPr>
              <a:t>Turn the same project intelligence into outcomes tailored to each team.</a:t>
            </a:r>
            <a:endParaRPr lang="en-US" sz="1355" dirty="0"/>
          </a:p>
        </p:txBody>
      </p:sp>
      <p:sp>
        <p:nvSpPr>
          <p:cNvPr id="12" name="Shape 10"/>
          <p:cNvSpPr/>
          <p:nvPr/>
        </p:nvSpPr>
        <p:spPr>
          <a:xfrm>
            <a:off x="694944" y="2203704"/>
            <a:ext cx="3419856" cy="1572768"/>
          </a:xfrm>
          <a:prstGeom prst="roundRect">
            <a:avLst>
              <a:gd name="adj" fmla="val 9302"/>
            </a:avLst>
          </a:prstGeom>
          <a:solidFill>
            <a:srgbClr val="FFFFFF"/>
          </a:solidFill>
          <a:ln w="12700">
            <a:solidFill>
              <a:srgbClr val="DCE6F1"/>
            </a:solidFill>
            <a:prstDash val="solid"/>
          </a:ln>
        </p:spPr>
      </p:sp>
      <p:sp>
        <p:nvSpPr>
          <p:cNvPr id="13" name="Shape 11"/>
          <p:cNvSpPr/>
          <p:nvPr/>
        </p:nvSpPr>
        <p:spPr>
          <a:xfrm>
            <a:off x="713232" y="2221992"/>
            <a:ext cx="52121" cy="1536192"/>
          </a:xfrm>
          <a:prstGeom prst="rect">
            <a:avLst>
              <a:gd name="adj" fmla="val 175438"/>
            </a:avLst>
          </a:prstGeom>
          <a:solidFill>
            <a:srgbClr val="1967CE"/>
          </a:solidFill>
          <a:ln w="12700">
            <a:solidFill>
              <a:srgbClr val="1967CE">
                <a:alpha val="0"/>
              </a:srgbClr>
            </a:solidFill>
            <a:prstDash val="solid"/>
          </a:ln>
        </p:spPr>
      </p:sp>
      <p:sp>
        <p:nvSpPr>
          <p:cNvPr id="14" name="Shape 12"/>
          <p:cNvSpPr/>
          <p:nvPr/>
        </p:nvSpPr>
        <p:spPr>
          <a:xfrm>
            <a:off x="923544" y="2404872"/>
            <a:ext cx="484632" cy="448056"/>
          </a:xfrm>
          <a:prstGeom prst="roundRect">
            <a:avLst>
              <a:gd name="adj" fmla="val 24490"/>
            </a:avLst>
          </a:prstGeom>
          <a:solidFill>
            <a:srgbClr val="EDF5FF"/>
          </a:solidFill>
          <a:ln w="12700">
            <a:solidFill>
              <a:srgbClr val="EDF5FF">
                <a:alpha val="0"/>
              </a:srgbClr>
            </a:solidFill>
            <a:prstDash val="solid"/>
          </a:ln>
        </p:spPr>
      </p:sp>
      <p:sp>
        <p:nvSpPr>
          <p:cNvPr id="15" name="Text 13"/>
          <p:cNvSpPr/>
          <p:nvPr/>
        </p:nvSpPr>
        <p:spPr>
          <a:xfrm>
            <a:off x="1037844" y="2522830"/>
            <a:ext cx="256032" cy="173736"/>
          </a:xfrm>
          <a:prstGeom prst="rect">
            <a:avLst/>
          </a:prstGeom>
          <a:noFill/>
          <a:ln/>
        </p:spPr>
        <p:txBody>
          <a:bodyPr wrap="square" lIns="0" tIns="0" rIns="0" bIns="0" rtlCol="0" anchor="ctr">
            <a:normAutofit/>
          </a:bodyPr>
          <a:lstStyle/>
          <a:p>
            <a:pPr algn="ctr" indent="0" marL="0">
              <a:buNone/>
            </a:pPr>
            <a:r>
              <a:rPr lang="en-US" sz="1100" b="1" dirty="0">
                <a:solidFill>
                  <a:srgbClr val="1967CE"/>
                </a:solidFill>
                <a:latin typeface="Inter" pitchFamily="34" charset="0"/>
                <a:ea typeface="Inter" pitchFamily="34" charset="-122"/>
                <a:cs typeface="Inter" pitchFamily="34" charset="-120"/>
              </a:rPr>
              <a:t>01</a:t>
            </a:r>
            <a:endParaRPr lang="en-US" sz="1100" dirty="0"/>
          </a:p>
        </p:txBody>
      </p:sp>
      <p:sp>
        <p:nvSpPr>
          <p:cNvPr id="16" name="Text 14"/>
          <p:cNvSpPr/>
          <p:nvPr/>
        </p:nvSpPr>
        <p:spPr>
          <a:xfrm>
            <a:off x="1554480" y="2459736"/>
            <a:ext cx="2404872" cy="228600"/>
          </a:xfrm>
          <a:prstGeom prst="rect">
            <a:avLst/>
          </a:prstGeom>
          <a:noFill/>
          <a:ln/>
        </p:spPr>
        <p:txBody>
          <a:bodyPr wrap="square" lIns="0" tIns="0" rIns="0" bIns="0" rtlCol="0" anchor="ctr">
            <a:normAutofit/>
          </a:bodyPr>
          <a:lstStyle/>
          <a:p>
            <a:pPr indent="0" marL="0">
              <a:buNone/>
            </a:pPr>
            <a:r>
              <a:rPr lang="en-US" sz="1340" b="1" spc="20" kern="0" dirty="0">
                <a:solidFill>
                  <a:srgbClr val="122C4B"/>
                </a:solidFill>
                <a:latin typeface="Inter" pitchFamily="34" charset="0"/>
                <a:ea typeface="Inter" pitchFamily="34" charset="-122"/>
                <a:cs typeface="Inter" pitchFamily="34" charset="-120"/>
              </a:rPr>
              <a:t>DEVELOPERS</a:t>
            </a:r>
            <a:endParaRPr lang="en-US" sz="1340" dirty="0"/>
          </a:p>
        </p:txBody>
      </p:sp>
      <p:sp>
        <p:nvSpPr>
          <p:cNvPr id="17" name="Text 15"/>
          <p:cNvSpPr/>
          <p:nvPr/>
        </p:nvSpPr>
        <p:spPr>
          <a:xfrm>
            <a:off x="941832" y="2980944"/>
            <a:ext cx="2935224" cy="429768"/>
          </a:xfrm>
          <a:prstGeom prst="rect">
            <a:avLst/>
          </a:prstGeom>
          <a:noFill/>
          <a:ln/>
        </p:spPr>
        <p:txBody>
          <a:bodyPr wrap="square" lIns="0" tIns="0" rIns="0" bIns="0" rtlCol="0" anchor="t">
            <a:normAutofit/>
          </a:bodyPr>
          <a:lstStyle/>
          <a:p>
            <a:pPr indent="0" marL="0">
              <a:buNone/>
            </a:pPr>
            <a:r>
              <a:rPr lang="en-US" sz="1110" dirty="0">
                <a:solidFill>
                  <a:srgbClr val="324760"/>
                </a:solidFill>
                <a:latin typeface="Inter" pitchFamily="34" charset="0"/>
                <a:ea typeface="Inter" pitchFamily="34" charset="-122"/>
                <a:cs typeface="Inter" pitchFamily="34" charset="-120"/>
              </a:rPr>
              <a:t>Compare Jira stories with code, assess impact and implement fixes.</a:t>
            </a:r>
            <a:endParaRPr lang="en-US" sz="1110" dirty="0"/>
          </a:p>
        </p:txBody>
      </p:sp>
      <p:sp>
        <p:nvSpPr>
          <p:cNvPr id="18" name="Text 16"/>
          <p:cNvSpPr/>
          <p:nvPr/>
        </p:nvSpPr>
        <p:spPr>
          <a:xfrm>
            <a:off x="941832" y="3520440"/>
            <a:ext cx="2944368" cy="155448"/>
          </a:xfrm>
          <a:prstGeom prst="rect">
            <a:avLst/>
          </a:prstGeom>
          <a:noFill/>
          <a:ln/>
        </p:spPr>
        <p:txBody>
          <a:bodyPr wrap="square" lIns="0" tIns="0" rIns="0" bIns="0" rtlCol="0" anchor="ctr">
            <a:normAutofit/>
          </a:bodyPr>
          <a:lstStyle/>
          <a:p>
            <a:pPr indent="0" marL="0">
              <a:buNone/>
            </a:pPr>
            <a:r>
              <a:rPr lang="en-US" sz="922" b="1" spc="65" kern="0" dirty="0">
                <a:solidFill>
                  <a:srgbClr val="1967CE"/>
                </a:solidFill>
                <a:latin typeface="Inter" pitchFamily="34" charset="0"/>
                <a:ea typeface="Inter" pitchFamily="34" charset="-122"/>
                <a:cs typeface="Inter" pitchFamily="34" charset="-120"/>
              </a:rPr>
              <a:t>FROM REQUIREMENT TO CHANGE</a:t>
            </a:r>
            <a:endParaRPr lang="en-US" sz="922" dirty="0"/>
          </a:p>
        </p:txBody>
      </p:sp>
      <p:sp>
        <p:nvSpPr>
          <p:cNvPr id="19" name="Shape 17"/>
          <p:cNvSpPr/>
          <p:nvPr/>
        </p:nvSpPr>
        <p:spPr>
          <a:xfrm>
            <a:off x="4370832" y="2203704"/>
            <a:ext cx="3419856" cy="1572768"/>
          </a:xfrm>
          <a:prstGeom prst="roundRect">
            <a:avLst>
              <a:gd name="adj" fmla="val 9302"/>
            </a:avLst>
          </a:prstGeom>
          <a:solidFill>
            <a:srgbClr val="FFFFFF"/>
          </a:solidFill>
          <a:ln w="12700">
            <a:solidFill>
              <a:srgbClr val="DCE6F1"/>
            </a:solidFill>
            <a:prstDash val="solid"/>
          </a:ln>
        </p:spPr>
      </p:sp>
      <p:sp>
        <p:nvSpPr>
          <p:cNvPr id="20" name="Shape 18"/>
          <p:cNvSpPr/>
          <p:nvPr/>
        </p:nvSpPr>
        <p:spPr>
          <a:xfrm>
            <a:off x="4389120" y="2221992"/>
            <a:ext cx="52121" cy="1536192"/>
          </a:xfrm>
          <a:prstGeom prst="rect">
            <a:avLst>
              <a:gd name="adj" fmla="val 175438"/>
            </a:avLst>
          </a:prstGeom>
          <a:solidFill>
            <a:srgbClr val="09978C"/>
          </a:solidFill>
          <a:ln w="12700">
            <a:solidFill>
              <a:srgbClr val="09978C">
                <a:alpha val="0"/>
              </a:srgbClr>
            </a:solidFill>
            <a:prstDash val="solid"/>
          </a:ln>
        </p:spPr>
      </p:sp>
      <p:sp>
        <p:nvSpPr>
          <p:cNvPr id="21" name="Shape 19"/>
          <p:cNvSpPr/>
          <p:nvPr/>
        </p:nvSpPr>
        <p:spPr>
          <a:xfrm>
            <a:off x="4599432" y="2404872"/>
            <a:ext cx="484632" cy="448056"/>
          </a:xfrm>
          <a:prstGeom prst="roundRect">
            <a:avLst>
              <a:gd name="adj" fmla="val 24490"/>
            </a:avLst>
          </a:prstGeom>
          <a:solidFill>
            <a:srgbClr val="E9F8F5"/>
          </a:solidFill>
          <a:ln w="12700">
            <a:solidFill>
              <a:srgbClr val="E9F8F5">
                <a:alpha val="0"/>
              </a:srgbClr>
            </a:solidFill>
            <a:prstDash val="solid"/>
          </a:ln>
        </p:spPr>
      </p:sp>
      <p:sp>
        <p:nvSpPr>
          <p:cNvPr id="22" name="Text 20"/>
          <p:cNvSpPr/>
          <p:nvPr/>
        </p:nvSpPr>
        <p:spPr>
          <a:xfrm>
            <a:off x="4713732" y="2522830"/>
            <a:ext cx="256032" cy="173736"/>
          </a:xfrm>
          <a:prstGeom prst="rect">
            <a:avLst/>
          </a:prstGeom>
          <a:noFill/>
          <a:ln/>
        </p:spPr>
        <p:txBody>
          <a:bodyPr wrap="square" lIns="0" tIns="0" rIns="0" bIns="0" rtlCol="0" anchor="ctr">
            <a:normAutofit/>
          </a:bodyPr>
          <a:lstStyle/>
          <a:p>
            <a:pPr algn="ctr" indent="0" marL="0">
              <a:buNone/>
            </a:pPr>
            <a:r>
              <a:rPr lang="en-US" sz="1100" b="1" dirty="0">
                <a:solidFill>
                  <a:srgbClr val="09978C"/>
                </a:solidFill>
                <a:latin typeface="Inter" pitchFamily="34" charset="0"/>
                <a:ea typeface="Inter" pitchFamily="34" charset="-122"/>
                <a:cs typeface="Inter" pitchFamily="34" charset="-120"/>
              </a:rPr>
              <a:t>02</a:t>
            </a:r>
            <a:endParaRPr lang="en-US" sz="1100" dirty="0"/>
          </a:p>
        </p:txBody>
      </p:sp>
      <p:sp>
        <p:nvSpPr>
          <p:cNvPr id="23" name="Text 21"/>
          <p:cNvSpPr/>
          <p:nvPr/>
        </p:nvSpPr>
        <p:spPr>
          <a:xfrm>
            <a:off x="5230368" y="2459736"/>
            <a:ext cx="2404872" cy="228600"/>
          </a:xfrm>
          <a:prstGeom prst="rect">
            <a:avLst/>
          </a:prstGeom>
          <a:noFill/>
          <a:ln/>
        </p:spPr>
        <p:txBody>
          <a:bodyPr wrap="square" lIns="0" tIns="0" rIns="0" bIns="0" rtlCol="0" anchor="ctr">
            <a:normAutofit/>
          </a:bodyPr>
          <a:lstStyle/>
          <a:p>
            <a:pPr indent="0" marL="0">
              <a:buNone/>
            </a:pPr>
            <a:r>
              <a:rPr lang="en-US" sz="1340" b="1" spc="20" kern="0" dirty="0">
                <a:solidFill>
                  <a:srgbClr val="122C4B"/>
                </a:solidFill>
                <a:latin typeface="Inter" pitchFamily="34" charset="0"/>
                <a:ea typeface="Inter" pitchFamily="34" charset="-122"/>
                <a:cs typeface="Inter" pitchFamily="34" charset="-120"/>
              </a:rPr>
              <a:t>QA &amp; AUTOMATION</a:t>
            </a:r>
            <a:endParaRPr lang="en-US" sz="1340" dirty="0"/>
          </a:p>
        </p:txBody>
      </p:sp>
      <p:sp>
        <p:nvSpPr>
          <p:cNvPr id="24" name="Text 22"/>
          <p:cNvSpPr/>
          <p:nvPr/>
        </p:nvSpPr>
        <p:spPr>
          <a:xfrm>
            <a:off x="4617720" y="2980944"/>
            <a:ext cx="2935224" cy="429768"/>
          </a:xfrm>
          <a:prstGeom prst="rect">
            <a:avLst/>
          </a:prstGeom>
          <a:noFill/>
          <a:ln/>
        </p:spPr>
        <p:txBody>
          <a:bodyPr wrap="square" lIns="0" tIns="0" rIns="0" bIns="0" rtlCol="0" anchor="t">
            <a:normAutofit/>
          </a:bodyPr>
          <a:lstStyle/>
          <a:p>
            <a:pPr indent="0" marL="0">
              <a:buNone/>
            </a:pPr>
            <a:r>
              <a:rPr lang="en-US" sz="1110" dirty="0">
                <a:solidFill>
                  <a:srgbClr val="324760"/>
                </a:solidFill>
                <a:latin typeface="Inter" pitchFamily="34" charset="0"/>
                <a:ea typeface="Inter" pitchFamily="34" charset="-122"/>
                <a:cs typeface="Inter" pitchFamily="34" charset="-120"/>
              </a:rPr>
              <a:t>Generate, migrate, execute and repair Playwright tests.</a:t>
            </a:r>
            <a:endParaRPr lang="en-US" sz="1110" dirty="0"/>
          </a:p>
        </p:txBody>
      </p:sp>
      <p:sp>
        <p:nvSpPr>
          <p:cNvPr id="25" name="Text 23"/>
          <p:cNvSpPr/>
          <p:nvPr/>
        </p:nvSpPr>
        <p:spPr>
          <a:xfrm>
            <a:off x="4617720" y="3520440"/>
            <a:ext cx="2944368" cy="155448"/>
          </a:xfrm>
          <a:prstGeom prst="rect">
            <a:avLst/>
          </a:prstGeom>
          <a:noFill/>
          <a:ln/>
        </p:spPr>
        <p:txBody>
          <a:bodyPr wrap="square" lIns="0" tIns="0" rIns="0" bIns="0" rtlCol="0" anchor="ctr">
            <a:normAutofit/>
          </a:bodyPr>
          <a:lstStyle/>
          <a:p>
            <a:pPr indent="0" marL="0">
              <a:buNone/>
            </a:pPr>
            <a:r>
              <a:rPr lang="en-US" sz="922" b="1" spc="65" kern="0" dirty="0">
                <a:solidFill>
                  <a:srgbClr val="09978C"/>
                </a:solidFill>
                <a:latin typeface="Inter" pitchFamily="34" charset="0"/>
                <a:ea typeface="Inter" pitchFamily="34" charset="-122"/>
                <a:cs typeface="Inter" pitchFamily="34" charset="-120"/>
              </a:rPr>
              <a:t>FROM DEFECT TO VERIFIED TEST</a:t>
            </a:r>
            <a:endParaRPr lang="en-US" sz="922" dirty="0"/>
          </a:p>
        </p:txBody>
      </p:sp>
      <p:sp>
        <p:nvSpPr>
          <p:cNvPr id="26" name="Shape 24"/>
          <p:cNvSpPr/>
          <p:nvPr/>
        </p:nvSpPr>
        <p:spPr>
          <a:xfrm>
            <a:off x="8046720" y="2203704"/>
            <a:ext cx="3419856" cy="1572768"/>
          </a:xfrm>
          <a:prstGeom prst="roundRect">
            <a:avLst>
              <a:gd name="adj" fmla="val 9302"/>
            </a:avLst>
          </a:prstGeom>
          <a:solidFill>
            <a:srgbClr val="FFFFFF"/>
          </a:solidFill>
          <a:ln w="12700">
            <a:solidFill>
              <a:srgbClr val="DCE6F1"/>
            </a:solidFill>
            <a:prstDash val="solid"/>
          </a:ln>
        </p:spPr>
      </p:sp>
      <p:sp>
        <p:nvSpPr>
          <p:cNvPr id="27" name="Shape 25"/>
          <p:cNvSpPr/>
          <p:nvPr/>
        </p:nvSpPr>
        <p:spPr>
          <a:xfrm>
            <a:off x="8065008" y="2221992"/>
            <a:ext cx="52121" cy="1536192"/>
          </a:xfrm>
          <a:prstGeom prst="rect">
            <a:avLst>
              <a:gd name="adj" fmla="val 175438"/>
            </a:avLst>
          </a:prstGeom>
          <a:solidFill>
            <a:srgbClr val="7656CF"/>
          </a:solidFill>
          <a:ln w="12700">
            <a:solidFill>
              <a:srgbClr val="7656CF">
                <a:alpha val="0"/>
              </a:srgbClr>
            </a:solidFill>
            <a:prstDash val="solid"/>
          </a:ln>
        </p:spPr>
      </p:sp>
      <p:sp>
        <p:nvSpPr>
          <p:cNvPr id="28" name="Shape 26"/>
          <p:cNvSpPr/>
          <p:nvPr/>
        </p:nvSpPr>
        <p:spPr>
          <a:xfrm>
            <a:off x="8275320" y="2404872"/>
            <a:ext cx="484632" cy="448056"/>
          </a:xfrm>
          <a:prstGeom prst="roundRect">
            <a:avLst>
              <a:gd name="adj" fmla="val 24490"/>
            </a:avLst>
          </a:prstGeom>
          <a:solidFill>
            <a:srgbClr val="F2F0FC"/>
          </a:solidFill>
          <a:ln w="12700">
            <a:solidFill>
              <a:srgbClr val="F2F0FC">
                <a:alpha val="0"/>
              </a:srgbClr>
            </a:solidFill>
            <a:prstDash val="solid"/>
          </a:ln>
        </p:spPr>
      </p:sp>
      <p:sp>
        <p:nvSpPr>
          <p:cNvPr id="29" name="Text 27"/>
          <p:cNvSpPr/>
          <p:nvPr/>
        </p:nvSpPr>
        <p:spPr>
          <a:xfrm>
            <a:off x="8389620" y="2522830"/>
            <a:ext cx="256032" cy="173736"/>
          </a:xfrm>
          <a:prstGeom prst="rect">
            <a:avLst/>
          </a:prstGeom>
          <a:noFill/>
          <a:ln/>
        </p:spPr>
        <p:txBody>
          <a:bodyPr wrap="square" lIns="0" tIns="0" rIns="0" bIns="0" rtlCol="0" anchor="ctr">
            <a:normAutofit/>
          </a:bodyPr>
          <a:lstStyle/>
          <a:p>
            <a:pPr algn="ctr" indent="0" marL="0">
              <a:buNone/>
            </a:pPr>
            <a:r>
              <a:rPr lang="en-US" sz="1100" b="1" dirty="0">
                <a:solidFill>
                  <a:srgbClr val="7656CF"/>
                </a:solidFill>
                <a:latin typeface="Inter" pitchFamily="34" charset="0"/>
                <a:ea typeface="Inter" pitchFamily="34" charset="-122"/>
                <a:cs typeface="Inter" pitchFamily="34" charset="-120"/>
              </a:rPr>
              <a:t>03</a:t>
            </a:r>
            <a:endParaRPr lang="en-US" sz="1100" dirty="0"/>
          </a:p>
        </p:txBody>
      </p:sp>
      <p:sp>
        <p:nvSpPr>
          <p:cNvPr id="30" name="Text 28"/>
          <p:cNvSpPr/>
          <p:nvPr/>
        </p:nvSpPr>
        <p:spPr>
          <a:xfrm>
            <a:off x="8906256" y="2459736"/>
            <a:ext cx="2404872" cy="228600"/>
          </a:xfrm>
          <a:prstGeom prst="rect">
            <a:avLst/>
          </a:prstGeom>
          <a:noFill/>
          <a:ln/>
        </p:spPr>
        <p:txBody>
          <a:bodyPr wrap="square" lIns="0" tIns="0" rIns="0" bIns="0" rtlCol="0" anchor="ctr">
            <a:normAutofit/>
          </a:bodyPr>
          <a:lstStyle/>
          <a:p>
            <a:pPr indent="0" marL="0">
              <a:buNone/>
            </a:pPr>
            <a:r>
              <a:rPr lang="en-US" sz="1340" b="1" spc="20" kern="0" dirty="0">
                <a:solidFill>
                  <a:srgbClr val="122C4B"/>
                </a:solidFill>
                <a:latin typeface="Inter" pitchFamily="34" charset="0"/>
                <a:ea typeface="Inter" pitchFamily="34" charset="-122"/>
                <a:cs typeface="Inter" pitchFamily="34" charset="-120"/>
              </a:rPr>
              <a:t>BUSINESS ANALYSTS</a:t>
            </a:r>
            <a:endParaRPr lang="en-US" sz="1340" dirty="0"/>
          </a:p>
        </p:txBody>
      </p:sp>
      <p:sp>
        <p:nvSpPr>
          <p:cNvPr id="31" name="Text 29"/>
          <p:cNvSpPr/>
          <p:nvPr/>
        </p:nvSpPr>
        <p:spPr>
          <a:xfrm>
            <a:off x="8293608" y="2980944"/>
            <a:ext cx="2935224" cy="429768"/>
          </a:xfrm>
          <a:prstGeom prst="rect">
            <a:avLst/>
          </a:prstGeom>
          <a:noFill/>
          <a:ln/>
        </p:spPr>
        <p:txBody>
          <a:bodyPr wrap="square" lIns="0" tIns="0" rIns="0" bIns="0" rtlCol="0" anchor="t">
            <a:normAutofit/>
          </a:bodyPr>
          <a:lstStyle/>
          <a:p>
            <a:pPr indent="0" marL="0">
              <a:buNone/>
            </a:pPr>
            <a:r>
              <a:rPr lang="en-US" sz="1110" dirty="0">
                <a:solidFill>
                  <a:srgbClr val="324760"/>
                </a:solidFill>
                <a:latin typeface="Inter" pitchFamily="34" charset="0"/>
                <a:ea typeface="Inter" pitchFamily="34" charset="-122"/>
                <a:cs typeface="Inter" pitchFamily="34" charset="-120"/>
              </a:rPr>
              <a:t>Clarify acceptance criteria, validate coverage and spot gaps.</a:t>
            </a:r>
            <a:endParaRPr lang="en-US" sz="1110" dirty="0"/>
          </a:p>
        </p:txBody>
      </p:sp>
      <p:sp>
        <p:nvSpPr>
          <p:cNvPr id="32" name="Text 30"/>
          <p:cNvSpPr/>
          <p:nvPr/>
        </p:nvSpPr>
        <p:spPr>
          <a:xfrm>
            <a:off x="8293608" y="3520440"/>
            <a:ext cx="2944368" cy="155448"/>
          </a:xfrm>
          <a:prstGeom prst="rect">
            <a:avLst/>
          </a:prstGeom>
          <a:noFill/>
          <a:ln/>
        </p:spPr>
        <p:txBody>
          <a:bodyPr wrap="square" lIns="0" tIns="0" rIns="0" bIns="0" rtlCol="0" anchor="ctr">
            <a:normAutofit/>
          </a:bodyPr>
          <a:lstStyle/>
          <a:p>
            <a:pPr indent="0" marL="0">
              <a:buNone/>
            </a:pPr>
            <a:r>
              <a:rPr lang="en-US" sz="922" b="1" spc="65" kern="0" dirty="0">
                <a:solidFill>
                  <a:srgbClr val="7656CF"/>
                </a:solidFill>
                <a:latin typeface="Inter" pitchFamily="34" charset="0"/>
                <a:ea typeface="Inter" pitchFamily="34" charset="-122"/>
                <a:cs typeface="Inter" pitchFamily="34" charset="-120"/>
              </a:rPr>
              <a:t>FROM INTENT TO CLARITY</a:t>
            </a:r>
            <a:endParaRPr lang="en-US" sz="922" dirty="0"/>
          </a:p>
        </p:txBody>
      </p:sp>
      <p:sp>
        <p:nvSpPr>
          <p:cNvPr id="33" name="Shape 31"/>
          <p:cNvSpPr/>
          <p:nvPr/>
        </p:nvSpPr>
        <p:spPr>
          <a:xfrm>
            <a:off x="694944" y="3995928"/>
            <a:ext cx="3419856" cy="1572768"/>
          </a:xfrm>
          <a:prstGeom prst="roundRect">
            <a:avLst>
              <a:gd name="adj" fmla="val 9302"/>
            </a:avLst>
          </a:prstGeom>
          <a:solidFill>
            <a:srgbClr val="FFFFFF"/>
          </a:solidFill>
          <a:ln w="12700">
            <a:solidFill>
              <a:srgbClr val="DCE6F1"/>
            </a:solidFill>
            <a:prstDash val="solid"/>
          </a:ln>
        </p:spPr>
      </p:sp>
      <p:sp>
        <p:nvSpPr>
          <p:cNvPr id="34" name="Shape 32"/>
          <p:cNvSpPr/>
          <p:nvPr/>
        </p:nvSpPr>
        <p:spPr>
          <a:xfrm>
            <a:off x="713232" y="4014216"/>
            <a:ext cx="52121" cy="1536192"/>
          </a:xfrm>
          <a:prstGeom prst="rect">
            <a:avLst>
              <a:gd name="adj" fmla="val 175438"/>
            </a:avLst>
          </a:prstGeom>
          <a:solidFill>
            <a:srgbClr val="8D5CD3"/>
          </a:solidFill>
          <a:ln w="12700">
            <a:solidFill>
              <a:srgbClr val="8D5CD3">
                <a:alpha val="0"/>
              </a:srgbClr>
            </a:solidFill>
            <a:prstDash val="solid"/>
          </a:ln>
        </p:spPr>
      </p:sp>
      <p:sp>
        <p:nvSpPr>
          <p:cNvPr id="35" name="Shape 33"/>
          <p:cNvSpPr/>
          <p:nvPr/>
        </p:nvSpPr>
        <p:spPr>
          <a:xfrm>
            <a:off x="923544" y="4197096"/>
            <a:ext cx="484632" cy="448056"/>
          </a:xfrm>
          <a:prstGeom prst="roundRect">
            <a:avLst>
              <a:gd name="adj" fmla="val 24490"/>
            </a:avLst>
          </a:prstGeom>
          <a:solidFill>
            <a:srgbClr val="F5EFFD"/>
          </a:solidFill>
          <a:ln w="12700">
            <a:solidFill>
              <a:srgbClr val="F5EFFD">
                <a:alpha val="0"/>
              </a:srgbClr>
            </a:solidFill>
            <a:prstDash val="solid"/>
          </a:ln>
        </p:spPr>
      </p:sp>
      <p:sp>
        <p:nvSpPr>
          <p:cNvPr id="36" name="Text 34"/>
          <p:cNvSpPr/>
          <p:nvPr/>
        </p:nvSpPr>
        <p:spPr>
          <a:xfrm>
            <a:off x="1037844" y="4315054"/>
            <a:ext cx="256032" cy="173736"/>
          </a:xfrm>
          <a:prstGeom prst="rect">
            <a:avLst/>
          </a:prstGeom>
          <a:noFill/>
          <a:ln/>
        </p:spPr>
        <p:txBody>
          <a:bodyPr wrap="square" lIns="0" tIns="0" rIns="0" bIns="0" rtlCol="0" anchor="ctr">
            <a:normAutofit/>
          </a:bodyPr>
          <a:lstStyle/>
          <a:p>
            <a:pPr algn="ctr" indent="0" marL="0">
              <a:buNone/>
            </a:pPr>
            <a:r>
              <a:rPr lang="en-US" sz="1100" b="1" dirty="0">
                <a:solidFill>
                  <a:srgbClr val="8D5CD3"/>
                </a:solidFill>
                <a:latin typeface="Inter" pitchFamily="34" charset="0"/>
                <a:ea typeface="Inter" pitchFamily="34" charset="-122"/>
                <a:cs typeface="Inter" pitchFamily="34" charset="-120"/>
              </a:rPr>
              <a:t>04</a:t>
            </a:r>
            <a:endParaRPr lang="en-US" sz="1100" dirty="0"/>
          </a:p>
        </p:txBody>
      </p:sp>
      <p:sp>
        <p:nvSpPr>
          <p:cNvPr id="37" name="Text 35"/>
          <p:cNvSpPr/>
          <p:nvPr/>
        </p:nvSpPr>
        <p:spPr>
          <a:xfrm>
            <a:off x="1554480" y="4251960"/>
            <a:ext cx="2404872" cy="228600"/>
          </a:xfrm>
          <a:prstGeom prst="rect">
            <a:avLst/>
          </a:prstGeom>
          <a:noFill/>
          <a:ln/>
        </p:spPr>
        <p:txBody>
          <a:bodyPr wrap="square" lIns="0" tIns="0" rIns="0" bIns="0" rtlCol="0" anchor="ctr">
            <a:normAutofit/>
          </a:bodyPr>
          <a:lstStyle/>
          <a:p>
            <a:pPr indent="0" marL="0">
              <a:buNone/>
            </a:pPr>
            <a:r>
              <a:rPr lang="en-US" sz="1340" b="1" spc="20" kern="0" dirty="0">
                <a:solidFill>
                  <a:srgbClr val="122C4B"/>
                </a:solidFill>
                <a:latin typeface="Inter" pitchFamily="34" charset="0"/>
                <a:ea typeface="Inter" pitchFamily="34" charset="-122"/>
                <a:cs typeface="Inter" pitchFamily="34" charset="-120"/>
              </a:rPr>
              <a:t>ARCHITECTS &amp; SMEs</a:t>
            </a:r>
            <a:endParaRPr lang="en-US" sz="1340" dirty="0"/>
          </a:p>
        </p:txBody>
      </p:sp>
      <p:sp>
        <p:nvSpPr>
          <p:cNvPr id="38" name="Text 36"/>
          <p:cNvSpPr/>
          <p:nvPr/>
        </p:nvSpPr>
        <p:spPr>
          <a:xfrm>
            <a:off x="941832" y="4773168"/>
            <a:ext cx="2935224" cy="429768"/>
          </a:xfrm>
          <a:prstGeom prst="rect">
            <a:avLst/>
          </a:prstGeom>
          <a:noFill/>
          <a:ln/>
        </p:spPr>
        <p:txBody>
          <a:bodyPr wrap="square" lIns="0" tIns="0" rIns="0" bIns="0" rtlCol="0" anchor="t">
            <a:normAutofit/>
          </a:bodyPr>
          <a:lstStyle/>
          <a:p>
            <a:pPr indent="0" marL="0">
              <a:buNone/>
            </a:pPr>
            <a:r>
              <a:rPr lang="en-US" sz="1110" dirty="0">
                <a:solidFill>
                  <a:srgbClr val="324760"/>
                </a:solidFill>
                <a:latin typeface="Inter" pitchFamily="34" charset="0"/>
                <a:ea typeface="Inter" pitchFamily="34" charset="-122"/>
                <a:cs typeface="Inter" pitchFamily="34" charset="-120"/>
              </a:rPr>
              <a:t>Trace end-to-end flows, alerts, histogram and KPI calculations.</a:t>
            </a:r>
            <a:endParaRPr lang="en-US" sz="1110" dirty="0"/>
          </a:p>
        </p:txBody>
      </p:sp>
      <p:sp>
        <p:nvSpPr>
          <p:cNvPr id="39" name="Text 37"/>
          <p:cNvSpPr/>
          <p:nvPr/>
        </p:nvSpPr>
        <p:spPr>
          <a:xfrm>
            <a:off x="941832" y="5312664"/>
            <a:ext cx="2944368" cy="155448"/>
          </a:xfrm>
          <a:prstGeom prst="rect">
            <a:avLst/>
          </a:prstGeom>
          <a:noFill/>
          <a:ln/>
        </p:spPr>
        <p:txBody>
          <a:bodyPr wrap="square" lIns="0" tIns="0" rIns="0" bIns="0" rtlCol="0" anchor="ctr">
            <a:normAutofit/>
          </a:bodyPr>
          <a:lstStyle/>
          <a:p>
            <a:pPr indent="0" marL="0">
              <a:buNone/>
            </a:pPr>
            <a:r>
              <a:rPr lang="en-US" sz="922" b="1" spc="65" kern="0" dirty="0">
                <a:solidFill>
                  <a:srgbClr val="8D5CD3"/>
                </a:solidFill>
                <a:latin typeface="Inter" pitchFamily="34" charset="0"/>
                <a:ea typeface="Inter" pitchFamily="34" charset="-122"/>
                <a:cs typeface="Inter" pitchFamily="34" charset="-120"/>
              </a:rPr>
              <a:t>FROM COMPLEXITY TO INSIGHT</a:t>
            </a:r>
            <a:endParaRPr lang="en-US" sz="922" dirty="0"/>
          </a:p>
        </p:txBody>
      </p:sp>
      <p:sp>
        <p:nvSpPr>
          <p:cNvPr id="40" name="Shape 38"/>
          <p:cNvSpPr/>
          <p:nvPr/>
        </p:nvSpPr>
        <p:spPr>
          <a:xfrm>
            <a:off x="4370832" y="3995928"/>
            <a:ext cx="3419856" cy="1572768"/>
          </a:xfrm>
          <a:prstGeom prst="roundRect">
            <a:avLst>
              <a:gd name="adj" fmla="val 9302"/>
            </a:avLst>
          </a:prstGeom>
          <a:solidFill>
            <a:srgbClr val="FFFFFF"/>
          </a:solidFill>
          <a:ln w="12700">
            <a:solidFill>
              <a:srgbClr val="DCE6F1"/>
            </a:solidFill>
            <a:prstDash val="solid"/>
          </a:ln>
        </p:spPr>
      </p:sp>
      <p:sp>
        <p:nvSpPr>
          <p:cNvPr id="41" name="Shape 39"/>
          <p:cNvSpPr/>
          <p:nvPr/>
        </p:nvSpPr>
        <p:spPr>
          <a:xfrm>
            <a:off x="4389120" y="4014216"/>
            <a:ext cx="52121" cy="1536192"/>
          </a:xfrm>
          <a:prstGeom prst="rect">
            <a:avLst>
              <a:gd name="adj" fmla="val 175438"/>
            </a:avLst>
          </a:prstGeom>
          <a:solidFill>
            <a:srgbClr val="E57A43"/>
          </a:solidFill>
          <a:ln w="12700">
            <a:solidFill>
              <a:srgbClr val="E57A43">
                <a:alpha val="0"/>
              </a:srgbClr>
            </a:solidFill>
            <a:prstDash val="solid"/>
          </a:ln>
        </p:spPr>
      </p:sp>
      <p:sp>
        <p:nvSpPr>
          <p:cNvPr id="42" name="Shape 40"/>
          <p:cNvSpPr/>
          <p:nvPr/>
        </p:nvSpPr>
        <p:spPr>
          <a:xfrm>
            <a:off x="4599432" y="4197096"/>
            <a:ext cx="484632" cy="448056"/>
          </a:xfrm>
          <a:prstGeom prst="roundRect">
            <a:avLst>
              <a:gd name="adj" fmla="val 24490"/>
            </a:avLst>
          </a:prstGeom>
          <a:solidFill>
            <a:srgbClr val="FFF3ED"/>
          </a:solidFill>
          <a:ln w="12700">
            <a:solidFill>
              <a:srgbClr val="FFF3ED">
                <a:alpha val="0"/>
              </a:srgbClr>
            </a:solidFill>
            <a:prstDash val="solid"/>
          </a:ln>
        </p:spPr>
      </p:sp>
      <p:sp>
        <p:nvSpPr>
          <p:cNvPr id="43" name="Text 41"/>
          <p:cNvSpPr/>
          <p:nvPr/>
        </p:nvSpPr>
        <p:spPr>
          <a:xfrm>
            <a:off x="4713732" y="4315054"/>
            <a:ext cx="256032" cy="173736"/>
          </a:xfrm>
          <a:prstGeom prst="rect">
            <a:avLst/>
          </a:prstGeom>
          <a:noFill/>
          <a:ln/>
        </p:spPr>
        <p:txBody>
          <a:bodyPr wrap="square" lIns="0" tIns="0" rIns="0" bIns="0" rtlCol="0" anchor="ctr">
            <a:normAutofit/>
          </a:bodyPr>
          <a:lstStyle/>
          <a:p>
            <a:pPr algn="ctr" indent="0" marL="0">
              <a:buNone/>
            </a:pPr>
            <a:r>
              <a:rPr lang="en-US" sz="1100" b="1" dirty="0">
                <a:solidFill>
                  <a:srgbClr val="E57A43"/>
                </a:solidFill>
                <a:latin typeface="Inter" pitchFamily="34" charset="0"/>
                <a:ea typeface="Inter" pitchFamily="34" charset="-122"/>
                <a:cs typeface="Inter" pitchFamily="34" charset="-120"/>
              </a:rPr>
              <a:t>05</a:t>
            </a:r>
            <a:endParaRPr lang="en-US" sz="1100" dirty="0"/>
          </a:p>
        </p:txBody>
      </p:sp>
      <p:sp>
        <p:nvSpPr>
          <p:cNvPr id="44" name="Text 42"/>
          <p:cNvSpPr/>
          <p:nvPr/>
        </p:nvSpPr>
        <p:spPr>
          <a:xfrm>
            <a:off x="5230368" y="4251960"/>
            <a:ext cx="2404872" cy="228600"/>
          </a:xfrm>
          <a:prstGeom prst="rect">
            <a:avLst/>
          </a:prstGeom>
          <a:noFill/>
          <a:ln/>
        </p:spPr>
        <p:txBody>
          <a:bodyPr wrap="square" lIns="0" tIns="0" rIns="0" bIns="0" rtlCol="0" anchor="ctr">
            <a:normAutofit/>
          </a:bodyPr>
          <a:lstStyle/>
          <a:p>
            <a:pPr indent="0" marL="0">
              <a:buNone/>
            </a:pPr>
            <a:r>
              <a:rPr lang="en-US" sz="1340" b="1" spc="20" kern="0" dirty="0">
                <a:solidFill>
                  <a:srgbClr val="122C4B"/>
                </a:solidFill>
                <a:latin typeface="Inter" pitchFamily="34" charset="0"/>
                <a:ea typeface="Inter" pitchFamily="34" charset="-122"/>
                <a:cs typeface="Inter" pitchFamily="34" charset="-120"/>
              </a:rPr>
              <a:t>SECURITY &amp; QUALITY</a:t>
            </a:r>
            <a:endParaRPr lang="en-US" sz="1340" dirty="0"/>
          </a:p>
        </p:txBody>
      </p:sp>
      <p:sp>
        <p:nvSpPr>
          <p:cNvPr id="45" name="Text 43"/>
          <p:cNvSpPr/>
          <p:nvPr/>
        </p:nvSpPr>
        <p:spPr>
          <a:xfrm>
            <a:off x="4617720" y="4773168"/>
            <a:ext cx="2935224" cy="429768"/>
          </a:xfrm>
          <a:prstGeom prst="rect">
            <a:avLst/>
          </a:prstGeom>
          <a:noFill/>
          <a:ln/>
        </p:spPr>
        <p:txBody>
          <a:bodyPr wrap="square" lIns="0" tIns="0" rIns="0" bIns="0" rtlCol="0" anchor="t">
            <a:normAutofit/>
          </a:bodyPr>
          <a:lstStyle/>
          <a:p>
            <a:pPr indent="0" marL="0">
              <a:buNone/>
            </a:pPr>
            <a:r>
              <a:rPr lang="en-US" sz="1110" dirty="0">
                <a:solidFill>
                  <a:srgbClr val="324760"/>
                </a:solidFill>
                <a:latin typeface="Inter" pitchFamily="34" charset="0"/>
                <a:ea typeface="Inter" pitchFamily="34" charset="-122"/>
                <a:cs typeface="Inter" pitchFamily="34" charset="-120"/>
              </a:rPr>
              <a:t>Investigate SonarQube findings in application context.</a:t>
            </a:r>
            <a:endParaRPr lang="en-US" sz="1110" dirty="0"/>
          </a:p>
        </p:txBody>
      </p:sp>
      <p:sp>
        <p:nvSpPr>
          <p:cNvPr id="46" name="Text 44"/>
          <p:cNvSpPr/>
          <p:nvPr/>
        </p:nvSpPr>
        <p:spPr>
          <a:xfrm>
            <a:off x="4617720" y="5312664"/>
            <a:ext cx="2944368" cy="155448"/>
          </a:xfrm>
          <a:prstGeom prst="rect">
            <a:avLst/>
          </a:prstGeom>
          <a:noFill/>
          <a:ln/>
        </p:spPr>
        <p:txBody>
          <a:bodyPr wrap="square" lIns="0" tIns="0" rIns="0" bIns="0" rtlCol="0" anchor="ctr">
            <a:normAutofit/>
          </a:bodyPr>
          <a:lstStyle/>
          <a:p>
            <a:pPr indent="0" marL="0">
              <a:buNone/>
            </a:pPr>
            <a:r>
              <a:rPr lang="en-US" sz="922" b="1" spc="65" kern="0" dirty="0">
                <a:solidFill>
                  <a:srgbClr val="E57A43"/>
                </a:solidFill>
                <a:latin typeface="Inter" pitchFamily="34" charset="0"/>
                <a:ea typeface="Inter" pitchFamily="34" charset="-122"/>
                <a:cs typeface="Inter" pitchFamily="34" charset="-120"/>
              </a:rPr>
              <a:t>FROM FINDING TO ACTION</a:t>
            </a:r>
            <a:endParaRPr lang="en-US" sz="922" dirty="0"/>
          </a:p>
        </p:txBody>
      </p:sp>
      <p:sp>
        <p:nvSpPr>
          <p:cNvPr id="47" name="Shape 45"/>
          <p:cNvSpPr/>
          <p:nvPr/>
        </p:nvSpPr>
        <p:spPr>
          <a:xfrm>
            <a:off x="8046720" y="3995928"/>
            <a:ext cx="3419856" cy="1572768"/>
          </a:xfrm>
          <a:prstGeom prst="roundRect">
            <a:avLst>
              <a:gd name="adj" fmla="val 9302"/>
            </a:avLst>
          </a:prstGeom>
          <a:solidFill>
            <a:srgbClr val="FFFFFF"/>
          </a:solidFill>
          <a:ln w="12700">
            <a:solidFill>
              <a:srgbClr val="DCE6F1"/>
            </a:solidFill>
            <a:prstDash val="solid"/>
          </a:ln>
        </p:spPr>
      </p:sp>
      <p:sp>
        <p:nvSpPr>
          <p:cNvPr id="48" name="Shape 46"/>
          <p:cNvSpPr/>
          <p:nvPr/>
        </p:nvSpPr>
        <p:spPr>
          <a:xfrm>
            <a:off x="8065008" y="4014216"/>
            <a:ext cx="52121" cy="1536192"/>
          </a:xfrm>
          <a:prstGeom prst="rect">
            <a:avLst>
              <a:gd name="adj" fmla="val 175438"/>
            </a:avLst>
          </a:prstGeom>
          <a:solidFill>
            <a:srgbClr val="3477B7"/>
          </a:solidFill>
          <a:ln w="12700">
            <a:solidFill>
              <a:srgbClr val="3477B7">
                <a:alpha val="0"/>
              </a:srgbClr>
            </a:solidFill>
            <a:prstDash val="solid"/>
          </a:ln>
        </p:spPr>
      </p:sp>
      <p:sp>
        <p:nvSpPr>
          <p:cNvPr id="49" name="Shape 47"/>
          <p:cNvSpPr/>
          <p:nvPr/>
        </p:nvSpPr>
        <p:spPr>
          <a:xfrm>
            <a:off x="8275320" y="4197096"/>
            <a:ext cx="484632" cy="448056"/>
          </a:xfrm>
          <a:prstGeom prst="roundRect">
            <a:avLst>
              <a:gd name="adj" fmla="val 24490"/>
            </a:avLst>
          </a:prstGeom>
          <a:solidFill>
            <a:srgbClr val="ECF4FA"/>
          </a:solidFill>
          <a:ln w="12700">
            <a:solidFill>
              <a:srgbClr val="ECF4FA">
                <a:alpha val="0"/>
              </a:srgbClr>
            </a:solidFill>
            <a:prstDash val="solid"/>
          </a:ln>
        </p:spPr>
      </p:sp>
      <p:sp>
        <p:nvSpPr>
          <p:cNvPr id="50" name="Text 48"/>
          <p:cNvSpPr/>
          <p:nvPr/>
        </p:nvSpPr>
        <p:spPr>
          <a:xfrm>
            <a:off x="8389620" y="4315054"/>
            <a:ext cx="256032" cy="173736"/>
          </a:xfrm>
          <a:prstGeom prst="rect">
            <a:avLst/>
          </a:prstGeom>
          <a:noFill/>
          <a:ln/>
        </p:spPr>
        <p:txBody>
          <a:bodyPr wrap="square" lIns="0" tIns="0" rIns="0" bIns="0" rtlCol="0" anchor="ctr">
            <a:normAutofit/>
          </a:bodyPr>
          <a:lstStyle/>
          <a:p>
            <a:pPr algn="ctr" indent="0" marL="0">
              <a:buNone/>
            </a:pPr>
            <a:r>
              <a:rPr lang="en-US" sz="1100" b="1" dirty="0">
                <a:solidFill>
                  <a:srgbClr val="3477B7"/>
                </a:solidFill>
                <a:latin typeface="Inter" pitchFamily="34" charset="0"/>
                <a:ea typeface="Inter" pitchFamily="34" charset="-122"/>
                <a:cs typeface="Inter" pitchFamily="34" charset="-120"/>
              </a:rPr>
              <a:t>06</a:t>
            </a:r>
            <a:endParaRPr lang="en-US" sz="1100" dirty="0"/>
          </a:p>
        </p:txBody>
      </p:sp>
      <p:sp>
        <p:nvSpPr>
          <p:cNvPr id="51" name="Text 49"/>
          <p:cNvSpPr/>
          <p:nvPr/>
        </p:nvSpPr>
        <p:spPr>
          <a:xfrm>
            <a:off x="8906256" y="4251960"/>
            <a:ext cx="2404872" cy="228600"/>
          </a:xfrm>
          <a:prstGeom prst="rect">
            <a:avLst/>
          </a:prstGeom>
          <a:noFill/>
          <a:ln/>
        </p:spPr>
        <p:txBody>
          <a:bodyPr wrap="square" lIns="0" tIns="0" rIns="0" bIns="0" rtlCol="0" anchor="ctr">
            <a:normAutofit/>
          </a:bodyPr>
          <a:lstStyle/>
          <a:p>
            <a:pPr indent="0" marL="0">
              <a:buNone/>
            </a:pPr>
            <a:r>
              <a:rPr lang="en-US" sz="1340" b="1" spc="20" kern="0" dirty="0">
                <a:solidFill>
                  <a:srgbClr val="122C4B"/>
                </a:solidFill>
                <a:latin typeface="Inter" pitchFamily="34" charset="0"/>
                <a:ea typeface="Inter" pitchFamily="34" charset="-122"/>
                <a:cs typeface="Inter" pitchFamily="34" charset="-120"/>
              </a:rPr>
              <a:t>DELIVERY LEADERS</a:t>
            </a:r>
            <a:endParaRPr lang="en-US" sz="1340" dirty="0"/>
          </a:p>
        </p:txBody>
      </p:sp>
      <p:sp>
        <p:nvSpPr>
          <p:cNvPr id="52" name="Text 50"/>
          <p:cNvSpPr/>
          <p:nvPr/>
        </p:nvSpPr>
        <p:spPr>
          <a:xfrm>
            <a:off x="8293608" y="4773168"/>
            <a:ext cx="2935224" cy="429768"/>
          </a:xfrm>
          <a:prstGeom prst="rect">
            <a:avLst/>
          </a:prstGeom>
          <a:noFill/>
          <a:ln/>
        </p:spPr>
        <p:txBody>
          <a:bodyPr wrap="square" lIns="0" tIns="0" rIns="0" bIns="0" rtlCol="0" anchor="t">
            <a:normAutofit/>
          </a:bodyPr>
          <a:lstStyle/>
          <a:p>
            <a:pPr indent="0" marL="0">
              <a:buNone/>
            </a:pPr>
            <a:r>
              <a:rPr lang="en-US" sz="1110" dirty="0">
                <a:solidFill>
                  <a:srgbClr val="324760"/>
                </a:solidFill>
                <a:latin typeface="Inter" pitchFamily="34" charset="0"/>
                <a:ea typeface="Inter" pitchFamily="34" charset="-122"/>
                <a:cs typeface="Inter" pitchFamily="34" charset="-120"/>
              </a:rPr>
              <a:t>Produce evidence-based summaries, documents and presentations.</a:t>
            </a:r>
            <a:endParaRPr lang="en-US" sz="1110" dirty="0"/>
          </a:p>
        </p:txBody>
      </p:sp>
      <p:sp>
        <p:nvSpPr>
          <p:cNvPr id="53" name="Text 51"/>
          <p:cNvSpPr/>
          <p:nvPr/>
        </p:nvSpPr>
        <p:spPr>
          <a:xfrm>
            <a:off x="8293608" y="5312664"/>
            <a:ext cx="2944368" cy="155448"/>
          </a:xfrm>
          <a:prstGeom prst="rect">
            <a:avLst/>
          </a:prstGeom>
          <a:noFill/>
          <a:ln/>
        </p:spPr>
        <p:txBody>
          <a:bodyPr wrap="square" lIns="0" tIns="0" rIns="0" bIns="0" rtlCol="0" anchor="ctr">
            <a:normAutofit/>
          </a:bodyPr>
          <a:lstStyle/>
          <a:p>
            <a:pPr indent="0" marL="0">
              <a:buNone/>
            </a:pPr>
            <a:r>
              <a:rPr lang="en-US" sz="922" b="1" spc="65" kern="0" dirty="0">
                <a:solidFill>
                  <a:srgbClr val="3477B7"/>
                </a:solidFill>
                <a:latin typeface="Inter" pitchFamily="34" charset="0"/>
                <a:ea typeface="Inter" pitchFamily="34" charset="-122"/>
                <a:cs typeface="Inter" pitchFamily="34" charset="-120"/>
              </a:rPr>
              <a:t>FROM WORK TO VISIBILITY</a:t>
            </a:r>
            <a:endParaRPr lang="en-US" sz="922" dirty="0"/>
          </a:p>
        </p:txBody>
      </p:sp>
      <p:sp>
        <p:nvSpPr>
          <p:cNvPr id="54" name="Shape 52"/>
          <p:cNvSpPr/>
          <p:nvPr/>
        </p:nvSpPr>
        <p:spPr>
          <a:xfrm>
            <a:off x="685800" y="5897880"/>
            <a:ext cx="10789920" cy="722376"/>
          </a:xfrm>
          <a:prstGeom prst="roundRect">
            <a:avLst>
              <a:gd name="adj" fmla="val 17722"/>
            </a:avLst>
          </a:prstGeom>
          <a:solidFill>
            <a:srgbClr val="F1F6FB"/>
          </a:solidFill>
          <a:ln w="12700">
            <a:solidFill>
              <a:srgbClr val="F1F6FB">
                <a:alpha val="0"/>
              </a:srgbClr>
            </a:solidFill>
            <a:prstDash val="solid"/>
          </a:ln>
        </p:spPr>
      </p:sp>
      <p:sp>
        <p:nvSpPr>
          <p:cNvPr id="55" name="Shape 53"/>
          <p:cNvSpPr/>
          <p:nvPr/>
        </p:nvSpPr>
        <p:spPr>
          <a:xfrm>
            <a:off x="804672" y="6044184"/>
            <a:ext cx="54864" cy="438912"/>
          </a:xfrm>
          <a:prstGeom prst="rect">
            <a:avLst>
              <a:gd name="adj" fmla="val 166667"/>
            </a:avLst>
          </a:prstGeom>
          <a:solidFill>
            <a:srgbClr val="09978C"/>
          </a:solidFill>
          <a:ln w="12700">
            <a:solidFill>
              <a:srgbClr val="09978C">
                <a:alpha val="0"/>
              </a:srgbClr>
            </a:solidFill>
            <a:prstDash val="solid"/>
          </a:ln>
        </p:spPr>
      </p:sp>
      <p:sp>
        <p:nvSpPr>
          <p:cNvPr id="56" name="Text 54"/>
          <p:cNvSpPr/>
          <p:nvPr/>
        </p:nvSpPr>
        <p:spPr>
          <a:xfrm>
            <a:off x="1005840" y="6021324"/>
            <a:ext cx="2542032" cy="210312"/>
          </a:xfrm>
          <a:prstGeom prst="rect">
            <a:avLst/>
          </a:prstGeom>
          <a:noFill/>
          <a:ln/>
        </p:spPr>
        <p:txBody>
          <a:bodyPr wrap="square" lIns="0" tIns="0" rIns="0" bIns="0" rtlCol="0" anchor="ctr">
            <a:normAutofit/>
          </a:bodyPr>
          <a:lstStyle/>
          <a:p>
            <a:pPr indent="0" marL="0">
              <a:buNone/>
            </a:pPr>
            <a:r>
              <a:rPr lang="en-US" sz="1050" b="1" spc="63" kern="0" dirty="0">
                <a:solidFill>
                  <a:srgbClr val="122C4B"/>
                </a:solidFill>
                <a:latin typeface="Inter" pitchFamily="34" charset="0"/>
                <a:ea typeface="Inter" pitchFamily="34" charset="-122"/>
                <a:cs typeface="Inter" pitchFamily="34" charset="-120"/>
              </a:rPr>
              <a:t>CONTROLLED BY DESIGN</a:t>
            </a:r>
            <a:endParaRPr lang="en-US" sz="1050" dirty="0"/>
          </a:p>
        </p:txBody>
      </p:sp>
      <p:sp>
        <p:nvSpPr>
          <p:cNvPr id="57" name="Text 55"/>
          <p:cNvSpPr/>
          <p:nvPr/>
        </p:nvSpPr>
        <p:spPr>
          <a:xfrm>
            <a:off x="1005840" y="6300216"/>
            <a:ext cx="6885432" cy="173736"/>
          </a:xfrm>
          <a:prstGeom prst="rect">
            <a:avLst/>
          </a:prstGeom>
          <a:noFill/>
          <a:ln/>
        </p:spPr>
        <p:txBody>
          <a:bodyPr wrap="square" lIns="0" tIns="0" rIns="0" bIns="0" rtlCol="0" anchor="ctr">
            <a:normAutofit/>
          </a:bodyPr>
          <a:lstStyle/>
          <a:p>
            <a:pPr indent="0" marL="0">
              <a:buNone/>
            </a:pPr>
            <a:r>
              <a:rPr lang="en-US" sz="1060" dirty="0">
                <a:solidFill>
                  <a:srgbClr val="324760"/>
                </a:solidFill>
                <a:latin typeface="Inter" pitchFamily="34" charset="0"/>
                <a:ea typeface="Inter" pitchFamily="34" charset="-122"/>
                <a:cs typeface="Inter" pitchFamily="34" charset="-120"/>
              </a:rPr>
              <a:t>Approval  ·  Read-only references  ·  Change reports  ·  Rollback</a:t>
            </a:r>
            <a:endParaRPr lang="en-US" sz="1060" dirty="0"/>
          </a:p>
        </p:txBody>
      </p:sp>
      <p:sp>
        <p:nvSpPr>
          <p:cNvPr id="58" name="Shape 56"/>
          <p:cNvSpPr/>
          <p:nvPr/>
        </p:nvSpPr>
        <p:spPr>
          <a:xfrm>
            <a:off x="8321040" y="6007608"/>
            <a:ext cx="0" cy="512064"/>
          </a:xfrm>
          <a:prstGeom prst="line">
            <a:avLst/>
          </a:prstGeom>
          <a:noFill/>
          <a:ln w="12700">
            <a:solidFill>
              <a:srgbClr val="D3E0EE"/>
            </a:solidFill>
            <a:prstDash val="solid"/>
          </a:ln>
        </p:spPr>
      </p:sp>
      <p:sp>
        <p:nvSpPr>
          <p:cNvPr id="59" name="Text 57"/>
          <p:cNvSpPr/>
          <p:nvPr/>
        </p:nvSpPr>
        <p:spPr>
          <a:xfrm>
            <a:off x="8558784" y="6021324"/>
            <a:ext cx="2148840" cy="192024"/>
          </a:xfrm>
          <a:prstGeom prst="rect">
            <a:avLst/>
          </a:prstGeom>
          <a:noFill/>
          <a:ln/>
        </p:spPr>
        <p:txBody>
          <a:bodyPr wrap="square" lIns="0" tIns="0" rIns="0" bIns="0" rtlCol="0" anchor="ctr">
            <a:normAutofit/>
          </a:bodyPr>
          <a:lstStyle/>
          <a:p>
            <a:pPr indent="0" marL="0">
              <a:buNone/>
            </a:pPr>
            <a:r>
              <a:rPr lang="en-US" sz="1030" b="1" spc="58" kern="0" dirty="0">
                <a:solidFill>
                  <a:srgbClr val="122C4B"/>
                </a:solidFill>
                <a:latin typeface="Inter" pitchFamily="34" charset="0"/>
                <a:ea typeface="Inter" pitchFamily="34" charset="-122"/>
                <a:cs typeface="Inter" pitchFamily="34" charset="-120"/>
              </a:rPr>
              <a:t>PILOT MEASURES</a:t>
            </a:r>
            <a:endParaRPr lang="en-US" sz="1030" dirty="0"/>
          </a:p>
        </p:txBody>
      </p:sp>
      <p:sp>
        <p:nvSpPr>
          <p:cNvPr id="60" name="Text 58"/>
          <p:cNvSpPr/>
          <p:nvPr/>
        </p:nvSpPr>
        <p:spPr>
          <a:xfrm>
            <a:off x="8558784" y="6300216"/>
            <a:ext cx="2615184" cy="173736"/>
          </a:xfrm>
          <a:prstGeom prst="rect">
            <a:avLst/>
          </a:prstGeom>
          <a:noFill/>
          <a:ln/>
        </p:spPr>
        <p:txBody>
          <a:bodyPr wrap="square" lIns="0" tIns="0" rIns="0" bIns="0" rtlCol="0" anchor="ctr">
            <a:normAutofit/>
          </a:bodyPr>
          <a:lstStyle/>
          <a:p>
            <a:pPr indent="0" marL="0">
              <a:buNone/>
            </a:pPr>
            <a:r>
              <a:rPr lang="en-US" sz="1020" dirty="0">
                <a:solidFill>
                  <a:srgbClr val="324760"/>
                </a:solidFill>
                <a:latin typeface="Inter" pitchFamily="34" charset="0"/>
                <a:ea typeface="Inter" pitchFamily="34" charset="-122"/>
                <a:cs typeface="Inter" pitchFamily="34" charset="-120"/>
              </a:rPr>
              <a:t>Time saved  ·  Quality  ·  Adoption</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ELIYA | Executive overview</dc:title>
  <dc:subject>Business value and stakeholder use cases</dc:subject>
  <dc:creator>ELIYA Executive Communications</dc:creator>
  <cp:lastModifiedBy>ELIYA Executive Communications</cp:lastModifiedBy>
  <cp:revision>1</cp:revision>
  <dcterms:created xsi:type="dcterms:W3CDTF">2026-10-08T06:56:51Z</dcterms:created>
  <dcterms:modified xsi:type="dcterms:W3CDTF">2026-10-08T06:56:51Z</dcterms:modified>
</cp:coreProperties>
</file>