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320040"/>
            <a:ext cx="59436" cy="521208"/>
          </a:xfrm>
          <a:prstGeom prst="rect">
            <a:avLst/>
          </a:prstGeom>
          <a:solidFill>
            <a:srgbClr val="13A9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21824" y="374904"/>
            <a:ext cx="201168" cy="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222992" y="484632"/>
            <a:ext cx="201168" cy="-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424160" y="374904"/>
            <a:ext cx="256032" cy="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80192" y="484632"/>
            <a:ext cx="283464" cy="-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963656" y="374904"/>
            <a:ext cx="265176" cy="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228832" y="484632"/>
            <a:ext cx="182880" cy="-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96678" y="349758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97846" y="459486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99014" y="349758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5046" y="459486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8510" y="349758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03686" y="459486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86566" y="349758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74320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80" b="1" dirty="0">
                <a:solidFill>
                  <a:srgbClr val="075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ELIYA  |  AI Engineering &amp; Delivery</a:t>
            </a:r>
            <a:endParaRPr lang="en-US" sz="2480" dirty="0"/>
          </a:p>
        </p:txBody>
      </p:sp>
      <p:sp>
        <p:nvSpPr>
          <p:cNvPr id="17" name="Text 15"/>
          <p:cNvSpPr/>
          <p:nvPr/>
        </p:nvSpPr>
        <p:spPr>
          <a:xfrm>
            <a:off x="694944" y="749808"/>
            <a:ext cx="8503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configurable local-first agent for understanding, changing and verifying engineering work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9692640" y="795528"/>
            <a:ext cx="1965960" cy="237744"/>
          </a:xfrm>
          <a:prstGeom prst="roundRect">
            <a:avLst>
              <a:gd name="adj" fmla="val 61538"/>
            </a:avLst>
          </a:prstGeom>
          <a:solidFill>
            <a:srgbClr val="E8F5EE"/>
          </a:solidFill>
          <a:ln w="1143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20072" y="801014"/>
            <a:ext cx="1911096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25880" y="1371600"/>
            <a:ext cx="9482328" cy="0"/>
          </a:xfrm>
          <a:prstGeom prst="line">
            <a:avLst/>
          </a:prstGeom>
          <a:noFill/>
          <a:ln w="25400">
            <a:solidFill>
              <a:srgbClr val="CCDCD4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065276" y="1110996"/>
            <a:ext cx="521208" cy="521208"/>
          </a:xfrm>
          <a:prstGeom prst="ellipse">
            <a:avLst/>
          </a:prstGeom>
          <a:solidFill>
            <a:srgbClr val="078766"/>
          </a:solidFill>
          <a:ln w="2159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125272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540" dirty="0"/>
          </a:p>
        </p:txBody>
      </p:sp>
      <p:sp>
        <p:nvSpPr>
          <p:cNvPr id="23" name="Text 21"/>
          <p:cNvSpPr/>
          <p:nvPr/>
        </p:nvSpPr>
        <p:spPr>
          <a:xfrm>
            <a:off x="402336" y="1728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290" dirty="0"/>
          </a:p>
        </p:txBody>
      </p:sp>
      <p:sp>
        <p:nvSpPr>
          <p:cNvPr id="24" name="Text 22"/>
          <p:cNvSpPr/>
          <p:nvPr/>
        </p:nvSpPr>
        <p:spPr>
          <a:xfrm>
            <a:off x="411480" y="199339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5" dirty="0">
                <a:solidFill>
                  <a:srgbClr val="718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+ references</a:t>
            </a:r>
            <a:endParaRPr lang="en-US" sz="965" dirty="0"/>
          </a:p>
        </p:txBody>
      </p:sp>
      <p:sp>
        <p:nvSpPr>
          <p:cNvPr id="25" name="Shape 23"/>
          <p:cNvSpPr/>
          <p:nvPr/>
        </p:nvSpPr>
        <p:spPr>
          <a:xfrm>
            <a:off x="2967228" y="1110996"/>
            <a:ext cx="521208" cy="521208"/>
          </a:xfrm>
          <a:prstGeom prst="ellipse">
            <a:avLst/>
          </a:prstGeom>
          <a:solidFill>
            <a:srgbClr val="0E9E9B"/>
          </a:solidFill>
          <a:ln w="2159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80944" y="125272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540" dirty="0"/>
          </a:p>
        </p:txBody>
      </p:sp>
      <p:sp>
        <p:nvSpPr>
          <p:cNvPr id="27" name="Text 25"/>
          <p:cNvSpPr/>
          <p:nvPr/>
        </p:nvSpPr>
        <p:spPr>
          <a:xfrm>
            <a:off x="2304288" y="1728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1290" dirty="0"/>
          </a:p>
        </p:txBody>
      </p:sp>
      <p:sp>
        <p:nvSpPr>
          <p:cNvPr id="28" name="Text 26"/>
          <p:cNvSpPr/>
          <p:nvPr/>
        </p:nvSpPr>
        <p:spPr>
          <a:xfrm>
            <a:off x="2313432" y="199339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5" dirty="0">
                <a:solidFill>
                  <a:srgbClr val="718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code retrieval</a:t>
            </a:r>
            <a:endParaRPr lang="en-US" sz="965" dirty="0"/>
          </a:p>
        </p:txBody>
      </p:sp>
      <p:sp>
        <p:nvSpPr>
          <p:cNvPr id="29" name="Shape 27"/>
          <p:cNvSpPr/>
          <p:nvPr/>
        </p:nvSpPr>
        <p:spPr>
          <a:xfrm>
            <a:off x="4860036" y="1110996"/>
            <a:ext cx="521208" cy="521208"/>
          </a:xfrm>
          <a:prstGeom prst="ellipse">
            <a:avLst/>
          </a:prstGeom>
          <a:solidFill>
            <a:srgbClr val="E4AA27"/>
          </a:solidFill>
          <a:ln w="2159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25272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540" dirty="0"/>
          </a:p>
        </p:txBody>
      </p:sp>
      <p:sp>
        <p:nvSpPr>
          <p:cNvPr id="31" name="Text 29"/>
          <p:cNvSpPr/>
          <p:nvPr/>
        </p:nvSpPr>
        <p:spPr>
          <a:xfrm>
            <a:off x="4197096" y="1728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290" dirty="0"/>
          </a:p>
        </p:txBody>
      </p:sp>
      <p:sp>
        <p:nvSpPr>
          <p:cNvPr id="32" name="Text 30"/>
          <p:cNvSpPr/>
          <p:nvPr/>
        </p:nvSpPr>
        <p:spPr>
          <a:xfrm>
            <a:off x="4206240" y="199339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5" dirty="0">
                <a:solidFill>
                  <a:srgbClr val="718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 before action</a:t>
            </a:r>
            <a:endParaRPr lang="en-US" sz="965" dirty="0"/>
          </a:p>
        </p:txBody>
      </p:sp>
      <p:sp>
        <p:nvSpPr>
          <p:cNvPr id="33" name="Shape 31"/>
          <p:cNvSpPr/>
          <p:nvPr/>
        </p:nvSpPr>
        <p:spPr>
          <a:xfrm>
            <a:off x="6761988" y="1110996"/>
            <a:ext cx="521208" cy="521208"/>
          </a:xfrm>
          <a:prstGeom prst="ellipse">
            <a:avLst/>
          </a:prstGeom>
          <a:solidFill>
            <a:srgbClr val="153D67"/>
          </a:solidFill>
          <a:ln w="2159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125272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540" dirty="0"/>
          </a:p>
        </p:txBody>
      </p:sp>
      <p:sp>
        <p:nvSpPr>
          <p:cNvPr id="35" name="Text 33"/>
          <p:cNvSpPr/>
          <p:nvPr/>
        </p:nvSpPr>
        <p:spPr>
          <a:xfrm>
            <a:off x="6099048" y="1728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290" dirty="0"/>
          </a:p>
        </p:txBody>
      </p:sp>
      <p:sp>
        <p:nvSpPr>
          <p:cNvPr id="36" name="Text 34"/>
          <p:cNvSpPr/>
          <p:nvPr/>
        </p:nvSpPr>
        <p:spPr>
          <a:xfrm>
            <a:off x="6108192" y="199339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5" dirty="0">
                <a:solidFill>
                  <a:srgbClr val="718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Workspace tools + MCP</a:t>
            </a:r>
            <a:endParaRPr lang="en-US" sz="965" dirty="0"/>
          </a:p>
        </p:txBody>
      </p:sp>
      <p:sp>
        <p:nvSpPr>
          <p:cNvPr id="37" name="Shape 35"/>
          <p:cNvSpPr/>
          <p:nvPr/>
        </p:nvSpPr>
        <p:spPr>
          <a:xfrm>
            <a:off x="8654796" y="1110996"/>
            <a:ext cx="521208" cy="521208"/>
          </a:xfrm>
          <a:prstGeom prst="ellipse">
            <a:avLst/>
          </a:prstGeom>
          <a:solidFill>
            <a:srgbClr val="2E79BB"/>
          </a:solidFill>
          <a:ln w="2159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68512" y="125272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540" dirty="0"/>
          </a:p>
        </p:txBody>
      </p:sp>
      <p:sp>
        <p:nvSpPr>
          <p:cNvPr id="39" name="Text 37"/>
          <p:cNvSpPr/>
          <p:nvPr/>
        </p:nvSpPr>
        <p:spPr>
          <a:xfrm>
            <a:off x="7991856" y="1728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290" dirty="0"/>
          </a:p>
        </p:txBody>
      </p:sp>
      <p:sp>
        <p:nvSpPr>
          <p:cNvPr id="40" name="Text 38"/>
          <p:cNvSpPr/>
          <p:nvPr/>
        </p:nvSpPr>
        <p:spPr>
          <a:xfrm>
            <a:off x="8001000" y="199339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5" dirty="0">
                <a:solidFill>
                  <a:srgbClr val="718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Evidence-based checks</a:t>
            </a:r>
            <a:endParaRPr lang="en-US" sz="965" dirty="0"/>
          </a:p>
        </p:txBody>
      </p:sp>
      <p:sp>
        <p:nvSpPr>
          <p:cNvPr id="41" name="Shape 39"/>
          <p:cNvSpPr/>
          <p:nvPr/>
        </p:nvSpPr>
        <p:spPr>
          <a:xfrm>
            <a:off x="10547604" y="1110996"/>
            <a:ext cx="521208" cy="521208"/>
          </a:xfrm>
          <a:prstGeom prst="ellipse">
            <a:avLst/>
          </a:prstGeom>
          <a:solidFill>
            <a:srgbClr val="075A43"/>
          </a:solidFill>
          <a:ln w="2159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61320" y="1252728"/>
            <a:ext cx="493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540" dirty="0"/>
          </a:p>
        </p:txBody>
      </p:sp>
      <p:sp>
        <p:nvSpPr>
          <p:cNvPr id="43" name="Text 41"/>
          <p:cNvSpPr/>
          <p:nvPr/>
        </p:nvSpPr>
        <p:spPr>
          <a:xfrm>
            <a:off x="9884664" y="172821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9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1290" dirty="0"/>
          </a:p>
        </p:txBody>
      </p:sp>
      <p:sp>
        <p:nvSpPr>
          <p:cNvPr id="44" name="Text 42"/>
          <p:cNvSpPr/>
          <p:nvPr/>
        </p:nvSpPr>
        <p:spPr>
          <a:xfrm>
            <a:off x="9893808" y="1993392"/>
            <a:ext cx="18288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5" dirty="0">
                <a:solidFill>
                  <a:srgbClr val="7182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+ rollback</a:t>
            </a:r>
            <a:endParaRPr lang="en-US" sz="965" dirty="0"/>
          </a:p>
        </p:txBody>
      </p:sp>
      <p:sp>
        <p:nvSpPr>
          <p:cNvPr id="45" name="Shape 43"/>
          <p:cNvSpPr/>
          <p:nvPr/>
        </p:nvSpPr>
        <p:spPr>
          <a:xfrm>
            <a:off x="502920" y="2377440"/>
            <a:ext cx="5532120" cy="1956816"/>
          </a:xfrm>
          <a:prstGeom prst="roundRect">
            <a:avLst>
              <a:gd name="adj" fmla="val 7477"/>
            </a:avLst>
          </a:prstGeom>
          <a:solidFill>
            <a:srgbClr val="064C3D"/>
          </a:solidFill>
          <a:ln w="11430">
            <a:solidFill>
              <a:srgbClr val="064C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2377440"/>
            <a:ext cx="5532120" cy="77724"/>
          </a:xfrm>
          <a:prstGeom prst="roundRect">
            <a:avLst>
              <a:gd name="adj" fmla="val 188235"/>
            </a:avLst>
          </a:prstGeom>
          <a:solidFill>
            <a:srgbClr val="13A97B"/>
          </a:solidFill>
          <a:ln w="11430">
            <a:solidFill>
              <a:srgbClr val="13A97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" y="2560320"/>
            <a:ext cx="5084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spc="105" kern="0" dirty="0">
                <a:solidFill>
                  <a:srgbClr val="F5D6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ENGINEERING &amp; CODE INTELLIGENCE</a:t>
            </a:r>
            <a:endParaRPr lang="en-US" sz="1290" dirty="0"/>
          </a:p>
        </p:txBody>
      </p:sp>
      <p:sp>
        <p:nvSpPr>
          <p:cNvPr id="48" name="Shape 46"/>
          <p:cNvSpPr/>
          <p:nvPr/>
        </p:nvSpPr>
        <p:spPr>
          <a:xfrm>
            <a:off x="690372" y="3003804"/>
            <a:ext cx="338328" cy="338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5183" y="3100959"/>
            <a:ext cx="91211" cy="0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50" name="Shape 48"/>
          <p:cNvSpPr/>
          <p:nvPr/>
        </p:nvSpPr>
        <p:spPr>
          <a:xfrm>
            <a:off x="866394" y="3100959"/>
            <a:ext cx="0" cy="130302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51" name="Shape 49"/>
          <p:cNvSpPr/>
          <p:nvPr/>
        </p:nvSpPr>
        <p:spPr>
          <a:xfrm>
            <a:off x="866394" y="3231261"/>
            <a:ext cx="83393" cy="0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52" name="Shape 50"/>
          <p:cNvSpPr/>
          <p:nvPr/>
        </p:nvSpPr>
        <p:spPr>
          <a:xfrm>
            <a:off x="754334" y="3080111"/>
            <a:ext cx="41697" cy="41697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87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45546" y="3080111"/>
            <a:ext cx="41697" cy="41697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87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5546" y="3210413"/>
            <a:ext cx="41697" cy="41697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876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8939" y="3210413"/>
            <a:ext cx="41697" cy="41697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87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24712" y="29809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Codebase mapping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1124712" y="3218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6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Symbols, imports and impact hints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3396996" y="3003804"/>
            <a:ext cx="338328" cy="338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90928" y="3081414"/>
            <a:ext cx="117272" cy="117272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7876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596472" y="3186958"/>
            <a:ext cx="65151" cy="59939"/>
          </a:xfrm>
          <a:prstGeom prst="line">
            <a:avLst/>
          </a:prstGeom>
          <a:noFill/>
          <a:ln w="2540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61" name="Text 59"/>
          <p:cNvSpPr/>
          <p:nvPr/>
        </p:nvSpPr>
        <p:spPr>
          <a:xfrm>
            <a:off x="3831336" y="2980944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retrieval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831336" y="321868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6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Lexical, structural + semantic</a:t>
            </a:r>
            <a:endParaRPr lang="en-US" sz="970" dirty="0"/>
          </a:p>
        </p:txBody>
      </p:sp>
      <p:sp>
        <p:nvSpPr>
          <p:cNvPr id="63" name="Shape 61"/>
          <p:cNvSpPr/>
          <p:nvPr/>
        </p:nvSpPr>
        <p:spPr>
          <a:xfrm>
            <a:off x="690372" y="3643884"/>
            <a:ext cx="338328" cy="338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4758" y="3720191"/>
            <a:ext cx="195453" cy="143332"/>
          </a:xfrm>
          <a:prstGeom prst="roundRect">
            <a:avLst>
              <a:gd name="adj" fmla="val 102074"/>
            </a:avLst>
          </a:prstGeom>
          <a:solidFill>
            <a:srgbClr val="FFFFFF"/>
          </a:solidFill>
          <a:ln w="11430">
            <a:solidFill>
              <a:srgbClr val="07876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5183" y="3728009"/>
            <a:ext cx="171999" cy="8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787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&lt;/&gt;</a:t>
            </a:r>
            <a:endParaRPr lang="en-US" sz="1230" dirty="0"/>
          </a:p>
        </p:txBody>
      </p:sp>
      <p:sp>
        <p:nvSpPr>
          <p:cNvPr id="66" name="Shape 64"/>
          <p:cNvSpPr/>
          <p:nvPr/>
        </p:nvSpPr>
        <p:spPr>
          <a:xfrm>
            <a:off x="793425" y="3894795"/>
            <a:ext cx="148544" cy="0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827303" y="3863523"/>
            <a:ext cx="0" cy="31272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905485" y="3863523"/>
            <a:ext cx="0" cy="31272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69" name="Text 67"/>
          <p:cNvSpPr/>
          <p:nvPr/>
        </p:nvSpPr>
        <p:spPr>
          <a:xfrm>
            <a:off x="1124712" y="3621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execution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1124712" y="3858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6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edits and live tools</a:t>
            </a:r>
            <a:endParaRPr lang="en-US" sz="970" dirty="0"/>
          </a:p>
        </p:txBody>
      </p:sp>
      <p:sp>
        <p:nvSpPr>
          <p:cNvPr id="71" name="Shape 69"/>
          <p:cNvSpPr/>
          <p:nvPr/>
        </p:nvSpPr>
        <p:spPr>
          <a:xfrm>
            <a:off x="3396996" y="3643884"/>
            <a:ext cx="338328" cy="338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507867" y="3707160"/>
            <a:ext cx="153756" cy="203271"/>
          </a:xfrm>
          <a:prstGeom prst="roundRect">
            <a:avLst>
              <a:gd name="adj" fmla="val 95153"/>
            </a:avLst>
          </a:prstGeom>
          <a:solidFill>
            <a:srgbClr val="FFFFFF"/>
          </a:solidFill>
          <a:ln w="11430">
            <a:solidFill>
              <a:srgbClr val="07876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36533" y="3769705"/>
            <a:ext cx="96423" cy="0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3536533" y="3806190"/>
            <a:ext cx="96423" cy="0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75" name="Shape 73"/>
          <p:cNvSpPr/>
          <p:nvPr/>
        </p:nvSpPr>
        <p:spPr>
          <a:xfrm>
            <a:off x="3536533" y="3842675"/>
            <a:ext cx="72969" cy="0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76" name="Shape 74"/>
          <p:cNvSpPr/>
          <p:nvPr/>
        </p:nvSpPr>
        <p:spPr>
          <a:xfrm>
            <a:off x="3484413" y="3751463"/>
            <a:ext cx="0" cy="130302"/>
          </a:xfrm>
          <a:prstGeom prst="line">
            <a:avLst/>
          </a:prstGeom>
          <a:noFill/>
          <a:ln w="1524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77" name="Text 75"/>
          <p:cNvSpPr/>
          <p:nvPr/>
        </p:nvSpPr>
        <p:spPr>
          <a:xfrm>
            <a:off x="3831336" y="3621024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outputs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3831336" y="3858768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6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Docs, decks, reports + Excel</a:t>
            </a:r>
            <a:endParaRPr lang="en-US" sz="970" dirty="0"/>
          </a:p>
        </p:txBody>
      </p:sp>
      <p:sp>
        <p:nvSpPr>
          <p:cNvPr id="79" name="Shape 77"/>
          <p:cNvSpPr/>
          <p:nvPr/>
        </p:nvSpPr>
        <p:spPr>
          <a:xfrm>
            <a:off x="6163056" y="2377440"/>
            <a:ext cx="5522976" cy="1956816"/>
          </a:xfrm>
          <a:prstGeom prst="roundRect">
            <a:avLst>
              <a:gd name="adj" fmla="val 7477"/>
            </a:avLst>
          </a:prstGeom>
          <a:solidFill>
            <a:srgbClr val="17466F"/>
          </a:solidFill>
          <a:ln w="11430">
            <a:solidFill>
              <a:srgbClr val="17466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163056" y="2377440"/>
            <a:ext cx="5522976" cy="77724"/>
          </a:xfrm>
          <a:prstGeom prst="roundRect">
            <a:avLst>
              <a:gd name="adj" fmla="val 188235"/>
            </a:avLst>
          </a:prstGeom>
          <a:solidFill>
            <a:srgbClr val="4C9DD3"/>
          </a:solidFill>
          <a:ln w="11430">
            <a:solidFill>
              <a:srgbClr val="4C9DD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82512" y="2560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b="1" spc="105" kern="0" dirty="0">
                <a:solidFill>
                  <a:srgbClr val="FFE2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CONNECTED OPERATIONS &amp; GOVERNANCE</a:t>
            </a:r>
            <a:endParaRPr lang="en-US" sz="1290" dirty="0"/>
          </a:p>
        </p:txBody>
      </p:sp>
      <p:sp>
        <p:nvSpPr>
          <p:cNvPr id="82" name="Shape 80"/>
          <p:cNvSpPr/>
          <p:nvPr/>
        </p:nvSpPr>
        <p:spPr>
          <a:xfrm>
            <a:off x="6359652" y="3003804"/>
            <a:ext cx="338328" cy="338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434038" y="3080111"/>
            <a:ext cx="195453" cy="143332"/>
          </a:xfrm>
          <a:prstGeom prst="roundRect">
            <a:avLst>
              <a:gd name="adj" fmla="val 102074"/>
            </a:avLst>
          </a:prstGeom>
          <a:solidFill>
            <a:srgbClr val="FFFFFF"/>
          </a:solidFill>
          <a:ln w="11430">
            <a:solidFill>
              <a:srgbClr val="2781B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444463" y="3087929"/>
            <a:ext cx="171999" cy="886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2781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&lt;/&gt;</a:t>
            </a:r>
            <a:endParaRPr lang="en-US" sz="1230" dirty="0"/>
          </a:p>
        </p:txBody>
      </p:sp>
      <p:sp>
        <p:nvSpPr>
          <p:cNvPr id="85" name="Shape 83"/>
          <p:cNvSpPr/>
          <p:nvPr/>
        </p:nvSpPr>
        <p:spPr>
          <a:xfrm>
            <a:off x="6462705" y="3254715"/>
            <a:ext cx="148544" cy="0"/>
          </a:xfrm>
          <a:prstGeom prst="line">
            <a:avLst/>
          </a:prstGeom>
          <a:noFill/>
          <a:ln w="1905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6496583" y="3223443"/>
            <a:ext cx="0" cy="31272"/>
          </a:xfrm>
          <a:prstGeom prst="line">
            <a:avLst/>
          </a:prstGeom>
          <a:noFill/>
          <a:ln w="1905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87" name="Shape 85"/>
          <p:cNvSpPr/>
          <p:nvPr/>
        </p:nvSpPr>
        <p:spPr>
          <a:xfrm>
            <a:off x="6574765" y="3223443"/>
            <a:ext cx="0" cy="31272"/>
          </a:xfrm>
          <a:prstGeom prst="line">
            <a:avLst/>
          </a:prstGeom>
          <a:noFill/>
          <a:ln w="1905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88" name="Text 86"/>
          <p:cNvSpPr/>
          <p:nvPr/>
        </p:nvSpPr>
        <p:spPr>
          <a:xfrm>
            <a:off x="6793992" y="29809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+ Agent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6793992" y="32186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6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models and workflows</a:t>
            </a:r>
            <a:endParaRPr lang="en-US" sz="970" dirty="0"/>
          </a:p>
        </p:txBody>
      </p:sp>
      <p:sp>
        <p:nvSpPr>
          <p:cNvPr id="90" name="Shape 88"/>
          <p:cNvSpPr/>
          <p:nvPr/>
        </p:nvSpPr>
        <p:spPr>
          <a:xfrm>
            <a:off x="9066276" y="3003804"/>
            <a:ext cx="338328" cy="338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136753" y="3086626"/>
            <a:ext cx="54727" cy="5472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81B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285298" y="3073596"/>
            <a:ext cx="54727" cy="5472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81B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207116" y="3203898"/>
            <a:ext cx="54727" cy="54727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781B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182359" y="3124413"/>
            <a:ext cx="104242" cy="-18242"/>
          </a:xfrm>
          <a:prstGeom prst="line">
            <a:avLst/>
          </a:prstGeom>
          <a:noFill/>
          <a:ln w="1905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95" name="Shape 93"/>
          <p:cNvSpPr/>
          <p:nvPr/>
        </p:nvSpPr>
        <p:spPr>
          <a:xfrm>
            <a:off x="9182359" y="3137444"/>
            <a:ext cx="41697" cy="67757"/>
          </a:xfrm>
          <a:prstGeom prst="line">
            <a:avLst/>
          </a:prstGeom>
          <a:noFill/>
          <a:ln w="1905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96" name="Shape 94"/>
          <p:cNvSpPr/>
          <p:nvPr/>
        </p:nvSpPr>
        <p:spPr>
          <a:xfrm>
            <a:off x="9297025" y="3127019"/>
            <a:ext cx="-46909" cy="83393"/>
          </a:xfrm>
          <a:prstGeom prst="line">
            <a:avLst/>
          </a:prstGeom>
          <a:noFill/>
          <a:ln w="1905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97" name="Text 95"/>
          <p:cNvSpPr/>
          <p:nvPr/>
        </p:nvSpPr>
        <p:spPr>
          <a:xfrm>
            <a:off x="9500616" y="298094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integration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9500616" y="321868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6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Explicitly invoked external tools</a:t>
            </a:r>
            <a:endParaRPr lang="en-US" sz="970" dirty="0"/>
          </a:p>
        </p:txBody>
      </p:sp>
      <p:sp>
        <p:nvSpPr>
          <p:cNvPr id="99" name="Shape 97"/>
          <p:cNvSpPr/>
          <p:nvPr/>
        </p:nvSpPr>
        <p:spPr>
          <a:xfrm>
            <a:off x="6359652" y="3643884"/>
            <a:ext cx="338328" cy="338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10800000">
            <a:off x="6454887" y="3707160"/>
            <a:ext cx="158968" cy="187635"/>
          </a:xfrm>
          <a:prstGeom prst="pentagon">
            <a:avLst/>
          </a:prstGeom>
          <a:solidFill>
            <a:srgbClr val="FFFFFF"/>
          </a:solidFill>
          <a:ln w="19050">
            <a:solidFill>
              <a:srgbClr val="2781B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493977" y="3798372"/>
            <a:ext cx="26060" cy="31272"/>
          </a:xfrm>
          <a:prstGeom prst="line">
            <a:avLst/>
          </a:prstGeom>
          <a:noFill/>
          <a:ln w="2286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102" name="Shape 100"/>
          <p:cNvSpPr/>
          <p:nvPr/>
        </p:nvSpPr>
        <p:spPr>
          <a:xfrm>
            <a:off x="6520038" y="3829644"/>
            <a:ext cx="57333" cy="-59939"/>
          </a:xfrm>
          <a:prstGeom prst="line">
            <a:avLst/>
          </a:prstGeom>
          <a:noFill/>
          <a:ln w="2286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103" name="Text 101"/>
          <p:cNvSpPr/>
          <p:nvPr/>
        </p:nvSpPr>
        <p:spPr>
          <a:xfrm>
            <a:off x="6793992" y="3621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safety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6793992" y="38587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6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 and task rollback</a:t>
            </a:r>
            <a:endParaRPr lang="en-US" sz="970" dirty="0"/>
          </a:p>
        </p:txBody>
      </p:sp>
      <p:sp>
        <p:nvSpPr>
          <p:cNvPr id="105" name="Shape 103"/>
          <p:cNvSpPr/>
          <p:nvPr/>
        </p:nvSpPr>
        <p:spPr>
          <a:xfrm>
            <a:off x="9066276" y="3643884"/>
            <a:ext cx="338328" cy="338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166723" y="3808796"/>
            <a:ext cx="54727" cy="46909"/>
          </a:xfrm>
          <a:prstGeom prst="line">
            <a:avLst/>
          </a:prstGeom>
          <a:noFill/>
          <a:ln w="3048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107" name="Shape 105"/>
          <p:cNvSpPr/>
          <p:nvPr/>
        </p:nvSpPr>
        <p:spPr>
          <a:xfrm>
            <a:off x="9221450" y="3855705"/>
            <a:ext cx="96423" cy="-109454"/>
          </a:xfrm>
          <a:prstGeom prst="line">
            <a:avLst/>
          </a:prstGeom>
          <a:noFill/>
          <a:ln w="30480">
            <a:solidFill>
              <a:srgbClr val="2781BC"/>
            </a:solidFill>
            <a:prstDash val="solid"/>
            <a:headEnd type="none"/>
            <a:tailEnd type="none"/>
          </a:ln>
        </p:spPr>
      </p:sp>
      <p:sp>
        <p:nvSpPr>
          <p:cNvPr id="108" name="Text 106"/>
          <p:cNvSpPr/>
          <p:nvPr/>
        </p:nvSpPr>
        <p:spPr>
          <a:xfrm>
            <a:off x="9500616" y="362102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delivery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9500616" y="385876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D6E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 + change summary</a:t>
            </a:r>
            <a:endParaRPr lang="en-US" sz="970" dirty="0"/>
          </a:p>
        </p:txBody>
      </p:sp>
      <p:sp>
        <p:nvSpPr>
          <p:cNvPr id="110" name="Text 108"/>
          <p:cNvSpPr/>
          <p:nvPr/>
        </p:nvSpPr>
        <p:spPr>
          <a:xfrm>
            <a:off x="530352" y="45079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ELIYA HELPS</a:t>
            </a:r>
            <a:endParaRPr lang="en-US" sz="1160" dirty="0"/>
          </a:p>
        </p:txBody>
      </p:sp>
      <p:sp>
        <p:nvSpPr>
          <p:cNvPr id="111" name="Shape 109"/>
          <p:cNvSpPr/>
          <p:nvPr/>
        </p:nvSpPr>
        <p:spPr>
          <a:xfrm>
            <a:off x="502920" y="4800600"/>
            <a:ext cx="1783080" cy="822960"/>
          </a:xfrm>
          <a:prstGeom prst="roundRect">
            <a:avLst>
              <a:gd name="adj" fmla="val 17778"/>
            </a:avLst>
          </a:prstGeom>
          <a:solidFill>
            <a:srgbClr val="F6FAF8"/>
          </a:solidFill>
          <a:ln w="11430">
            <a:solidFill>
              <a:srgbClr val="D8E5D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12648" y="4965192"/>
            <a:ext cx="36576" cy="420624"/>
          </a:xfrm>
          <a:prstGeom prst="rect">
            <a:avLst/>
          </a:prstGeom>
          <a:solidFill>
            <a:srgbClr val="13A9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31520" y="492861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</a:t>
            </a:r>
            <a:endParaRPr lang="en-US" sz="1030" dirty="0"/>
          </a:p>
        </p:txBody>
      </p:sp>
      <p:sp>
        <p:nvSpPr>
          <p:cNvPr id="114" name="Text 112"/>
          <p:cNvSpPr/>
          <p:nvPr/>
        </p:nvSpPr>
        <p:spPr>
          <a:xfrm>
            <a:off x="731520" y="5157216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code &amp;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fixes</a:t>
            </a:r>
            <a:endParaRPr lang="en-US" sz="1020" dirty="0"/>
          </a:p>
        </p:txBody>
      </p:sp>
      <p:sp>
        <p:nvSpPr>
          <p:cNvPr id="115" name="Shape 113"/>
          <p:cNvSpPr/>
          <p:nvPr/>
        </p:nvSpPr>
        <p:spPr>
          <a:xfrm>
            <a:off x="2377440" y="4800600"/>
            <a:ext cx="1783080" cy="822960"/>
          </a:xfrm>
          <a:prstGeom prst="roundRect">
            <a:avLst>
              <a:gd name="adj" fmla="val 17778"/>
            </a:avLst>
          </a:prstGeom>
          <a:solidFill>
            <a:srgbClr val="F8FBFA"/>
          </a:solidFill>
          <a:ln w="11430">
            <a:solidFill>
              <a:srgbClr val="D8E5D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487168" y="4965192"/>
            <a:ext cx="36576" cy="420624"/>
          </a:xfrm>
          <a:prstGeom prst="rect">
            <a:avLst/>
          </a:prstGeom>
          <a:solidFill>
            <a:srgbClr val="13A9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606040" y="492861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ENGINEERS</a:t>
            </a:r>
            <a:endParaRPr lang="en-US" sz="1030" dirty="0"/>
          </a:p>
        </p:txBody>
      </p:sp>
      <p:sp>
        <p:nvSpPr>
          <p:cNvPr id="118" name="Text 116"/>
          <p:cNvSpPr/>
          <p:nvPr/>
        </p:nvSpPr>
        <p:spPr>
          <a:xfrm>
            <a:off x="2606040" y="5157216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Design, migrate &amp;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automation</a:t>
            </a:r>
            <a:endParaRPr lang="en-US" sz="1020" dirty="0"/>
          </a:p>
        </p:txBody>
      </p:sp>
      <p:sp>
        <p:nvSpPr>
          <p:cNvPr id="119" name="Shape 117"/>
          <p:cNvSpPr/>
          <p:nvPr/>
        </p:nvSpPr>
        <p:spPr>
          <a:xfrm>
            <a:off x="4251960" y="4800600"/>
            <a:ext cx="1783080" cy="822960"/>
          </a:xfrm>
          <a:prstGeom prst="roundRect">
            <a:avLst>
              <a:gd name="adj" fmla="val 17778"/>
            </a:avLst>
          </a:prstGeom>
          <a:solidFill>
            <a:srgbClr val="F6FAF8"/>
          </a:solidFill>
          <a:ln w="11430">
            <a:solidFill>
              <a:srgbClr val="D8E5D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361688" y="4965192"/>
            <a:ext cx="36576" cy="420624"/>
          </a:xfrm>
          <a:prstGeom prst="rect">
            <a:avLst/>
          </a:prstGeom>
          <a:solidFill>
            <a:srgbClr val="13A9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480560" y="492861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LEADS / ANALYSTS</a:t>
            </a:r>
            <a:endParaRPr lang="en-US" sz="1030" dirty="0"/>
          </a:p>
        </p:txBody>
      </p:sp>
      <p:sp>
        <p:nvSpPr>
          <p:cNvPr id="122" name="Text 120"/>
          <p:cNvSpPr/>
          <p:nvPr/>
        </p:nvSpPr>
        <p:spPr>
          <a:xfrm>
            <a:off x="4480560" y="5157216"/>
            <a:ext cx="14447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flows &amp;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documentation</a:t>
            </a:r>
            <a:endParaRPr lang="en-US" sz="1020" dirty="0"/>
          </a:p>
        </p:txBody>
      </p:sp>
      <p:sp>
        <p:nvSpPr>
          <p:cNvPr id="123" name="Shape 121"/>
          <p:cNvSpPr/>
          <p:nvPr/>
        </p:nvSpPr>
        <p:spPr>
          <a:xfrm>
            <a:off x="502920" y="5742432"/>
            <a:ext cx="5532120" cy="457200"/>
          </a:xfrm>
          <a:prstGeom prst="roundRect">
            <a:avLst>
              <a:gd name="adj" fmla="val 32000"/>
            </a:avLst>
          </a:prstGeom>
          <a:solidFill>
            <a:srgbClr val="E8F5EE"/>
          </a:solidFill>
          <a:ln w="11430">
            <a:solidFill>
              <a:srgbClr val="E8F5EE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58368" y="5870448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55" kern="0" dirty="0">
                <a:solidFill>
                  <a:srgbClr val="0787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</a:t>
            </a:r>
            <a:endParaRPr lang="en-US" sz="900" dirty="0"/>
          </a:p>
        </p:txBody>
      </p:sp>
      <p:sp>
        <p:nvSpPr>
          <p:cNvPr id="125" name="Text 123"/>
          <p:cNvSpPr/>
          <p:nvPr/>
        </p:nvSpPr>
        <p:spPr>
          <a:xfrm>
            <a:off x="1700784" y="5843016"/>
            <a:ext cx="4142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question to an evidence-backed result in the live workspace</a:t>
            </a:r>
            <a:endParaRPr lang="en-US" sz="1100" dirty="0"/>
          </a:p>
        </p:txBody>
      </p:sp>
      <p:sp>
        <p:nvSpPr>
          <p:cNvPr id="126" name="Text 124"/>
          <p:cNvSpPr/>
          <p:nvPr/>
        </p:nvSpPr>
        <p:spPr>
          <a:xfrm>
            <a:off x="6190488" y="4507992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spc="120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 &amp; TOOLS</a:t>
            </a:r>
            <a:endParaRPr lang="en-US" sz="1160" dirty="0"/>
          </a:p>
        </p:txBody>
      </p:sp>
      <p:sp>
        <p:nvSpPr>
          <p:cNvPr id="127" name="Shape 125"/>
          <p:cNvSpPr/>
          <p:nvPr/>
        </p:nvSpPr>
        <p:spPr>
          <a:xfrm>
            <a:off x="6181344" y="4837176"/>
            <a:ext cx="704088" cy="265176"/>
          </a:xfrm>
          <a:prstGeom prst="roundRect">
            <a:avLst>
              <a:gd name="adj" fmla="val 55172"/>
            </a:avLst>
          </a:prstGeom>
          <a:solidFill>
            <a:srgbClr val="EAF6F0"/>
          </a:solidFill>
          <a:ln w="11430">
            <a:solidFill>
              <a:srgbClr val="EAF6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208776" y="4842662"/>
            <a:ext cx="64922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17</a:t>
            </a:r>
            <a:endParaRPr lang="en-US" sz="910" dirty="0"/>
          </a:p>
        </p:txBody>
      </p:sp>
      <p:sp>
        <p:nvSpPr>
          <p:cNvPr id="129" name="Shape 127"/>
          <p:cNvSpPr/>
          <p:nvPr/>
        </p:nvSpPr>
        <p:spPr>
          <a:xfrm>
            <a:off x="6995160" y="4837176"/>
            <a:ext cx="1161288" cy="265176"/>
          </a:xfrm>
          <a:prstGeom prst="roundRect">
            <a:avLst>
              <a:gd name="adj" fmla="val 55172"/>
            </a:avLst>
          </a:prstGeom>
          <a:solidFill>
            <a:srgbClr val="EAF6F0"/>
          </a:solidFill>
          <a:ln w="11430">
            <a:solidFill>
              <a:srgbClr val="EAF6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022592" y="4842662"/>
            <a:ext cx="110642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Spring Boot</a:t>
            </a:r>
            <a:endParaRPr lang="en-US" sz="910" dirty="0"/>
          </a:p>
        </p:txBody>
      </p:sp>
      <p:sp>
        <p:nvSpPr>
          <p:cNvPr id="131" name="Shape 129"/>
          <p:cNvSpPr/>
          <p:nvPr/>
        </p:nvSpPr>
        <p:spPr>
          <a:xfrm>
            <a:off x="8266176" y="4837176"/>
            <a:ext cx="832104" cy="265176"/>
          </a:xfrm>
          <a:prstGeom prst="roundRect">
            <a:avLst>
              <a:gd name="adj" fmla="val 55172"/>
            </a:avLst>
          </a:prstGeom>
          <a:solidFill>
            <a:srgbClr val="EAF6F0"/>
          </a:solidFill>
          <a:ln w="11430">
            <a:solidFill>
              <a:srgbClr val="EAF6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293608" y="4842662"/>
            <a:ext cx="77724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H2</a:t>
            </a:r>
            <a:endParaRPr lang="en-US" sz="910" dirty="0"/>
          </a:p>
        </p:txBody>
      </p:sp>
      <p:sp>
        <p:nvSpPr>
          <p:cNvPr id="133" name="Shape 131"/>
          <p:cNvSpPr/>
          <p:nvPr/>
        </p:nvSpPr>
        <p:spPr>
          <a:xfrm>
            <a:off x="9208008" y="4837176"/>
            <a:ext cx="1106424" cy="265176"/>
          </a:xfrm>
          <a:prstGeom prst="roundRect">
            <a:avLst>
              <a:gd name="adj" fmla="val 55172"/>
            </a:avLst>
          </a:prstGeom>
          <a:solidFill>
            <a:srgbClr val="EAF6F0"/>
          </a:solidFill>
          <a:ln w="11430">
            <a:solidFill>
              <a:srgbClr val="EAF6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235440" y="4842662"/>
            <a:ext cx="105156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impact</a:t>
            </a:r>
            <a:endParaRPr lang="en-US" sz="910" dirty="0"/>
          </a:p>
        </p:txBody>
      </p:sp>
      <p:sp>
        <p:nvSpPr>
          <p:cNvPr id="135" name="Shape 133"/>
          <p:cNvSpPr/>
          <p:nvPr/>
        </p:nvSpPr>
        <p:spPr>
          <a:xfrm>
            <a:off x="10424160" y="4837176"/>
            <a:ext cx="1133856" cy="265176"/>
          </a:xfrm>
          <a:prstGeom prst="roundRect">
            <a:avLst>
              <a:gd name="adj" fmla="val 55172"/>
            </a:avLst>
          </a:prstGeom>
          <a:solidFill>
            <a:srgbClr val="EAF6F0"/>
          </a:solidFill>
          <a:ln w="11430">
            <a:solidFill>
              <a:srgbClr val="EAF6F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0451592" y="4842662"/>
            <a:ext cx="107899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search</a:t>
            </a:r>
            <a:endParaRPr lang="en-US" sz="910" dirty="0"/>
          </a:p>
        </p:txBody>
      </p:sp>
      <p:sp>
        <p:nvSpPr>
          <p:cNvPr id="137" name="Shape 135"/>
          <p:cNvSpPr/>
          <p:nvPr/>
        </p:nvSpPr>
        <p:spPr>
          <a:xfrm>
            <a:off x="6181344" y="5166360"/>
            <a:ext cx="1088136" cy="265176"/>
          </a:xfrm>
          <a:prstGeom prst="roundRect">
            <a:avLst>
              <a:gd name="adj" fmla="val 55172"/>
            </a:avLst>
          </a:prstGeom>
          <a:solidFill>
            <a:srgbClr val="EAF6F0"/>
          </a:solidFill>
          <a:ln w="11430">
            <a:solidFill>
              <a:srgbClr val="EAF6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6208776" y="5171846"/>
            <a:ext cx="103327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 inputs</a:t>
            </a:r>
            <a:endParaRPr lang="en-US" sz="910" dirty="0"/>
          </a:p>
        </p:txBody>
      </p:sp>
      <p:sp>
        <p:nvSpPr>
          <p:cNvPr id="139" name="Shape 137"/>
          <p:cNvSpPr/>
          <p:nvPr/>
        </p:nvSpPr>
        <p:spPr>
          <a:xfrm>
            <a:off x="7379208" y="5166360"/>
            <a:ext cx="923544" cy="265176"/>
          </a:xfrm>
          <a:prstGeom prst="roundRect">
            <a:avLst>
              <a:gd name="adj" fmla="val 55172"/>
            </a:avLst>
          </a:prstGeom>
          <a:solidFill>
            <a:srgbClr val="EAF2F9"/>
          </a:solidFill>
          <a:ln w="11430">
            <a:solidFill>
              <a:srgbClr val="EAF2F9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406640" y="5171846"/>
            <a:ext cx="86868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153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MCP</a:t>
            </a:r>
            <a:endParaRPr lang="en-US" sz="910" dirty="0"/>
          </a:p>
        </p:txBody>
      </p:sp>
      <p:sp>
        <p:nvSpPr>
          <p:cNvPr id="141" name="Shape 139"/>
          <p:cNvSpPr/>
          <p:nvPr/>
        </p:nvSpPr>
        <p:spPr>
          <a:xfrm>
            <a:off x="8412480" y="5166360"/>
            <a:ext cx="1097280" cy="265176"/>
          </a:xfrm>
          <a:prstGeom prst="roundRect">
            <a:avLst>
              <a:gd name="adj" fmla="val 55172"/>
            </a:avLst>
          </a:prstGeom>
          <a:solidFill>
            <a:srgbClr val="EAF2F9"/>
          </a:solidFill>
          <a:ln w="11430">
            <a:solidFill>
              <a:srgbClr val="EAF2F9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439912" y="5171846"/>
            <a:ext cx="1042416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153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910" dirty="0"/>
          </a:p>
        </p:txBody>
      </p:sp>
      <p:sp>
        <p:nvSpPr>
          <p:cNvPr id="143" name="Shape 141"/>
          <p:cNvSpPr/>
          <p:nvPr/>
        </p:nvSpPr>
        <p:spPr>
          <a:xfrm>
            <a:off x="9619488" y="5166360"/>
            <a:ext cx="749808" cy="265176"/>
          </a:xfrm>
          <a:prstGeom prst="roundRect">
            <a:avLst>
              <a:gd name="adj" fmla="val 55172"/>
            </a:avLst>
          </a:prstGeom>
          <a:solidFill>
            <a:srgbClr val="EAF2F9"/>
          </a:solidFill>
          <a:ln w="11430">
            <a:solidFill>
              <a:srgbClr val="EAF2F9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646920" y="5171846"/>
            <a:ext cx="694944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153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GitLab</a:t>
            </a:r>
            <a:endParaRPr lang="en-US" sz="910" dirty="0"/>
          </a:p>
        </p:txBody>
      </p:sp>
      <p:sp>
        <p:nvSpPr>
          <p:cNvPr id="145" name="Shape 143"/>
          <p:cNvSpPr/>
          <p:nvPr/>
        </p:nvSpPr>
        <p:spPr>
          <a:xfrm>
            <a:off x="10479024" y="5166360"/>
            <a:ext cx="1060704" cy="265176"/>
          </a:xfrm>
          <a:prstGeom prst="roundRect">
            <a:avLst>
              <a:gd name="adj" fmla="val 55172"/>
            </a:avLst>
          </a:prstGeom>
          <a:solidFill>
            <a:srgbClr val="EAF2F9"/>
          </a:solidFill>
          <a:ln w="11430">
            <a:solidFill>
              <a:srgbClr val="EAF2F9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10506456" y="5171846"/>
            <a:ext cx="100584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spc="35" kern="0" dirty="0">
                <a:solidFill>
                  <a:srgbClr val="153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SonarQube</a:t>
            </a:r>
            <a:endParaRPr lang="en-US" sz="910" dirty="0"/>
          </a:p>
        </p:txBody>
      </p:sp>
      <p:sp>
        <p:nvSpPr>
          <p:cNvPr id="147" name="Shape 145"/>
          <p:cNvSpPr/>
          <p:nvPr/>
        </p:nvSpPr>
        <p:spPr>
          <a:xfrm>
            <a:off x="6163056" y="5742432"/>
            <a:ext cx="5522976" cy="457200"/>
          </a:xfrm>
          <a:prstGeom prst="roundRect">
            <a:avLst>
              <a:gd name="adj" fmla="val 32000"/>
            </a:avLst>
          </a:prstGeom>
          <a:solidFill>
            <a:srgbClr val="EFF6FA"/>
          </a:solidFill>
          <a:ln w="11430">
            <a:solidFill>
              <a:srgbClr val="EFF6FA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327648" y="5870448"/>
            <a:ext cx="1527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spc="42" kern="0" dirty="0">
                <a:solidFill>
                  <a:srgbClr val="2E79B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CONTROL</a:t>
            </a:r>
            <a:endParaRPr lang="en-US" sz="880" dirty="0"/>
          </a:p>
        </p:txBody>
      </p:sp>
      <p:sp>
        <p:nvSpPr>
          <p:cNvPr id="149" name="Text 147"/>
          <p:cNvSpPr/>
          <p:nvPr/>
        </p:nvSpPr>
        <p:spPr>
          <a:xfrm>
            <a:off x="7973568" y="5843016"/>
            <a:ext cx="3465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53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context • user approval • verified actions</a:t>
            </a:r>
            <a:endParaRPr lang="en-US" sz="1060" dirty="0"/>
          </a:p>
        </p:txBody>
      </p:sp>
      <p:sp>
        <p:nvSpPr>
          <p:cNvPr id="150" name="Shape 148"/>
          <p:cNvSpPr/>
          <p:nvPr/>
        </p:nvSpPr>
        <p:spPr>
          <a:xfrm>
            <a:off x="484632" y="6496812"/>
            <a:ext cx="11237976" cy="0"/>
          </a:xfrm>
          <a:prstGeom prst="line">
            <a:avLst/>
          </a:prstGeom>
          <a:noFill/>
          <a:ln w="8255">
            <a:solidFill>
              <a:srgbClr val="DBE6E2"/>
            </a:solidFill>
            <a:prstDash val="solid"/>
            <a:headEnd type="none"/>
            <a:tailEnd type="none"/>
          </a:ln>
        </p:spPr>
      </p:sp>
      <p:sp>
        <p:nvSpPr>
          <p:cNvPr id="151" name="Text 149"/>
          <p:cNvSpPr/>
          <p:nvPr/>
        </p:nvSpPr>
        <p:spPr>
          <a:xfrm>
            <a:off x="502920" y="6528816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6F8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ELIYA  /  ENTERPRISE AI ENGINEERING</a:t>
            </a:r>
            <a:endParaRPr lang="en-US" sz="800" dirty="0"/>
          </a:p>
        </p:txBody>
      </p:sp>
      <p:sp>
        <p:nvSpPr>
          <p:cNvPr id="152" name="Text 150"/>
          <p:cNvSpPr/>
          <p:nvPr/>
        </p:nvSpPr>
        <p:spPr>
          <a:xfrm>
            <a:off x="6126480" y="6528816"/>
            <a:ext cx="5166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• Capabilities depend on configured models, permissions and tools</a:t>
            </a:r>
            <a:endParaRPr lang="en-US" sz="800" dirty="0"/>
          </a:p>
        </p:txBody>
      </p:sp>
      <p:sp>
        <p:nvSpPr>
          <p:cNvPr id="153" name="Text 151"/>
          <p:cNvSpPr/>
          <p:nvPr/>
        </p:nvSpPr>
        <p:spPr>
          <a:xfrm>
            <a:off x="11365992" y="65288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2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" y="320040"/>
            <a:ext cx="59436" cy="521208"/>
          </a:xfrm>
          <a:prstGeom prst="rect">
            <a:avLst/>
          </a:prstGeom>
          <a:solidFill>
            <a:srgbClr val="13A9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21824" y="374904"/>
            <a:ext cx="201168" cy="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10222992" y="484632"/>
            <a:ext cx="201168" cy="-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0424160" y="374904"/>
            <a:ext cx="256032" cy="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0680192" y="484632"/>
            <a:ext cx="283464" cy="-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963656" y="374904"/>
            <a:ext cx="265176" cy="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11228832" y="484632"/>
            <a:ext cx="182880" cy="-109728"/>
          </a:xfrm>
          <a:prstGeom prst="line">
            <a:avLst/>
          </a:prstGeom>
          <a:noFill/>
          <a:ln w="11430">
            <a:solidFill>
              <a:srgbClr val="DCEDE6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996678" y="349758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97846" y="459486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99014" y="349758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5046" y="459486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38510" y="349758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203686" y="459486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386566" y="349758"/>
            <a:ext cx="50292" cy="50292"/>
          </a:xfrm>
          <a:prstGeom prst="ellipse">
            <a:avLst/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3464"/>
            <a:ext cx="9509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75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ELIYA  |  Local Tools &amp; Utilities</a:t>
            </a:r>
            <a:endParaRPr lang="en-US" sz="2580" dirty="0"/>
          </a:p>
        </p:txBody>
      </p:sp>
      <p:sp>
        <p:nvSpPr>
          <p:cNvPr id="17" name="Text 15"/>
          <p:cNvSpPr/>
          <p:nvPr/>
        </p:nvSpPr>
        <p:spPr>
          <a:xfrm>
            <a:off x="694944" y="786384"/>
            <a:ext cx="10149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practical use cases — bringing repository intelligence, automation and controlled execution together</a:t>
            </a:r>
            <a:endParaRPr lang="en-US" sz="1170" dirty="0"/>
          </a:p>
        </p:txBody>
      </p:sp>
      <p:sp>
        <p:nvSpPr>
          <p:cNvPr id="18" name="Shape 16"/>
          <p:cNvSpPr/>
          <p:nvPr/>
        </p:nvSpPr>
        <p:spPr>
          <a:xfrm>
            <a:off x="475488" y="1271016"/>
            <a:ext cx="7406640" cy="4992624"/>
          </a:xfrm>
          <a:prstGeom prst="roundRect">
            <a:avLst>
              <a:gd name="adj" fmla="val 2930"/>
            </a:avLst>
          </a:prstGeom>
          <a:solidFill>
            <a:srgbClr val="FFFFFF"/>
          </a:solidFill>
          <a:ln w="11430">
            <a:solidFill>
              <a:srgbClr val="C7D8D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7576" y="1271016"/>
            <a:ext cx="3675888" cy="4992624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 w="11430">
            <a:solidFill>
              <a:srgbClr val="C7D8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1124712"/>
            <a:ext cx="2679192" cy="365760"/>
          </a:xfrm>
          <a:prstGeom prst="roundRect">
            <a:avLst>
              <a:gd name="adj" fmla="val 40000"/>
            </a:avLst>
          </a:prstGeom>
          <a:solidFill>
            <a:srgbClr val="078761"/>
          </a:solidFill>
          <a:ln w="11430">
            <a:solidFill>
              <a:srgbClr val="078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1197864"/>
            <a:ext cx="240487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5" b="1" spc="4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ACCELERATORS</a:t>
            </a:r>
            <a:endParaRPr lang="en-US" sz="1105" dirty="0"/>
          </a:p>
        </p:txBody>
      </p:sp>
      <p:sp>
        <p:nvSpPr>
          <p:cNvPr id="22" name="Shape 20"/>
          <p:cNvSpPr/>
          <p:nvPr/>
        </p:nvSpPr>
        <p:spPr>
          <a:xfrm>
            <a:off x="8257032" y="1124712"/>
            <a:ext cx="2468880" cy="365760"/>
          </a:xfrm>
          <a:prstGeom prst="roundRect">
            <a:avLst>
              <a:gd name="adj" fmla="val 40000"/>
            </a:avLst>
          </a:prstGeom>
          <a:solidFill>
            <a:srgbClr val="078761"/>
          </a:solidFill>
          <a:ln w="11430">
            <a:solidFill>
              <a:srgbClr val="078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1197864"/>
            <a:ext cx="22128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5" b="1" spc="45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READINESS</a:t>
            </a:r>
            <a:endParaRPr lang="en-US" sz="1105" dirty="0"/>
          </a:p>
        </p:txBody>
      </p:sp>
      <p:sp>
        <p:nvSpPr>
          <p:cNvPr id="24" name="Shape 22"/>
          <p:cNvSpPr/>
          <p:nvPr/>
        </p:nvSpPr>
        <p:spPr>
          <a:xfrm>
            <a:off x="713232" y="1737360"/>
            <a:ext cx="3364992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9DAD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6112" y="1920240"/>
            <a:ext cx="41148" cy="521208"/>
          </a:xfrm>
          <a:prstGeom prst="rect">
            <a:avLst/>
          </a:prstGeom>
          <a:solidFill>
            <a:srgbClr val="13A9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" y="1892808"/>
            <a:ext cx="640080" cy="640080"/>
          </a:xfrm>
          <a:prstGeom prst="ellipse">
            <a:avLst/>
          </a:prstGeom>
          <a:solidFill>
            <a:srgbClr val="EAF6F0"/>
          </a:solidFill>
          <a:ln w="8890">
            <a:solidFill>
              <a:srgbClr val="D1E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0432" y="2066544"/>
            <a:ext cx="192024" cy="0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1362456" y="2066544"/>
            <a:ext cx="0" cy="274320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362456" y="2340864"/>
            <a:ext cx="175565" cy="0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126541" y="2022653"/>
            <a:ext cx="87782" cy="8778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87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18565" y="2022653"/>
            <a:ext cx="87782" cy="8778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87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18565" y="2296973"/>
            <a:ext cx="87782" cy="8778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87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94130" y="2296973"/>
            <a:ext cx="87782" cy="8778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87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19656" y="2011680"/>
            <a:ext cx="20665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Codebase understanding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1832" y="2743200"/>
            <a:ext cx="28895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application logic, dependencies, alerts, KPIs and data flow across the workspace.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41832" y="3282696"/>
            <a:ext cx="1395374" cy="224028"/>
          </a:xfrm>
          <a:prstGeom prst="roundRect">
            <a:avLst>
              <a:gd name="adj" fmla="val 65306"/>
            </a:avLst>
          </a:prstGeom>
          <a:solidFill>
            <a:srgbClr val="E7F6EF"/>
          </a:solidFill>
          <a:ln w="11430">
            <a:solidFill>
              <a:srgbClr val="E7F6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" y="3288182"/>
            <a:ext cx="134051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5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FLOW</a:t>
            </a:r>
            <a:endParaRPr lang="en-US" sz="855" dirty="0"/>
          </a:p>
        </p:txBody>
      </p:sp>
      <p:sp>
        <p:nvSpPr>
          <p:cNvPr id="38" name="Shape 36"/>
          <p:cNvSpPr/>
          <p:nvPr/>
        </p:nvSpPr>
        <p:spPr>
          <a:xfrm>
            <a:off x="4270248" y="1737360"/>
            <a:ext cx="3364992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9DAD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53128" y="1920240"/>
            <a:ext cx="41148" cy="521208"/>
          </a:xfrm>
          <a:prstGeom prst="rect">
            <a:avLst/>
          </a:prstGeom>
          <a:solidFill>
            <a:srgbClr val="13A9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1892808"/>
            <a:ext cx="640080" cy="640080"/>
          </a:xfrm>
          <a:prstGeom prst="ellipse">
            <a:avLst/>
          </a:prstGeom>
          <a:solidFill>
            <a:srgbClr val="EAF6F0"/>
          </a:solidFill>
          <a:ln w="8890">
            <a:solidFill>
              <a:srgbClr val="D1EDE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5502" y="2022653"/>
            <a:ext cx="411480" cy="301752"/>
          </a:xfrm>
          <a:prstGeom prst="roundRect">
            <a:avLst>
              <a:gd name="adj" fmla="val 48485"/>
            </a:avLst>
          </a:prstGeom>
          <a:solidFill>
            <a:srgbClr val="FFFFFF"/>
          </a:solidFill>
          <a:ln w="11430">
            <a:solidFill>
              <a:srgbClr val="0787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27448" y="2039112"/>
            <a:ext cx="362102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0787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&lt;/&gt;</a:t>
            </a:r>
            <a:endParaRPr lang="en-US" sz="1230" dirty="0"/>
          </a:p>
        </p:txBody>
      </p:sp>
      <p:sp>
        <p:nvSpPr>
          <p:cNvPr id="43" name="Shape 41"/>
          <p:cNvSpPr/>
          <p:nvPr/>
        </p:nvSpPr>
        <p:spPr>
          <a:xfrm>
            <a:off x="4765853" y="2390242"/>
            <a:ext cx="312725" cy="0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44" name="Shape 42"/>
          <p:cNvSpPr/>
          <p:nvPr/>
        </p:nvSpPr>
        <p:spPr>
          <a:xfrm>
            <a:off x="4837176" y="2324405"/>
            <a:ext cx="0" cy="65837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45" name="Shape 43"/>
          <p:cNvSpPr/>
          <p:nvPr/>
        </p:nvSpPr>
        <p:spPr>
          <a:xfrm>
            <a:off x="5001768" y="2324405"/>
            <a:ext cx="0" cy="65837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376672" y="2011680"/>
            <a:ext cx="20665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automation &amp; migration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498848" y="2743200"/>
            <a:ext cx="28895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Create, enhance or migrate Selenium / Cucumber tests to Playwright, then verify.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498848" y="3282696"/>
            <a:ext cx="1214323" cy="224028"/>
          </a:xfrm>
          <a:prstGeom prst="roundRect">
            <a:avLst>
              <a:gd name="adj" fmla="val 65306"/>
            </a:avLst>
          </a:prstGeom>
          <a:solidFill>
            <a:srgbClr val="E7F6EF"/>
          </a:solidFill>
          <a:ln w="11430">
            <a:solidFill>
              <a:srgbClr val="E7F6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26280" y="3288182"/>
            <a:ext cx="1159459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5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 QA</a:t>
            </a:r>
            <a:endParaRPr lang="en-US" sz="855" dirty="0"/>
          </a:p>
        </p:txBody>
      </p:sp>
      <p:sp>
        <p:nvSpPr>
          <p:cNvPr id="50" name="Shape 48"/>
          <p:cNvSpPr/>
          <p:nvPr/>
        </p:nvSpPr>
        <p:spPr>
          <a:xfrm>
            <a:off x="713232" y="3849624"/>
            <a:ext cx="3364992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9DAD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6112" y="4032504"/>
            <a:ext cx="41148" cy="521208"/>
          </a:xfrm>
          <a:prstGeom prst="rect">
            <a:avLst/>
          </a:prstGeom>
          <a:solidFill>
            <a:srgbClr val="13A9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1560" y="4005072"/>
            <a:ext cx="640080" cy="640080"/>
          </a:xfrm>
          <a:prstGeom prst="ellipse">
            <a:avLst/>
          </a:prstGeom>
          <a:solidFill>
            <a:srgbClr val="EAF6F0"/>
          </a:solidFill>
          <a:ln w="8890">
            <a:solidFill>
              <a:srgbClr val="D1E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225296" y="4107485"/>
            <a:ext cx="323698" cy="427939"/>
          </a:xfrm>
          <a:prstGeom prst="roundRect">
            <a:avLst>
              <a:gd name="adj" fmla="val 45198"/>
            </a:avLst>
          </a:prstGeom>
          <a:solidFill>
            <a:srgbClr val="FFFFFF"/>
          </a:solidFill>
          <a:ln w="11430">
            <a:solidFill>
              <a:srgbClr val="07876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285646" y="4239158"/>
            <a:ext cx="202997" cy="0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>
            <a:off x="1285646" y="4315968"/>
            <a:ext cx="202997" cy="0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1285646" y="4392778"/>
            <a:ext cx="153619" cy="0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1175918" y="4200754"/>
            <a:ext cx="0" cy="274320"/>
          </a:xfrm>
          <a:prstGeom prst="line">
            <a:avLst/>
          </a:prstGeom>
          <a:noFill/>
          <a:ln w="1524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1819656" y="4123944"/>
            <a:ext cx="20665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&amp; artifacts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941832" y="4855464"/>
            <a:ext cx="28895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prompt-led technical docs, architecture summaries, PPT, PDF and Excel output.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41832" y="5394960"/>
            <a:ext cx="1335024" cy="224028"/>
          </a:xfrm>
          <a:prstGeom prst="roundRect">
            <a:avLst>
              <a:gd name="adj" fmla="val 65306"/>
            </a:avLst>
          </a:prstGeom>
          <a:solidFill>
            <a:srgbClr val="E7F6EF"/>
          </a:solidFill>
          <a:ln w="11430">
            <a:solidFill>
              <a:srgbClr val="E7F6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69264" y="5400446"/>
            <a:ext cx="128016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5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KNOWLEDGE</a:t>
            </a:r>
            <a:endParaRPr lang="en-US" sz="855" dirty="0"/>
          </a:p>
        </p:txBody>
      </p:sp>
      <p:sp>
        <p:nvSpPr>
          <p:cNvPr id="62" name="Shape 60"/>
          <p:cNvSpPr/>
          <p:nvPr/>
        </p:nvSpPr>
        <p:spPr>
          <a:xfrm>
            <a:off x="4270248" y="3849624"/>
            <a:ext cx="3364992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9DAD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453128" y="4032504"/>
            <a:ext cx="41148" cy="521208"/>
          </a:xfrm>
          <a:prstGeom prst="rect">
            <a:avLst/>
          </a:prstGeom>
          <a:solidFill>
            <a:srgbClr val="13A97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608576" y="4005072"/>
            <a:ext cx="640080" cy="640080"/>
          </a:xfrm>
          <a:prstGeom prst="ellipse">
            <a:avLst/>
          </a:prstGeom>
          <a:solidFill>
            <a:srgbClr val="EAF6F0"/>
          </a:solidFill>
          <a:ln w="8890">
            <a:solidFill>
              <a:srgbClr val="D1ED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96028" y="4143146"/>
            <a:ext cx="192024" cy="1920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876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92040" y="4337914"/>
            <a:ext cx="0" cy="131674"/>
          </a:xfrm>
          <a:prstGeom prst="line">
            <a:avLst/>
          </a:prstGeom>
          <a:noFill/>
          <a:ln w="1905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67" name="Shape 65"/>
          <p:cNvSpPr/>
          <p:nvPr/>
        </p:nvSpPr>
        <p:spPr>
          <a:xfrm>
            <a:off x="4760366" y="4387291"/>
            <a:ext cx="54864" cy="-49378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5023714" y="4387291"/>
            <a:ext cx="-54864" cy="-49378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69" name="Shape 67"/>
          <p:cNvSpPr/>
          <p:nvPr/>
        </p:nvSpPr>
        <p:spPr>
          <a:xfrm>
            <a:off x="4787798" y="4239158"/>
            <a:ext cx="-60350" cy="-10973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4996282" y="4239158"/>
            <a:ext cx="60350" cy="-10973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4831690" y="4480560"/>
            <a:ext cx="120701" cy="0"/>
          </a:xfrm>
          <a:prstGeom prst="line">
            <a:avLst/>
          </a:prstGeom>
          <a:noFill/>
          <a:ln w="17780">
            <a:solidFill>
              <a:srgbClr val="078766"/>
            </a:solidFill>
            <a:prstDash val="solid"/>
            <a:headEnd type="none"/>
            <a:tailEnd type="none"/>
          </a:ln>
        </p:spPr>
      </p:sp>
      <p:sp>
        <p:nvSpPr>
          <p:cNvPr id="72" name="Text 70"/>
          <p:cNvSpPr/>
          <p:nvPr/>
        </p:nvSpPr>
        <p:spPr>
          <a:xfrm>
            <a:off x="5376672" y="4123944"/>
            <a:ext cx="20665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Screenshot-to-code fixes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4498848" y="4855464"/>
            <a:ext cx="28895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an optional vision model to read issues, inspect source, apply fixes and test.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4498848" y="5394960"/>
            <a:ext cx="1455725" cy="224028"/>
          </a:xfrm>
          <a:prstGeom prst="roundRect">
            <a:avLst>
              <a:gd name="adj" fmla="val 65306"/>
            </a:avLst>
          </a:prstGeom>
          <a:solidFill>
            <a:srgbClr val="E7F6EF"/>
          </a:solidFill>
          <a:ln w="11430">
            <a:solidFill>
              <a:srgbClr val="E7F6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26280" y="5400446"/>
            <a:ext cx="1400861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5" b="1" spc="35" kern="0" dirty="0">
                <a:solidFill>
                  <a:srgbClr val="075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 &amp; FIX</a:t>
            </a:r>
            <a:endParaRPr lang="en-US" sz="855" dirty="0"/>
          </a:p>
        </p:txBody>
      </p:sp>
      <p:sp>
        <p:nvSpPr>
          <p:cNvPr id="76" name="Shape 74"/>
          <p:cNvSpPr/>
          <p:nvPr/>
        </p:nvSpPr>
        <p:spPr>
          <a:xfrm>
            <a:off x="8266176" y="1737360"/>
            <a:ext cx="3218688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9DAD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449056" y="1920240"/>
            <a:ext cx="41148" cy="521208"/>
          </a:xfrm>
          <a:prstGeom prst="rect">
            <a:avLst/>
          </a:prstGeom>
          <a:solidFill>
            <a:srgbClr val="2E79B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604504" y="1892808"/>
            <a:ext cx="640080" cy="640080"/>
          </a:xfrm>
          <a:prstGeom prst="ellipse">
            <a:avLst/>
          </a:prstGeom>
          <a:solidFill>
            <a:srgbClr val="EAF3FA"/>
          </a:solidFill>
          <a:ln w="8890">
            <a:solidFill>
              <a:srgbClr val="D0E6F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693201" y="2036369"/>
            <a:ext cx="115214" cy="11521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9B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005926" y="2008937"/>
            <a:ext cx="115214" cy="11521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9B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841334" y="2283257"/>
            <a:ext cx="115214" cy="11521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9B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89213" y="2115922"/>
            <a:ext cx="219456" cy="-38405"/>
          </a:xfrm>
          <a:prstGeom prst="line">
            <a:avLst/>
          </a:prstGeom>
          <a:noFill/>
          <a:ln w="19050">
            <a:solidFill>
              <a:srgbClr val="2E79BB"/>
            </a:solidFill>
            <a:prstDash val="solid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8789213" y="2143354"/>
            <a:ext cx="87782" cy="142646"/>
          </a:xfrm>
          <a:prstGeom prst="line">
            <a:avLst/>
          </a:prstGeom>
          <a:noFill/>
          <a:ln w="19050">
            <a:solidFill>
              <a:srgbClr val="2E79BB"/>
            </a:solidFill>
            <a:prstDash val="solid"/>
            <a:headEnd type="none"/>
            <a:tailEnd type="none"/>
          </a:ln>
        </p:spPr>
      </p:sp>
      <p:sp>
        <p:nvSpPr>
          <p:cNvPr id="84" name="Shape 82"/>
          <p:cNvSpPr/>
          <p:nvPr/>
        </p:nvSpPr>
        <p:spPr>
          <a:xfrm>
            <a:off x="9030614" y="2121408"/>
            <a:ext cx="-98755" cy="175565"/>
          </a:xfrm>
          <a:prstGeom prst="line">
            <a:avLst/>
          </a:prstGeom>
          <a:noFill/>
          <a:ln w="19050">
            <a:solidFill>
              <a:srgbClr val="2E79BB"/>
            </a:solidFill>
            <a:prstDash val="solid"/>
            <a:headEnd type="none"/>
            <a:tailEnd type="none"/>
          </a:ln>
        </p:spPr>
      </p:sp>
      <p:sp>
        <p:nvSpPr>
          <p:cNvPr id="85" name="Text 83"/>
          <p:cNvSpPr/>
          <p:nvPr/>
        </p:nvSpPr>
        <p:spPr>
          <a:xfrm>
            <a:off x="9372600" y="2011680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MCP-connected insight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494776" y="2743200"/>
            <a:ext cx="2743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Explicitly request MCP for Jira, Confluence, GitLab or SonarQube context.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494776" y="3282696"/>
            <a:ext cx="1455725" cy="224028"/>
          </a:xfrm>
          <a:prstGeom prst="roundRect">
            <a:avLst>
              <a:gd name="adj" fmla="val 65306"/>
            </a:avLst>
          </a:prstGeom>
          <a:solidFill>
            <a:srgbClr val="EAF3FA"/>
          </a:solidFill>
          <a:ln w="11430">
            <a:solidFill>
              <a:srgbClr val="EAF3F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522208" y="3288182"/>
            <a:ext cx="1400861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5" b="1" spc="35" kern="0" dirty="0">
                <a:solidFill>
                  <a:srgbClr val="153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ON DEMAND</a:t>
            </a:r>
            <a:endParaRPr lang="en-US" sz="855" dirty="0"/>
          </a:p>
        </p:txBody>
      </p:sp>
      <p:sp>
        <p:nvSpPr>
          <p:cNvPr id="89" name="Shape 87"/>
          <p:cNvSpPr/>
          <p:nvPr/>
        </p:nvSpPr>
        <p:spPr>
          <a:xfrm>
            <a:off x="8266176" y="3849624"/>
            <a:ext cx="3218688" cy="190195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1430">
            <a:solidFill>
              <a:srgbClr val="C9DAD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449056" y="4032504"/>
            <a:ext cx="41148" cy="521208"/>
          </a:xfrm>
          <a:prstGeom prst="rect">
            <a:avLst/>
          </a:prstGeom>
          <a:solidFill>
            <a:srgbClr val="2E79B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04504" y="4005072"/>
            <a:ext cx="640080" cy="640080"/>
          </a:xfrm>
          <a:prstGeom prst="ellipse">
            <a:avLst/>
          </a:prstGeom>
          <a:solidFill>
            <a:srgbClr val="EAF3FA"/>
          </a:solidFill>
          <a:ln w="8890">
            <a:solidFill>
              <a:srgbClr val="D0E6F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10800000">
            <a:off x="8745322" y="4107485"/>
            <a:ext cx="334670" cy="395021"/>
          </a:xfrm>
          <a:prstGeom prst="pentagon">
            <a:avLst/>
          </a:prstGeom>
          <a:solidFill>
            <a:srgbClr val="FFFFFF"/>
          </a:solidFill>
          <a:ln w="19050">
            <a:solidFill>
              <a:srgbClr val="2E79B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827618" y="4299509"/>
            <a:ext cx="54864" cy="65837"/>
          </a:xfrm>
          <a:prstGeom prst="line">
            <a:avLst/>
          </a:prstGeom>
          <a:noFill/>
          <a:ln w="22860">
            <a:solidFill>
              <a:srgbClr val="2E79BB"/>
            </a:solidFill>
            <a:prstDash val="solid"/>
            <a:headEnd type="none"/>
            <a:tailEnd type="none"/>
          </a:ln>
        </p:spPr>
      </p:sp>
      <p:sp>
        <p:nvSpPr>
          <p:cNvPr id="94" name="Shape 92"/>
          <p:cNvSpPr/>
          <p:nvPr/>
        </p:nvSpPr>
        <p:spPr>
          <a:xfrm>
            <a:off x="8882482" y="4365346"/>
            <a:ext cx="120701" cy="-126187"/>
          </a:xfrm>
          <a:prstGeom prst="line">
            <a:avLst/>
          </a:prstGeom>
          <a:noFill/>
          <a:ln w="22860">
            <a:solidFill>
              <a:srgbClr val="2E79BB"/>
            </a:solidFill>
            <a:prstDash val="solid"/>
            <a:headEnd type="none"/>
            <a:tailEnd type="none"/>
          </a:ln>
        </p:spPr>
      </p:sp>
      <p:sp>
        <p:nvSpPr>
          <p:cNvPr id="95" name="Text 93"/>
          <p:cNvSpPr/>
          <p:nvPr/>
        </p:nvSpPr>
        <p:spPr>
          <a:xfrm>
            <a:off x="9372600" y="4123944"/>
            <a:ext cx="19202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53C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agent delivery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8494776" y="4855464"/>
            <a:ext cx="27432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plans, approve sensitive changes, inspect evidence and roll back tasks.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8494776" y="5394960"/>
            <a:ext cx="1335024" cy="224028"/>
          </a:xfrm>
          <a:prstGeom prst="roundRect">
            <a:avLst>
              <a:gd name="adj" fmla="val 65306"/>
            </a:avLst>
          </a:prstGeom>
          <a:solidFill>
            <a:srgbClr val="EAF3FA"/>
          </a:solidFill>
          <a:ln w="11430">
            <a:solidFill>
              <a:srgbClr val="EAF3F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522208" y="5400446"/>
            <a:ext cx="1280160" cy="21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5" b="1" spc="35" kern="0" dirty="0">
                <a:solidFill>
                  <a:srgbClr val="153D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IN CONTROL</a:t>
            </a:r>
            <a:endParaRPr lang="en-US" sz="855" dirty="0"/>
          </a:p>
        </p:txBody>
      </p:sp>
      <p:sp>
        <p:nvSpPr>
          <p:cNvPr id="99" name="Shape 97"/>
          <p:cNvSpPr/>
          <p:nvPr/>
        </p:nvSpPr>
        <p:spPr>
          <a:xfrm>
            <a:off x="713232" y="5998464"/>
            <a:ext cx="10771632" cy="201168"/>
          </a:xfrm>
          <a:prstGeom prst="roundRect">
            <a:avLst>
              <a:gd name="adj" fmla="val 72727"/>
            </a:avLst>
          </a:prstGeom>
          <a:solidFill>
            <a:srgbClr val="F4F8F7"/>
          </a:solidFill>
          <a:ln w="11430">
            <a:solidFill>
              <a:srgbClr val="F4F8F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3816" y="6035040"/>
            <a:ext cx="105521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57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Eliya uses the user-selected models and available workspace tools; results and external access depend on configuration and verification.</a:t>
            </a:r>
            <a:endParaRPr lang="en-US" sz="820" dirty="0"/>
          </a:p>
        </p:txBody>
      </p:sp>
      <p:sp>
        <p:nvSpPr>
          <p:cNvPr id="101" name="Shape 99"/>
          <p:cNvSpPr/>
          <p:nvPr/>
        </p:nvSpPr>
        <p:spPr>
          <a:xfrm>
            <a:off x="484632" y="6496812"/>
            <a:ext cx="11237976" cy="0"/>
          </a:xfrm>
          <a:prstGeom prst="line">
            <a:avLst/>
          </a:prstGeom>
          <a:noFill/>
          <a:ln w="8255">
            <a:solidFill>
              <a:srgbClr val="DBE6E2"/>
            </a:solidFill>
            <a:prstDash val="solid"/>
            <a:headEnd type="none"/>
            <a:tailEnd type="none"/>
          </a:ln>
        </p:spPr>
      </p:sp>
      <p:sp>
        <p:nvSpPr>
          <p:cNvPr id="102" name="Text 100"/>
          <p:cNvSpPr/>
          <p:nvPr/>
        </p:nvSpPr>
        <p:spPr>
          <a:xfrm>
            <a:off x="502920" y="6528816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6F8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ELIYA  /  ENTERPRISE AI ENGINEERING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126480" y="6528816"/>
            <a:ext cx="5166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• Capabilities depend on configured models, permissions and tools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11365992" y="65288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40" dirty="0">
                <a:solidFill>
                  <a:srgbClr val="596C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2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ELIYA — AI Engineering &amp; Tools</dc:title>
  <dc:subject>ELIYA editable executive overview</dc:subject>
  <dc:creator>OpenAI</dc:creator>
  <cp:lastModifiedBy>OpenAI</cp:lastModifiedBy>
  <cp:revision>1</cp:revision>
  <dcterms:created xsi:type="dcterms:W3CDTF">2026-10-08T08:51:41Z</dcterms:created>
  <dcterms:modified xsi:type="dcterms:W3CDTF">2026-10-08T08:51:41Z</dcterms:modified>
</cp:coreProperties>
</file>