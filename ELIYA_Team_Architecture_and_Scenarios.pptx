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2F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F25"/>
          </a:solidFill>
          <a:ln w="12700">
            <a:solidFill>
              <a:srgbClr val="092F2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0256" y="658368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0256" y="1179576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20256" y="1700784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20256" y="2221992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20256" y="2743200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0256" y="3264408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0256" y="3785616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0256" y="4306824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0256" y="4828032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04888" y="658368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04888" y="1179576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04888" y="1700784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04888" y="2221992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04888" y="2743200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04888" y="3264408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04888" y="3785616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04888" y="4306824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04888" y="4828032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658368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1179576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1700784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2221992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0" y="2743200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0" y="3264408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0" y="3785616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0" y="4306824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0" y="4828032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74152" y="658368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74152" y="1179576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74152" y="1700784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74152" y="2221992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74152" y="2743200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74152" y="3264408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74152" y="3785616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74152" y="4306824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74152" y="4828032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58784" y="658368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58784" y="1179576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58784" y="1700784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58784" y="2221992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58784" y="2743200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58784" y="3264408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58784" y="3785616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58784" y="4306824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58784" y="4828032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43416" y="658368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43416" y="1179576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43416" y="1700784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43416" y="2221992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43416" y="2743200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043416" y="3264408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43416" y="3785616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43416" y="4306824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43416" y="4828032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528048" y="658368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528048" y="1179576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528048" y="1700784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528048" y="2221992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28048" y="2743200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528048" y="3264408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528048" y="3785616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528048" y="4306824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528048" y="4828032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012680" y="658368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012680" y="1179576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012680" y="1700784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012680" y="2221992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012680" y="2743200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12680" y="3264408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012680" y="3785616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012680" y="4306824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012680" y="4828032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497312" y="658368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497312" y="1179576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497312" y="1700784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497312" y="2221992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497312" y="2743200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497312" y="3264408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497312" y="3785616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497312" y="4306824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497312" y="4828032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981944" y="658368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981944" y="1179576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981944" y="1700784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981944" y="2221992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981944" y="2743200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981944" y="3264408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981944" y="3785616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981944" y="4306824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981944" y="4828032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66576" y="658368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466576" y="1179576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466576" y="1700784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466576" y="2221992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466576" y="2743200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1466576" y="3264408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1466576" y="3785616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466576" y="4306824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466576" y="4828032"/>
            <a:ext cx="25603" cy="25603"/>
          </a:xfrm>
          <a:prstGeom prst="ellipse">
            <a:avLst/>
          </a:prstGeom>
          <a:solidFill>
            <a:srgbClr val="286A4E"/>
          </a:solidFill>
          <a:ln w="12700">
            <a:solidFill>
              <a:srgbClr val="286A4E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66928" y="402336"/>
            <a:ext cx="320040" cy="329184"/>
          </a:xfrm>
          <a:prstGeom prst="roundRect">
            <a:avLst>
              <a:gd name="adj" fmla="val 28571"/>
            </a:avLst>
          </a:prstGeom>
          <a:solidFill>
            <a:srgbClr val="B4EA74"/>
          </a:solidFill>
          <a:ln w="12700">
            <a:solidFill>
              <a:srgbClr val="B4EA74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43738" y="475488"/>
            <a:ext cx="173736" cy="35662"/>
          </a:xfrm>
          <a:prstGeom prst="rect">
            <a:avLst/>
          </a:prstGeom>
          <a:solidFill>
            <a:srgbClr val="0B4434"/>
          </a:solidFill>
          <a:ln w="12700">
            <a:solidFill>
              <a:srgbClr val="0B4434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43738" y="554126"/>
            <a:ext cx="137160" cy="35662"/>
          </a:xfrm>
          <a:prstGeom prst="rect">
            <a:avLst/>
          </a:prstGeom>
          <a:solidFill>
            <a:srgbClr val="0B4434"/>
          </a:solidFill>
          <a:ln w="12700">
            <a:solidFill>
              <a:srgbClr val="0B4434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43738" y="630936"/>
            <a:ext cx="173736" cy="35662"/>
          </a:xfrm>
          <a:prstGeom prst="rect">
            <a:avLst/>
          </a:prstGeom>
          <a:solidFill>
            <a:srgbClr val="0B4434"/>
          </a:solidFill>
          <a:ln w="12700">
            <a:solidFill>
              <a:srgbClr val="0B4434">
                <a:alpha val="0"/>
              </a:srgbClr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78408" y="40233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spc="2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ELIYA</a:t>
            </a:r>
            <a:endParaRPr lang="en-US" sz="1600" dirty="0"/>
          </a:p>
        </p:txBody>
      </p:sp>
      <p:sp>
        <p:nvSpPr>
          <p:cNvPr id="107" name="Shape 105"/>
          <p:cNvSpPr/>
          <p:nvPr/>
        </p:nvSpPr>
        <p:spPr>
          <a:xfrm>
            <a:off x="621792" y="1344168"/>
            <a:ext cx="2029968" cy="338328"/>
          </a:xfrm>
          <a:prstGeom prst="roundRect">
            <a:avLst>
              <a:gd name="adj" fmla="val 45946"/>
            </a:avLst>
          </a:prstGeom>
          <a:solidFill>
            <a:srgbClr val="155A43"/>
          </a:solidFill>
          <a:ln w="12700">
            <a:solidFill>
              <a:srgbClr val="155A43">
                <a:alpha val="0"/>
              </a:srgbClr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22376" y="13670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B4E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ELIYA EXPERIENCE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21792" y="1828800"/>
            <a:ext cx="65379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conversation.</a:t>
            </a:r>
            <a:endParaRPr lang="en-US" sz="4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insight to</a:t>
            </a:r>
            <a:endParaRPr lang="en-US" sz="4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implementation.</a:t>
            </a:r>
            <a:endParaRPr lang="en-US" sz="4200" dirty="0"/>
          </a:p>
        </p:txBody>
      </p:sp>
      <p:sp>
        <p:nvSpPr>
          <p:cNvPr id="110" name="Shape 108"/>
          <p:cNvSpPr/>
          <p:nvPr/>
        </p:nvSpPr>
        <p:spPr>
          <a:xfrm>
            <a:off x="640080" y="4471416"/>
            <a:ext cx="914400" cy="68580"/>
          </a:xfrm>
          <a:prstGeom prst="rect">
            <a:avLst/>
          </a:prstGeom>
          <a:solidFill>
            <a:srgbClr val="B4EA74"/>
          </a:solidFill>
          <a:ln w="12700">
            <a:solidFill>
              <a:srgbClr val="B4EA74">
                <a:alpha val="0"/>
              </a:srgbClr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40080" y="4745736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40" dirty="0">
                <a:solidFill>
                  <a:srgbClr val="D7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your workspace. Identify the right action.</a:t>
            </a:r>
            <a:endParaRPr lang="en-US" sz="164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40" dirty="0">
                <a:solidFill>
                  <a:srgbClr val="D7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with control and evidence.</a:t>
            </a:r>
            <a:endParaRPr lang="en-US" sz="1640" dirty="0"/>
          </a:p>
        </p:txBody>
      </p:sp>
      <p:sp>
        <p:nvSpPr>
          <p:cNvPr id="112" name="Shape 110"/>
          <p:cNvSpPr/>
          <p:nvPr/>
        </p:nvSpPr>
        <p:spPr>
          <a:xfrm>
            <a:off x="7424928" y="1746504"/>
            <a:ext cx="2962656" cy="2962656"/>
          </a:xfrm>
          <a:prstGeom prst="ellipse">
            <a:avLst/>
          </a:prstGeom>
          <a:solidFill>
            <a:srgbClr val="144F3C"/>
          </a:solidFill>
          <a:ln w="22860">
            <a:solidFill>
              <a:srgbClr val="3D997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772400" y="2093976"/>
            <a:ext cx="2267712" cy="2267712"/>
          </a:xfrm>
          <a:prstGeom prst="ellipse">
            <a:avLst/>
          </a:prstGeom>
          <a:solidFill>
            <a:srgbClr val="0B6648"/>
          </a:solidFill>
          <a:ln w="12700">
            <a:solidFill>
              <a:srgbClr val="64B98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321040" y="2642616"/>
            <a:ext cx="1170432" cy="1170432"/>
          </a:xfrm>
          <a:prstGeom prst="ellipse">
            <a:avLst/>
          </a:prstGeom>
          <a:solidFill>
            <a:srgbClr val="B4EA74"/>
          </a:solidFill>
          <a:ln w="12700">
            <a:solidFill>
              <a:srgbClr val="B4EA74">
                <a:alpha val="0"/>
              </a:srgbClr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321040" y="2880360"/>
            <a:ext cx="11704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092F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5000" dirty="0"/>
          </a:p>
        </p:txBody>
      </p:sp>
      <p:sp>
        <p:nvSpPr>
          <p:cNvPr id="116" name="Shape 114"/>
          <p:cNvSpPr/>
          <p:nvPr/>
        </p:nvSpPr>
        <p:spPr>
          <a:xfrm>
            <a:off x="7589520" y="1408176"/>
            <a:ext cx="1298448" cy="640080"/>
          </a:xfrm>
          <a:prstGeom prst="roundRect">
            <a:avLst>
              <a:gd name="adj" fmla="val 17143"/>
            </a:avLst>
          </a:prstGeom>
          <a:solidFill>
            <a:srgbClr val="1B6349"/>
          </a:solidFill>
          <a:ln w="12700">
            <a:solidFill>
              <a:srgbClr val="3A8263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699248" y="1499616"/>
            <a:ext cx="3566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B4E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118" name="Text 116"/>
          <p:cNvSpPr/>
          <p:nvPr/>
        </p:nvSpPr>
        <p:spPr>
          <a:xfrm>
            <a:off x="7699248" y="1719072"/>
            <a:ext cx="1060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9747504" y="1847088"/>
            <a:ext cx="1298448" cy="640080"/>
          </a:xfrm>
          <a:prstGeom prst="roundRect">
            <a:avLst>
              <a:gd name="adj" fmla="val 17143"/>
            </a:avLst>
          </a:prstGeom>
          <a:solidFill>
            <a:srgbClr val="1B6349"/>
          </a:solidFill>
          <a:ln w="12700">
            <a:solidFill>
              <a:srgbClr val="3A8263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857232" y="1938528"/>
            <a:ext cx="3566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B4E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121" name="Text 119"/>
          <p:cNvSpPr/>
          <p:nvPr/>
        </p:nvSpPr>
        <p:spPr>
          <a:xfrm>
            <a:off x="9857232" y="2157984"/>
            <a:ext cx="1060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9902952" y="4800600"/>
            <a:ext cx="1298448" cy="640080"/>
          </a:xfrm>
          <a:prstGeom prst="roundRect">
            <a:avLst>
              <a:gd name="adj" fmla="val 17143"/>
            </a:avLst>
          </a:prstGeom>
          <a:solidFill>
            <a:srgbClr val="1B6349"/>
          </a:solidFill>
          <a:ln w="12700">
            <a:solidFill>
              <a:srgbClr val="3A8263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0012680" y="4892040"/>
            <a:ext cx="3566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B4E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124" name="Text 122"/>
          <p:cNvSpPr/>
          <p:nvPr/>
        </p:nvSpPr>
        <p:spPr>
          <a:xfrm>
            <a:off x="10012680" y="5111496"/>
            <a:ext cx="1060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7132320" y="4736592"/>
            <a:ext cx="1298448" cy="640080"/>
          </a:xfrm>
          <a:prstGeom prst="roundRect">
            <a:avLst>
              <a:gd name="adj" fmla="val 17143"/>
            </a:avLst>
          </a:prstGeom>
          <a:solidFill>
            <a:srgbClr val="1B6349"/>
          </a:solidFill>
          <a:ln w="12700">
            <a:solidFill>
              <a:srgbClr val="3A8263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242048" y="4828032"/>
            <a:ext cx="3566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B4E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127" name="Text 125"/>
          <p:cNvSpPr/>
          <p:nvPr/>
        </p:nvSpPr>
        <p:spPr>
          <a:xfrm>
            <a:off x="7242048" y="5047488"/>
            <a:ext cx="1060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630936" y="6272784"/>
            <a:ext cx="10927080" cy="0"/>
          </a:xfrm>
          <a:prstGeom prst="line">
            <a:avLst/>
          </a:prstGeom>
          <a:noFill/>
          <a:ln w="10160">
            <a:solidFill>
              <a:srgbClr val="35614D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58368" y="64465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60" b="1" spc="90" kern="0" dirty="0">
                <a:solidFill>
                  <a:srgbClr val="AF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INTELLIGENCE   •   CONTEXT-AWARE ROUTING   •   CONTROLLED EXECUTION</a:t>
            </a:r>
            <a:endParaRPr lang="en-US" sz="860" dirty="0"/>
          </a:p>
        </p:txBody>
      </p:sp>
      <p:sp>
        <p:nvSpPr>
          <p:cNvPr id="130" name="Text 128"/>
          <p:cNvSpPr/>
          <p:nvPr/>
        </p:nvSpPr>
        <p:spPr>
          <a:xfrm>
            <a:off x="10853928" y="643737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B4E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10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 w="12700">
            <a:solidFill>
              <a:srgbClr val="F8FB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320040" cy="329184"/>
          </a:xfrm>
          <a:prstGeom prst="roundRect">
            <a:avLst>
              <a:gd name="adj" fmla="val 28571"/>
            </a:avLst>
          </a:prstGeom>
          <a:solidFill>
            <a:srgbClr val="07885D"/>
          </a:solidFill>
          <a:ln w="12700">
            <a:solidFill>
              <a:srgbClr val="07885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3738" y="475488"/>
            <a:ext cx="173736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3738" y="554126"/>
            <a:ext cx="137160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3738" y="630936"/>
            <a:ext cx="173736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40233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spc="250" kern="0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ELIYA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12096" y="411480"/>
            <a:ext cx="1691640" cy="301752"/>
          </a:xfrm>
          <a:prstGeom prst="roundRect">
            <a:avLst>
              <a:gd name="adj" fmla="val 51515"/>
            </a:avLst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12680" y="43434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603504" y="960120"/>
            <a:ext cx="110093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workspace. Three useful outcomes.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" y="16276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4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conversation can investigate, create a downloadable artifact, or make an authorized change.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621792" y="2093976"/>
            <a:ext cx="10945368" cy="0"/>
          </a:xfrm>
          <a:prstGeom prst="line">
            <a:avLst/>
          </a:prstGeom>
          <a:noFill/>
          <a:ln w="13335">
            <a:solidFill>
              <a:srgbClr val="DCE9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423160"/>
            <a:ext cx="1965960" cy="384048"/>
          </a:xfrm>
          <a:prstGeom prst="roundRect">
            <a:avLst>
              <a:gd name="adj" fmla="val 40476"/>
            </a:avLst>
          </a:prstGeom>
          <a:solidFill>
            <a:srgbClr val="07563F"/>
          </a:solidFill>
          <a:ln w="12700">
            <a:solidFill>
              <a:srgbClr val="07563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446020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USER REQUEST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2706624" y="2615184"/>
            <a:ext cx="969264" cy="0"/>
          </a:xfrm>
          <a:prstGeom prst="line">
            <a:avLst/>
          </a:prstGeom>
          <a:noFill/>
          <a:ln w="25400">
            <a:solidFill>
              <a:srgbClr val="07885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39896" y="2313432"/>
            <a:ext cx="2377440" cy="621792"/>
          </a:xfrm>
          <a:prstGeom prst="roundRect">
            <a:avLst>
              <a:gd name="adj" fmla="val 25000"/>
            </a:avLst>
          </a:prstGeom>
          <a:solidFill>
            <a:srgbClr val="E3F6EB"/>
          </a:solidFill>
          <a:ln w="12700">
            <a:solidFill>
              <a:srgbClr val="BEDD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86784" y="2468880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ROUTER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17336" y="2624328"/>
            <a:ext cx="676656" cy="0"/>
          </a:xfrm>
          <a:prstGeom prst="line">
            <a:avLst/>
          </a:prstGeom>
          <a:noFill/>
          <a:ln w="25400">
            <a:solidFill>
              <a:srgbClr val="07885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93992" y="2624328"/>
            <a:ext cx="0" cy="2551176"/>
          </a:xfrm>
          <a:prstGeom prst="line">
            <a:avLst/>
          </a:prstGeom>
          <a:noFill/>
          <a:ln w="25400">
            <a:solidFill>
              <a:srgbClr val="07885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3992" y="2624328"/>
            <a:ext cx="521208" cy="0"/>
          </a:xfrm>
          <a:prstGeom prst="line">
            <a:avLst/>
          </a:prstGeom>
          <a:noFill/>
          <a:ln w="25400">
            <a:solidFill>
              <a:srgbClr val="07885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2231136"/>
            <a:ext cx="4133088" cy="950976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CE9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16368" y="2468880"/>
            <a:ext cx="457200" cy="457200"/>
          </a:xfrm>
          <a:prstGeom prst="ellipse">
            <a:avLst/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16368" y="2542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19872" y="237744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spc="60" kern="0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19872" y="267004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flows, compare requirements, investigate gaps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93992" y="3794760"/>
            <a:ext cx="521208" cy="0"/>
          </a:xfrm>
          <a:prstGeom prst="line">
            <a:avLst/>
          </a:prstGeom>
          <a:noFill/>
          <a:ln w="25400">
            <a:solidFill>
              <a:srgbClr val="07885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3401568"/>
            <a:ext cx="4133088" cy="950976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CE9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16368" y="3639312"/>
            <a:ext cx="457200" cy="457200"/>
          </a:xfrm>
          <a:prstGeom prst="ellipse">
            <a:avLst/>
          </a:prstGeom>
          <a:solidFill>
            <a:srgbClr val="DCF3E6"/>
          </a:solidFill>
          <a:ln w="12700">
            <a:solidFill>
              <a:srgbClr val="DCF3E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16368" y="37124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119872" y="354787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spc="60" kern="0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19872" y="384048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Implement, refactor, migrate and verify changes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93992" y="4965192"/>
            <a:ext cx="521208" cy="0"/>
          </a:xfrm>
          <a:prstGeom prst="line">
            <a:avLst/>
          </a:prstGeom>
          <a:noFill/>
          <a:ln w="25400">
            <a:solidFill>
              <a:srgbClr val="07885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0" y="4572000"/>
            <a:ext cx="4133088" cy="950976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CE9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16368" y="4809744"/>
            <a:ext cx="457200" cy="457200"/>
          </a:xfrm>
          <a:prstGeom prst="ellipse">
            <a:avLst/>
          </a:prstGeom>
          <a:solidFill>
            <a:srgbClr val="E9F5EF"/>
          </a:solidFill>
          <a:ln w="12700">
            <a:solidFill>
              <a:srgbClr val="E9F5E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16368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97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119872" y="471830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spc="60" kern="0" dirty="0">
                <a:solidFill>
                  <a:srgbClr val="397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19872" y="501091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source documents to test cases and files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5800" y="3657600"/>
            <a:ext cx="5303520" cy="2057400"/>
          </a:xfrm>
          <a:prstGeom prst="roundRect">
            <a:avLst>
              <a:gd name="adj" fmla="val 6222"/>
            </a:avLst>
          </a:prstGeom>
          <a:solidFill>
            <a:srgbClr val="EDF8F1"/>
          </a:solidFill>
          <a:ln w="11430">
            <a:solidFill>
              <a:srgbClr val="D2E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0976" y="3922776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b="1" spc="110" kern="0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EXPERIENCE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941832" y="4297680"/>
            <a:ext cx="468172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history. One context.</a:t>
            </a:r>
            <a:endParaRPr lang="en-US" sz="2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capabilities when needed.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50976" y="5385816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does not need to copy an analysis into a separate agent chat.</a:t>
            </a:r>
            <a:endParaRPr lang="en-US" sz="1060" dirty="0"/>
          </a:p>
        </p:txBody>
      </p:sp>
      <p:sp>
        <p:nvSpPr>
          <p:cNvPr id="42" name="Shape 40"/>
          <p:cNvSpPr/>
          <p:nvPr/>
        </p:nvSpPr>
        <p:spPr>
          <a:xfrm>
            <a:off x="612648" y="6483096"/>
            <a:ext cx="10945368" cy="0"/>
          </a:xfrm>
          <a:prstGeom prst="line">
            <a:avLst/>
          </a:prstGeom>
          <a:noFill/>
          <a:ln w="9525">
            <a:solidFill>
              <a:srgbClr val="DCE9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6565392"/>
            <a:ext cx="5394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90" b="1" spc="100" kern="0" dirty="0">
                <a:solidFill>
                  <a:srgbClr val="728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ELIYA  /  WORKSPACE INTELLIGENCE</a:t>
            </a:r>
            <a:endParaRPr lang="en-US" sz="790" dirty="0"/>
          </a:p>
        </p:txBody>
      </p:sp>
      <p:sp>
        <p:nvSpPr>
          <p:cNvPr id="44" name="Text 42"/>
          <p:cNvSpPr/>
          <p:nvPr/>
        </p:nvSpPr>
        <p:spPr>
          <a:xfrm>
            <a:off x="10771632" y="6537960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 w="12700">
            <a:solidFill>
              <a:srgbClr val="F8FB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320040" cy="329184"/>
          </a:xfrm>
          <a:prstGeom prst="roundRect">
            <a:avLst>
              <a:gd name="adj" fmla="val 28571"/>
            </a:avLst>
          </a:prstGeom>
          <a:solidFill>
            <a:srgbClr val="07885D"/>
          </a:solidFill>
          <a:ln w="12700">
            <a:solidFill>
              <a:srgbClr val="07885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3738" y="475488"/>
            <a:ext cx="173736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3738" y="554126"/>
            <a:ext cx="137160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3738" y="630936"/>
            <a:ext cx="173736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40233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spc="250" kern="0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ELIYA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12096" y="411480"/>
            <a:ext cx="1691640" cy="301752"/>
          </a:xfrm>
          <a:prstGeom prst="roundRect">
            <a:avLst>
              <a:gd name="adj" fmla="val 51515"/>
            </a:avLst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12680" y="43434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VIEW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603504" y="960120"/>
            <a:ext cx="110093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layered architecture behind a simple interface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" y="16276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4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Conversation, retrieval, connected systems and execution remain distinct responsibilities.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621792" y="2093976"/>
            <a:ext cx="10945368" cy="0"/>
          </a:xfrm>
          <a:prstGeom prst="line">
            <a:avLst/>
          </a:prstGeom>
          <a:noFill/>
          <a:ln w="13335">
            <a:solidFill>
              <a:srgbClr val="DCE9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377440"/>
            <a:ext cx="10844784" cy="694944"/>
          </a:xfrm>
          <a:prstGeom prst="roundRect">
            <a:avLst>
              <a:gd name="adj" fmla="val 19737"/>
            </a:avLst>
          </a:prstGeom>
          <a:solidFill>
            <a:srgbClr val="0B4434"/>
          </a:solidFill>
          <a:ln w="12700">
            <a:solidFill>
              <a:srgbClr val="0B443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542032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CONVERSATION &amp; TERMINAL</a:t>
            </a:r>
            <a:endParaRPr lang="en-US" sz="1640" dirty="0"/>
          </a:p>
        </p:txBody>
      </p:sp>
      <p:sp>
        <p:nvSpPr>
          <p:cNvPr id="15" name="Shape 13"/>
          <p:cNvSpPr/>
          <p:nvPr/>
        </p:nvSpPr>
        <p:spPr>
          <a:xfrm>
            <a:off x="7406640" y="2551176"/>
            <a:ext cx="3749040" cy="320040"/>
          </a:xfrm>
          <a:prstGeom prst="roundRect">
            <a:avLst>
              <a:gd name="adj" fmla="val 48571"/>
            </a:avLst>
          </a:prstGeom>
          <a:solidFill>
            <a:srgbClr val="1E634B"/>
          </a:solidFill>
          <a:ln w="12700">
            <a:solidFill>
              <a:srgbClr val="1E634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07224" y="257403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D7F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 •  attachments  •  workspace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6656" y="3273552"/>
            <a:ext cx="10844784" cy="630936"/>
          </a:xfrm>
          <a:prstGeom prst="roundRect">
            <a:avLst>
              <a:gd name="adj" fmla="val 20290"/>
            </a:avLst>
          </a:prstGeom>
          <a:solidFill>
            <a:srgbClr val="E3F6EB"/>
          </a:solidFill>
          <a:ln w="10160">
            <a:solidFill>
              <a:srgbClr val="C3E4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4564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2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&amp; ORCHESTRATION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4672584" y="3438144"/>
            <a:ext cx="1655064" cy="283464"/>
          </a:xfrm>
          <a:prstGeom prst="roundRect">
            <a:avLst>
              <a:gd name="adj" fmla="val 548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3461004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+ context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483096" y="3438144"/>
            <a:ext cx="1472184" cy="283464"/>
          </a:xfrm>
          <a:prstGeom prst="roundRect">
            <a:avLst>
              <a:gd name="adj" fmla="val 548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461004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8129016" y="3438144"/>
            <a:ext cx="1828800" cy="283464"/>
          </a:xfrm>
          <a:prstGeom prst="roundRect">
            <a:avLst>
              <a:gd name="adj" fmla="val 548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3461004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2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&amp; state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76656" y="4133088"/>
            <a:ext cx="3374136" cy="1755648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1430">
            <a:solidFill>
              <a:srgbClr val="DCE9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" y="4352544"/>
            <a:ext cx="53035" cy="429768"/>
          </a:xfrm>
          <a:prstGeom prst="rect">
            <a:avLst/>
          </a:prstGeom>
          <a:solidFill>
            <a:srgbClr val="07885D"/>
          </a:solidFill>
          <a:ln w="12700">
            <a:solidFill>
              <a:srgbClr val="07885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4984" y="4306824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INTELLIGENCE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1014984" y="4636008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indexed evidence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1014984" y="5038344"/>
            <a:ext cx="45720" cy="45720"/>
          </a:xfrm>
          <a:prstGeom prst="ellipse">
            <a:avLst/>
          </a:prstGeom>
          <a:solidFill>
            <a:srgbClr val="37BE79"/>
          </a:solidFill>
          <a:ln w="12700">
            <a:solidFill>
              <a:srgbClr val="37BE7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52144" y="4974336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+ documentation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1014984" y="5266944"/>
            <a:ext cx="45720" cy="45720"/>
          </a:xfrm>
          <a:prstGeom prst="ellipse">
            <a:avLst/>
          </a:prstGeom>
          <a:solidFill>
            <a:srgbClr val="37BE79"/>
          </a:solidFill>
          <a:ln w="12700">
            <a:solidFill>
              <a:srgbClr val="37BE79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52144" y="5202936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Symbols, dependencies, flow hints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1014984" y="5495544"/>
            <a:ext cx="45720" cy="45720"/>
          </a:xfrm>
          <a:prstGeom prst="ellipse">
            <a:avLst/>
          </a:prstGeom>
          <a:solidFill>
            <a:srgbClr val="37BE79"/>
          </a:solidFill>
          <a:ln w="12700">
            <a:solidFill>
              <a:srgbClr val="37BE7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52144" y="5431536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Lexical + optional semantic search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4407408" y="4133088"/>
            <a:ext cx="3374136" cy="1755648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1430">
            <a:solidFill>
              <a:srgbClr val="DCE9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90288" y="4352544"/>
            <a:ext cx="53035" cy="429768"/>
          </a:xfrm>
          <a:prstGeom prst="rect">
            <a:avLst/>
          </a:prstGeom>
          <a:solidFill>
            <a:srgbClr val="37BE79"/>
          </a:solidFill>
          <a:ln w="12700">
            <a:solidFill>
              <a:srgbClr val="37BE79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45736" y="4306824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KNOWLEDGE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4745736" y="4636008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Request-gated integrations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4745736" y="5038344"/>
            <a:ext cx="45720" cy="45720"/>
          </a:xfrm>
          <a:prstGeom prst="ellipse">
            <a:avLst/>
          </a:prstGeom>
          <a:solidFill>
            <a:srgbClr val="37BE79"/>
          </a:solidFill>
          <a:ln w="12700">
            <a:solidFill>
              <a:srgbClr val="37BE79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82896" y="4974336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/ Confluence through MCP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4745736" y="5266944"/>
            <a:ext cx="45720" cy="45720"/>
          </a:xfrm>
          <a:prstGeom prst="ellipse">
            <a:avLst/>
          </a:prstGeom>
          <a:solidFill>
            <a:srgbClr val="37BE79"/>
          </a:solidFill>
          <a:ln w="12700">
            <a:solidFill>
              <a:srgbClr val="37BE79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82896" y="5202936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Uploaded docs and diagrams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4745736" y="5495544"/>
            <a:ext cx="45720" cy="45720"/>
          </a:xfrm>
          <a:prstGeom prst="ellipse">
            <a:avLst/>
          </a:prstGeom>
          <a:solidFill>
            <a:srgbClr val="37BE79"/>
          </a:solidFill>
          <a:ln w="12700">
            <a:solidFill>
              <a:srgbClr val="37BE79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82896" y="5431536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reference projects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8138160" y="4133088"/>
            <a:ext cx="3374136" cy="1755648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1430">
            <a:solidFill>
              <a:srgbClr val="DCE9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21040" y="4352544"/>
            <a:ext cx="53035" cy="429768"/>
          </a:xfrm>
          <a:prstGeom prst="rect">
            <a:avLst/>
          </a:prstGeom>
          <a:solidFill>
            <a:srgbClr val="07563F"/>
          </a:solidFill>
          <a:ln w="12700">
            <a:solidFill>
              <a:srgbClr val="07563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76488" y="4306824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2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&amp; OUTPUT</a:t>
            </a:r>
            <a:endParaRPr lang="en-US" sz="1120" dirty="0"/>
          </a:p>
        </p:txBody>
      </p:sp>
      <p:sp>
        <p:nvSpPr>
          <p:cNvPr id="48" name="Text 46"/>
          <p:cNvSpPr/>
          <p:nvPr/>
        </p:nvSpPr>
        <p:spPr>
          <a:xfrm>
            <a:off x="8476488" y="4636008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delivery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8476488" y="5038344"/>
            <a:ext cx="45720" cy="45720"/>
          </a:xfrm>
          <a:prstGeom prst="ellipse">
            <a:avLst/>
          </a:prstGeom>
          <a:solidFill>
            <a:srgbClr val="37BE79"/>
          </a:solidFill>
          <a:ln w="12700">
            <a:solidFill>
              <a:srgbClr val="37BE79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13648" y="4974336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Analyse: grounded responses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8476488" y="5266944"/>
            <a:ext cx="45720" cy="45720"/>
          </a:xfrm>
          <a:prstGeom prst="ellipse">
            <a:avLst/>
          </a:prstGeom>
          <a:solidFill>
            <a:srgbClr val="37BE79"/>
          </a:solidFill>
          <a:ln w="12700">
            <a:solidFill>
              <a:srgbClr val="37BE79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13648" y="5202936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Execute: plan, tools, verification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8476488" y="5495544"/>
            <a:ext cx="45720" cy="45720"/>
          </a:xfrm>
          <a:prstGeom prst="ellipse">
            <a:avLst/>
          </a:prstGeom>
          <a:solidFill>
            <a:srgbClr val="37BE79"/>
          </a:solidFill>
          <a:ln w="12700">
            <a:solidFill>
              <a:srgbClr val="37BE79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13648" y="5431536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Artifacts: Excel test cases</a:t>
            </a:r>
            <a:endParaRPr lang="en-US" sz="960" dirty="0"/>
          </a:p>
        </p:txBody>
      </p:sp>
      <p:sp>
        <p:nvSpPr>
          <p:cNvPr id="55" name="Text 53"/>
          <p:cNvSpPr/>
          <p:nvPr/>
        </p:nvSpPr>
        <p:spPr>
          <a:xfrm>
            <a:off x="722376" y="6163056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28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  •  Spring Boot  •  Browser UI  •  configurable model providers  •  optional OpenCode 2 execution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12648" y="6483096"/>
            <a:ext cx="10945368" cy="0"/>
          </a:xfrm>
          <a:prstGeom prst="line">
            <a:avLst/>
          </a:prstGeom>
          <a:noFill/>
          <a:ln w="9525">
            <a:solidFill>
              <a:srgbClr val="DCE9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6565392"/>
            <a:ext cx="5394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90" b="1" spc="100" kern="0" dirty="0">
                <a:solidFill>
                  <a:srgbClr val="728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ELIYA  /  WORKSPACE INTELLIGENCE</a:t>
            </a:r>
            <a:endParaRPr lang="en-US" sz="790" dirty="0"/>
          </a:p>
        </p:txBody>
      </p:sp>
      <p:sp>
        <p:nvSpPr>
          <p:cNvPr id="58" name="Text 56"/>
          <p:cNvSpPr/>
          <p:nvPr/>
        </p:nvSpPr>
        <p:spPr>
          <a:xfrm>
            <a:off x="10771632" y="6537960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 w="12700">
            <a:solidFill>
              <a:srgbClr val="F8FB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320040" cy="329184"/>
          </a:xfrm>
          <a:prstGeom prst="roundRect">
            <a:avLst>
              <a:gd name="adj" fmla="val 28571"/>
            </a:avLst>
          </a:prstGeom>
          <a:solidFill>
            <a:srgbClr val="07885D"/>
          </a:solidFill>
          <a:ln w="12700">
            <a:solidFill>
              <a:srgbClr val="07885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3738" y="475488"/>
            <a:ext cx="173736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3738" y="554126"/>
            <a:ext cx="137160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3738" y="630936"/>
            <a:ext cx="173736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40233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spc="250" kern="0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ELIYA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12096" y="411480"/>
            <a:ext cx="1691640" cy="301752"/>
          </a:xfrm>
          <a:prstGeom prst="roundRect">
            <a:avLst>
              <a:gd name="adj" fmla="val 51515"/>
            </a:avLst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12680" y="43434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INTELLIGENCE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603504" y="960120"/>
            <a:ext cx="110093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indexing works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" y="16276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4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ELIYA creates a local, refreshable map of code and documents—not a copy of the entire repo in every prompt.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621792" y="2093976"/>
            <a:ext cx="10945368" cy="0"/>
          </a:xfrm>
          <a:prstGeom prst="line">
            <a:avLst/>
          </a:prstGeom>
          <a:noFill/>
          <a:ln w="13335">
            <a:solidFill>
              <a:srgbClr val="DCE9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" y="2505456"/>
            <a:ext cx="2084832" cy="1947672"/>
          </a:xfrm>
          <a:prstGeom prst="roundRect">
            <a:avLst>
              <a:gd name="adj" fmla="val 7981"/>
            </a:avLst>
          </a:prstGeom>
          <a:solidFill>
            <a:srgbClr val="FFFFFF"/>
          </a:solidFill>
          <a:ln w="12700">
            <a:solidFill>
              <a:srgbClr val="DCE9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" y="2688336"/>
            <a:ext cx="493776" cy="320040"/>
          </a:xfrm>
          <a:prstGeom prst="roundRect">
            <a:avLst>
              <a:gd name="adj" fmla="val 48571"/>
            </a:avLst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71119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" y="31638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1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410" dirty="0"/>
          </a:p>
        </p:txBody>
      </p:sp>
      <p:sp>
        <p:nvSpPr>
          <p:cNvPr id="17" name="Text 15"/>
          <p:cNvSpPr/>
          <p:nvPr/>
        </p:nvSpPr>
        <p:spPr>
          <a:xfrm>
            <a:off x="832104" y="360273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the selected workspace; skip excluded/build folders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84348" y="3474720"/>
            <a:ext cx="150876" cy="0"/>
          </a:xfrm>
          <a:prstGeom prst="line">
            <a:avLst/>
          </a:prstGeom>
          <a:noFill/>
          <a:ln w="16510">
            <a:solidFill>
              <a:srgbClr val="07885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962656" y="2505456"/>
            <a:ext cx="2084832" cy="1947672"/>
          </a:xfrm>
          <a:prstGeom prst="roundRect">
            <a:avLst>
              <a:gd name="adj" fmla="val 7981"/>
            </a:avLst>
          </a:prstGeom>
          <a:solidFill>
            <a:srgbClr val="FFFFFF"/>
          </a:solidFill>
          <a:ln w="12700">
            <a:solidFill>
              <a:srgbClr val="DCE9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27248" y="2688336"/>
            <a:ext cx="493776" cy="320040"/>
          </a:xfrm>
          <a:prstGeom prst="roundRect">
            <a:avLst>
              <a:gd name="adj" fmla="val 48571"/>
            </a:avLst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271119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27248" y="31638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1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410" dirty="0"/>
          </a:p>
        </p:txBody>
      </p:sp>
      <p:sp>
        <p:nvSpPr>
          <p:cNvPr id="23" name="Text 21"/>
          <p:cNvSpPr/>
          <p:nvPr/>
        </p:nvSpPr>
        <p:spPr>
          <a:xfrm>
            <a:off x="3127248" y="360273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supported source files and bounded Office/PDF content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79492" y="3474720"/>
            <a:ext cx="150876" cy="0"/>
          </a:xfrm>
          <a:prstGeom prst="line">
            <a:avLst/>
          </a:prstGeom>
          <a:noFill/>
          <a:ln w="16510">
            <a:solidFill>
              <a:srgbClr val="07885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257800" y="2505456"/>
            <a:ext cx="2084832" cy="1947672"/>
          </a:xfrm>
          <a:prstGeom prst="roundRect">
            <a:avLst>
              <a:gd name="adj" fmla="val 7981"/>
            </a:avLst>
          </a:prstGeom>
          <a:solidFill>
            <a:srgbClr val="FFFFFF"/>
          </a:solidFill>
          <a:ln w="12700">
            <a:solidFill>
              <a:srgbClr val="DCE9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22392" y="2688336"/>
            <a:ext cx="493776" cy="320040"/>
          </a:xfrm>
          <a:prstGeom prst="roundRect">
            <a:avLst>
              <a:gd name="adj" fmla="val 48571"/>
            </a:avLst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22976" y="271119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22392" y="31638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1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</a:t>
            </a:r>
            <a:endParaRPr lang="en-US" sz="1410" dirty="0"/>
          </a:p>
        </p:txBody>
      </p:sp>
      <p:sp>
        <p:nvSpPr>
          <p:cNvPr id="29" name="Text 27"/>
          <p:cNvSpPr/>
          <p:nvPr/>
        </p:nvSpPr>
        <p:spPr>
          <a:xfrm>
            <a:off x="5422392" y="360273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paths, symbols, dependencies and flow hints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74636" y="3474720"/>
            <a:ext cx="150876" cy="0"/>
          </a:xfrm>
          <a:prstGeom prst="line">
            <a:avLst/>
          </a:prstGeom>
          <a:noFill/>
          <a:ln w="16510">
            <a:solidFill>
              <a:srgbClr val="07885D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552944" y="2505456"/>
            <a:ext cx="2084832" cy="1947672"/>
          </a:xfrm>
          <a:prstGeom prst="roundRect">
            <a:avLst>
              <a:gd name="adj" fmla="val 7981"/>
            </a:avLst>
          </a:prstGeom>
          <a:solidFill>
            <a:srgbClr val="0B4434"/>
          </a:solidFill>
          <a:ln w="12700">
            <a:solidFill>
              <a:srgbClr val="0B443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17536" y="2688336"/>
            <a:ext cx="493776" cy="320040"/>
          </a:xfrm>
          <a:prstGeom prst="roundRect">
            <a:avLst>
              <a:gd name="adj" fmla="val 48571"/>
            </a:avLst>
          </a:prstGeom>
          <a:solidFill>
            <a:srgbClr val="B4EA74"/>
          </a:solidFill>
          <a:ln w="12700">
            <a:solidFill>
              <a:srgbClr val="B4EA74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271119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17536" y="31638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410" dirty="0"/>
          </a:p>
        </p:txBody>
      </p:sp>
      <p:sp>
        <p:nvSpPr>
          <p:cNvPr id="35" name="Text 33"/>
          <p:cNvSpPr/>
          <p:nvPr/>
        </p:nvSpPr>
        <p:spPr>
          <a:xfrm>
            <a:off x="7717536" y="360273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5E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lexical search; optionally persist semantic vectors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669780" y="3474720"/>
            <a:ext cx="150876" cy="0"/>
          </a:xfrm>
          <a:prstGeom prst="line">
            <a:avLst/>
          </a:prstGeom>
          <a:noFill/>
          <a:ln w="16510">
            <a:solidFill>
              <a:srgbClr val="07885D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848088" y="2505456"/>
            <a:ext cx="2084832" cy="1947672"/>
          </a:xfrm>
          <a:prstGeom prst="roundRect">
            <a:avLst>
              <a:gd name="adj" fmla="val 7981"/>
            </a:avLst>
          </a:prstGeom>
          <a:solidFill>
            <a:srgbClr val="FFFFFF"/>
          </a:solidFill>
          <a:ln w="12700">
            <a:solidFill>
              <a:srgbClr val="DCE9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12680" y="2688336"/>
            <a:ext cx="493776" cy="320040"/>
          </a:xfrm>
          <a:prstGeom prst="roundRect">
            <a:avLst>
              <a:gd name="adj" fmla="val 48571"/>
            </a:avLst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13264" y="271119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012680" y="31638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1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</a:t>
            </a:r>
            <a:endParaRPr lang="en-US" sz="1410" dirty="0"/>
          </a:p>
        </p:txBody>
      </p:sp>
      <p:sp>
        <p:nvSpPr>
          <p:cNvPr id="41" name="Text 39"/>
          <p:cNvSpPr/>
          <p:nvPr/>
        </p:nvSpPr>
        <p:spPr>
          <a:xfrm>
            <a:off x="10012680" y="360273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cache and update when source files change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67512" y="4828032"/>
            <a:ext cx="10817352" cy="1143000"/>
          </a:xfrm>
          <a:prstGeom prst="roundRect">
            <a:avLst>
              <a:gd name="adj" fmla="val 10400"/>
            </a:avLst>
          </a:prstGeom>
          <a:solidFill>
            <a:srgbClr val="EDF8F1"/>
          </a:solidFill>
          <a:ln w="11430">
            <a:solidFill>
              <a:srgbClr val="D4EB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50566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b="1" spc="110" kern="0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LEARNS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914400" y="545896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7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• folders • code symbols • relations</a:t>
            </a:r>
            <a:endParaRPr lang="en-US" sz="1070" dirty="0"/>
          </a:p>
        </p:txBody>
      </p:sp>
      <p:sp>
        <p:nvSpPr>
          <p:cNvPr id="45" name="Shape 43"/>
          <p:cNvSpPr/>
          <p:nvPr/>
        </p:nvSpPr>
        <p:spPr>
          <a:xfrm>
            <a:off x="4297680" y="5074920"/>
            <a:ext cx="0" cy="667512"/>
          </a:xfrm>
          <a:prstGeom prst="line">
            <a:avLst/>
          </a:prstGeom>
          <a:noFill/>
          <a:ln w="12700">
            <a:solidFill>
              <a:srgbClr val="C5DF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80560" y="50566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b="1" spc="110" kern="0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AVOIDS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4480560" y="545896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7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• bulky generated assets • needless rescans</a:t>
            </a:r>
            <a:endParaRPr lang="en-US" sz="1070" dirty="0"/>
          </a:p>
        </p:txBody>
      </p:sp>
      <p:sp>
        <p:nvSpPr>
          <p:cNvPr id="48" name="Shape 46"/>
          <p:cNvSpPr/>
          <p:nvPr/>
        </p:nvSpPr>
        <p:spPr>
          <a:xfrm>
            <a:off x="7863840" y="5074920"/>
            <a:ext cx="0" cy="667512"/>
          </a:xfrm>
          <a:prstGeom prst="line">
            <a:avLst/>
          </a:prstGeom>
          <a:noFill/>
          <a:ln w="12700">
            <a:solidFill>
              <a:srgbClr val="C5DF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46720" y="50566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b="1" spc="110" kern="0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USERS SEE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8046720" y="545896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7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coverage • bounded source evidence • freshness</a:t>
            </a:r>
            <a:endParaRPr lang="en-US" sz="1070" dirty="0"/>
          </a:p>
        </p:txBody>
      </p:sp>
      <p:sp>
        <p:nvSpPr>
          <p:cNvPr id="51" name="Shape 49"/>
          <p:cNvSpPr/>
          <p:nvPr/>
        </p:nvSpPr>
        <p:spPr>
          <a:xfrm>
            <a:off x="612648" y="6483096"/>
            <a:ext cx="10945368" cy="0"/>
          </a:xfrm>
          <a:prstGeom prst="line">
            <a:avLst/>
          </a:prstGeom>
          <a:noFill/>
          <a:ln w="9525">
            <a:solidFill>
              <a:srgbClr val="DCE9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6565392"/>
            <a:ext cx="5394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90" b="1" spc="100" kern="0" dirty="0">
                <a:solidFill>
                  <a:srgbClr val="728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ELIYA  /  WORKSPACE INTELLIGENCE</a:t>
            </a:r>
            <a:endParaRPr lang="en-US" sz="790" dirty="0"/>
          </a:p>
        </p:txBody>
      </p:sp>
      <p:sp>
        <p:nvSpPr>
          <p:cNvPr id="53" name="Text 51"/>
          <p:cNvSpPr/>
          <p:nvPr/>
        </p:nvSpPr>
        <p:spPr>
          <a:xfrm>
            <a:off x="10771632" y="6537960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 w="12700">
            <a:solidFill>
              <a:srgbClr val="F8FB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320040" cy="329184"/>
          </a:xfrm>
          <a:prstGeom prst="roundRect">
            <a:avLst>
              <a:gd name="adj" fmla="val 28571"/>
            </a:avLst>
          </a:prstGeom>
          <a:solidFill>
            <a:srgbClr val="07885D"/>
          </a:solidFill>
          <a:ln w="12700">
            <a:solidFill>
              <a:srgbClr val="07885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3738" y="475488"/>
            <a:ext cx="173736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3738" y="554126"/>
            <a:ext cx="137160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3738" y="630936"/>
            <a:ext cx="173736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40233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spc="250" kern="0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ELIYA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12096" y="411480"/>
            <a:ext cx="1691640" cy="301752"/>
          </a:xfrm>
          <a:prstGeom prst="roundRect">
            <a:avLst>
              <a:gd name="adj" fmla="val 51515"/>
            </a:avLst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12680" y="43434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INTELLIGENCE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603504" y="960120"/>
            <a:ext cx="110093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ELIYA finds the right evidence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" y="16276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4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bounded hybrid search narrows a large workspace to useful source passages before the model answers.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621792" y="2093976"/>
            <a:ext cx="10945368" cy="0"/>
          </a:xfrm>
          <a:prstGeom prst="line">
            <a:avLst/>
          </a:prstGeom>
          <a:noFill/>
          <a:ln w="13335">
            <a:solidFill>
              <a:srgbClr val="DCE9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459736"/>
            <a:ext cx="2871216" cy="804672"/>
          </a:xfrm>
          <a:prstGeom prst="roundRect">
            <a:avLst>
              <a:gd name="adj" fmla="val 17045"/>
            </a:avLst>
          </a:prstGeom>
          <a:solidFill>
            <a:srgbClr val="0B4434"/>
          </a:solidFill>
          <a:ln w="12700">
            <a:solidFill>
              <a:srgbClr val="0B443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" y="2596896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b="1" spc="110" kern="0" dirty="0">
                <a:solidFill>
                  <a:srgbClr val="B4E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QUESTION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923544" y="2834640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“Where is JWT validated?”</a:t>
            </a:r>
            <a:endParaRPr lang="en-US" sz="1540" dirty="0"/>
          </a:p>
        </p:txBody>
      </p:sp>
      <p:sp>
        <p:nvSpPr>
          <p:cNvPr id="16" name="Shape 14"/>
          <p:cNvSpPr/>
          <p:nvPr/>
        </p:nvSpPr>
        <p:spPr>
          <a:xfrm>
            <a:off x="3584448" y="2862072"/>
            <a:ext cx="484632" cy="0"/>
          </a:xfrm>
          <a:prstGeom prst="line">
            <a:avLst/>
          </a:prstGeom>
          <a:noFill/>
          <a:ln w="21590">
            <a:solidFill>
              <a:srgbClr val="07885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087368" y="2414016"/>
            <a:ext cx="3255264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CE9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52544" y="265176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b="1" spc="110" kern="0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PIPELINE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370832" y="3099816"/>
            <a:ext cx="310896" cy="310896"/>
          </a:xfrm>
          <a:prstGeom prst="ellipse">
            <a:avLst/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70832" y="316382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3063240"/>
            <a:ext cx="2167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LEXICAL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328416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+ BM25-style ranking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4370832" y="3785616"/>
            <a:ext cx="310896" cy="310896"/>
          </a:xfrm>
          <a:prstGeom prst="ellipse">
            <a:avLst/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0832" y="384962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3749040"/>
            <a:ext cx="2167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4014216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+ references + graph hints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4370832" y="4471416"/>
            <a:ext cx="310896" cy="310896"/>
          </a:xfrm>
          <a:prstGeom prst="ellipse">
            <a:avLst/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0832" y="453542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0600" y="4434840"/>
            <a:ext cx="2167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4700016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bounded reranking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4370832" y="5166360"/>
            <a:ext cx="2642616" cy="338328"/>
          </a:xfrm>
          <a:prstGeom prst="roundRect">
            <a:avLst>
              <a:gd name="adj" fmla="val 27027"/>
            </a:avLst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9704" y="5239512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 •  DIVERSIFY  •  BUDGET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7360920" y="3675888"/>
            <a:ext cx="457200" cy="0"/>
          </a:xfrm>
          <a:prstGeom prst="line">
            <a:avLst/>
          </a:prstGeom>
          <a:noFill/>
          <a:ln w="21590">
            <a:solidFill>
              <a:srgbClr val="07885D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836408" y="2414016"/>
            <a:ext cx="3621024" cy="3529584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12700">
            <a:solidFill>
              <a:srgbClr val="DCE9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10728" y="2651760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b="1" spc="110" kern="0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BEFORE ANSWER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8101584" y="3017520"/>
            <a:ext cx="3108960" cy="621792"/>
          </a:xfrm>
          <a:prstGeom prst="roundRect">
            <a:avLst>
              <a:gd name="adj" fmla="val 14706"/>
            </a:avLst>
          </a:prstGeom>
          <a:solidFill>
            <a:srgbClr val="EDF8F1"/>
          </a:solidFill>
          <a:ln w="12700">
            <a:solidFill>
              <a:srgbClr val="EDF8F1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57032" y="3145536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8659368" y="3118104"/>
            <a:ext cx="2423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src/security/JwtFilter.java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8659368" y="3355848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1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validation branch</a:t>
            </a:r>
            <a:endParaRPr lang="en-US" sz="910" dirty="0"/>
          </a:p>
        </p:txBody>
      </p:sp>
      <p:sp>
        <p:nvSpPr>
          <p:cNvPr id="40" name="Shape 38"/>
          <p:cNvSpPr/>
          <p:nvPr/>
        </p:nvSpPr>
        <p:spPr>
          <a:xfrm>
            <a:off x="8101584" y="3803904"/>
            <a:ext cx="3108960" cy="621792"/>
          </a:xfrm>
          <a:prstGeom prst="roundRect">
            <a:avLst>
              <a:gd name="adj" fmla="val 14706"/>
            </a:avLst>
          </a:prstGeom>
          <a:solidFill>
            <a:srgbClr val="F3FAF6"/>
          </a:solidFill>
          <a:ln w="12700">
            <a:solidFill>
              <a:srgbClr val="F3FAF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57032" y="3931920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8659368" y="3904488"/>
            <a:ext cx="2423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src/api/AuthController.java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8659368" y="4142232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1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entry point</a:t>
            </a:r>
            <a:endParaRPr lang="en-US" sz="910" dirty="0"/>
          </a:p>
        </p:txBody>
      </p:sp>
      <p:sp>
        <p:nvSpPr>
          <p:cNvPr id="44" name="Shape 42"/>
          <p:cNvSpPr/>
          <p:nvPr/>
        </p:nvSpPr>
        <p:spPr>
          <a:xfrm>
            <a:off x="8101584" y="4590288"/>
            <a:ext cx="3108960" cy="621792"/>
          </a:xfrm>
          <a:prstGeom prst="roundRect">
            <a:avLst>
              <a:gd name="adj" fmla="val 14706"/>
            </a:avLst>
          </a:prstGeom>
          <a:solidFill>
            <a:srgbClr val="EDF8F1"/>
          </a:solidFill>
          <a:ln w="12700">
            <a:solidFill>
              <a:srgbClr val="EDF8F1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57032" y="4718304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8659368" y="4690872"/>
            <a:ext cx="2423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tests/AuthApiTest.java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8659368" y="4928616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1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invalid-token scenarios</a:t>
            </a:r>
            <a:endParaRPr lang="en-US" sz="910" dirty="0"/>
          </a:p>
        </p:txBody>
      </p:sp>
      <p:sp>
        <p:nvSpPr>
          <p:cNvPr id="48" name="Text 46"/>
          <p:cNvSpPr/>
          <p:nvPr/>
        </p:nvSpPr>
        <p:spPr>
          <a:xfrm>
            <a:off x="8101584" y="543153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30" i="1" dirty="0">
                <a:solidFill>
                  <a:srgbClr val="728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paths, not repository findings</a:t>
            </a:r>
            <a:endParaRPr lang="en-US" sz="930" dirty="0"/>
          </a:p>
        </p:txBody>
      </p:sp>
      <p:sp>
        <p:nvSpPr>
          <p:cNvPr id="49" name="Shape 47"/>
          <p:cNvSpPr/>
          <p:nvPr/>
        </p:nvSpPr>
        <p:spPr>
          <a:xfrm>
            <a:off x="694944" y="3712464"/>
            <a:ext cx="2843784" cy="1709928"/>
          </a:xfrm>
          <a:prstGeom prst="roundRect">
            <a:avLst>
              <a:gd name="adj" fmla="val 6952"/>
            </a:avLst>
          </a:prstGeom>
          <a:solidFill>
            <a:srgbClr val="EDF8F1"/>
          </a:solidFill>
          <a:ln w="10160">
            <a:solidFill>
              <a:srgbClr val="D3EAD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3544" y="3968496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2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stays responsive</a:t>
            </a:r>
            <a:endParaRPr lang="en-US" sz="1520" dirty="0"/>
          </a:p>
        </p:txBody>
      </p:sp>
      <p:sp>
        <p:nvSpPr>
          <p:cNvPr id="51" name="Text 49"/>
          <p:cNvSpPr/>
          <p:nvPr/>
        </p:nvSpPr>
        <p:spPr>
          <a:xfrm>
            <a:off x="923544" y="4407408"/>
            <a:ext cx="23591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9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 index, small evidence windows, incremental refresh and lexical fallback if semantic search is unavailable.</a:t>
            </a:r>
            <a:endParaRPr lang="en-US" sz="1090" dirty="0"/>
          </a:p>
        </p:txBody>
      </p:sp>
      <p:sp>
        <p:nvSpPr>
          <p:cNvPr id="52" name="Shape 50"/>
          <p:cNvSpPr/>
          <p:nvPr/>
        </p:nvSpPr>
        <p:spPr>
          <a:xfrm>
            <a:off x="612648" y="6483096"/>
            <a:ext cx="10945368" cy="0"/>
          </a:xfrm>
          <a:prstGeom prst="line">
            <a:avLst/>
          </a:prstGeom>
          <a:noFill/>
          <a:ln w="9525">
            <a:solidFill>
              <a:srgbClr val="DCE9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6565392"/>
            <a:ext cx="5394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90" b="1" spc="100" kern="0" dirty="0">
                <a:solidFill>
                  <a:srgbClr val="728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ELIYA  /  WORKSPACE INTELLIGENCE</a:t>
            </a:r>
            <a:endParaRPr lang="en-US" sz="790" dirty="0"/>
          </a:p>
        </p:txBody>
      </p:sp>
      <p:sp>
        <p:nvSpPr>
          <p:cNvPr id="54" name="Text 52"/>
          <p:cNvSpPr/>
          <p:nvPr/>
        </p:nvSpPr>
        <p:spPr>
          <a:xfrm>
            <a:off x="10771632" y="6537960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 w="12700">
            <a:solidFill>
              <a:srgbClr val="F8FB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320040" cy="329184"/>
          </a:xfrm>
          <a:prstGeom prst="roundRect">
            <a:avLst>
              <a:gd name="adj" fmla="val 28571"/>
            </a:avLst>
          </a:prstGeom>
          <a:solidFill>
            <a:srgbClr val="07885D"/>
          </a:solidFill>
          <a:ln w="12700">
            <a:solidFill>
              <a:srgbClr val="07885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3738" y="475488"/>
            <a:ext cx="173736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3738" y="554126"/>
            <a:ext cx="137160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3738" y="630936"/>
            <a:ext cx="173736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40233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spc="250" kern="0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ELIYA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12096" y="411480"/>
            <a:ext cx="1691640" cy="301752"/>
          </a:xfrm>
          <a:prstGeom prst="roundRect">
            <a:avLst>
              <a:gd name="adj" fmla="val 51515"/>
            </a:avLst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12680" y="43434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RECOGNITION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603504" y="960120"/>
            <a:ext cx="110093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Chat and Agent are identified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" y="16276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4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ELIYA routes each instruction by its requested outcome—not by whether it mentions code or a project.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621792" y="2093976"/>
            <a:ext cx="10945368" cy="0"/>
          </a:xfrm>
          <a:prstGeom prst="line">
            <a:avLst/>
          </a:prstGeom>
          <a:noFill/>
          <a:ln w="13335">
            <a:solidFill>
              <a:srgbClr val="DCE9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" y="2505456"/>
            <a:ext cx="2350008" cy="2185416"/>
          </a:xfrm>
          <a:prstGeom prst="roundRect">
            <a:avLst>
              <a:gd name="adj" fmla="val 6276"/>
            </a:avLst>
          </a:prstGeom>
          <a:solidFill>
            <a:srgbClr val="FFFFFF"/>
          </a:solidFill>
          <a:ln w="11430">
            <a:solidFill>
              <a:srgbClr val="DCE9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7157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b="1" spc="110" kern="0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/ THINK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850392" y="3099816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“Compare the Jira story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our workspace”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0392" y="3986784"/>
            <a:ext cx="1051560" cy="338328"/>
          </a:xfrm>
          <a:prstGeom prst="roundRect">
            <a:avLst>
              <a:gd name="adj" fmla="val 45946"/>
            </a:avLst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4009644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841248" y="4398264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+ indexed evidence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3502152" y="2505456"/>
            <a:ext cx="2350008" cy="2185416"/>
          </a:xfrm>
          <a:prstGeom prst="roundRect">
            <a:avLst>
              <a:gd name="adj" fmla="val 6276"/>
            </a:avLst>
          </a:prstGeom>
          <a:solidFill>
            <a:srgbClr val="FFFFFF"/>
          </a:solidFill>
          <a:ln w="11430">
            <a:solidFill>
              <a:srgbClr val="DCE9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85032" y="27157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b="1" spc="110" kern="0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/ RUN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3685032" y="3099816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“Implement the missing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and test it”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85032" y="3986784"/>
            <a:ext cx="1051560" cy="338328"/>
          </a:xfrm>
          <a:prstGeom prst="roundRect">
            <a:avLst>
              <a:gd name="adj" fmla="val 45946"/>
            </a:avLst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85616" y="4009644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3675888" y="4398264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+ controlled tools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336792" y="2505456"/>
            <a:ext cx="2350008" cy="2185416"/>
          </a:xfrm>
          <a:prstGeom prst="roundRect">
            <a:avLst>
              <a:gd name="adj" fmla="val 6276"/>
            </a:avLst>
          </a:prstGeom>
          <a:solidFill>
            <a:srgbClr val="FFFFFF"/>
          </a:solidFill>
          <a:ln w="11430">
            <a:solidFill>
              <a:srgbClr val="DCE9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27157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b="1" spc="110" kern="0" dirty="0">
                <a:solidFill>
                  <a:srgbClr val="287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OUTPUT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6519672" y="3099816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“Generate test cases from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attached document”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19672" y="3986784"/>
            <a:ext cx="1051560" cy="338328"/>
          </a:xfrm>
          <a:prstGeom prst="roundRect">
            <a:avLst>
              <a:gd name="adj" fmla="val 45946"/>
            </a:avLst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0256" y="4009644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287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6510528" y="4398264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→ workbook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171432" y="2505456"/>
            <a:ext cx="2350008" cy="2185416"/>
          </a:xfrm>
          <a:prstGeom prst="roundRect">
            <a:avLst>
              <a:gd name="adj" fmla="val 6276"/>
            </a:avLst>
          </a:prstGeom>
          <a:solidFill>
            <a:srgbClr val="FFFFFF"/>
          </a:solidFill>
          <a:ln w="11430">
            <a:solidFill>
              <a:srgbClr val="DCE9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54312" y="27157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b="1" spc="110" kern="0" dirty="0">
                <a:solidFill>
                  <a:srgbClr val="5A8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INTENT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9354312" y="3099816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“Can you take care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this issue?”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354312" y="3986784"/>
            <a:ext cx="1051560" cy="338328"/>
          </a:xfrm>
          <a:prstGeom prst="roundRect">
            <a:avLst>
              <a:gd name="adj" fmla="val 45946"/>
            </a:avLst>
          </a:prstGeom>
          <a:solidFill>
            <a:srgbClr val="EAF2ED"/>
          </a:solidFill>
          <a:ln w="12700">
            <a:solidFill>
              <a:srgbClr val="EAF2E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54896" y="4009644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5A8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9345168" y="4398264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Unless action is authorized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704088" y="5047488"/>
            <a:ext cx="10780776" cy="859536"/>
          </a:xfrm>
          <a:prstGeom prst="roundRect">
            <a:avLst>
              <a:gd name="adj" fmla="val 14894"/>
            </a:avLst>
          </a:prstGeom>
          <a:solidFill>
            <a:srgbClr val="0B4434"/>
          </a:solidFill>
          <a:ln w="12700">
            <a:solidFill>
              <a:srgbClr val="0B4434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2688" y="5276088"/>
            <a:ext cx="384048" cy="384048"/>
          </a:xfrm>
          <a:prstGeom prst="ellipse">
            <a:avLst/>
          </a:prstGeom>
          <a:solidFill>
            <a:srgbClr val="B4EA74"/>
          </a:solidFill>
          <a:ln w="12700">
            <a:solidFill>
              <a:srgbClr val="B4EA74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688" y="534009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499616" y="5212080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question is not permission to edit files.</a:t>
            </a:r>
            <a:endParaRPr lang="en-US" sz="1530" dirty="0"/>
          </a:p>
        </p:txBody>
      </p:sp>
      <p:sp>
        <p:nvSpPr>
          <p:cNvPr id="41" name="Text 39"/>
          <p:cNvSpPr/>
          <p:nvPr/>
        </p:nvSpPr>
        <p:spPr>
          <a:xfrm>
            <a:off x="1499616" y="5568696"/>
            <a:ext cx="9573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8EA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requests take the fast path; genuinely ambiguous prompts may use a bounded model check, with read-only fallback.</a:t>
            </a:r>
            <a:endParaRPr lang="en-US" sz="1030" dirty="0"/>
          </a:p>
        </p:txBody>
      </p:sp>
      <p:sp>
        <p:nvSpPr>
          <p:cNvPr id="42" name="Shape 40"/>
          <p:cNvSpPr/>
          <p:nvPr/>
        </p:nvSpPr>
        <p:spPr>
          <a:xfrm>
            <a:off x="612648" y="6483096"/>
            <a:ext cx="10945368" cy="0"/>
          </a:xfrm>
          <a:prstGeom prst="line">
            <a:avLst/>
          </a:prstGeom>
          <a:noFill/>
          <a:ln w="9525">
            <a:solidFill>
              <a:srgbClr val="DCE9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6565392"/>
            <a:ext cx="5394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90" b="1" spc="100" kern="0" dirty="0">
                <a:solidFill>
                  <a:srgbClr val="728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ELIYA  /  WORKSPACE INTELLIGENCE</a:t>
            </a:r>
            <a:endParaRPr lang="en-US" sz="790" dirty="0"/>
          </a:p>
        </p:txBody>
      </p:sp>
      <p:sp>
        <p:nvSpPr>
          <p:cNvPr id="44" name="Text 42"/>
          <p:cNvSpPr/>
          <p:nvPr/>
        </p:nvSpPr>
        <p:spPr>
          <a:xfrm>
            <a:off x="10771632" y="6537960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 w="12700">
            <a:solidFill>
              <a:srgbClr val="F8FB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320040" cy="329184"/>
          </a:xfrm>
          <a:prstGeom prst="roundRect">
            <a:avLst>
              <a:gd name="adj" fmla="val 28571"/>
            </a:avLst>
          </a:prstGeom>
          <a:solidFill>
            <a:srgbClr val="07885D"/>
          </a:solidFill>
          <a:ln w="12700">
            <a:solidFill>
              <a:srgbClr val="07885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3738" y="475488"/>
            <a:ext cx="173736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3738" y="554126"/>
            <a:ext cx="137160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3738" y="630936"/>
            <a:ext cx="173736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40233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spc="250" kern="0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ELIYA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12096" y="411480"/>
            <a:ext cx="1691640" cy="301752"/>
          </a:xfrm>
          <a:prstGeom prst="roundRect">
            <a:avLst>
              <a:gd name="adj" fmla="val 51515"/>
            </a:avLst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12680" y="43434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01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603504" y="960120"/>
            <a:ext cx="110093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requirement → workspace gap analysis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" y="16276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4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functional analyst asks what is missing. ELIYA investigates first, without changing files.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621792" y="2093976"/>
            <a:ext cx="10945368" cy="0"/>
          </a:xfrm>
          <a:prstGeom prst="line">
            <a:avLst/>
          </a:prstGeom>
          <a:noFill/>
          <a:ln w="13335">
            <a:solidFill>
              <a:srgbClr val="DCE9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377440"/>
            <a:ext cx="4645152" cy="886968"/>
          </a:xfrm>
          <a:prstGeom prst="roundRect">
            <a:avLst>
              <a:gd name="adj" fmla="val 15464"/>
            </a:avLst>
          </a:prstGeom>
          <a:solidFill>
            <a:srgbClr val="0B4434"/>
          </a:solidFill>
          <a:ln w="12700">
            <a:solidFill>
              <a:srgbClr val="0B443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5328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b="1" spc="110" kern="0" dirty="0">
                <a:solidFill>
                  <a:srgbClr val="B4E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USER PROMPT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914400" y="2798064"/>
            <a:ext cx="4069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“Use Jira MCP to compare STORY-1244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our workspace. What is missing?”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593592"/>
            <a:ext cx="2221992" cy="80467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DCE9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767328"/>
            <a:ext cx="402336" cy="402336"/>
          </a:xfrm>
          <a:prstGeom prst="ellipse">
            <a:avLst/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4048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25880" y="3712464"/>
            <a:ext cx="1426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ticket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325880" y="4014216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 + descriptions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44952" y="3593592"/>
            <a:ext cx="2221992" cy="80467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DCE9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82112" y="3767328"/>
            <a:ext cx="402336" cy="402336"/>
          </a:xfrm>
          <a:prstGeom prst="ellipse">
            <a:avLst/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82112" y="384048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685032" y="3712464"/>
            <a:ext cx="1426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workspace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85032" y="4014216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services + tests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" y="4599432"/>
            <a:ext cx="2221992" cy="80467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DCE9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4773168"/>
            <a:ext cx="402336" cy="402336"/>
          </a:xfrm>
          <a:prstGeom prst="ellipse">
            <a:avLst/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8463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325880" y="4718304"/>
            <a:ext cx="1426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evidence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325880" y="5020056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Covered, partial and missing behavior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044952" y="4599432"/>
            <a:ext cx="2221992" cy="80467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DCE9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82112" y="4773168"/>
            <a:ext cx="402336" cy="402336"/>
          </a:xfrm>
          <a:prstGeom prst="ellipse">
            <a:avLst/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82112" y="48463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685032" y="4718304"/>
            <a:ext cx="1426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impact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685032" y="5020056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Gaps, affected files and test suggestions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50992" y="2386584"/>
            <a:ext cx="5769864" cy="3273552"/>
          </a:xfrm>
          <a:prstGeom prst="roundRect">
            <a:avLst>
              <a:gd name="adj" fmla="val 4190"/>
            </a:avLst>
          </a:prstGeom>
          <a:solidFill>
            <a:srgbClr val="FFFFFF"/>
          </a:solidFill>
          <a:ln w="12700">
            <a:solidFill>
              <a:srgbClr val="DCE9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16168" y="2624328"/>
            <a:ext cx="4965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b="1" spc="110" kern="0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GAP ASSESSMENT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5925312" y="3008376"/>
            <a:ext cx="5212080" cy="393192"/>
          </a:xfrm>
          <a:prstGeom prst="rect">
            <a:avLst/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53328" y="30815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4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CRITERION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8366760" y="30815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4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40" dirty="0"/>
          </a:p>
        </p:txBody>
      </p:sp>
      <p:sp>
        <p:nvSpPr>
          <p:cNvPr id="41" name="Text 39"/>
          <p:cNvSpPr/>
          <p:nvPr/>
        </p:nvSpPr>
        <p:spPr>
          <a:xfrm>
            <a:off x="9948672" y="3081528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4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40" dirty="0"/>
          </a:p>
        </p:txBody>
      </p:sp>
      <p:sp>
        <p:nvSpPr>
          <p:cNvPr id="42" name="Text 40"/>
          <p:cNvSpPr/>
          <p:nvPr/>
        </p:nvSpPr>
        <p:spPr>
          <a:xfrm>
            <a:off x="6044184" y="3465576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90" dirty="0">
                <a:solidFill>
                  <a:srgbClr val="173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on 5xx</a:t>
            </a:r>
            <a:endParaRPr lang="en-US" sz="1090" dirty="0"/>
          </a:p>
        </p:txBody>
      </p:sp>
      <p:sp>
        <p:nvSpPr>
          <p:cNvPr id="43" name="Text 41"/>
          <p:cNvSpPr/>
          <p:nvPr/>
        </p:nvSpPr>
        <p:spPr>
          <a:xfrm>
            <a:off x="8366760" y="34655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retry handler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9939528" y="3433572"/>
            <a:ext cx="987552" cy="256032"/>
          </a:xfrm>
          <a:prstGeom prst="roundRect">
            <a:avLst>
              <a:gd name="adj" fmla="val 60714"/>
            </a:avLst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40112" y="3456432"/>
            <a:ext cx="786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2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5916168" y="3995928"/>
            <a:ext cx="5239512" cy="548640"/>
          </a:xfrm>
          <a:prstGeom prst="rect">
            <a:avLst/>
          </a:prstGeom>
          <a:solidFill>
            <a:srgbClr val="F3FAF6"/>
          </a:solidFill>
          <a:ln w="12700">
            <a:solidFill>
              <a:srgbClr val="F3FAF6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44184" y="4069080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90" dirty="0">
                <a:solidFill>
                  <a:srgbClr val="173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rejected token</a:t>
            </a:r>
            <a:endParaRPr lang="en-US" sz="1090" dirty="0"/>
          </a:p>
        </p:txBody>
      </p:sp>
      <p:sp>
        <p:nvSpPr>
          <p:cNvPr id="48" name="Text 46"/>
          <p:cNvSpPr/>
          <p:nvPr/>
        </p:nvSpPr>
        <p:spPr>
          <a:xfrm>
            <a:off x="8366760" y="4069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matching event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9939528" y="4037076"/>
            <a:ext cx="667512" cy="256032"/>
          </a:xfrm>
          <a:prstGeom prst="roundRect">
            <a:avLst>
              <a:gd name="adj" fmla="val 60714"/>
            </a:avLst>
          </a:prstGeom>
          <a:solidFill>
            <a:srgbClr val="FFF0D8"/>
          </a:solidFill>
          <a:ln w="12700">
            <a:solidFill>
              <a:srgbClr val="FFF0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40112" y="4059936"/>
            <a:ext cx="466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20" b="1" dirty="0">
                <a:solidFill>
                  <a:srgbClr val="A56D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6044184" y="4672584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90" dirty="0">
                <a:solidFill>
                  <a:srgbClr val="173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Invalid-token test</a:t>
            </a:r>
            <a:endParaRPr lang="en-US" sz="1090" dirty="0"/>
          </a:p>
        </p:txBody>
      </p:sp>
      <p:sp>
        <p:nvSpPr>
          <p:cNvPr id="52" name="Text 50"/>
          <p:cNvSpPr/>
          <p:nvPr/>
        </p:nvSpPr>
        <p:spPr>
          <a:xfrm>
            <a:off x="8366760" y="46725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test exists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9939528" y="4640580"/>
            <a:ext cx="987552" cy="256032"/>
          </a:xfrm>
          <a:prstGeom prst="roundRect">
            <a:avLst>
              <a:gd name="adj" fmla="val 60714"/>
            </a:avLst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040112" y="4663440"/>
            <a:ext cx="786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2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5934456" y="5349240"/>
            <a:ext cx="52212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90" i="1" dirty="0">
                <a:solidFill>
                  <a:srgbClr val="728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examples are illustrative; real results depend on retrieved ticket and source evidence.</a:t>
            </a:r>
            <a:endParaRPr lang="en-US" sz="890" dirty="0"/>
          </a:p>
        </p:txBody>
      </p:sp>
      <p:sp>
        <p:nvSpPr>
          <p:cNvPr id="56" name="Shape 54"/>
          <p:cNvSpPr/>
          <p:nvPr/>
        </p:nvSpPr>
        <p:spPr>
          <a:xfrm>
            <a:off x="704088" y="5742432"/>
            <a:ext cx="10698480" cy="374904"/>
          </a:xfrm>
          <a:prstGeom prst="roundRect">
            <a:avLst>
              <a:gd name="adj" fmla="val 24390"/>
            </a:avLst>
          </a:prstGeom>
          <a:solidFill>
            <a:srgbClr val="EDF8F1"/>
          </a:solidFill>
          <a:ln w="12700">
            <a:solidFill>
              <a:srgbClr val="EDF8F1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688" y="5833872"/>
            <a:ext cx="102138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9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TURN  →  “Implement the audit gap and run the affected tests.”  •  Explicit authorization moves to Execute.</a:t>
            </a:r>
            <a:endParaRPr lang="en-US" sz="1090" dirty="0"/>
          </a:p>
        </p:txBody>
      </p:sp>
      <p:sp>
        <p:nvSpPr>
          <p:cNvPr id="58" name="Shape 56"/>
          <p:cNvSpPr/>
          <p:nvPr/>
        </p:nvSpPr>
        <p:spPr>
          <a:xfrm>
            <a:off x="612648" y="6483096"/>
            <a:ext cx="10945368" cy="0"/>
          </a:xfrm>
          <a:prstGeom prst="line">
            <a:avLst/>
          </a:prstGeom>
          <a:noFill/>
          <a:ln w="9525">
            <a:solidFill>
              <a:srgbClr val="DCE9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6565392"/>
            <a:ext cx="5394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90" b="1" spc="100" kern="0" dirty="0">
                <a:solidFill>
                  <a:srgbClr val="728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ELIYA  /  WORKSPACE INTELLIGENCE</a:t>
            </a:r>
            <a:endParaRPr lang="en-US" sz="790" dirty="0"/>
          </a:p>
        </p:txBody>
      </p:sp>
      <p:sp>
        <p:nvSpPr>
          <p:cNvPr id="60" name="Text 58"/>
          <p:cNvSpPr/>
          <p:nvPr/>
        </p:nvSpPr>
        <p:spPr>
          <a:xfrm>
            <a:off x="10771632" y="6537960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 w="12700">
            <a:solidFill>
              <a:srgbClr val="F8FB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320040" cy="329184"/>
          </a:xfrm>
          <a:prstGeom prst="roundRect">
            <a:avLst>
              <a:gd name="adj" fmla="val 28571"/>
            </a:avLst>
          </a:prstGeom>
          <a:solidFill>
            <a:srgbClr val="07885D"/>
          </a:solidFill>
          <a:ln w="12700">
            <a:solidFill>
              <a:srgbClr val="07885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3738" y="475488"/>
            <a:ext cx="173736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3738" y="554126"/>
            <a:ext cx="137160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3738" y="630936"/>
            <a:ext cx="173736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40233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spc="250" kern="0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ELIYA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12096" y="411480"/>
            <a:ext cx="1691640" cy="301752"/>
          </a:xfrm>
          <a:prstGeom prst="roundRect">
            <a:avLst>
              <a:gd name="adj" fmla="val 51515"/>
            </a:avLst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12680" y="43434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02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603504" y="960120"/>
            <a:ext cx="110093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document → Excel test cases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" y="16276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4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functional document becomes structured, reviewable test coverage without editing repository code.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621792" y="2093976"/>
            <a:ext cx="10945368" cy="0"/>
          </a:xfrm>
          <a:prstGeom prst="line">
            <a:avLst/>
          </a:prstGeom>
          <a:noFill/>
          <a:ln w="13335">
            <a:solidFill>
              <a:srgbClr val="DCE9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" y="2459736"/>
            <a:ext cx="3127248" cy="2331720"/>
          </a:xfrm>
          <a:prstGeom prst="roundRect">
            <a:avLst>
              <a:gd name="adj" fmla="val 5882"/>
            </a:avLst>
          </a:prstGeom>
          <a:solidFill>
            <a:srgbClr val="0B4434"/>
          </a:solidFill>
          <a:ln w="12700">
            <a:solidFill>
              <a:srgbClr val="0B443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6883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b="1" spc="110" kern="0" dirty="0">
                <a:solidFill>
                  <a:srgbClr val="B4E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932688" y="3063240"/>
            <a:ext cx="2624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“Create test cases from</a:t>
            </a:r>
            <a:endParaRPr lang="en-US" sz="18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attached requirements.”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941832" y="4114800"/>
            <a:ext cx="1618488" cy="338328"/>
          </a:xfrm>
          <a:prstGeom prst="roundRect">
            <a:avLst>
              <a:gd name="adj" fmla="val 45946"/>
            </a:avLst>
          </a:prstGeom>
          <a:solidFill>
            <a:srgbClr val="1C7354"/>
          </a:solidFill>
          <a:ln w="12700">
            <a:solidFill>
              <a:srgbClr val="1C735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41376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DDF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/ PDF / PPTX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886200" y="3602736"/>
            <a:ext cx="466344" cy="0"/>
          </a:xfrm>
          <a:prstGeom prst="line">
            <a:avLst/>
          </a:prstGeom>
          <a:noFill/>
          <a:ln w="21590">
            <a:solidFill>
              <a:srgbClr val="07885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407408" y="2459736"/>
            <a:ext cx="2752344" cy="2331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1430">
            <a:solidFill>
              <a:srgbClr val="DCE9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2679192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b="1" spc="110" kern="0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626864" y="3065069"/>
            <a:ext cx="246888" cy="246888"/>
          </a:xfrm>
          <a:prstGeom prst="ellipse">
            <a:avLst/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3116275"/>
            <a:ext cx="246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001768" y="304495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7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content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4626864" y="3439973"/>
            <a:ext cx="246888" cy="246888"/>
          </a:xfrm>
          <a:prstGeom prst="ellipse">
            <a:avLst/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3491179"/>
            <a:ext cx="246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001768" y="3419856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7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source sections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4626864" y="3814877"/>
            <a:ext cx="246888" cy="246888"/>
          </a:xfrm>
          <a:prstGeom prst="ellipse">
            <a:avLst/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26864" y="3866083"/>
            <a:ext cx="246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001768" y="379476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7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test scenarios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4626864" y="4189781"/>
            <a:ext cx="246888" cy="246888"/>
          </a:xfrm>
          <a:prstGeom prst="ellipse">
            <a:avLst/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26864" y="4240987"/>
            <a:ext cx="246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001768" y="4169664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7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coverage / issues</a:t>
            </a:r>
            <a:endParaRPr lang="en-US" sz="1070" dirty="0"/>
          </a:p>
        </p:txBody>
      </p:sp>
      <p:sp>
        <p:nvSpPr>
          <p:cNvPr id="33" name="Shape 31"/>
          <p:cNvSpPr/>
          <p:nvPr/>
        </p:nvSpPr>
        <p:spPr>
          <a:xfrm>
            <a:off x="7196328" y="3602736"/>
            <a:ext cx="438912" cy="0"/>
          </a:xfrm>
          <a:prstGeom prst="line">
            <a:avLst/>
          </a:prstGeom>
          <a:noFill/>
          <a:ln w="21590">
            <a:solidFill>
              <a:srgbClr val="07885D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671816" y="2459736"/>
            <a:ext cx="3803904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065">
            <a:solidFill>
              <a:srgbClr val="DCE9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27848" y="26883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b="1" spc="110" kern="0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DOWNLOADABLE WORKBOOK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7918704" y="3108960"/>
            <a:ext cx="3291840" cy="356616"/>
          </a:xfrm>
          <a:prstGeom prst="rect">
            <a:avLst/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55864" y="3200400"/>
            <a:ext cx="1225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4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CASES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9500616" y="320040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4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7918704" y="3493008"/>
            <a:ext cx="3264408" cy="0"/>
          </a:xfrm>
          <a:prstGeom prst="line">
            <a:avLst/>
          </a:prstGeom>
          <a:noFill/>
          <a:ln w="10160">
            <a:solidFill>
              <a:srgbClr val="DCE9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55864" y="3630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034272" y="3630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10" dirty="0">
                <a:solidFill>
                  <a:srgbClr val="173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R-04</a:t>
            </a:r>
            <a:endParaRPr lang="en-US" sz="1010" dirty="0"/>
          </a:p>
        </p:txBody>
      </p:sp>
      <p:sp>
        <p:nvSpPr>
          <p:cNvPr id="42" name="Text 40"/>
          <p:cNvSpPr/>
          <p:nvPr/>
        </p:nvSpPr>
        <p:spPr>
          <a:xfrm>
            <a:off x="8055864" y="39867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034272" y="39867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10" dirty="0">
                <a:solidFill>
                  <a:srgbClr val="173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expired session</a:t>
            </a:r>
            <a:endParaRPr lang="en-US" sz="1010" dirty="0"/>
          </a:p>
        </p:txBody>
      </p:sp>
      <p:sp>
        <p:nvSpPr>
          <p:cNvPr id="44" name="Text 42"/>
          <p:cNvSpPr/>
          <p:nvPr/>
        </p:nvSpPr>
        <p:spPr>
          <a:xfrm>
            <a:off x="8055864" y="4343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9034272" y="43434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10" dirty="0">
                <a:solidFill>
                  <a:srgbClr val="173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request with expired token</a:t>
            </a:r>
            <a:endParaRPr lang="en-US" sz="1010" dirty="0"/>
          </a:p>
        </p:txBody>
      </p:sp>
      <p:sp>
        <p:nvSpPr>
          <p:cNvPr id="46" name="Text 44"/>
          <p:cNvSpPr/>
          <p:nvPr/>
        </p:nvSpPr>
        <p:spPr>
          <a:xfrm>
            <a:off x="8055864" y="4700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9034272" y="4700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10" dirty="0">
                <a:solidFill>
                  <a:srgbClr val="173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Unauthorized response</a:t>
            </a:r>
            <a:endParaRPr lang="en-US" sz="1010" dirty="0"/>
          </a:p>
        </p:txBody>
      </p:sp>
      <p:sp>
        <p:nvSpPr>
          <p:cNvPr id="48" name="Text 46"/>
          <p:cNvSpPr/>
          <p:nvPr/>
        </p:nvSpPr>
        <p:spPr>
          <a:xfrm>
            <a:off x="8055864" y="50566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034272" y="5056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10" dirty="0">
                <a:solidFill>
                  <a:srgbClr val="173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10" dirty="0"/>
          </a:p>
        </p:txBody>
      </p:sp>
      <p:sp>
        <p:nvSpPr>
          <p:cNvPr id="50" name="Text 48"/>
          <p:cNvSpPr/>
          <p:nvPr/>
        </p:nvSpPr>
        <p:spPr>
          <a:xfrm>
            <a:off x="7946136" y="5522976"/>
            <a:ext cx="3118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60" i="1" dirty="0">
                <a:solidFill>
                  <a:srgbClr val="728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row structure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694944" y="5111496"/>
            <a:ext cx="6473952" cy="594360"/>
          </a:xfrm>
          <a:prstGeom prst="roundRect">
            <a:avLst>
              <a:gd name="adj" fmla="val 15385"/>
            </a:avLst>
          </a:prstGeom>
          <a:solidFill>
            <a:srgbClr val="EDF8F1"/>
          </a:solidFill>
          <a:ln w="10160">
            <a:solidFill>
              <a:srgbClr val="D5E8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2688" y="5285232"/>
            <a:ext cx="10241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4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GATE</a:t>
            </a:r>
            <a:endParaRPr lang="en-US" sz="940" dirty="0"/>
          </a:p>
        </p:txBody>
      </p:sp>
      <p:sp>
        <p:nvSpPr>
          <p:cNvPr id="53" name="Text 51"/>
          <p:cNvSpPr/>
          <p:nvPr/>
        </p:nvSpPr>
        <p:spPr>
          <a:xfrm>
            <a:off x="2011680" y="5257800"/>
            <a:ext cx="4901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expected results, traceability and any incomplete source sections.</a:t>
            </a:r>
            <a:endParaRPr lang="en-US" sz="1060" dirty="0"/>
          </a:p>
        </p:txBody>
      </p:sp>
      <p:sp>
        <p:nvSpPr>
          <p:cNvPr id="54" name="Shape 52"/>
          <p:cNvSpPr/>
          <p:nvPr/>
        </p:nvSpPr>
        <p:spPr>
          <a:xfrm>
            <a:off x="612648" y="6483096"/>
            <a:ext cx="10945368" cy="0"/>
          </a:xfrm>
          <a:prstGeom prst="line">
            <a:avLst/>
          </a:prstGeom>
          <a:noFill/>
          <a:ln w="9525">
            <a:solidFill>
              <a:srgbClr val="DCE9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6565392"/>
            <a:ext cx="5394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90" b="1" spc="100" kern="0" dirty="0">
                <a:solidFill>
                  <a:srgbClr val="728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ELIYA  /  WORKSPACE INTELLIGENCE</a:t>
            </a:r>
            <a:endParaRPr lang="en-US" sz="790" dirty="0"/>
          </a:p>
        </p:txBody>
      </p:sp>
      <p:sp>
        <p:nvSpPr>
          <p:cNvPr id="56" name="Text 54"/>
          <p:cNvSpPr/>
          <p:nvPr/>
        </p:nvSpPr>
        <p:spPr>
          <a:xfrm>
            <a:off x="10771632" y="6537960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 w="12700">
            <a:solidFill>
              <a:srgbClr val="F8FB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320040" cy="329184"/>
          </a:xfrm>
          <a:prstGeom prst="roundRect">
            <a:avLst>
              <a:gd name="adj" fmla="val 28571"/>
            </a:avLst>
          </a:prstGeom>
          <a:solidFill>
            <a:srgbClr val="07885D"/>
          </a:solidFill>
          <a:ln w="12700">
            <a:solidFill>
              <a:srgbClr val="07885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3738" y="475488"/>
            <a:ext cx="173736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3738" y="554126"/>
            <a:ext cx="137160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3738" y="630936"/>
            <a:ext cx="173736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40233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spc="250" kern="0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ELIYA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12096" y="411480"/>
            <a:ext cx="1691640" cy="301752"/>
          </a:xfrm>
          <a:prstGeom prst="roundRect">
            <a:avLst>
              <a:gd name="adj" fmla="val 51515"/>
            </a:avLst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12680" y="43434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03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603504" y="960120"/>
            <a:ext cx="110093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change → implementation → evidence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" y="16276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4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explicit instruction launches the action-capable Agent, with workspace scope and verification.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621792" y="2093976"/>
            <a:ext cx="10945368" cy="0"/>
          </a:xfrm>
          <a:prstGeom prst="line">
            <a:avLst/>
          </a:prstGeom>
          <a:noFill/>
          <a:ln w="13335">
            <a:solidFill>
              <a:srgbClr val="DCE9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" y="2441448"/>
            <a:ext cx="10789920" cy="786384"/>
          </a:xfrm>
          <a:prstGeom prst="roundRect">
            <a:avLst>
              <a:gd name="adj" fmla="val 17442"/>
            </a:avLst>
          </a:prstGeom>
          <a:solidFill>
            <a:srgbClr val="0B4434"/>
          </a:solidFill>
          <a:ln w="12700">
            <a:solidFill>
              <a:srgbClr val="0B443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" y="2587752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b="1" spc="110" kern="0" dirty="0">
                <a:solidFill>
                  <a:srgbClr val="B4E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REQUEST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761488" y="2578608"/>
            <a:ext cx="8366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“Migrate these Selenium TestNG flows to Playwright TypeScript and run the checks.”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4088" y="3511296"/>
            <a:ext cx="3099816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1430">
            <a:solidFill>
              <a:srgbClr val="DCE9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" y="3730752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b="1" spc="110" kern="0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 •  READ ONLY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923544" y="4050792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legacy-selenium/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3544" y="44897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• Selenium • TestNG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3858768" y="4206240"/>
            <a:ext cx="539496" cy="0"/>
          </a:xfrm>
          <a:prstGeom prst="line">
            <a:avLst/>
          </a:prstGeom>
          <a:noFill/>
          <a:ln w="22860">
            <a:solidFill>
              <a:srgbClr val="07885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434840" y="3511296"/>
            <a:ext cx="3218688" cy="1325880"/>
          </a:xfrm>
          <a:prstGeom prst="roundRect">
            <a:avLst>
              <a:gd name="adj" fmla="val 9655"/>
            </a:avLst>
          </a:prstGeom>
          <a:solidFill>
            <a:srgbClr val="EDF8F1"/>
          </a:solidFill>
          <a:ln w="11430">
            <a:solidFill>
              <a:srgbClr val="CEE6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730752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b="1" spc="110" kern="0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WORKFLOW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4645152" y="4041648"/>
            <a:ext cx="26426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3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→ Plan → Execute</a:t>
            </a:r>
            <a:endParaRPr lang="en-US" sz="1430" dirty="0"/>
          </a:p>
        </p:txBody>
      </p:sp>
      <p:sp>
        <p:nvSpPr>
          <p:cNvPr id="24" name="Text 22"/>
          <p:cNvSpPr/>
          <p:nvPr/>
        </p:nvSpPr>
        <p:spPr>
          <a:xfrm>
            <a:off x="4645152" y="4498848"/>
            <a:ext cx="2706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current files • apply edits • verify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7726680" y="4197096"/>
            <a:ext cx="521208" cy="0"/>
          </a:xfrm>
          <a:prstGeom prst="line">
            <a:avLst/>
          </a:prstGeom>
          <a:noFill/>
          <a:ln w="22860">
            <a:solidFill>
              <a:srgbClr val="07885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266176" y="3511296"/>
            <a:ext cx="3182112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1430">
            <a:solidFill>
              <a:srgbClr val="DCE9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94776" y="3730752"/>
            <a:ext cx="2770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b="1" spc="110" kern="0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WORKSPACE  •  WRITABLE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8485632" y="4050792"/>
            <a:ext cx="2761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playwright-ts/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85632" y="4489704"/>
            <a:ext cx="2770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1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• Playwright • checks</a:t>
            </a:r>
            <a:endParaRPr lang="en-US" sz="1010" dirty="0"/>
          </a:p>
        </p:txBody>
      </p:sp>
      <p:sp>
        <p:nvSpPr>
          <p:cNvPr id="30" name="Shape 28"/>
          <p:cNvSpPr/>
          <p:nvPr/>
        </p:nvSpPr>
        <p:spPr>
          <a:xfrm>
            <a:off x="722376" y="5230368"/>
            <a:ext cx="3346704" cy="649224"/>
          </a:xfrm>
          <a:prstGeom prst="roundRect">
            <a:avLst>
              <a:gd name="adj" fmla="val 15493"/>
            </a:avLst>
          </a:prstGeom>
          <a:solidFill>
            <a:srgbClr val="FFFFFF"/>
          </a:solidFill>
          <a:ln w="10160">
            <a:solidFill>
              <a:srgbClr val="DCE9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" y="5394960"/>
            <a:ext cx="274320" cy="274320"/>
          </a:xfrm>
          <a:prstGeom prst="ellipse">
            <a:avLst/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546811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2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1252728" y="53035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7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</a:t>
            </a:r>
            <a:endParaRPr lang="en-US" sz="1170" dirty="0"/>
          </a:p>
        </p:txBody>
      </p:sp>
      <p:sp>
        <p:nvSpPr>
          <p:cNvPr id="34" name="Text 32"/>
          <p:cNvSpPr/>
          <p:nvPr/>
        </p:nvSpPr>
        <p:spPr>
          <a:xfrm>
            <a:off x="2258568" y="53309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 files &amp; diffs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4306824" y="5230368"/>
            <a:ext cx="3346704" cy="649224"/>
          </a:xfrm>
          <a:prstGeom prst="roundRect">
            <a:avLst>
              <a:gd name="adj" fmla="val 15493"/>
            </a:avLst>
          </a:prstGeom>
          <a:solidFill>
            <a:srgbClr val="FFFFFF"/>
          </a:solidFill>
          <a:ln w="10160">
            <a:solidFill>
              <a:srgbClr val="DCE9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53128" y="5394960"/>
            <a:ext cx="274320" cy="274320"/>
          </a:xfrm>
          <a:prstGeom prst="ellipse">
            <a:avLst/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53128" y="546811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2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4837176" y="53035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7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70" dirty="0"/>
          </a:p>
        </p:txBody>
      </p:sp>
      <p:sp>
        <p:nvSpPr>
          <p:cNvPr id="39" name="Text 37"/>
          <p:cNvSpPr/>
          <p:nvPr/>
        </p:nvSpPr>
        <p:spPr>
          <a:xfrm>
            <a:off x="5843016" y="53309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/ test results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7891272" y="5230368"/>
            <a:ext cx="3346704" cy="649224"/>
          </a:xfrm>
          <a:prstGeom prst="roundRect">
            <a:avLst>
              <a:gd name="adj" fmla="val 15493"/>
            </a:avLst>
          </a:prstGeom>
          <a:solidFill>
            <a:srgbClr val="E3F6EB"/>
          </a:solidFill>
          <a:ln w="10160">
            <a:solidFill>
              <a:srgbClr val="DCE9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37576" y="5394960"/>
            <a:ext cx="274320" cy="274320"/>
          </a:xfrm>
          <a:prstGeom prst="ellipse">
            <a:avLst/>
          </a:prstGeom>
          <a:solidFill>
            <a:srgbClr val="07885D"/>
          </a:solidFill>
          <a:ln w="12700">
            <a:solidFill>
              <a:srgbClr val="07885D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37576" y="5468112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8421624" y="53035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7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170" dirty="0"/>
          </a:p>
        </p:txBody>
      </p:sp>
      <p:sp>
        <p:nvSpPr>
          <p:cNvPr id="44" name="Text 42"/>
          <p:cNvSpPr/>
          <p:nvPr/>
        </p:nvSpPr>
        <p:spPr>
          <a:xfrm>
            <a:off x="9427464" y="53309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+ remaining gaps</a:t>
            </a:r>
            <a:endParaRPr lang="en-US" sz="960" dirty="0"/>
          </a:p>
        </p:txBody>
      </p:sp>
      <p:sp>
        <p:nvSpPr>
          <p:cNvPr id="45" name="Text 43"/>
          <p:cNvSpPr/>
          <p:nvPr/>
        </p:nvSpPr>
        <p:spPr>
          <a:xfrm>
            <a:off x="749808" y="6117336"/>
            <a:ext cx="10506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28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 or existing file is not proof of success: the final outcome must reflect actual checks.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2648" y="6483096"/>
            <a:ext cx="10945368" cy="0"/>
          </a:xfrm>
          <a:prstGeom prst="line">
            <a:avLst/>
          </a:prstGeom>
          <a:noFill/>
          <a:ln w="9525">
            <a:solidFill>
              <a:srgbClr val="DCE9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6565392"/>
            <a:ext cx="5394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90" b="1" spc="100" kern="0" dirty="0">
                <a:solidFill>
                  <a:srgbClr val="728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ELIYA  /  WORKSPACE INTELLIGENCE</a:t>
            </a:r>
            <a:endParaRPr lang="en-US" sz="790" dirty="0"/>
          </a:p>
        </p:txBody>
      </p:sp>
      <p:sp>
        <p:nvSpPr>
          <p:cNvPr id="48" name="Text 46"/>
          <p:cNvSpPr/>
          <p:nvPr/>
        </p:nvSpPr>
        <p:spPr>
          <a:xfrm>
            <a:off x="10771632" y="6537960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/ 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9"/>
          </a:solidFill>
          <a:ln w="12700">
            <a:solidFill>
              <a:srgbClr val="F8FB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02336"/>
            <a:ext cx="320040" cy="329184"/>
          </a:xfrm>
          <a:prstGeom prst="roundRect">
            <a:avLst>
              <a:gd name="adj" fmla="val 28571"/>
            </a:avLst>
          </a:prstGeom>
          <a:solidFill>
            <a:srgbClr val="07885D"/>
          </a:solidFill>
          <a:ln w="12700">
            <a:solidFill>
              <a:srgbClr val="07885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3738" y="475488"/>
            <a:ext cx="173736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3738" y="554126"/>
            <a:ext cx="137160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3738" y="630936"/>
            <a:ext cx="173736" cy="3566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40233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spc="250" kern="0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ELIYA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12096" y="411480"/>
            <a:ext cx="1691640" cy="301752"/>
          </a:xfrm>
          <a:prstGeom prst="roundRect">
            <a:avLst>
              <a:gd name="adj" fmla="val 51515"/>
            </a:avLst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12680" y="43434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603504" y="960120"/>
            <a:ext cx="110093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Trust, control and the path to adoption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" y="16276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4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boundaries keep the experience useful for functional users and predictable for engineers.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621792" y="2093976"/>
            <a:ext cx="10945368" cy="0"/>
          </a:xfrm>
          <a:prstGeom prst="line">
            <a:avLst/>
          </a:prstGeom>
          <a:noFill/>
          <a:ln w="13335">
            <a:solidFill>
              <a:srgbClr val="DCE9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" y="2377440"/>
            <a:ext cx="530352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0795">
            <a:solidFill>
              <a:srgbClr val="DCE9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5256" y="2596896"/>
            <a:ext cx="429768" cy="429768"/>
          </a:xfrm>
          <a:prstGeom prst="ellipse">
            <a:avLst/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688336"/>
            <a:ext cx="429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517904" y="2578608"/>
            <a:ext cx="4078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8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SCOPE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1517904" y="2953512"/>
            <a:ext cx="4014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primary writable project; up to five aliased, read-only reference projects.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172200" y="2377440"/>
            <a:ext cx="530352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0795">
            <a:solidFill>
              <a:srgbClr val="DCE9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82512" y="2596896"/>
            <a:ext cx="429768" cy="429768"/>
          </a:xfrm>
          <a:prstGeom prst="ellipse">
            <a:avLst/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2688336"/>
            <a:ext cx="429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95160" y="2578608"/>
            <a:ext cx="4078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8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TOOLS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6995160" y="2953512"/>
            <a:ext cx="4014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/ Confluence MCP is used only when requested explicitly and enabled in Settings.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94944" y="3803904"/>
            <a:ext cx="530352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0795">
            <a:solidFill>
              <a:srgbClr val="DCE9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" y="4023360"/>
            <a:ext cx="429768" cy="429768"/>
          </a:xfrm>
          <a:prstGeom prst="ellipse">
            <a:avLst/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4114800"/>
            <a:ext cx="429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17904" y="4005072"/>
            <a:ext cx="4078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8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EXECUTION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1517904" y="4379976"/>
            <a:ext cx="4014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for destructive actions, file checks, activity trail and last-action rollback.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172200" y="3803904"/>
            <a:ext cx="5303520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0795">
            <a:solidFill>
              <a:srgbClr val="DCE9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82512" y="4023360"/>
            <a:ext cx="429768" cy="429768"/>
          </a:xfrm>
          <a:prstGeom prst="ellipse">
            <a:avLst/>
          </a:prstGeom>
          <a:solidFill>
            <a:srgbClr val="E3F6EB"/>
          </a:solidFill>
          <a:ln w="12700">
            <a:solidFill>
              <a:srgbClr val="E3F6E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4114800"/>
            <a:ext cx="429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75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95160" y="4005072"/>
            <a:ext cx="4078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80" b="1" dirty="0">
                <a:solidFill>
                  <a:srgbClr val="0B4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CHOICE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6995160" y="4379976"/>
            <a:ext cx="4014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365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is available; optional OpenCode 2 requires a working provider. Auto prefers proven execution.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694944" y="5394960"/>
            <a:ext cx="10780776" cy="640080"/>
          </a:xfrm>
          <a:prstGeom prst="roundRect">
            <a:avLst>
              <a:gd name="adj" fmla="val 17143"/>
            </a:avLst>
          </a:prstGeom>
          <a:solidFill>
            <a:srgbClr val="0B4434"/>
          </a:solidFill>
          <a:ln w="12700">
            <a:solidFill>
              <a:srgbClr val="0B4434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6052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WORKSPACE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79776" y="5550408"/>
            <a:ext cx="173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B4E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54680" y="560527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/ ANALYSE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0056" y="5550408"/>
            <a:ext cx="173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B4E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257800" y="560527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EVIDENCE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23176" y="5550408"/>
            <a:ext cx="173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B4E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370064" y="560527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ACTION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235440" y="5550408"/>
            <a:ext cx="173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B4E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500616" y="560527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B4EA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RESULT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2648" y="6483096"/>
            <a:ext cx="10945368" cy="0"/>
          </a:xfrm>
          <a:prstGeom prst="line">
            <a:avLst/>
          </a:prstGeom>
          <a:noFill/>
          <a:ln w="9525">
            <a:solidFill>
              <a:srgbClr val="DCE9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565392"/>
            <a:ext cx="5394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90" b="1" spc="100" kern="0" dirty="0">
                <a:solidFill>
                  <a:srgbClr val="728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ELIYA  /  WORKSPACE INTELLIGENCE</a:t>
            </a:r>
            <a:endParaRPr lang="en-US" sz="790" dirty="0"/>
          </a:p>
        </p:txBody>
      </p:sp>
      <p:sp>
        <p:nvSpPr>
          <p:cNvPr id="45" name="Text 43"/>
          <p:cNvSpPr/>
          <p:nvPr/>
        </p:nvSpPr>
        <p:spPr>
          <a:xfrm>
            <a:off x="10771632" y="6537960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78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ELIYA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ELIYA | From insight to implementation</dc:title>
  <dc:subject>ELIYA architecture, indexing, intent routing and practical scenarios</dc:subject>
  <dc:creator>ELIYA</dc:creator>
  <cp:lastModifiedBy>ELIYA</cp:lastModifiedBy>
  <cp:revision>1</cp:revision>
  <dcterms:created xsi:type="dcterms:W3CDTF">2026-10-30T04:48:46Z</dcterms:created>
  <dcterms:modified xsi:type="dcterms:W3CDTF">2026-10-30T04:48:46Z</dcterms:modified>
</cp:coreProperties>
</file>