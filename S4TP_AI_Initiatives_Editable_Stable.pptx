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56032" y="9144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03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S4TP AI Initiatives at a Glance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256032" y="48463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accelerators for quality engineering, automation, productivity, collaboration, and intelligent delivery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948672" y="164592"/>
            <a:ext cx="164592" cy="274320"/>
          </a:xfrm>
          <a:prstGeom prst="parallelogram">
            <a:avLst/>
          </a:prstGeom>
          <a:solidFill>
            <a:srgbClr val="BDE8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94976" y="164592"/>
            <a:ext cx="164592" cy="274320"/>
          </a:xfrm>
          <a:prstGeom prst="parallelogram">
            <a:avLst/>
          </a:prstGeom>
          <a:solidFill>
            <a:srgbClr val="79C9B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0" y="164592"/>
            <a:ext cx="164592" cy="274320"/>
          </a:xfrm>
          <a:prstGeom prst="parallelogram">
            <a:avLst/>
          </a:prstGeom>
          <a:solidFill>
            <a:srgbClr val="168A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52760" y="100584"/>
            <a:ext cx="16459" cy="16459"/>
          </a:xfrm>
          <a:prstGeom prst="ellipse">
            <a:avLst/>
          </a:prstGeom>
          <a:solidFill>
            <a:srgbClr val="B9E7D8"/>
          </a:solidFill>
          <a:ln w="6350">
            <a:solidFill>
              <a:srgbClr val="B9E7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17352" y="100584"/>
            <a:ext cx="16459" cy="16459"/>
          </a:xfrm>
          <a:prstGeom prst="ellipse">
            <a:avLst/>
          </a:prstGeom>
          <a:solidFill>
            <a:srgbClr val="B9E7D8"/>
          </a:solidFill>
          <a:ln w="6350">
            <a:solidFill>
              <a:srgbClr val="B9E7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81944" y="100584"/>
            <a:ext cx="16459" cy="16459"/>
          </a:xfrm>
          <a:prstGeom prst="ellipse">
            <a:avLst/>
          </a:prstGeom>
          <a:solidFill>
            <a:srgbClr val="B9E7D8"/>
          </a:solidFill>
          <a:ln w="6350">
            <a:solidFill>
              <a:srgbClr val="B9E7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46536" y="100584"/>
            <a:ext cx="16459" cy="16459"/>
          </a:xfrm>
          <a:prstGeom prst="ellipse">
            <a:avLst/>
          </a:prstGeom>
          <a:solidFill>
            <a:srgbClr val="B9E7D8"/>
          </a:solidFill>
          <a:ln w="6350">
            <a:solidFill>
              <a:srgbClr val="B9E7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62488" y="164592"/>
            <a:ext cx="16459" cy="16459"/>
          </a:xfrm>
          <a:prstGeom prst="ellipse">
            <a:avLst/>
          </a:prstGeom>
          <a:solidFill>
            <a:srgbClr val="B9E7D8"/>
          </a:solidFill>
          <a:ln w="6350">
            <a:solidFill>
              <a:srgbClr val="B9E7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27080" y="164592"/>
            <a:ext cx="16459" cy="16459"/>
          </a:xfrm>
          <a:prstGeom prst="ellipse">
            <a:avLst/>
          </a:prstGeom>
          <a:solidFill>
            <a:srgbClr val="B9E7D8"/>
          </a:solidFill>
          <a:ln w="6350">
            <a:solidFill>
              <a:srgbClr val="B9E7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91672" y="164592"/>
            <a:ext cx="16459" cy="16459"/>
          </a:xfrm>
          <a:prstGeom prst="ellipse">
            <a:avLst/>
          </a:prstGeom>
          <a:solidFill>
            <a:srgbClr val="B9E7D8"/>
          </a:solidFill>
          <a:ln w="6350">
            <a:solidFill>
              <a:srgbClr val="B9E7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56264" y="164592"/>
            <a:ext cx="16459" cy="16459"/>
          </a:xfrm>
          <a:prstGeom prst="ellipse">
            <a:avLst/>
          </a:prstGeom>
          <a:solidFill>
            <a:srgbClr val="B9E7D8"/>
          </a:solidFill>
          <a:ln w="6350">
            <a:solidFill>
              <a:srgbClr val="B9E7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07624" y="228600"/>
            <a:ext cx="16459" cy="16459"/>
          </a:xfrm>
          <a:prstGeom prst="ellipse">
            <a:avLst/>
          </a:prstGeom>
          <a:solidFill>
            <a:srgbClr val="B9E7D8"/>
          </a:solidFill>
          <a:ln w="6350">
            <a:solidFill>
              <a:srgbClr val="B9E7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872216" y="228600"/>
            <a:ext cx="16459" cy="16459"/>
          </a:xfrm>
          <a:prstGeom prst="ellipse">
            <a:avLst/>
          </a:prstGeom>
          <a:solidFill>
            <a:srgbClr val="B9E7D8"/>
          </a:solidFill>
          <a:ln w="6350">
            <a:solidFill>
              <a:srgbClr val="B9E7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27080" y="228600"/>
            <a:ext cx="16459" cy="16459"/>
          </a:xfrm>
          <a:prstGeom prst="ellipse">
            <a:avLst/>
          </a:prstGeom>
          <a:solidFill>
            <a:srgbClr val="B9E7D8"/>
          </a:solidFill>
          <a:ln w="6350">
            <a:solidFill>
              <a:srgbClr val="B9E7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81944" y="228600"/>
            <a:ext cx="16459" cy="16459"/>
          </a:xfrm>
          <a:prstGeom prst="ellipse">
            <a:avLst/>
          </a:prstGeom>
          <a:solidFill>
            <a:srgbClr val="B9E7D8"/>
          </a:solidFill>
          <a:ln w="6350">
            <a:solidFill>
              <a:srgbClr val="B9E7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036808" y="228600"/>
            <a:ext cx="16459" cy="16459"/>
          </a:xfrm>
          <a:prstGeom prst="ellipse">
            <a:avLst/>
          </a:prstGeom>
          <a:solidFill>
            <a:srgbClr val="B9E7D8"/>
          </a:solidFill>
          <a:ln w="6350">
            <a:solidFill>
              <a:srgbClr val="B9E7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091672" y="228600"/>
            <a:ext cx="16459" cy="16459"/>
          </a:xfrm>
          <a:prstGeom prst="ellipse">
            <a:avLst/>
          </a:prstGeom>
          <a:solidFill>
            <a:srgbClr val="B9E7D8"/>
          </a:solidFill>
          <a:ln w="6350">
            <a:solidFill>
              <a:srgbClr val="B9E7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46536" y="228600"/>
            <a:ext cx="16459" cy="16459"/>
          </a:xfrm>
          <a:prstGeom prst="ellipse">
            <a:avLst/>
          </a:prstGeom>
          <a:solidFill>
            <a:srgbClr val="B9E7D8"/>
          </a:solidFill>
          <a:ln w="6350">
            <a:solidFill>
              <a:srgbClr val="B9E7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01400" y="228600"/>
            <a:ext cx="16459" cy="16459"/>
          </a:xfrm>
          <a:prstGeom prst="ellipse">
            <a:avLst/>
          </a:prstGeom>
          <a:solidFill>
            <a:srgbClr val="B9E7D8"/>
          </a:solidFill>
          <a:ln w="6350">
            <a:solidFill>
              <a:srgbClr val="B9E7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256264" y="228600"/>
            <a:ext cx="16459" cy="16459"/>
          </a:xfrm>
          <a:prstGeom prst="ellipse">
            <a:avLst/>
          </a:prstGeom>
          <a:solidFill>
            <a:srgbClr val="B9E7D8"/>
          </a:solidFill>
          <a:ln w="6350">
            <a:solidFill>
              <a:srgbClr val="B9E7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652760" y="292608"/>
            <a:ext cx="16459" cy="16459"/>
          </a:xfrm>
          <a:prstGeom prst="ellipse">
            <a:avLst/>
          </a:prstGeom>
          <a:solidFill>
            <a:srgbClr val="B9E7D8"/>
          </a:solidFill>
          <a:ln w="6350">
            <a:solidFill>
              <a:srgbClr val="B9E7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17352" y="292608"/>
            <a:ext cx="16459" cy="16459"/>
          </a:xfrm>
          <a:prstGeom prst="ellipse">
            <a:avLst/>
          </a:prstGeom>
          <a:solidFill>
            <a:srgbClr val="B9E7D8"/>
          </a:solidFill>
          <a:ln w="6350">
            <a:solidFill>
              <a:srgbClr val="B9E7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81944" y="292608"/>
            <a:ext cx="16459" cy="16459"/>
          </a:xfrm>
          <a:prstGeom prst="ellipse">
            <a:avLst/>
          </a:prstGeom>
          <a:solidFill>
            <a:srgbClr val="B9E7D8"/>
          </a:solidFill>
          <a:ln w="6350">
            <a:solidFill>
              <a:srgbClr val="B9E7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146536" y="292608"/>
            <a:ext cx="16459" cy="16459"/>
          </a:xfrm>
          <a:prstGeom prst="ellipse">
            <a:avLst/>
          </a:prstGeom>
          <a:solidFill>
            <a:srgbClr val="B9E7D8"/>
          </a:solidFill>
          <a:ln w="6350">
            <a:solidFill>
              <a:srgbClr val="B9E7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62488" y="356616"/>
            <a:ext cx="16459" cy="16459"/>
          </a:xfrm>
          <a:prstGeom prst="ellipse">
            <a:avLst/>
          </a:prstGeom>
          <a:solidFill>
            <a:srgbClr val="B9E7D8"/>
          </a:solidFill>
          <a:ln w="6350">
            <a:solidFill>
              <a:srgbClr val="B9E7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927080" y="356616"/>
            <a:ext cx="16459" cy="16459"/>
          </a:xfrm>
          <a:prstGeom prst="ellipse">
            <a:avLst/>
          </a:prstGeom>
          <a:solidFill>
            <a:srgbClr val="B9E7D8"/>
          </a:solidFill>
          <a:ln w="6350">
            <a:solidFill>
              <a:srgbClr val="B9E7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091672" y="356616"/>
            <a:ext cx="16459" cy="16459"/>
          </a:xfrm>
          <a:prstGeom prst="ellipse">
            <a:avLst/>
          </a:prstGeom>
          <a:solidFill>
            <a:srgbClr val="B9E7D8"/>
          </a:solidFill>
          <a:ln w="6350">
            <a:solidFill>
              <a:srgbClr val="B9E7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256264" y="356616"/>
            <a:ext cx="16459" cy="16459"/>
          </a:xfrm>
          <a:prstGeom prst="ellipse">
            <a:avLst/>
          </a:prstGeom>
          <a:solidFill>
            <a:srgbClr val="B9E7D8"/>
          </a:solidFill>
          <a:ln w="6350">
            <a:solidFill>
              <a:srgbClr val="B9E7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" y="804672"/>
            <a:ext cx="11795760" cy="0"/>
          </a:xfrm>
          <a:prstGeom prst="line">
            <a:avLst/>
          </a:prstGeom>
          <a:noFill/>
          <a:ln w="15240">
            <a:solidFill>
              <a:srgbClr val="5EB38E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164592" y="932688"/>
            <a:ext cx="3813048" cy="393192"/>
          </a:xfrm>
          <a:prstGeom prst="roundRect">
            <a:avLst>
              <a:gd name="adj" fmla="val 16279"/>
            </a:avLst>
          </a:prstGeom>
          <a:solidFill>
            <a:srgbClr val="007A53"/>
          </a:solidFill>
          <a:ln w="10160">
            <a:solidFill>
              <a:srgbClr val="007A5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" y="1033272"/>
            <a:ext cx="146304" cy="14630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0332" y="1074420"/>
            <a:ext cx="64008" cy="64008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2064" y="1078992"/>
            <a:ext cx="73152" cy="73152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2181" y="1099109"/>
            <a:ext cx="32918" cy="32918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94944" y="960120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Accelerators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4087368" y="932688"/>
            <a:ext cx="3813048" cy="393192"/>
          </a:xfrm>
          <a:prstGeom prst="roundRect">
            <a:avLst>
              <a:gd name="adj" fmla="val 16279"/>
            </a:avLst>
          </a:prstGeom>
          <a:solidFill>
            <a:srgbClr val="007A53"/>
          </a:solidFill>
          <a:ln w="10160">
            <a:solidFill>
              <a:srgbClr val="007A5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42816" y="1179576"/>
            <a:ext cx="50292" cy="82296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25112" y="1133856"/>
            <a:ext cx="50292" cy="128016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07408" y="1088136"/>
            <a:ext cx="50292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617720" y="960120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&amp; Intelligent Execution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8010144" y="932688"/>
            <a:ext cx="3813048" cy="393192"/>
          </a:xfrm>
          <a:prstGeom prst="roundRect">
            <a:avLst>
              <a:gd name="adj" fmla="val 16279"/>
            </a:avLst>
          </a:prstGeom>
          <a:solidFill>
            <a:srgbClr val="007A53"/>
          </a:solidFill>
          <a:ln w="10160">
            <a:solidFill>
              <a:srgbClr val="007A5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65592" y="1005840"/>
            <a:ext cx="91440" cy="91440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75320" y="987552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85048" y="1024128"/>
            <a:ext cx="82296" cy="82296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29016" y="1115568"/>
            <a:ext cx="155448" cy="118872"/>
          </a:xfrm>
          <a:prstGeom prst="arc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238744" y="1097280"/>
            <a:ext cx="173736" cy="128016"/>
          </a:xfrm>
          <a:prstGeom prst="arc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540496" y="960120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Productivity, Communication &amp; Team Engagement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164592" y="1408176"/>
            <a:ext cx="3813048" cy="1271016"/>
          </a:xfrm>
          <a:prstGeom prst="roundRect">
            <a:avLst>
              <a:gd name="adj" fmla="val 5036"/>
            </a:avLst>
          </a:prstGeom>
          <a:solidFill>
            <a:srgbClr val="FAFCFB"/>
          </a:solidFill>
          <a:ln w="10160">
            <a:solidFill>
              <a:srgbClr val="CBE4D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56032" y="152704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E7F4EE"/>
          </a:solidFill>
          <a:ln w="10160">
            <a:solidFill>
              <a:srgbClr val="E7F4E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02336" y="1636776"/>
            <a:ext cx="283464" cy="384048"/>
          </a:xfrm>
          <a:prstGeom prst="rect">
            <a:avLst/>
          </a:prstGeom>
          <a:solidFill>
            <a:srgbClr val="FFFFFF">
              <a:alpha val="0"/>
            </a:srgbClr>
          </a:solidFill>
          <a:ln w="21590">
            <a:solidFill>
              <a:srgbClr val="007A5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38912" y="1728216"/>
            <a:ext cx="182880" cy="0"/>
          </a:xfrm>
          <a:prstGeom prst="line">
            <a:avLst/>
          </a:prstGeom>
          <a:noFill/>
          <a:ln w="21590">
            <a:solidFill>
              <a:srgbClr val="007A53"/>
            </a:solidFill>
            <a:prstDash val="solid"/>
            <a:headEnd type="none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438912" y="1801368"/>
            <a:ext cx="182880" cy="0"/>
          </a:xfrm>
          <a:prstGeom prst="line">
            <a:avLst/>
          </a:prstGeom>
          <a:noFill/>
          <a:ln w="21590">
            <a:solidFill>
              <a:srgbClr val="007A53"/>
            </a:solidFill>
            <a:prstDash val="solid"/>
            <a:headEnd type="none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438912" y="1874520"/>
            <a:ext cx="137160" cy="0"/>
          </a:xfrm>
          <a:prstGeom prst="line">
            <a:avLst/>
          </a:prstGeom>
          <a:noFill/>
          <a:ln w="21590">
            <a:solidFill>
              <a:srgbClr val="007A53"/>
            </a:solidFill>
            <a:prstDash val="solid"/>
            <a:headEnd type="none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667512" y="1892808"/>
            <a:ext cx="146304" cy="146304"/>
          </a:xfrm>
          <a:prstGeom prst="star5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14984" y="1517904"/>
            <a:ext cx="2871216" cy="265176"/>
          </a:xfrm>
          <a:prstGeom prst="roundRect">
            <a:avLst>
              <a:gd name="adj" fmla="val 17241"/>
            </a:avLst>
          </a:prstGeom>
          <a:solidFill>
            <a:srgbClr val="F2F8F5"/>
          </a:solidFill>
          <a:ln w="10160">
            <a:solidFill>
              <a:srgbClr val="F2F8F5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097280" y="1527048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7A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AI-Enabled TCGen Tool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1106424" y="1892808"/>
            <a:ext cx="64008" cy="64008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1234440" y="1837944"/>
            <a:ext cx="2615184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tests from requirements and business flows</a:t>
            </a:r>
            <a:endParaRPr lang="en-US" sz="855" dirty="0"/>
          </a:p>
        </p:txBody>
      </p:sp>
      <p:sp>
        <p:nvSpPr>
          <p:cNvPr id="62" name="Shape 60"/>
          <p:cNvSpPr/>
          <p:nvPr/>
        </p:nvSpPr>
        <p:spPr>
          <a:xfrm>
            <a:off x="1106424" y="2154936"/>
            <a:ext cx="64008" cy="64008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1234440" y="2100072"/>
            <a:ext cx="2615184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coverage and reduces manual effort</a:t>
            </a:r>
            <a:endParaRPr lang="en-US" sz="855" dirty="0"/>
          </a:p>
        </p:txBody>
      </p:sp>
      <p:sp>
        <p:nvSpPr>
          <p:cNvPr id="64" name="Shape 62"/>
          <p:cNvSpPr/>
          <p:nvPr/>
        </p:nvSpPr>
        <p:spPr>
          <a:xfrm>
            <a:off x="1106424" y="2417064"/>
            <a:ext cx="64008" cy="64008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234440" y="2362200"/>
            <a:ext cx="2615184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Accelerates test design</a:t>
            </a:r>
            <a:endParaRPr lang="en-US" sz="855" dirty="0"/>
          </a:p>
        </p:txBody>
      </p:sp>
      <p:sp>
        <p:nvSpPr>
          <p:cNvPr id="66" name="Shape 64"/>
          <p:cNvSpPr/>
          <p:nvPr/>
        </p:nvSpPr>
        <p:spPr>
          <a:xfrm>
            <a:off x="164592" y="2770632"/>
            <a:ext cx="3813048" cy="1271016"/>
          </a:xfrm>
          <a:prstGeom prst="roundRect">
            <a:avLst>
              <a:gd name="adj" fmla="val 5036"/>
            </a:avLst>
          </a:prstGeom>
          <a:solidFill>
            <a:srgbClr val="FAFCFB"/>
          </a:solidFill>
          <a:ln w="10160">
            <a:solidFill>
              <a:srgbClr val="CBE4D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56032" y="2889504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E7F4EE"/>
          </a:solidFill>
          <a:ln w="10160">
            <a:solidFill>
              <a:srgbClr val="E7F4E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65760" y="3008376"/>
            <a:ext cx="365760" cy="274320"/>
          </a:xfrm>
          <a:prstGeom prst="roundRect">
            <a:avLst/>
          </a:prstGeom>
          <a:solidFill>
            <a:srgbClr val="FFFFFF">
              <a:alpha val="0"/>
            </a:srgbClr>
          </a:solidFill>
          <a:ln w="21590">
            <a:solidFill>
              <a:srgbClr val="007A53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393192" y="305409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A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&lt;/&gt;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40080" y="3246120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40664" y="3346704"/>
            <a:ext cx="82296" cy="82296"/>
          </a:xfrm>
          <a:prstGeom prst="line">
            <a:avLst/>
          </a:prstGeom>
          <a:noFill/>
          <a:ln w="25400">
            <a:solidFill>
              <a:srgbClr val="007A53"/>
            </a:solidFill>
            <a:prstDash val="solid"/>
            <a:headEnd type="none"/>
            <a:tailEnd type="none"/>
          </a:ln>
        </p:spPr>
      </p:sp>
      <p:sp>
        <p:nvSpPr>
          <p:cNvPr id="72" name="Shape 70"/>
          <p:cNvSpPr/>
          <p:nvPr/>
        </p:nvSpPr>
        <p:spPr>
          <a:xfrm>
            <a:off x="1014984" y="2880360"/>
            <a:ext cx="2871216" cy="265176"/>
          </a:xfrm>
          <a:prstGeom prst="roundRect">
            <a:avLst>
              <a:gd name="adj" fmla="val 17241"/>
            </a:avLst>
          </a:prstGeom>
          <a:solidFill>
            <a:srgbClr val="F2F8F5"/>
          </a:solidFill>
          <a:ln w="10160">
            <a:solidFill>
              <a:srgbClr val="F2F8F5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1097280" y="2889504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7A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Code Review Tool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1106424" y="3255264"/>
            <a:ext cx="64008" cy="64008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1234440" y="3200400"/>
            <a:ext cx="2615184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shared project workspace code</a:t>
            </a:r>
            <a:endParaRPr lang="en-US" sz="855" dirty="0"/>
          </a:p>
        </p:txBody>
      </p:sp>
      <p:sp>
        <p:nvSpPr>
          <p:cNvPr id="76" name="Shape 74"/>
          <p:cNvSpPr/>
          <p:nvPr/>
        </p:nvSpPr>
        <p:spPr>
          <a:xfrm>
            <a:off x="1106424" y="3517392"/>
            <a:ext cx="64008" cy="64008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1234440" y="3462528"/>
            <a:ext cx="2615184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defects, risks and improvement areas</a:t>
            </a:r>
            <a:endParaRPr lang="en-US" sz="855" dirty="0"/>
          </a:p>
        </p:txBody>
      </p:sp>
      <p:sp>
        <p:nvSpPr>
          <p:cNvPr id="78" name="Shape 76"/>
          <p:cNvSpPr/>
          <p:nvPr/>
        </p:nvSpPr>
        <p:spPr>
          <a:xfrm>
            <a:off x="1106424" y="3779520"/>
            <a:ext cx="64008" cy="64008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1234440" y="3724656"/>
            <a:ext cx="2615184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Strengthens code quality</a:t>
            </a:r>
            <a:endParaRPr lang="en-US" sz="855" dirty="0"/>
          </a:p>
        </p:txBody>
      </p:sp>
      <p:sp>
        <p:nvSpPr>
          <p:cNvPr id="80" name="Shape 78"/>
          <p:cNvSpPr/>
          <p:nvPr/>
        </p:nvSpPr>
        <p:spPr>
          <a:xfrm>
            <a:off x="164592" y="4133088"/>
            <a:ext cx="3813048" cy="1271016"/>
          </a:xfrm>
          <a:prstGeom prst="roundRect">
            <a:avLst>
              <a:gd name="adj" fmla="val 5036"/>
            </a:avLst>
          </a:prstGeom>
          <a:solidFill>
            <a:srgbClr val="FAFCFB"/>
          </a:solidFill>
          <a:ln w="10160">
            <a:solidFill>
              <a:srgbClr val="CBE4D7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56032" y="425196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E7F4EE"/>
          </a:solidFill>
          <a:ln w="10160">
            <a:solidFill>
              <a:srgbClr val="E7F4E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20624" y="4453128"/>
            <a:ext cx="201168" cy="201168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75488" y="4379976"/>
            <a:ext cx="91440" cy="91440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93192" y="4471416"/>
            <a:ext cx="-64008" cy="-27432"/>
          </a:xfrm>
          <a:prstGeom prst="line">
            <a:avLst/>
          </a:prstGeom>
          <a:noFill/>
          <a:ln w="17780">
            <a:solidFill>
              <a:srgbClr val="007A53"/>
            </a:solidFill>
            <a:prstDash val="solid"/>
            <a:headEnd type="none"/>
            <a:tailEnd type="none"/>
          </a:ln>
        </p:spPr>
      </p:sp>
      <p:sp>
        <p:nvSpPr>
          <p:cNvPr id="85" name="Shape 83"/>
          <p:cNvSpPr/>
          <p:nvPr/>
        </p:nvSpPr>
        <p:spPr>
          <a:xfrm>
            <a:off x="621792" y="4471416"/>
            <a:ext cx="64008" cy="-27432"/>
          </a:xfrm>
          <a:prstGeom prst="line">
            <a:avLst/>
          </a:prstGeom>
          <a:noFill/>
          <a:ln w="17780">
            <a:solidFill>
              <a:srgbClr val="007A53"/>
            </a:solidFill>
            <a:prstDash val="solid"/>
            <a:headEnd type="none"/>
            <a:tailEnd type="none"/>
          </a:ln>
        </p:spPr>
      </p:sp>
      <p:sp>
        <p:nvSpPr>
          <p:cNvPr id="86" name="Shape 84"/>
          <p:cNvSpPr/>
          <p:nvPr/>
        </p:nvSpPr>
        <p:spPr>
          <a:xfrm>
            <a:off x="393192" y="4535424"/>
            <a:ext cx="-64008" cy="-18288"/>
          </a:xfrm>
          <a:prstGeom prst="line">
            <a:avLst/>
          </a:prstGeom>
          <a:noFill/>
          <a:ln w="17780">
            <a:solidFill>
              <a:srgbClr val="007A53"/>
            </a:solidFill>
            <a:prstDash val="solid"/>
            <a:headEnd type="none"/>
            <a:tailEnd type="none"/>
          </a:ln>
        </p:spPr>
      </p:sp>
      <p:sp>
        <p:nvSpPr>
          <p:cNvPr id="87" name="Shape 85"/>
          <p:cNvSpPr/>
          <p:nvPr/>
        </p:nvSpPr>
        <p:spPr>
          <a:xfrm>
            <a:off x="621792" y="4535424"/>
            <a:ext cx="64008" cy="-18288"/>
          </a:xfrm>
          <a:prstGeom prst="line">
            <a:avLst/>
          </a:prstGeom>
          <a:noFill/>
          <a:ln w="17780">
            <a:solidFill>
              <a:srgbClr val="007A53"/>
            </a:solidFill>
            <a:prstDash val="solid"/>
            <a:headEnd type="none"/>
            <a:tailEnd type="none"/>
          </a:ln>
        </p:spPr>
      </p:sp>
      <p:sp>
        <p:nvSpPr>
          <p:cNvPr id="88" name="Shape 86"/>
          <p:cNvSpPr/>
          <p:nvPr/>
        </p:nvSpPr>
        <p:spPr>
          <a:xfrm>
            <a:off x="393192" y="4599432"/>
            <a:ext cx="-64008" cy="-9144"/>
          </a:xfrm>
          <a:prstGeom prst="line">
            <a:avLst/>
          </a:prstGeom>
          <a:noFill/>
          <a:ln w="17780">
            <a:solidFill>
              <a:srgbClr val="007A53"/>
            </a:solidFill>
            <a:prstDash val="solid"/>
            <a:headEnd type="none"/>
            <a:tailEnd type="none"/>
          </a:ln>
        </p:spPr>
      </p:sp>
      <p:sp>
        <p:nvSpPr>
          <p:cNvPr id="89" name="Shape 87"/>
          <p:cNvSpPr/>
          <p:nvPr/>
        </p:nvSpPr>
        <p:spPr>
          <a:xfrm>
            <a:off x="621792" y="4599432"/>
            <a:ext cx="64008" cy="-9144"/>
          </a:xfrm>
          <a:prstGeom prst="line">
            <a:avLst/>
          </a:prstGeom>
          <a:noFill/>
          <a:ln w="17780">
            <a:solidFill>
              <a:srgbClr val="007A53"/>
            </a:solidFill>
            <a:prstDash val="solid"/>
            <a:headEnd type="none"/>
            <a:tailEnd type="none"/>
          </a:ln>
        </p:spPr>
      </p:sp>
      <p:sp>
        <p:nvSpPr>
          <p:cNvPr id="90" name="Shape 88"/>
          <p:cNvSpPr/>
          <p:nvPr/>
        </p:nvSpPr>
        <p:spPr>
          <a:xfrm>
            <a:off x="621792" y="4608576"/>
            <a:ext cx="146304" cy="146304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22376" y="4709160"/>
            <a:ext cx="91440" cy="91440"/>
          </a:xfrm>
          <a:prstGeom prst="line">
            <a:avLst/>
          </a:prstGeom>
          <a:noFill/>
          <a:ln w="25400">
            <a:solidFill>
              <a:srgbClr val="007A53"/>
            </a:solidFill>
            <a:prstDash val="solid"/>
            <a:headEnd type="none"/>
            <a:tailEnd type="none"/>
          </a:ln>
        </p:spPr>
      </p:sp>
      <p:sp>
        <p:nvSpPr>
          <p:cNvPr id="92" name="Shape 90"/>
          <p:cNvSpPr/>
          <p:nvPr/>
        </p:nvSpPr>
        <p:spPr>
          <a:xfrm>
            <a:off x="1014984" y="4242816"/>
            <a:ext cx="2871216" cy="265176"/>
          </a:xfrm>
          <a:prstGeom prst="roundRect">
            <a:avLst>
              <a:gd name="adj" fmla="val 17241"/>
            </a:avLst>
          </a:prstGeom>
          <a:solidFill>
            <a:srgbClr val="F2F8F5"/>
          </a:solidFill>
          <a:ln w="10160">
            <a:solidFill>
              <a:srgbClr val="F2F8F5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1097280" y="4251960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7A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Root Cause Analysis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1106424" y="4617720"/>
            <a:ext cx="64008" cy="64008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1234440" y="4562856"/>
            <a:ext cx="2615184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Enriches reports with probable root causes</a:t>
            </a:r>
            <a:endParaRPr lang="en-US" sz="855" dirty="0"/>
          </a:p>
        </p:txBody>
      </p:sp>
      <p:sp>
        <p:nvSpPr>
          <p:cNvPr id="96" name="Shape 94"/>
          <p:cNvSpPr/>
          <p:nvPr/>
        </p:nvSpPr>
        <p:spPr>
          <a:xfrm>
            <a:off x="1106424" y="4879848"/>
            <a:ext cx="64008" cy="64008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1234440" y="4824984"/>
            <a:ext cx="2615184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Summarises failure patterns and evidence</a:t>
            </a:r>
            <a:endParaRPr lang="en-US" sz="855" dirty="0"/>
          </a:p>
        </p:txBody>
      </p:sp>
      <p:sp>
        <p:nvSpPr>
          <p:cNvPr id="98" name="Shape 96"/>
          <p:cNvSpPr/>
          <p:nvPr/>
        </p:nvSpPr>
        <p:spPr>
          <a:xfrm>
            <a:off x="1106424" y="5141976"/>
            <a:ext cx="64008" cy="64008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1234440" y="5087112"/>
            <a:ext cx="2615184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Accelerates defect triage and resolution</a:t>
            </a:r>
            <a:endParaRPr lang="en-US" sz="855" dirty="0"/>
          </a:p>
        </p:txBody>
      </p:sp>
      <p:sp>
        <p:nvSpPr>
          <p:cNvPr id="100" name="Shape 98"/>
          <p:cNvSpPr/>
          <p:nvPr/>
        </p:nvSpPr>
        <p:spPr>
          <a:xfrm>
            <a:off x="4087368" y="1408176"/>
            <a:ext cx="3813048" cy="1271016"/>
          </a:xfrm>
          <a:prstGeom prst="roundRect">
            <a:avLst>
              <a:gd name="adj" fmla="val 5036"/>
            </a:avLst>
          </a:prstGeom>
          <a:solidFill>
            <a:srgbClr val="FAFCFB"/>
          </a:solidFill>
          <a:ln w="10160">
            <a:solidFill>
              <a:srgbClr val="CBE4D7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178808" y="152704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E7F4EE"/>
          </a:solidFill>
          <a:ln w="10160">
            <a:solidFill>
              <a:srgbClr val="E7F4EE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315968" y="1700784"/>
            <a:ext cx="310896" cy="256032"/>
          </a:xfrm>
          <a:prstGeom prst="roundRect">
            <a:avLst/>
          </a:prstGeom>
          <a:solidFill>
            <a:srgbClr val="FFFFFF">
              <a:alpha val="0"/>
            </a:srgbClr>
          </a:solidFill>
          <a:ln w="21590">
            <a:solidFill>
              <a:srgbClr val="007A53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471416" y="1700784"/>
            <a:ext cx="0" cy="-73152"/>
          </a:xfrm>
          <a:prstGeom prst="line">
            <a:avLst/>
          </a:prstGeom>
          <a:noFill/>
          <a:ln w="19050">
            <a:solidFill>
              <a:srgbClr val="007A53"/>
            </a:solidFill>
            <a:prstDash val="solid"/>
            <a:headEnd type="none"/>
            <a:tailEnd type="none"/>
          </a:ln>
        </p:spPr>
      </p:sp>
      <p:sp>
        <p:nvSpPr>
          <p:cNvPr id="104" name="Shape 102"/>
          <p:cNvSpPr/>
          <p:nvPr/>
        </p:nvSpPr>
        <p:spPr>
          <a:xfrm>
            <a:off x="4443984" y="1600200"/>
            <a:ext cx="54864" cy="54864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379976" y="1783080"/>
            <a:ext cx="45720" cy="45720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517136" y="1783080"/>
            <a:ext cx="45720" cy="45720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581144" y="1874520"/>
            <a:ext cx="164592" cy="164592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636008" y="1915668"/>
            <a:ext cx="54864" cy="54864"/>
          </a:xfrm>
          <a:prstGeom prst="chevron">
            <a:avLst/>
          </a:prstGeom>
          <a:solidFill>
            <a:srgbClr val="FFFFFF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937760" y="1517904"/>
            <a:ext cx="2871216" cy="265176"/>
          </a:xfrm>
          <a:prstGeom prst="roundRect">
            <a:avLst>
              <a:gd name="adj" fmla="val 17241"/>
            </a:avLst>
          </a:prstGeom>
          <a:solidFill>
            <a:srgbClr val="F2F8F5"/>
          </a:solidFill>
          <a:ln w="10160">
            <a:solidFill>
              <a:srgbClr val="F2F8F5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5020056" y="1527048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7A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Automation Code Generation</a:t>
            </a:r>
            <a:endParaRPr lang="en-US" sz="1200" dirty="0"/>
          </a:p>
        </p:txBody>
      </p:sp>
      <p:sp>
        <p:nvSpPr>
          <p:cNvPr id="111" name="Shape 109"/>
          <p:cNvSpPr/>
          <p:nvPr/>
        </p:nvSpPr>
        <p:spPr>
          <a:xfrm>
            <a:off x="5029200" y="1892808"/>
            <a:ext cx="64008" cy="64008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5157216" y="1837944"/>
            <a:ext cx="2615184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Record-and-play assisted code generation</a:t>
            </a:r>
            <a:endParaRPr lang="en-US" sz="855" dirty="0"/>
          </a:p>
        </p:txBody>
      </p:sp>
      <p:sp>
        <p:nvSpPr>
          <p:cNvPr id="113" name="Shape 111"/>
          <p:cNvSpPr/>
          <p:nvPr/>
        </p:nvSpPr>
        <p:spPr>
          <a:xfrm>
            <a:off x="5029200" y="2154936"/>
            <a:ext cx="64008" cy="64008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5157216" y="2100072"/>
            <a:ext cx="2615184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user actions into reusable scripts</a:t>
            </a:r>
            <a:endParaRPr lang="en-US" sz="855" dirty="0"/>
          </a:p>
        </p:txBody>
      </p:sp>
      <p:sp>
        <p:nvSpPr>
          <p:cNvPr id="115" name="Shape 113"/>
          <p:cNvSpPr/>
          <p:nvPr/>
        </p:nvSpPr>
        <p:spPr>
          <a:xfrm>
            <a:off x="5029200" y="2417064"/>
            <a:ext cx="64008" cy="64008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5157216" y="2362200"/>
            <a:ext cx="2615184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Speeds automation development</a:t>
            </a:r>
            <a:endParaRPr lang="en-US" sz="855" dirty="0"/>
          </a:p>
        </p:txBody>
      </p:sp>
      <p:sp>
        <p:nvSpPr>
          <p:cNvPr id="117" name="Shape 115"/>
          <p:cNvSpPr/>
          <p:nvPr/>
        </p:nvSpPr>
        <p:spPr>
          <a:xfrm>
            <a:off x="4087368" y="2770632"/>
            <a:ext cx="3813048" cy="1271016"/>
          </a:xfrm>
          <a:prstGeom prst="roundRect">
            <a:avLst>
              <a:gd name="adj" fmla="val 5036"/>
            </a:avLst>
          </a:prstGeom>
          <a:solidFill>
            <a:srgbClr val="FAFCFB"/>
          </a:solidFill>
          <a:ln w="10160">
            <a:solidFill>
              <a:srgbClr val="CBE4D7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178808" y="2889504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E7F4EE"/>
          </a:solidFill>
          <a:ln w="10160">
            <a:solidFill>
              <a:srgbClr val="E7F4EE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288536" y="3008376"/>
            <a:ext cx="356616" cy="265176"/>
          </a:xfrm>
          <a:prstGeom prst="roundRect">
            <a:avLst/>
          </a:prstGeom>
          <a:solidFill>
            <a:srgbClr val="FFFFFF">
              <a:alpha val="0"/>
            </a:srgbClr>
          </a:solidFill>
          <a:ln w="21590">
            <a:solidFill>
              <a:srgbClr val="007A53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434840" y="3145536"/>
            <a:ext cx="274320" cy="201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A53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480560" y="3200400"/>
            <a:ext cx="164592" cy="0"/>
          </a:xfrm>
          <a:prstGeom prst="line">
            <a:avLst/>
          </a:prstGeom>
          <a:noFill/>
          <a:ln w="21590">
            <a:solidFill>
              <a:srgbClr val="007A53"/>
            </a:solidFill>
            <a:prstDash val="solid"/>
            <a:headEnd type="none"/>
            <a:tailEnd type="none"/>
          </a:ln>
        </p:spPr>
      </p:sp>
      <p:sp>
        <p:nvSpPr>
          <p:cNvPr id="122" name="Shape 120"/>
          <p:cNvSpPr/>
          <p:nvPr/>
        </p:nvSpPr>
        <p:spPr>
          <a:xfrm>
            <a:off x="4480560" y="3255264"/>
            <a:ext cx="118872" cy="0"/>
          </a:xfrm>
          <a:prstGeom prst="line">
            <a:avLst/>
          </a:prstGeom>
          <a:noFill/>
          <a:ln w="21590">
            <a:solidFill>
              <a:srgbClr val="007A53"/>
            </a:solidFill>
            <a:prstDash val="solid"/>
            <a:headEnd type="none"/>
            <a:tailEnd type="none"/>
          </a:ln>
        </p:spPr>
      </p:sp>
      <p:sp>
        <p:nvSpPr>
          <p:cNvPr id="123" name="Shape 121"/>
          <p:cNvSpPr/>
          <p:nvPr/>
        </p:nvSpPr>
        <p:spPr>
          <a:xfrm>
            <a:off x="4937760" y="2880360"/>
            <a:ext cx="2871216" cy="265176"/>
          </a:xfrm>
          <a:prstGeom prst="roundRect">
            <a:avLst>
              <a:gd name="adj" fmla="val 17241"/>
            </a:avLst>
          </a:prstGeom>
          <a:solidFill>
            <a:srgbClr val="F2F8F5"/>
          </a:solidFill>
          <a:ln w="10160">
            <a:solidFill>
              <a:srgbClr val="F2F8F5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5020056" y="2889504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10" b="1" dirty="0">
                <a:solidFill>
                  <a:srgbClr val="007A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Prompt-Based VIBIUM UI Automation</a:t>
            </a:r>
            <a:endParaRPr lang="en-US" sz="1110" dirty="0"/>
          </a:p>
        </p:txBody>
      </p:sp>
      <p:sp>
        <p:nvSpPr>
          <p:cNvPr id="125" name="Shape 123"/>
          <p:cNvSpPr/>
          <p:nvPr/>
        </p:nvSpPr>
        <p:spPr>
          <a:xfrm>
            <a:off x="5029200" y="3255264"/>
            <a:ext cx="64008" cy="64008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5157216" y="3200400"/>
            <a:ext cx="2615184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Prompt-driven UI automation</a:t>
            </a:r>
            <a:endParaRPr lang="en-US" sz="855" dirty="0"/>
          </a:p>
        </p:txBody>
      </p:sp>
      <p:sp>
        <p:nvSpPr>
          <p:cNvPr id="127" name="Shape 125"/>
          <p:cNvSpPr/>
          <p:nvPr/>
        </p:nvSpPr>
        <p:spPr>
          <a:xfrm>
            <a:off x="5029200" y="3517392"/>
            <a:ext cx="64008" cy="64008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5157216" y="3462528"/>
            <a:ext cx="2615184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tests from natural-language instructions</a:t>
            </a:r>
            <a:endParaRPr lang="en-US" sz="855" dirty="0"/>
          </a:p>
        </p:txBody>
      </p:sp>
      <p:sp>
        <p:nvSpPr>
          <p:cNvPr id="129" name="Shape 127"/>
          <p:cNvSpPr/>
          <p:nvPr/>
        </p:nvSpPr>
        <p:spPr>
          <a:xfrm>
            <a:off x="5029200" y="3779520"/>
            <a:ext cx="64008" cy="64008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5157216" y="3724656"/>
            <a:ext cx="2615184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Accelerates validation workflows</a:t>
            </a:r>
            <a:endParaRPr lang="en-US" sz="855" dirty="0"/>
          </a:p>
        </p:txBody>
      </p:sp>
      <p:sp>
        <p:nvSpPr>
          <p:cNvPr id="131" name="Shape 129"/>
          <p:cNvSpPr/>
          <p:nvPr/>
        </p:nvSpPr>
        <p:spPr>
          <a:xfrm>
            <a:off x="4087368" y="4133088"/>
            <a:ext cx="3813048" cy="1271016"/>
          </a:xfrm>
          <a:prstGeom prst="roundRect">
            <a:avLst>
              <a:gd name="adj" fmla="val 5036"/>
            </a:avLst>
          </a:prstGeom>
          <a:solidFill>
            <a:srgbClr val="FAFCFB"/>
          </a:solidFill>
          <a:ln w="10160">
            <a:solidFill>
              <a:srgbClr val="CBE4D7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178808" y="425196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E7F4EE"/>
          </a:solidFill>
          <a:ln w="10160">
            <a:solidFill>
              <a:srgbClr val="E7F4EE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334256" y="4407408"/>
            <a:ext cx="155448" cy="155448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498848" y="4379976"/>
            <a:ext cx="146304" cy="146304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361688" y="4562856"/>
            <a:ext cx="155448" cy="155448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526280" y="456285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407408" y="4480560"/>
            <a:ext cx="54864" cy="54864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572000" y="4462272"/>
            <a:ext cx="54864" cy="54864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471416" y="4645152"/>
            <a:ext cx="54864" cy="54864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434840" y="4507992"/>
            <a:ext cx="128016" cy="-27432"/>
          </a:xfrm>
          <a:prstGeom prst="line">
            <a:avLst/>
          </a:prstGeom>
          <a:noFill/>
          <a:ln w="16510">
            <a:solidFill>
              <a:srgbClr val="007A53"/>
            </a:solidFill>
            <a:prstDash val="solid"/>
            <a:headEnd type="none"/>
            <a:tailEnd type="none"/>
          </a:ln>
        </p:spPr>
      </p:sp>
      <p:sp>
        <p:nvSpPr>
          <p:cNvPr id="141" name="Shape 139"/>
          <p:cNvSpPr/>
          <p:nvPr/>
        </p:nvSpPr>
        <p:spPr>
          <a:xfrm>
            <a:off x="4434840" y="4517136"/>
            <a:ext cx="54864" cy="146304"/>
          </a:xfrm>
          <a:prstGeom prst="line">
            <a:avLst/>
          </a:prstGeom>
          <a:noFill/>
          <a:ln w="16510">
            <a:solidFill>
              <a:srgbClr val="007A53"/>
            </a:solidFill>
            <a:prstDash val="solid"/>
            <a:headEnd type="none"/>
            <a:tailEnd type="none"/>
          </a:ln>
        </p:spPr>
      </p:sp>
      <p:sp>
        <p:nvSpPr>
          <p:cNvPr id="142" name="Shape 140"/>
          <p:cNvSpPr/>
          <p:nvPr/>
        </p:nvSpPr>
        <p:spPr>
          <a:xfrm>
            <a:off x="4572000" y="4489704"/>
            <a:ext cx="-73152" cy="173736"/>
          </a:xfrm>
          <a:prstGeom prst="line">
            <a:avLst/>
          </a:prstGeom>
          <a:noFill/>
          <a:ln w="16510">
            <a:solidFill>
              <a:srgbClr val="007A53"/>
            </a:solidFill>
            <a:prstDash val="solid"/>
            <a:headEnd type="none"/>
            <a:tailEnd type="none"/>
          </a:ln>
        </p:spPr>
      </p:sp>
      <p:sp>
        <p:nvSpPr>
          <p:cNvPr id="143" name="Shape 141"/>
          <p:cNvSpPr/>
          <p:nvPr/>
        </p:nvSpPr>
        <p:spPr>
          <a:xfrm>
            <a:off x="4937760" y="4242816"/>
            <a:ext cx="2871216" cy="265176"/>
          </a:xfrm>
          <a:prstGeom prst="roundRect">
            <a:avLst>
              <a:gd name="adj" fmla="val 17241"/>
            </a:avLst>
          </a:prstGeom>
          <a:solidFill>
            <a:srgbClr val="F2F8F5"/>
          </a:solidFill>
          <a:ln w="10160">
            <a:solidFill>
              <a:srgbClr val="F2F8F5"/>
            </a:solidFill>
            <a:prstDash val="solid"/>
          </a:ln>
        </p:spPr>
      </p:sp>
      <p:sp>
        <p:nvSpPr>
          <p:cNvPr id="144" name="Text 142"/>
          <p:cNvSpPr txBox="1"/>
          <p:nvPr/>
        </p:nvSpPr>
        <p:spPr>
          <a:xfrm>
            <a:off x="5020056" y="4251960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10" b="1" dirty="0">
                <a:solidFill>
                  <a:srgbClr val="007A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Purpose AI Agent – Eliya</a:t>
            </a:r>
            <a:endParaRPr lang="en-US" sz="1110" dirty="0"/>
          </a:p>
        </p:txBody>
      </p:sp>
      <p:sp>
        <p:nvSpPr>
          <p:cNvPr id="145" name="Shape 143"/>
          <p:cNvSpPr/>
          <p:nvPr/>
        </p:nvSpPr>
        <p:spPr>
          <a:xfrm>
            <a:off x="5029200" y="4617720"/>
            <a:ext cx="64008" cy="64008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146" name="Text 144"/>
          <p:cNvSpPr txBox="1"/>
          <p:nvPr/>
        </p:nvSpPr>
        <p:spPr>
          <a:xfrm>
            <a:off x="5157216" y="4562856"/>
            <a:ext cx="2615184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Memory-backed general-purpose AI agent</a:t>
            </a:r>
            <a:endParaRPr lang="en-US" sz="855" dirty="0"/>
          </a:p>
        </p:txBody>
      </p:sp>
      <p:sp>
        <p:nvSpPr>
          <p:cNvPr id="147" name="Shape 145"/>
          <p:cNvSpPr/>
          <p:nvPr/>
        </p:nvSpPr>
        <p:spPr>
          <a:xfrm>
            <a:off x="5029200" y="4879848"/>
            <a:ext cx="64008" cy="64008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148" name="Text 146"/>
          <p:cNvSpPr txBox="1"/>
          <p:nvPr/>
        </p:nvSpPr>
        <p:spPr>
          <a:xfrm>
            <a:off x="5157216" y="4824984"/>
            <a:ext cx="2615184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chat, analysis, planning and tool execution</a:t>
            </a:r>
            <a:endParaRPr lang="en-US" sz="855" dirty="0"/>
          </a:p>
        </p:txBody>
      </p:sp>
      <p:sp>
        <p:nvSpPr>
          <p:cNvPr id="149" name="Shape 147"/>
          <p:cNvSpPr/>
          <p:nvPr/>
        </p:nvSpPr>
        <p:spPr>
          <a:xfrm>
            <a:off x="5029200" y="5141976"/>
            <a:ext cx="64008" cy="64008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150" name="Text 148"/>
          <p:cNvSpPr txBox="1"/>
          <p:nvPr/>
        </p:nvSpPr>
        <p:spPr>
          <a:xfrm>
            <a:off x="5157216" y="5087112"/>
            <a:ext cx="2615184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Executes multi-step tasks across workspaces</a:t>
            </a:r>
            <a:endParaRPr lang="en-US" sz="855" dirty="0"/>
          </a:p>
        </p:txBody>
      </p:sp>
      <p:sp>
        <p:nvSpPr>
          <p:cNvPr id="151" name="Shape 149"/>
          <p:cNvSpPr/>
          <p:nvPr/>
        </p:nvSpPr>
        <p:spPr>
          <a:xfrm>
            <a:off x="8010144" y="1408176"/>
            <a:ext cx="3813048" cy="1271016"/>
          </a:xfrm>
          <a:prstGeom prst="roundRect">
            <a:avLst>
              <a:gd name="adj" fmla="val 5036"/>
            </a:avLst>
          </a:prstGeom>
          <a:solidFill>
            <a:srgbClr val="FAFCFB"/>
          </a:solidFill>
          <a:ln w="10160">
            <a:solidFill>
              <a:srgbClr val="CBE4D7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8101584" y="152704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E7F4EE"/>
          </a:solidFill>
          <a:ln w="10160">
            <a:solidFill>
              <a:srgbClr val="E7F4EE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238744" y="1636776"/>
            <a:ext cx="283464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21590">
            <a:solidFill>
              <a:srgbClr val="007A53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284464" y="1728216"/>
            <a:ext cx="173736" cy="0"/>
          </a:xfrm>
          <a:prstGeom prst="line">
            <a:avLst/>
          </a:prstGeom>
          <a:noFill/>
          <a:ln w="21590">
            <a:solidFill>
              <a:srgbClr val="007A53"/>
            </a:solidFill>
            <a:prstDash val="solid"/>
            <a:headEnd type="none"/>
            <a:tailEnd type="none"/>
          </a:ln>
        </p:spPr>
      </p:sp>
      <p:sp>
        <p:nvSpPr>
          <p:cNvPr id="155" name="Shape 153"/>
          <p:cNvSpPr/>
          <p:nvPr/>
        </p:nvSpPr>
        <p:spPr>
          <a:xfrm>
            <a:off x="8284464" y="1801368"/>
            <a:ext cx="146304" cy="0"/>
          </a:xfrm>
          <a:prstGeom prst="line">
            <a:avLst/>
          </a:prstGeom>
          <a:noFill/>
          <a:ln w="21590">
            <a:solidFill>
              <a:srgbClr val="007A53"/>
            </a:solidFill>
            <a:prstDash val="solid"/>
            <a:headEnd type="none"/>
            <a:tailEnd type="none"/>
          </a:ln>
        </p:spPr>
      </p:sp>
      <p:sp>
        <p:nvSpPr>
          <p:cNvPr id="156" name="Shape 154"/>
          <p:cNvSpPr/>
          <p:nvPr/>
        </p:nvSpPr>
        <p:spPr>
          <a:xfrm>
            <a:off x="8284464" y="1874520"/>
            <a:ext cx="164592" cy="0"/>
          </a:xfrm>
          <a:prstGeom prst="line">
            <a:avLst/>
          </a:prstGeom>
          <a:noFill/>
          <a:ln w="21590">
            <a:solidFill>
              <a:srgbClr val="007A53"/>
            </a:solidFill>
            <a:prstDash val="solid"/>
            <a:headEnd type="none"/>
            <a:tailEnd type="none"/>
          </a:ln>
        </p:spPr>
      </p:sp>
      <p:sp>
        <p:nvSpPr>
          <p:cNvPr id="157" name="Shape 155"/>
          <p:cNvSpPr/>
          <p:nvPr/>
        </p:nvSpPr>
        <p:spPr>
          <a:xfrm>
            <a:off x="8485632" y="1956816"/>
            <a:ext cx="146304" cy="-146304"/>
          </a:xfrm>
          <a:prstGeom prst="line">
            <a:avLst/>
          </a:prstGeom>
          <a:noFill/>
          <a:ln w="27940">
            <a:solidFill>
              <a:srgbClr val="007A53"/>
            </a:solidFill>
            <a:prstDash val="solid"/>
            <a:headEnd type="none"/>
            <a:tailEnd type="none"/>
          </a:ln>
        </p:spPr>
      </p:sp>
      <p:sp>
        <p:nvSpPr>
          <p:cNvPr id="158" name="Shape 156"/>
          <p:cNvSpPr/>
          <p:nvPr/>
        </p:nvSpPr>
        <p:spPr>
          <a:xfrm>
            <a:off x="8577072" y="1728216"/>
            <a:ext cx="45720" cy="45720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631936" y="1773936"/>
            <a:ext cx="32004" cy="32004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860536" y="1517904"/>
            <a:ext cx="2871216" cy="265176"/>
          </a:xfrm>
          <a:prstGeom prst="roundRect">
            <a:avLst>
              <a:gd name="adj" fmla="val 17241"/>
            </a:avLst>
          </a:prstGeom>
          <a:solidFill>
            <a:srgbClr val="F2F8F5"/>
          </a:solidFill>
          <a:ln w="10160">
            <a:solidFill>
              <a:srgbClr val="F2F8F5"/>
            </a:solidFill>
            <a:prstDash val="solid"/>
          </a:ln>
        </p:spPr>
      </p:sp>
      <p:sp>
        <p:nvSpPr>
          <p:cNvPr id="161" name="Text 159"/>
          <p:cNvSpPr txBox="1"/>
          <p:nvPr/>
        </p:nvSpPr>
        <p:spPr>
          <a:xfrm>
            <a:off x="8942832" y="1527048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7A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Formatting Tool</a:t>
            </a:r>
            <a:endParaRPr lang="en-US" sz="1200" dirty="0"/>
          </a:p>
        </p:txBody>
      </p:sp>
      <p:sp>
        <p:nvSpPr>
          <p:cNvPr id="162" name="Shape 160"/>
          <p:cNvSpPr/>
          <p:nvPr/>
        </p:nvSpPr>
        <p:spPr>
          <a:xfrm>
            <a:off x="8951976" y="1892808"/>
            <a:ext cx="64008" cy="64008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163" name="Text 161"/>
          <p:cNvSpPr txBox="1"/>
          <p:nvPr/>
        </p:nvSpPr>
        <p:spPr>
          <a:xfrm>
            <a:off x="9079992" y="1837944"/>
            <a:ext cx="2615184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Formats content for Confluence and email</a:t>
            </a:r>
            <a:endParaRPr lang="en-US" sz="855" dirty="0"/>
          </a:p>
        </p:txBody>
      </p:sp>
      <p:sp>
        <p:nvSpPr>
          <p:cNvPr id="164" name="Shape 162"/>
          <p:cNvSpPr/>
          <p:nvPr/>
        </p:nvSpPr>
        <p:spPr>
          <a:xfrm>
            <a:off x="8951976" y="2154936"/>
            <a:ext cx="64008" cy="64008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165" name="Text 163"/>
          <p:cNvSpPr txBox="1"/>
          <p:nvPr/>
        </p:nvSpPr>
        <p:spPr>
          <a:xfrm>
            <a:off x="9079992" y="2100072"/>
            <a:ext cx="2615184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readability and communication quality</a:t>
            </a:r>
            <a:endParaRPr lang="en-US" sz="855" dirty="0"/>
          </a:p>
        </p:txBody>
      </p:sp>
      <p:sp>
        <p:nvSpPr>
          <p:cNvPr id="166" name="Shape 164"/>
          <p:cNvSpPr/>
          <p:nvPr/>
        </p:nvSpPr>
        <p:spPr>
          <a:xfrm>
            <a:off x="8951976" y="2417064"/>
            <a:ext cx="64008" cy="64008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167" name="Text 165"/>
          <p:cNvSpPr txBox="1"/>
          <p:nvPr/>
        </p:nvSpPr>
        <p:spPr>
          <a:xfrm>
            <a:off x="9079992" y="2362200"/>
            <a:ext cx="2615184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documentation effort</a:t>
            </a:r>
            <a:endParaRPr lang="en-US" sz="855" dirty="0"/>
          </a:p>
        </p:txBody>
      </p:sp>
      <p:sp>
        <p:nvSpPr>
          <p:cNvPr id="168" name="Shape 166"/>
          <p:cNvSpPr/>
          <p:nvPr/>
        </p:nvSpPr>
        <p:spPr>
          <a:xfrm>
            <a:off x="8010144" y="2770632"/>
            <a:ext cx="3813048" cy="1271016"/>
          </a:xfrm>
          <a:prstGeom prst="roundRect">
            <a:avLst>
              <a:gd name="adj" fmla="val 5036"/>
            </a:avLst>
          </a:prstGeom>
          <a:solidFill>
            <a:srgbClr val="FAFCFB"/>
          </a:solidFill>
          <a:ln w="10160">
            <a:solidFill>
              <a:srgbClr val="CBE4D7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8101584" y="2889504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E7F4EE"/>
          </a:solidFill>
          <a:ln w="10160">
            <a:solidFill>
              <a:srgbClr val="E7F4EE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266176" y="3017520"/>
            <a:ext cx="118872" cy="118872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412480" y="2999232"/>
            <a:ext cx="118872" cy="118872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549640" y="3035808"/>
            <a:ext cx="100584" cy="100584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8220456" y="3145536"/>
            <a:ext cx="164592" cy="146304"/>
          </a:xfrm>
          <a:prstGeom prst="arc">
            <a:avLst/>
          </a:prstGeom>
          <a:solidFill>
            <a:srgbClr val="007A53"/>
          </a:solidFill>
          <a:ln w="12700">
            <a:solidFill>
              <a:srgbClr val="007A53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375904" y="3127248"/>
            <a:ext cx="164592" cy="146304"/>
          </a:xfrm>
          <a:prstGeom prst="arc">
            <a:avLst/>
          </a:prstGeom>
          <a:solidFill>
            <a:srgbClr val="007A53"/>
          </a:solidFill>
          <a:ln w="12700">
            <a:solidFill>
              <a:srgbClr val="007A53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385048" y="3246120"/>
            <a:ext cx="237744" cy="128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A53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439912" y="3310128"/>
            <a:ext cx="54864" cy="0"/>
          </a:xfrm>
          <a:prstGeom prst="line">
            <a:avLst/>
          </a:prstGeom>
          <a:noFill/>
          <a:ln w="19050">
            <a:solidFill>
              <a:srgbClr val="007A53"/>
            </a:solidFill>
            <a:prstDash val="solid"/>
            <a:headEnd type="none"/>
            <a:tailEnd type="none"/>
          </a:ln>
        </p:spPr>
      </p:sp>
      <p:sp>
        <p:nvSpPr>
          <p:cNvPr id="177" name="Shape 175"/>
          <p:cNvSpPr/>
          <p:nvPr/>
        </p:nvSpPr>
        <p:spPr>
          <a:xfrm>
            <a:off x="8467344" y="3282696"/>
            <a:ext cx="0" cy="54864"/>
          </a:xfrm>
          <a:prstGeom prst="line">
            <a:avLst/>
          </a:prstGeom>
          <a:noFill/>
          <a:ln w="19050">
            <a:solidFill>
              <a:srgbClr val="007A53"/>
            </a:solidFill>
            <a:prstDash val="solid"/>
            <a:headEnd type="none"/>
            <a:tailEnd type="none"/>
          </a:ln>
        </p:spPr>
      </p:sp>
      <p:sp>
        <p:nvSpPr>
          <p:cNvPr id="178" name="Shape 176"/>
          <p:cNvSpPr/>
          <p:nvPr/>
        </p:nvSpPr>
        <p:spPr>
          <a:xfrm>
            <a:off x="8549640" y="3291840"/>
            <a:ext cx="27432" cy="27432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586216" y="3319272"/>
            <a:ext cx="27432" cy="27432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860536" y="2880360"/>
            <a:ext cx="2871216" cy="265176"/>
          </a:xfrm>
          <a:prstGeom prst="roundRect">
            <a:avLst>
              <a:gd name="adj" fmla="val 17241"/>
            </a:avLst>
          </a:prstGeom>
          <a:solidFill>
            <a:srgbClr val="F2F8F5"/>
          </a:solidFill>
          <a:ln w="10160">
            <a:solidFill>
              <a:srgbClr val="F2F8F5"/>
            </a:solidFill>
            <a:prstDash val="solid"/>
          </a:ln>
        </p:spPr>
      </p:sp>
      <p:sp>
        <p:nvSpPr>
          <p:cNvPr id="181" name="Text 179"/>
          <p:cNvSpPr txBox="1"/>
          <p:nvPr/>
        </p:nvSpPr>
        <p:spPr>
          <a:xfrm>
            <a:off x="8942832" y="2889504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7A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Team Engagement Tools</a:t>
            </a:r>
            <a:endParaRPr lang="en-US" sz="1200" dirty="0"/>
          </a:p>
        </p:txBody>
      </p:sp>
      <p:sp>
        <p:nvSpPr>
          <p:cNvPr id="182" name="Shape 180"/>
          <p:cNvSpPr/>
          <p:nvPr/>
        </p:nvSpPr>
        <p:spPr>
          <a:xfrm>
            <a:off x="8951976" y="3255264"/>
            <a:ext cx="64008" cy="64008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183" name="Text 181"/>
          <p:cNvSpPr txBox="1"/>
          <p:nvPr/>
        </p:nvSpPr>
        <p:spPr>
          <a:xfrm>
            <a:off x="9079992" y="3200400"/>
            <a:ext cx="2615184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Quiz and Teams Spark activities</a:t>
            </a:r>
            <a:endParaRPr lang="en-US" sz="855" dirty="0"/>
          </a:p>
        </p:txBody>
      </p:sp>
      <p:sp>
        <p:nvSpPr>
          <p:cNvPr id="184" name="Shape 182"/>
          <p:cNvSpPr/>
          <p:nvPr/>
        </p:nvSpPr>
        <p:spPr>
          <a:xfrm>
            <a:off x="8951976" y="3517392"/>
            <a:ext cx="64008" cy="64008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185" name="Text 183"/>
          <p:cNvSpPr txBox="1"/>
          <p:nvPr/>
        </p:nvSpPr>
        <p:spPr>
          <a:xfrm>
            <a:off x="9079992" y="3462528"/>
            <a:ext cx="2615184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coffee-break engagement</a:t>
            </a:r>
            <a:endParaRPr lang="en-US" sz="855" dirty="0"/>
          </a:p>
        </p:txBody>
      </p:sp>
      <p:sp>
        <p:nvSpPr>
          <p:cNvPr id="186" name="Shape 184"/>
          <p:cNvSpPr/>
          <p:nvPr/>
        </p:nvSpPr>
        <p:spPr>
          <a:xfrm>
            <a:off x="8951976" y="3779520"/>
            <a:ext cx="64008" cy="64008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187" name="Text 185"/>
          <p:cNvSpPr txBox="1"/>
          <p:nvPr/>
        </p:nvSpPr>
        <p:spPr>
          <a:xfrm>
            <a:off x="9079992" y="3724656"/>
            <a:ext cx="2615184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collaboration interactive and fun</a:t>
            </a:r>
            <a:endParaRPr lang="en-US" sz="855" dirty="0"/>
          </a:p>
        </p:txBody>
      </p:sp>
      <p:sp>
        <p:nvSpPr>
          <p:cNvPr id="188" name="Shape 186"/>
          <p:cNvSpPr/>
          <p:nvPr/>
        </p:nvSpPr>
        <p:spPr>
          <a:xfrm>
            <a:off x="8010144" y="4133088"/>
            <a:ext cx="3813048" cy="1271016"/>
          </a:xfrm>
          <a:prstGeom prst="roundRect">
            <a:avLst>
              <a:gd name="adj" fmla="val 5036"/>
            </a:avLst>
          </a:prstGeom>
          <a:solidFill>
            <a:srgbClr val="FAFCFB"/>
          </a:solidFill>
          <a:ln w="10160">
            <a:solidFill>
              <a:srgbClr val="CBE4D7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8101584" y="425196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E7F4EE"/>
          </a:solidFill>
          <a:ln w="10160">
            <a:solidFill>
              <a:srgbClr val="E7F4EE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8220456" y="4599432"/>
            <a:ext cx="182880" cy="155448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007A53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8403336" y="4599432"/>
            <a:ext cx="182880" cy="155448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007A53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8403336" y="4599432"/>
            <a:ext cx="0" cy="155448"/>
          </a:xfrm>
          <a:prstGeom prst="line">
            <a:avLst/>
          </a:prstGeom>
          <a:noFill/>
          <a:ln w="17780">
            <a:solidFill>
              <a:srgbClr val="007A53"/>
            </a:solidFill>
            <a:prstDash val="solid"/>
            <a:headEnd type="none"/>
            <a:tailEnd type="none"/>
          </a:ln>
        </p:spPr>
      </p:sp>
      <p:sp>
        <p:nvSpPr>
          <p:cNvPr id="193" name="Shape 191"/>
          <p:cNvSpPr/>
          <p:nvPr/>
        </p:nvSpPr>
        <p:spPr>
          <a:xfrm>
            <a:off x="8266176" y="4389120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8385048" y="4361688"/>
            <a:ext cx="109728" cy="109728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8503920" y="4398264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8357616" y="4489704"/>
            <a:ext cx="64008" cy="64008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8485632" y="4507992"/>
            <a:ext cx="64008" cy="64008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8311896" y="4434840"/>
            <a:ext cx="73152" cy="-27432"/>
          </a:xfrm>
          <a:prstGeom prst="line">
            <a:avLst/>
          </a:prstGeom>
          <a:noFill/>
          <a:ln w="15240">
            <a:solidFill>
              <a:srgbClr val="007A53"/>
            </a:solidFill>
            <a:prstDash val="solid"/>
            <a:headEnd type="none"/>
            <a:tailEnd type="none"/>
          </a:ln>
        </p:spPr>
      </p:sp>
      <p:sp>
        <p:nvSpPr>
          <p:cNvPr id="199" name="Shape 197"/>
          <p:cNvSpPr/>
          <p:nvPr/>
        </p:nvSpPr>
        <p:spPr>
          <a:xfrm>
            <a:off x="8430768" y="4416552"/>
            <a:ext cx="82296" cy="27432"/>
          </a:xfrm>
          <a:prstGeom prst="line">
            <a:avLst/>
          </a:prstGeom>
          <a:noFill/>
          <a:ln w="15240">
            <a:solidFill>
              <a:srgbClr val="007A53"/>
            </a:solidFill>
            <a:prstDash val="solid"/>
            <a:headEnd type="none"/>
            <a:tailEnd type="none"/>
          </a:ln>
        </p:spPr>
      </p:sp>
      <p:sp>
        <p:nvSpPr>
          <p:cNvPr id="200" name="Shape 198"/>
          <p:cNvSpPr/>
          <p:nvPr/>
        </p:nvSpPr>
        <p:spPr>
          <a:xfrm>
            <a:off x="8385048" y="4453128"/>
            <a:ext cx="-9144" cy="73152"/>
          </a:xfrm>
          <a:prstGeom prst="line">
            <a:avLst/>
          </a:prstGeom>
          <a:noFill/>
          <a:ln w="15240">
            <a:solidFill>
              <a:srgbClr val="007A53"/>
            </a:solidFill>
            <a:prstDash val="solid"/>
            <a:headEnd type="none"/>
            <a:tailEnd type="none"/>
          </a:ln>
        </p:spPr>
      </p:sp>
      <p:sp>
        <p:nvSpPr>
          <p:cNvPr id="201" name="Shape 199"/>
          <p:cNvSpPr/>
          <p:nvPr/>
        </p:nvSpPr>
        <p:spPr>
          <a:xfrm>
            <a:off x="8494776" y="4453128"/>
            <a:ext cx="9144" cy="73152"/>
          </a:xfrm>
          <a:prstGeom prst="line">
            <a:avLst/>
          </a:prstGeom>
          <a:noFill/>
          <a:ln w="15240">
            <a:solidFill>
              <a:srgbClr val="007A53"/>
            </a:solidFill>
            <a:prstDash val="solid"/>
            <a:headEnd type="none"/>
            <a:tailEnd type="none"/>
          </a:ln>
        </p:spPr>
      </p:sp>
      <p:sp>
        <p:nvSpPr>
          <p:cNvPr id="202" name="Shape 200"/>
          <p:cNvSpPr/>
          <p:nvPr/>
        </p:nvSpPr>
        <p:spPr>
          <a:xfrm>
            <a:off x="8860536" y="4242816"/>
            <a:ext cx="2871216" cy="265176"/>
          </a:xfrm>
          <a:prstGeom prst="roundRect">
            <a:avLst>
              <a:gd name="adj" fmla="val 17241"/>
            </a:avLst>
          </a:prstGeom>
          <a:solidFill>
            <a:srgbClr val="F2F8F5"/>
          </a:solidFill>
          <a:ln w="10160">
            <a:solidFill>
              <a:srgbClr val="F2F8F5"/>
            </a:solidFill>
            <a:prstDash val="solid"/>
          </a:ln>
        </p:spPr>
      </p:sp>
      <p:sp>
        <p:nvSpPr>
          <p:cNvPr id="203" name="Text 201"/>
          <p:cNvSpPr txBox="1"/>
          <p:nvPr/>
        </p:nvSpPr>
        <p:spPr>
          <a:xfrm>
            <a:off x="8942832" y="4251960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7A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Knowledge &amp; Memory Support</a:t>
            </a:r>
            <a:endParaRPr lang="en-US" sz="1200" dirty="0"/>
          </a:p>
        </p:txBody>
      </p:sp>
      <p:sp>
        <p:nvSpPr>
          <p:cNvPr id="204" name="Shape 202"/>
          <p:cNvSpPr/>
          <p:nvPr/>
        </p:nvSpPr>
        <p:spPr>
          <a:xfrm>
            <a:off x="8951976" y="4617720"/>
            <a:ext cx="64008" cy="64008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205" name="Text 203"/>
          <p:cNvSpPr txBox="1"/>
          <p:nvPr/>
        </p:nvSpPr>
        <p:spPr>
          <a:xfrm>
            <a:off x="9079992" y="4562856"/>
            <a:ext cx="2615184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Reuses stored context and knowledge inputs</a:t>
            </a:r>
            <a:endParaRPr lang="en-US" sz="855" dirty="0"/>
          </a:p>
        </p:txBody>
      </p:sp>
      <p:sp>
        <p:nvSpPr>
          <p:cNvPr id="206" name="Shape 204"/>
          <p:cNvSpPr/>
          <p:nvPr/>
        </p:nvSpPr>
        <p:spPr>
          <a:xfrm>
            <a:off x="8951976" y="4879848"/>
            <a:ext cx="64008" cy="64008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207" name="Text 205"/>
          <p:cNvSpPr txBox="1"/>
          <p:nvPr/>
        </p:nvSpPr>
        <p:spPr>
          <a:xfrm>
            <a:off x="9079992" y="4824984"/>
            <a:ext cx="2615184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continuity across tasks</a:t>
            </a:r>
            <a:endParaRPr lang="en-US" sz="855" dirty="0"/>
          </a:p>
        </p:txBody>
      </p:sp>
      <p:sp>
        <p:nvSpPr>
          <p:cNvPr id="208" name="Shape 206"/>
          <p:cNvSpPr/>
          <p:nvPr/>
        </p:nvSpPr>
        <p:spPr>
          <a:xfrm>
            <a:off x="8951976" y="5141976"/>
            <a:ext cx="64008" cy="64008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209" name="Text 207"/>
          <p:cNvSpPr txBox="1"/>
          <p:nvPr/>
        </p:nvSpPr>
        <p:spPr>
          <a:xfrm>
            <a:off x="9079992" y="5087112"/>
            <a:ext cx="2615184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faster, context-aware assistance</a:t>
            </a:r>
            <a:endParaRPr lang="en-US" sz="855" dirty="0"/>
          </a:p>
        </p:txBody>
      </p:sp>
      <p:sp>
        <p:nvSpPr>
          <p:cNvPr id="210" name="Shape 208"/>
          <p:cNvSpPr/>
          <p:nvPr/>
        </p:nvSpPr>
        <p:spPr>
          <a:xfrm>
            <a:off x="164592" y="5596128"/>
            <a:ext cx="11841480" cy="585216"/>
          </a:xfrm>
          <a:prstGeom prst="roundRect">
            <a:avLst>
              <a:gd name="adj" fmla="val 12500"/>
            </a:avLst>
          </a:prstGeom>
          <a:solidFill>
            <a:srgbClr val="F2F8F5"/>
          </a:solidFill>
          <a:ln w="10160">
            <a:solidFill>
              <a:srgbClr val="F2F8F5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210312" y="5632704"/>
            <a:ext cx="1975104" cy="512064"/>
          </a:xfrm>
          <a:prstGeom prst="roundRect">
            <a:avLst>
              <a:gd name="adj" fmla="val 12500"/>
            </a:avLst>
          </a:prstGeom>
          <a:solidFill>
            <a:srgbClr val="007A53"/>
          </a:solidFill>
          <a:ln w="10160">
            <a:solidFill>
              <a:srgbClr val="007A53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365760" y="5751576"/>
            <a:ext cx="164592" cy="164592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425196" y="5897880"/>
            <a:ext cx="45720" cy="64008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14" name="Text 212"/>
          <p:cNvSpPr txBox="1"/>
          <p:nvPr/>
        </p:nvSpPr>
        <p:spPr>
          <a:xfrm>
            <a:off x="640080" y="56875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AI Impact</a:t>
            </a:r>
            <a:endParaRPr lang="en-US" sz="1550" dirty="0"/>
          </a:p>
        </p:txBody>
      </p:sp>
      <p:sp>
        <p:nvSpPr>
          <p:cNvPr id="215" name="Shape 213"/>
          <p:cNvSpPr/>
          <p:nvPr/>
        </p:nvSpPr>
        <p:spPr>
          <a:xfrm>
            <a:off x="2359152" y="5733288"/>
            <a:ext cx="256032" cy="256032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2423160" y="5843016"/>
            <a:ext cx="128016" cy="-82296"/>
          </a:xfrm>
          <a:prstGeom prst="line">
            <a:avLst/>
          </a:prstGeom>
          <a:noFill/>
          <a:ln w="22860">
            <a:solidFill>
              <a:srgbClr val="007A53"/>
            </a:solidFill>
            <a:prstDash val="solid"/>
            <a:headEnd type="none"/>
            <a:tailEnd type="none"/>
          </a:ln>
        </p:spPr>
      </p:sp>
      <p:sp>
        <p:nvSpPr>
          <p:cNvPr id="217" name="Shape 215"/>
          <p:cNvSpPr/>
          <p:nvPr/>
        </p:nvSpPr>
        <p:spPr>
          <a:xfrm>
            <a:off x="2487168" y="5769864"/>
            <a:ext cx="54864" cy="0"/>
          </a:xfrm>
          <a:prstGeom prst="line">
            <a:avLst/>
          </a:prstGeom>
          <a:noFill/>
          <a:ln w="17780">
            <a:solidFill>
              <a:srgbClr val="007A53"/>
            </a:solidFill>
            <a:prstDash val="solid"/>
            <a:headEnd type="none"/>
            <a:tailEnd type="none"/>
          </a:ln>
        </p:spPr>
      </p:sp>
      <p:sp>
        <p:nvSpPr>
          <p:cNvPr id="218" name="Text 216"/>
          <p:cNvSpPr txBox="1"/>
          <p:nvPr/>
        </p:nvSpPr>
        <p:spPr>
          <a:xfrm>
            <a:off x="2688336" y="570585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70" b="1" dirty="0">
                <a:solidFill>
                  <a:srgbClr val="103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</a:t>
            </a:r>
            <a:endParaRPr lang="en-US" sz="107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70" b="1" dirty="0">
                <a:solidFill>
                  <a:srgbClr val="103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Design</a:t>
            </a:r>
            <a:endParaRPr lang="en-US" sz="1070" dirty="0"/>
          </a:p>
        </p:txBody>
      </p:sp>
      <p:sp>
        <p:nvSpPr>
          <p:cNvPr id="219" name="Shape 217"/>
          <p:cNvSpPr/>
          <p:nvPr/>
        </p:nvSpPr>
        <p:spPr>
          <a:xfrm>
            <a:off x="4197096" y="5715000"/>
            <a:ext cx="0" cy="338328"/>
          </a:xfrm>
          <a:prstGeom prst="line">
            <a:avLst/>
          </a:prstGeom>
          <a:noFill/>
          <a:ln w="10160">
            <a:solidFill>
              <a:srgbClr val="8ABAA5"/>
            </a:solidFill>
            <a:prstDash val="solid"/>
            <a:headEnd type="none"/>
            <a:tailEnd type="none"/>
          </a:ln>
        </p:spPr>
      </p:sp>
      <p:sp>
        <p:nvSpPr>
          <p:cNvPr id="220" name="Shape 218"/>
          <p:cNvSpPr/>
          <p:nvPr/>
        </p:nvSpPr>
        <p:spPr>
          <a:xfrm>
            <a:off x="4261104" y="5733288"/>
            <a:ext cx="256032" cy="256032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4315968" y="5897880"/>
            <a:ext cx="32004" cy="45720"/>
          </a:xfrm>
          <a:prstGeom prst="rect">
            <a:avLst/>
          </a:prstGeom>
          <a:solidFill>
            <a:srgbClr val="007A53"/>
          </a:solidFill>
          <a:ln w="3810">
            <a:solidFill>
              <a:srgbClr val="007A53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4370832" y="5861304"/>
            <a:ext cx="32004" cy="82296"/>
          </a:xfrm>
          <a:prstGeom prst="rect">
            <a:avLst/>
          </a:prstGeom>
          <a:solidFill>
            <a:srgbClr val="007A53"/>
          </a:solidFill>
          <a:ln w="3810">
            <a:solidFill>
              <a:srgbClr val="007A53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4425696" y="5824728"/>
            <a:ext cx="32004" cy="118872"/>
          </a:xfrm>
          <a:prstGeom prst="rect">
            <a:avLst/>
          </a:prstGeom>
          <a:solidFill>
            <a:srgbClr val="007A53"/>
          </a:solidFill>
          <a:ln w="3810">
            <a:solidFill>
              <a:srgbClr val="007A53"/>
            </a:solidFill>
            <a:prstDash val="solid"/>
          </a:ln>
        </p:spPr>
      </p:sp>
      <p:sp>
        <p:nvSpPr>
          <p:cNvPr id="224" name="Text 222"/>
          <p:cNvSpPr txBox="1"/>
          <p:nvPr/>
        </p:nvSpPr>
        <p:spPr>
          <a:xfrm>
            <a:off x="4590288" y="570585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70" b="1" dirty="0">
                <a:solidFill>
                  <a:srgbClr val="103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Smarter</a:t>
            </a:r>
            <a:endParaRPr lang="en-US" sz="107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70" b="1" dirty="0">
                <a:solidFill>
                  <a:srgbClr val="103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1070" dirty="0"/>
          </a:p>
        </p:txBody>
      </p:sp>
      <p:sp>
        <p:nvSpPr>
          <p:cNvPr id="225" name="Shape 223"/>
          <p:cNvSpPr/>
          <p:nvPr/>
        </p:nvSpPr>
        <p:spPr>
          <a:xfrm>
            <a:off x="6099048" y="5715000"/>
            <a:ext cx="0" cy="338328"/>
          </a:xfrm>
          <a:prstGeom prst="line">
            <a:avLst/>
          </a:prstGeom>
          <a:noFill/>
          <a:ln w="10160">
            <a:solidFill>
              <a:srgbClr val="8ABAA5"/>
            </a:solidFill>
            <a:prstDash val="solid"/>
            <a:headEnd type="none"/>
            <a:tailEnd type="none"/>
          </a:ln>
        </p:spPr>
      </p:sp>
      <p:sp>
        <p:nvSpPr>
          <p:cNvPr id="226" name="Shape 224"/>
          <p:cNvSpPr/>
          <p:nvPr/>
        </p:nvSpPr>
        <p:spPr>
          <a:xfrm>
            <a:off x="6163056" y="5733288"/>
            <a:ext cx="256032" cy="256032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6227064" y="5797296"/>
            <a:ext cx="109728" cy="109728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6259068" y="5829300"/>
            <a:ext cx="45720" cy="457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9" name="Text 227"/>
          <p:cNvSpPr txBox="1"/>
          <p:nvPr/>
        </p:nvSpPr>
        <p:spPr>
          <a:xfrm>
            <a:off x="6492240" y="570585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70" b="1" dirty="0">
                <a:solidFill>
                  <a:srgbClr val="103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</a:t>
            </a:r>
            <a:endParaRPr lang="en-US" sz="107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70" b="1" dirty="0">
                <a:solidFill>
                  <a:srgbClr val="103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Effort</a:t>
            </a:r>
            <a:endParaRPr lang="en-US" sz="1070" dirty="0"/>
          </a:p>
        </p:txBody>
      </p:sp>
      <p:sp>
        <p:nvSpPr>
          <p:cNvPr id="230" name="Shape 228"/>
          <p:cNvSpPr/>
          <p:nvPr/>
        </p:nvSpPr>
        <p:spPr>
          <a:xfrm>
            <a:off x="8001000" y="5715000"/>
            <a:ext cx="0" cy="338328"/>
          </a:xfrm>
          <a:prstGeom prst="line">
            <a:avLst/>
          </a:prstGeom>
          <a:noFill/>
          <a:ln w="10160">
            <a:solidFill>
              <a:srgbClr val="8ABAA5"/>
            </a:solidFill>
            <a:prstDash val="solid"/>
            <a:headEnd type="none"/>
            <a:tailEnd type="none"/>
          </a:ln>
        </p:spPr>
      </p:sp>
      <p:sp>
        <p:nvSpPr>
          <p:cNvPr id="231" name="Shape 229"/>
          <p:cNvSpPr/>
          <p:nvPr/>
        </p:nvSpPr>
        <p:spPr>
          <a:xfrm>
            <a:off x="8065008" y="5733288"/>
            <a:ext cx="256032" cy="256032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101584" y="5769864"/>
            <a:ext cx="173736" cy="137160"/>
          </a:xfrm>
          <a:prstGeom prst="arc">
            <a:avLst/>
          </a:prstGeom>
          <a:solidFill>
            <a:srgbClr val="FFFFFF">
              <a:alpha val="0"/>
            </a:srgbClr>
          </a:solidFill>
          <a:ln w="20320">
            <a:solidFill>
              <a:srgbClr val="007A53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188452" y="5843016"/>
            <a:ext cx="59436" cy="-54864"/>
          </a:xfrm>
          <a:prstGeom prst="line">
            <a:avLst/>
          </a:prstGeom>
          <a:noFill/>
          <a:ln w="20320">
            <a:solidFill>
              <a:srgbClr val="007A53"/>
            </a:solidFill>
            <a:prstDash val="solid"/>
            <a:headEnd type="none"/>
            <a:tailEnd type="none"/>
          </a:ln>
        </p:spPr>
      </p:sp>
      <p:sp>
        <p:nvSpPr>
          <p:cNvPr id="234" name="Text 232"/>
          <p:cNvSpPr txBox="1"/>
          <p:nvPr/>
        </p:nvSpPr>
        <p:spPr>
          <a:xfrm>
            <a:off x="8394192" y="570585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70" b="1" dirty="0">
                <a:solidFill>
                  <a:srgbClr val="103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Accelerated</a:t>
            </a:r>
            <a:endParaRPr lang="en-US" sz="107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70" b="1" dirty="0">
                <a:solidFill>
                  <a:srgbClr val="103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1070" dirty="0"/>
          </a:p>
        </p:txBody>
      </p:sp>
      <p:sp>
        <p:nvSpPr>
          <p:cNvPr id="235" name="Shape 233"/>
          <p:cNvSpPr/>
          <p:nvPr/>
        </p:nvSpPr>
        <p:spPr>
          <a:xfrm>
            <a:off x="9902952" y="5715000"/>
            <a:ext cx="0" cy="338328"/>
          </a:xfrm>
          <a:prstGeom prst="line">
            <a:avLst/>
          </a:prstGeom>
          <a:noFill/>
          <a:ln w="10160">
            <a:solidFill>
              <a:srgbClr val="8ABAA5"/>
            </a:solidFill>
            <a:prstDash val="solid"/>
            <a:headEnd type="none"/>
            <a:tailEnd type="none"/>
          </a:ln>
        </p:spPr>
      </p:sp>
      <p:sp>
        <p:nvSpPr>
          <p:cNvPr id="236" name="Shape 234"/>
          <p:cNvSpPr/>
          <p:nvPr/>
        </p:nvSpPr>
        <p:spPr>
          <a:xfrm>
            <a:off x="9966960" y="5733288"/>
            <a:ext cx="256032" cy="256032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0021824" y="5760720"/>
            <a:ext cx="64008" cy="64008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0104120" y="5742432"/>
            <a:ext cx="73152" cy="73152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10158984" y="5788152"/>
            <a:ext cx="54864" cy="54864"/>
          </a:xfrm>
          <a:prstGeom prst="ellipse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240" name="Text 238"/>
          <p:cNvSpPr txBox="1"/>
          <p:nvPr/>
        </p:nvSpPr>
        <p:spPr>
          <a:xfrm>
            <a:off x="10296144" y="570585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70" b="1" dirty="0">
                <a:solidFill>
                  <a:srgbClr val="103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Team</a:t>
            </a:r>
            <a:endParaRPr lang="en-US" sz="107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70" b="1" dirty="0">
                <a:solidFill>
                  <a:srgbClr val="103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</a:t>
            </a:r>
            <a:endParaRPr lang="en-US" sz="1070" dirty="0"/>
          </a:p>
        </p:txBody>
      </p:sp>
      <p:sp>
        <p:nvSpPr>
          <p:cNvPr id="241" name="Shape 239"/>
          <p:cNvSpPr/>
          <p:nvPr/>
        </p:nvSpPr>
        <p:spPr>
          <a:xfrm>
            <a:off x="219456" y="6382512"/>
            <a:ext cx="292608" cy="246888"/>
          </a:xfrm>
          <a:prstGeom prst="rect">
            <a:avLst/>
          </a:prstGeom>
          <a:solidFill>
            <a:srgbClr val="007A53"/>
          </a:solidFill>
          <a:ln w="6350">
            <a:solidFill>
              <a:srgbClr val="007A53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246888" y="6409944"/>
            <a:ext cx="54864" cy="54864"/>
          </a:xfrm>
          <a:prstGeom prst="star5">
            <a:avLst/>
          </a:prstGeom>
          <a:solidFill>
            <a:srgbClr val="FFFFFF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365760" y="6409944"/>
            <a:ext cx="54864" cy="54864"/>
          </a:xfrm>
          <a:prstGeom prst="star5">
            <a:avLst/>
          </a:prstGeom>
          <a:solidFill>
            <a:srgbClr val="FFFFFF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246888" y="6501384"/>
            <a:ext cx="54864" cy="54864"/>
          </a:xfrm>
          <a:prstGeom prst="star5">
            <a:avLst/>
          </a:prstGeom>
          <a:solidFill>
            <a:srgbClr val="FFFFFF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365760" y="6501384"/>
            <a:ext cx="54864" cy="54864"/>
          </a:xfrm>
          <a:prstGeom prst="star5">
            <a:avLst/>
          </a:prstGeom>
          <a:solidFill>
            <a:srgbClr val="FFFFFF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246" name="Text 244"/>
          <p:cNvSpPr txBox="1"/>
          <p:nvPr/>
        </p:nvSpPr>
        <p:spPr>
          <a:xfrm>
            <a:off x="594360" y="637336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BNP PARIBAS</a:t>
            </a:r>
            <a:endParaRPr lang="en-US" sz="1450" dirty="0"/>
          </a:p>
        </p:txBody>
      </p:sp>
      <p:sp>
        <p:nvSpPr>
          <p:cNvPr id="247" name="Shape 245"/>
          <p:cNvSpPr/>
          <p:nvPr/>
        </p:nvSpPr>
        <p:spPr>
          <a:xfrm>
            <a:off x="2066544" y="6510528"/>
            <a:ext cx="7644384" cy="0"/>
          </a:xfrm>
          <a:prstGeom prst="line">
            <a:avLst/>
          </a:prstGeom>
          <a:noFill/>
          <a:ln w="1016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48" name="Text 246"/>
          <p:cNvSpPr txBox="1"/>
          <p:nvPr/>
        </p:nvSpPr>
        <p:spPr>
          <a:xfrm>
            <a:off x="9848088" y="6382512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bank for a changing world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BNP Paribas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S4TP AI Initiatives at a Glance</dc:title>
  <dc:subject>S4TP AI Initiatives</dc:subject>
  <dc:creator>OpenAI</dc:creator>
  <cp:lastModifiedBy>OpenAI</cp:lastModifiedBy>
  <cp:revision>1</cp:revision>
  <dcterms:created xsi:type="dcterms:W3CDTF">2026-09-28T09:30:31Z</dcterms:created>
  <dcterms:modified xsi:type="dcterms:W3CDTF">2026-09-28T09:30:31Z</dcterms:modified>
</cp:coreProperties>
</file>