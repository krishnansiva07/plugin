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ELIYA70 source archive, class-level inspection, runtime README and two user-observed token screenshots. All diagrams are original editable PowerPoint shapes. Distinguish source-implemented behavior from end-to-end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summary describes design and implemented source paths; it is not a cloud-native distributed platform. Do not present the local services as physically separate microservices.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AgentService, McpPromptGate, WorkspaceRootGuard, AgentArtifactOutcomePolicy, ContextWindowManager and TerminalSessionService. User-facing Chat does not automatically edit source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Spring server is bound to 127.0.0.1 in application.properties; server.port=8090. Browser and backend are served by the same application. Provider and remote MCP communications may exit the local machine if enabled. Diagram is conceptual, not separate deployment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pom.xml: Spring Boot 3.5.16 parent; Java 17; h2 runtime dependency; Tika standard parsers; PDFBox 2.0.32; POI ooxml 5.2.5. Maven profile full-tests enables tests. Source ZIP is not already a production-certified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logical layering view, not a set of separate Java modules or deployed services. Controllers use Spring MVC; services implement workflows and policies; repositories use JPA. Exact examples enumerated under source tree src/main/java/com/llmart/llm.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approvals and Terminal auto-execution differ by design. Terminal never implicitly bypasses workspace, deletion, MCP or tool permissions. Chat analysis → user-reviewed prompt → Agent is the usual controlled workflow; do not assume Chat writes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ChatController, ChatService, FastChatRetrieval, WorkspaceEvidenceAssembler, ChatMcpService, ChatAnswerContinuation and OpenAiCompatibleClient. Continuation is restricted to explicit token-limited final answers, not arbitrary Agent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AgentService, AgentRunService, AgentApprovalService, AgentMarkdownOutcomeEvidence, AgentArtifactVerificationPolicy and AgentOutcomeReviewPolicy. The earlier issue was internal verification failures rendered as needs_input. Avoid declaring completion merely because the model says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TerminalController and TerminalSessionService. MAX_WORKERS/worker limits and root overlap logic are in TerminalSessionService. Independent browser tabs do not mean one operating-system process per tab; session work is in the single local JVM.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AgentWorkspaceService, WorkspaceRootGuard, FileContextSelector, WorkspaceEvidenceAssembler, UniversalArtifactReader, McpEvidenceStore, AgentRetrievalScopePolicy. Retrieval snippets are hints; the live filesystem remains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names: WorkspaceRetrievalIndexService (default maxFiles=40,000; property clamp 2,000–200,000), WorkspaceEmbeddingStore, WorkspaceSymbolIndexService, WorkspaceFlowIntelligence, WorkspaceCodeIntelligence, WorkspaceDocumentScanner, LocalProjectIndexService. Do not claim an unbounded index; configured limits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ChatSettings, ModelCapabilityRegistry, ModelProbeService, ImageUnderstandingService, OpenAiCompatibleClient. OpenAI-compatible Chat Completions and Embeddings paths are constructed in code; endpoints/models are user-configured. Provider API keys should never be embedded in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McpPromptGate implements (?i)(?&lt;![a-z0-9])mcp(?![a-z0-9]); prompt, not attachments, history or issue references. Runtime separately checks enabled MCP settings and permissions. Remote tool specifics depend on configured servers.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services: AgentToolRegistry, AgentToolPolicy, AgentDeletionCommandGuard, AgentApprovalService, WorkspaceRootGuard, AgentGitScope, TerminalGitService, AgentTaskRollbackService, ProtectedRunSnapshotService. Some tools execute processes as the current OS user; these are boundaries, not kernel sandboxing.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TerminalGitService, TerminalWorkspaceDiscoveryService, AgentGitScope, TerminalSessionService. Git calls use ProcessBuilder parameterized arguments, not interpolated shell command strings. The overlap scheduler is in-JVM only; it cannot prevent external-editor concurrent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 entity and repository packages for the H2/JPA-backed objects; PortableDatabaseConfiguration chooses on-disk H2 path. README explicitly documents terminal-sessions and agent-runs. Some artifact/checkpoint subfolders are configurable. User code is not copied to an application DB as the authoritative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ContextBudgetPolicy, ContextWindowManager, AgentPromptCachePolicy and TokenActivityLedger. ContextWindowManager estimates message+tool overhead, caps output, deduplicates older identical tool observations and replaces old context with structured checkpoints. Checkpoint is not an unlimited copy of the full transcript.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screenshot: 162,545 tokens across 11 model calls. Later screenshot: 93,605 across 7 calls, 90,179 input + 3,426 output. Percent decrease (162545-93605)/162545 = 42.414%. Different task/model context may explain some or all of the difference. Not proof of superiority to OpenCode or Claude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AgentArtifactOutcomePolicy, AgentMarkdownOutcomeEvidence, AgentOutcomeReviewPolicy, AgentArtifactVerificationPolicy; TerminalSessionService restores persisted sessions. Source includes offline regression tests. No claim of flawless provider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TerminalSessionService (activity journal and SSE), TokenActivityLedger, AgentRunService, UI app.js and README token section. Step progress is accounting, not predictive ETA. External MCP/model calls that omit usage metrics remain unknown, not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statements from README and WorkspaceRootGuard, TerminalGitService, AgentDeletionCommandGuard. Not a zero-trust application sandbox. Do not imply absolute safety in shared multi-user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pom.xml produces target/eliya.jar via spring-boot-maven-plugin. README build commands: ./mvnw -Pfull-tests clean verify and mvnw.cmd on Windows. Runtime at http://127.0.0.1:8090. User’s restricted corporate machine requires preprovisioned Maven dependency cache or build on an approved connected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README has environment-dependent validation evidence and explicit limitations. We independently inspected source and metadata for this deck, but did not execute a live end-to-end production workload. CI workflow for Windows/macOS is included; not proof it ran successfully.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intended for architecture review discussion. Some trade-offs reflect inference from the design (e.g. lack of HA); they are reasonable consequences of single-process localhost topology. Technical manager can use it to decide which controls matter for a regulated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includes both documented ELIYA70 gaps and recommended adoption criteria. Pending areas: true PTY/ConPTY, unattended OS-process restart recovery, cross-process workspace lock, automatic worktree cleanup and merge, full OpenCode/Claude hook/skill interoperability and formal security/load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orienting endpoint map. The exact HTTP mappings of ChatController, KnowledgeController and ArtifactController should be consulted in the source. Terminal and Agent mappings were inspected directly. Do not treat ellipses as literal route strings.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ELIYA70.zip supplied by user. This appendix deliberately lists concrete classes in the archive. Screens and diagrams in the deck are built with editable native PowerPoint shapes and text, not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gd name="adj" fmla="val 69231"/>
            </a:avLst>
          </a:prstGeom>
          <a:solidFill>
            <a:srgbClr val="1767C7"/>
          </a:solidFill>
          <a:ln w="9525">
            <a:solidFill>
              <a:srgbClr val="1767C7"/>
            </a:solidFill>
            <a:prstDash val="solid"/>
          </a:ln>
        </p:spPr>
      </p:sp>
      <p:sp>
        <p:nvSpPr>
          <p:cNvPr id="3" name="Shape 1"/>
          <p:cNvSpPr/>
          <p:nvPr/>
        </p:nvSpPr>
        <p:spPr>
          <a:xfrm>
            <a:off x="530352" y="914400"/>
            <a:ext cx="923544" cy="77724"/>
          </a:xfrm>
          <a:prstGeom prst="rect">
            <a:avLst>
              <a:gd name="adj" fmla="val 105882"/>
            </a:avLst>
          </a:prstGeom>
          <a:solidFill>
            <a:srgbClr val="21A3C5"/>
          </a:solidFill>
          <a:ln w="9525">
            <a:solidFill>
              <a:srgbClr val="21A3C5"/>
            </a:solidFill>
            <a:prstDash val="solid"/>
          </a:ln>
        </p:spPr>
      </p:sp>
      <p:sp>
        <p:nvSpPr>
          <p:cNvPr id="4" name="Text 2"/>
          <p:cNvSpPr/>
          <p:nvPr/>
        </p:nvSpPr>
        <p:spPr>
          <a:xfrm>
            <a:off x="539496" y="1161288"/>
            <a:ext cx="5120640" cy="667512"/>
          </a:xfrm>
          <a:prstGeom prst="rect">
            <a:avLst/>
          </a:prstGeom>
          <a:noFill/>
          <a:ln/>
        </p:spPr>
        <p:txBody>
          <a:bodyPr wrap="square" lIns="0" tIns="0" rIns="0" bIns="0" rtlCol="0" anchor="ctr">
            <a:normAutofit/>
          </a:bodyPr>
          <a:lstStyle/>
          <a:p>
            <a:pPr algn="l" indent="0" marL="0">
              <a:buNone/>
            </a:pPr>
            <a:r>
              <a:rPr lang="en-US" sz="4300" b="1" dirty="0">
                <a:solidFill>
                  <a:srgbClr val="0C2B4E"/>
                </a:solidFill>
                <a:latin typeface="Aptos" pitchFamily="34" charset="0"/>
                <a:ea typeface="Aptos" pitchFamily="34" charset="-122"/>
                <a:cs typeface="Aptos" pitchFamily="34" charset="-120"/>
              </a:rPr>
              <a:t>ELIYA</a:t>
            </a:r>
            <a:endParaRPr lang="en-US" sz="4300" dirty="0"/>
          </a:p>
        </p:txBody>
      </p:sp>
      <p:sp>
        <p:nvSpPr>
          <p:cNvPr id="5" name="Text 3"/>
          <p:cNvSpPr/>
          <p:nvPr/>
        </p:nvSpPr>
        <p:spPr>
          <a:xfrm>
            <a:off x="539496" y="1938528"/>
            <a:ext cx="9509760" cy="603504"/>
          </a:xfrm>
          <a:prstGeom prst="rect">
            <a:avLst/>
          </a:prstGeom>
          <a:noFill/>
          <a:ln/>
        </p:spPr>
        <p:txBody>
          <a:bodyPr wrap="square" lIns="0" tIns="0" rIns="0" bIns="0" rtlCol="0" anchor="ctr">
            <a:normAutofit/>
          </a:bodyPr>
          <a:lstStyle/>
          <a:p>
            <a:pPr algn="l" indent="0" marL="0">
              <a:buNone/>
            </a:pPr>
            <a:r>
              <a:rPr lang="en-US" sz="3500" b="1" dirty="0">
                <a:solidFill>
                  <a:srgbClr val="1767C7"/>
                </a:solidFill>
                <a:latin typeface="Aptos" pitchFamily="34" charset="0"/>
                <a:ea typeface="Aptos" pitchFamily="34" charset="-122"/>
                <a:cs typeface="Aptos" pitchFamily="34" charset="-120"/>
              </a:rPr>
              <a:t>Technical Architecture</a:t>
            </a:r>
            <a:endParaRPr lang="en-US" sz="3500" dirty="0"/>
          </a:p>
        </p:txBody>
      </p:sp>
      <p:sp>
        <p:nvSpPr>
          <p:cNvPr id="6" name="Text 4"/>
          <p:cNvSpPr/>
          <p:nvPr/>
        </p:nvSpPr>
        <p:spPr>
          <a:xfrm>
            <a:off x="566928" y="2770632"/>
            <a:ext cx="10332720" cy="594360"/>
          </a:xfrm>
          <a:prstGeom prst="rect">
            <a:avLst/>
          </a:prstGeom>
          <a:noFill/>
          <a:ln/>
        </p:spPr>
        <p:txBody>
          <a:bodyPr wrap="square" lIns="0" tIns="0" rIns="0" bIns="0" rtlCol="0" anchor="ctr">
            <a:normAutofit/>
          </a:bodyPr>
          <a:lstStyle/>
          <a:p>
            <a:pPr algn="l" indent="0" marL="0">
              <a:buNone/>
            </a:pPr>
            <a:r>
              <a:rPr lang="en-US" sz="1800" dirty="0">
                <a:solidFill>
                  <a:srgbClr val="18324F"/>
                </a:solidFill>
                <a:latin typeface="Aptos" pitchFamily="34" charset="0"/>
                <a:ea typeface="Aptos" pitchFamily="34" charset="-122"/>
                <a:cs typeface="Aptos" pitchFamily="34" charset="-120"/>
              </a:rPr>
              <a:t>Platform components, execution flows, governance and token-economy design</a:t>
            </a:r>
            <a:endParaRPr lang="en-US" sz="1800" dirty="0"/>
          </a:p>
        </p:txBody>
      </p:sp>
      <p:sp>
        <p:nvSpPr>
          <p:cNvPr id="7" name="Shape 5"/>
          <p:cNvSpPr/>
          <p:nvPr/>
        </p:nvSpPr>
        <p:spPr>
          <a:xfrm>
            <a:off x="576072" y="3931920"/>
            <a:ext cx="1207008" cy="265176"/>
          </a:xfrm>
          <a:prstGeom prst="roundRect">
            <a:avLst>
              <a:gd name="adj" fmla="val 37931"/>
            </a:avLst>
          </a:prstGeom>
          <a:solidFill>
            <a:srgbClr val="EDF5FD"/>
          </a:solidFill>
          <a:ln w="9525">
            <a:solidFill>
              <a:srgbClr val="EDF5FD"/>
            </a:solidFill>
            <a:prstDash val="solid"/>
          </a:ln>
        </p:spPr>
      </p:sp>
      <p:sp>
        <p:nvSpPr>
          <p:cNvPr id="8" name="Text 6"/>
          <p:cNvSpPr/>
          <p:nvPr/>
        </p:nvSpPr>
        <p:spPr>
          <a:xfrm>
            <a:off x="649224" y="3941064"/>
            <a:ext cx="1060704"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JAVA 17</a:t>
            </a:r>
            <a:endParaRPr lang="en-US" sz="860" dirty="0"/>
          </a:p>
        </p:txBody>
      </p:sp>
      <p:sp>
        <p:nvSpPr>
          <p:cNvPr id="9" name="Shape 7"/>
          <p:cNvSpPr/>
          <p:nvPr/>
        </p:nvSpPr>
        <p:spPr>
          <a:xfrm>
            <a:off x="1911096" y="3931920"/>
            <a:ext cx="1609344" cy="265176"/>
          </a:xfrm>
          <a:prstGeom prst="roundRect">
            <a:avLst>
              <a:gd name="adj" fmla="val 37931"/>
            </a:avLst>
          </a:prstGeom>
          <a:solidFill>
            <a:srgbClr val="EDF5FD"/>
          </a:solidFill>
          <a:ln w="9525">
            <a:solidFill>
              <a:srgbClr val="EDF5FD"/>
            </a:solidFill>
            <a:prstDash val="solid"/>
          </a:ln>
        </p:spPr>
      </p:sp>
      <p:sp>
        <p:nvSpPr>
          <p:cNvPr id="10" name="Text 8"/>
          <p:cNvSpPr/>
          <p:nvPr/>
        </p:nvSpPr>
        <p:spPr>
          <a:xfrm>
            <a:off x="1984248" y="3941064"/>
            <a:ext cx="1463040"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SPRING BOOT</a:t>
            </a:r>
            <a:endParaRPr lang="en-US" sz="860" dirty="0"/>
          </a:p>
        </p:txBody>
      </p:sp>
      <p:sp>
        <p:nvSpPr>
          <p:cNvPr id="11" name="Shape 9"/>
          <p:cNvSpPr/>
          <p:nvPr/>
        </p:nvSpPr>
        <p:spPr>
          <a:xfrm>
            <a:off x="3666744" y="3931920"/>
            <a:ext cx="1545336" cy="265176"/>
          </a:xfrm>
          <a:prstGeom prst="roundRect">
            <a:avLst>
              <a:gd name="adj" fmla="val 37931"/>
            </a:avLst>
          </a:prstGeom>
          <a:solidFill>
            <a:srgbClr val="EDF5FD"/>
          </a:solidFill>
          <a:ln w="9525">
            <a:solidFill>
              <a:srgbClr val="EDF5FD"/>
            </a:solidFill>
            <a:prstDash val="solid"/>
          </a:ln>
        </p:spPr>
      </p:sp>
      <p:sp>
        <p:nvSpPr>
          <p:cNvPr id="12" name="Text 10"/>
          <p:cNvSpPr/>
          <p:nvPr/>
        </p:nvSpPr>
        <p:spPr>
          <a:xfrm>
            <a:off x="3739896" y="3941064"/>
            <a:ext cx="1399032"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LOCAL-FIRST</a:t>
            </a:r>
            <a:endParaRPr lang="en-US" sz="860" dirty="0"/>
          </a:p>
        </p:txBody>
      </p:sp>
      <p:sp>
        <p:nvSpPr>
          <p:cNvPr id="13" name="Shape 11"/>
          <p:cNvSpPr/>
          <p:nvPr/>
        </p:nvSpPr>
        <p:spPr>
          <a:xfrm>
            <a:off x="5358384" y="3931920"/>
            <a:ext cx="2578608" cy="265176"/>
          </a:xfrm>
          <a:prstGeom prst="roundRect">
            <a:avLst>
              <a:gd name="adj" fmla="val 37931"/>
            </a:avLst>
          </a:prstGeom>
          <a:solidFill>
            <a:srgbClr val="EDF5FD"/>
          </a:solidFill>
          <a:ln w="9525">
            <a:solidFill>
              <a:srgbClr val="EDF5FD"/>
            </a:solidFill>
            <a:prstDash val="solid"/>
          </a:ln>
        </p:spPr>
      </p:sp>
      <p:sp>
        <p:nvSpPr>
          <p:cNvPr id="14" name="Text 12"/>
          <p:cNvSpPr/>
          <p:nvPr/>
        </p:nvSpPr>
        <p:spPr>
          <a:xfrm>
            <a:off x="5431536" y="3941064"/>
            <a:ext cx="2432304"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SOURCE REVIEW: ELIYA70</a:t>
            </a:r>
            <a:endParaRPr lang="en-US" sz="860" dirty="0"/>
          </a:p>
        </p:txBody>
      </p:sp>
      <p:sp>
        <p:nvSpPr>
          <p:cNvPr id="15" name="Shape 13"/>
          <p:cNvSpPr/>
          <p:nvPr/>
        </p:nvSpPr>
        <p:spPr>
          <a:xfrm>
            <a:off x="557784" y="4974336"/>
            <a:ext cx="10917936" cy="859536"/>
          </a:xfrm>
          <a:prstGeom prst="roundRect">
            <a:avLst>
              <a:gd name="adj" fmla="val 11702"/>
            </a:avLst>
          </a:prstGeom>
          <a:solidFill>
            <a:srgbClr val="F5F9FE"/>
          </a:solidFill>
          <a:ln w="9525">
            <a:solidFill>
              <a:srgbClr val="D8E5F2"/>
            </a:solidFill>
            <a:prstDash val="solid"/>
          </a:ln>
        </p:spPr>
      </p:sp>
      <p:sp>
        <p:nvSpPr>
          <p:cNvPr id="16" name="Text 14"/>
          <p:cNvSpPr/>
          <p:nvPr/>
        </p:nvSpPr>
        <p:spPr>
          <a:xfrm>
            <a:off x="786384" y="5157216"/>
            <a:ext cx="9875520" cy="310896"/>
          </a:xfrm>
          <a:prstGeom prst="rect">
            <a:avLst/>
          </a:prstGeom>
          <a:noFill/>
          <a:ln/>
        </p:spPr>
        <p:txBody>
          <a:bodyPr wrap="square" lIns="0" tIns="0" rIns="0" bIns="0" rtlCol="0" anchor="ctr">
            <a:normAutofit/>
          </a:bodyPr>
          <a:lstStyle/>
          <a:p>
            <a:pPr algn="l" indent="0" marL="0">
              <a:buNone/>
            </a:pPr>
            <a:r>
              <a:rPr lang="en-US" sz="1700" b="1" dirty="0">
                <a:solidFill>
                  <a:srgbClr val="0C2B4E"/>
                </a:solidFill>
                <a:latin typeface="Aptos" pitchFamily="34" charset="0"/>
                <a:ea typeface="Aptos" pitchFamily="34" charset="-122"/>
                <a:cs typeface="Aptos" pitchFamily="34" charset="-120"/>
              </a:rPr>
              <a:t>Prepared for Technical Leads &amp; Engineering Managers</a:t>
            </a:r>
            <a:endParaRPr lang="en-US" sz="1700" dirty="0"/>
          </a:p>
        </p:txBody>
      </p:sp>
      <p:sp>
        <p:nvSpPr>
          <p:cNvPr id="17" name="Text 15"/>
          <p:cNvSpPr/>
          <p:nvPr/>
        </p:nvSpPr>
        <p:spPr>
          <a:xfrm>
            <a:off x="585216" y="6492240"/>
            <a:ext cx="10607040" cy="164592"/>
          </a:xfrm>
          <a:prstGeom prst="rect">
            <a:avLst/>
          </a:prstGeom>
          <a:noFill/>
          <a:ln/>
        </p:spPr>
        <p:txBody>
          <a:bodyPr wrap="square" lIns="0" tIns="0" rIns="0" bIns="0" rtlCol="0" anchor="ctr">
            <a:normAutofit/>
          </a:bodyPr>
          <a:lstStyle/>
          <a:p>
            <a:pPr algn="l" indent="0" marL="0">
              <a:buNone/>
            </a:pPr>
            <a:r>
              <a:rPr lang="en-US" sz="940" dirty="0">
                <a:solidFill>
                  <a:srgbClr val="7588A2"/>
                </a:solidFill>
                <a:latin typeface="Aptos" pitchFamily="34" charset="0"/>
                <a:ea typeface="Aptos" pitchFamily="34" charset="-122"/>
                <a:cs typeface="Aptos" pitchFamily="34" charset="-120"/>
              </a:rPr>
              <a:t>Architecture baseline  |  26 October 2026  |  Editable PowerPoint</a:t>
            </a:r>
            <a:endParaRPr lang="en-US" sz="9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SOLUTION AT A GLANCE</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Engineering summary</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A locally hosted agentic engineering workbench with controlled access to code and external tools.</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OVERVIEW</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02</a:t>
            </a:r>
            <a:endParaRPr lang="en-US" sz="900" dirty="0"/>
          </a:p>
        </p:txBody>
      </p:sp>
      <p:sp>
        <p:nvSpPr>
          <p:cNvPr id="11" name="Shape 9"/>
          <p:cNvSpPr/>
          <p:nvPr/>
        </p:nvSpPr>
        <p:spPr>
          <a:xfrm>
            <a:off x="530352" y="1581912"/>
            <a:ext cx="3590544" cy="1600200"/>
          </a:xfrm>
          <a:prstGeom prst="roundRect">
            <a:avLst>
              <a:gd name="adj" fmla="val 6286"/>
            </a:avLst>
          </a:prstGeom>
          <a:solidFill>
            <a:srgbClr val="FFFFFF"/>
          </a:solidFill>
          <a:ln w="9525">
            <a:solidFill>
              <a:srgbClr val="D8E5F2"/>
            </a:solidFill>
            <a:prstDash val="solid"/>
          </a:ln>
        </p:spPr>
      </p:sp>
      <p:sp>
        <p:nvSpPr>
          <p:cNvPr id="12" name="Shape 10"/>
          <p:cNvSpPr/>
          <p:nvPr/>
        </p:nvSpPr>
        <p:spPr>
          <a:xfrm>
            <a:off x="530352" y="1581912"/>
            <a:ext cx="50292" cy="1600200"/>
          </a:xfrm>
          <a:prstGeom prst="rect">
            <a:avLst>
              <a:gd name="adj" fmla="val 163636"/>
            </a:avLst>
          </a:prstGeom>
          <a:solidFill>
            <a:srgbClr val="1767C7"/>
          </a:solidFill>
          <a:ln w="9525">
            <a:solidFill>
              <a:srgbClr val="1767C7"/>
            </a:solidFill>
            <a:prstDash val="solid"/>
          </a:ln>
        </p:spPr>
      </p:sp>
      <p:sp>
        <p:nvSpPr>
          <p:cNvPr id="13" name="Text 11"/>
          <p:cNvSpPr/>
          <p:nvPr/>
        </p:nvSpPr>
        <p:spPr>
          <a:xfrm>
            <a:off x="685800" y="1691640"/>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Three interaction modes</a:t>
            </a:r>
            <a:endParaRPr lang="en-US" sz="1410" dirty="0"/>
          </a:p>
        </p:txBody>
      </p:sp>
      <p:sp>
        <p:nvSpPr>
          <p:cNvPr id="14" name="Text 12"/>
          <p:cNvSpPr/>
          <p:nvPr/>
        </p:nvSpPr>
        <p:spPr>
          <a:xfrm>
            <a:off x="685800" y="2066544"/>
            <a:ext cx="3288792" cy="100584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Chat for analysis; Agent for user-approved edits; Terminal for independent task execution.</a:t>
            </a:r>
            <a:endParaRPr lang="en-US" sz="1050" dirty="0"/>
          </a:p>
        </p:txBody>
      </p:sp>
      <p:sp>
        <p:nvSpPr>
          <p:cNvPr id="15" name="Shape 13"/>
          <p:cNvSpPr/>
          <p:nvPr/>
        </p:nvSpPr>
        <p:spPr>
          <a:xfrm>
            <a:off x="4303776" y="1581912"/>
            <a:ext cx="3590544" cy="1600200"/>
          </a:xfrm>
          <a:prstGeom prst="roundRect">
            <a:avLst>
              <a:gd name="adj" fmla="val 6286"/>
            </a:avLst>
          </a:prstGeom>
          <a:solidFill>
            <a:srgbClr val="FFFFFF"/>
          </a:solidFill>
          <a:ln w="9525">
            <a:solidFill>
              <a:srgbClr val="D8E5F2"/>
            </a:solidFill>
            <a:prstDash val="solid"/>
          </a:ln>
        </p:spPr>
      </p:sp>
      <p:sp>
        <p:nvSpPr>
          <p:cNvPr id="16" name="Shape 14"/>
          <p:cNvSpPr/>
          <p:nvPr/>
        </p:nvSpPr>
        <p:spPr>
          <a:xfrm>
            <a:off x="4303776" y="1581912"/>
            <a:ext cx="50292" cy="1600200"/>
          </a:xfrm>
          <a:prstGeom prst="rect">
            <a:avLst>
              <a:gd name="adj" fmla="val 163636"/>
            </a:avLst>
          </a:prstGeom>
          <a:solidFill>
            <a:srgbClr val="1767C7"/>
          </a:solidFill>
          <a:ln w="9525">
            <a:solidFill>
              <a:srgbClr val="1767C7"/>
            </a:solidFill>
            <a:prstDash val="solid"/>
          </a:ln>
        </p:spPr>
      </p:sp>
      <p:sp>
        <p:nvSpPr>
          <p:cNvPr id="17" name="Text 15"/>
          <p:cNvSpPr/>
          <p:nvPr/>
        </p:nvSpPr>
        <p:spPr>
          <a:xfrm>
            <a:off x="4459224" y="1691640"/>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Single local application</a:t>
            </a:r>
            <a:endParaRPr lang="en-US" sz="1410" dirty="0"/>
          </a:p>
        </p:txBody>
      </p:sp>
      <p:sp>
        <p:nvSpPr>
          <p:cNvPr id="18" name="Text 16"/>
          <p:cNvSpPr/>
          <p:nvPr/>
        </p:nvSpPr>
        <p:spPr>
          <a:xfrm>
            <a:off x="4459224" y="2066544"/>
            <a:ext cx="3288792" cy="100584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Java 17 + Spring Boot serves the browser UI and API/SSE endpoints over loopback.</a:t>
            </a:r>
            <a:endParaRPr lang="en-US" sz="1050" dirty="0"/>
          </a:p>
        </p:txBody>
      </p:sp>
      <p:sp>
        <p:nvSpPr>
          <p:cNvPr id="19" name="Shape 17"/>
          <p:cNvSpPr/>
          <p:nvPr/>
        </p:nvSpPr>
        <p:spPr>
          <a:xfrm>
            <a:off x="8077200" y="1581912"/>
            <a:ext cx="3590544" cy="1600200"/>
          </a:xfrm>
          <a:prstGeom prst="roundRect">
            <a:avLst>
              <a:gd name="adj" fmla="val 6286"/>
            </a:avLst>
          </a:prstGeom>
          <a:solidFill>
            <a:srgbClr val="FFFFFF"/>
          </a:solidFill>
          <a:ln w="9525">
            <a:solidFill>
              <a:srgbClr val="D8E5F2"/>
            </a:solidFill>
            <a:prstDash val="solid"/>
          </a:ln>
        </p:spPr>
      </p:sp>
      <p:sp>
        <p:nvSpPr>
          <p:cNvPr id="20" name="Shape 18"/>
          <p:cNvSpPr/>
          <p:nvPr/>
        </p:nvSpPr>
        <p:spPr>
          <a:xfrm>
            <a:off x="8077200" y="1581912"/>
            <a:ext cx="50292" cy="1600200"/>
          </a:xfrm>
          <a:prstGeom prst="rect">
            <a:avLst>
              <a:gd name="adj" fmla="val 163636"/>
            </a:avLst>
          </a:prstGeom>
          <a:solidFill>
            <a:srgbClr val="1767C7"/>
          </a:solidFill>
          <a:ln w="9525">
            <a:solidFill>
              <a:srgbClr val="1767C7"/>
            </a:solidFill>
            <a:prstDash val="solid"/>
          </a:ln>
        </p:spPr>
      </p:sp>
      <p:sp>
        <p:nvSpPr>
          <p:cNvPr id="21" name="Text 19"/>
          <p:cNvSpPr/>
          <p:nvPr/>
        </p:nvSpPr>
        <p:spPr>
          <a:xfrm>
            <a:off x="8232648" y="1691640"/>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Workspace-aware intelligence</a:t>
            </a:r>
            <a:endParaRPr lang="en-US" sz="1410" dirty="0"/>
          </a:p>
        </p:txBody>
      </p:sp>
      <p:sp>
        <p:nvSpPr>
          <p:cNvPr id="22" name="Text 20"/>
          <p:cNvSpPr/>
          <p:nvPr/>
        </p:nvSpPr>
        <p:spPr>
          <a:xfrm>
            <a:off x="8232648" y="2066544"/>
            <a:ext cx="3288792" cy="100584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Lexical indexing, optional embeddings, symbol and dependency/flow intelligence.</a:t>
            </a:r>
            <a:endParaRPr lang="en-US" sz="1050" dirty="0"/>
          </a:p>
        </p:txBody>
      </p:sp>
      <p:sp>
        <p:nvSpPr>
          <p:cNvPr id="23" name="Shape 21"/>
          <p:cNvSpPr/>
          <p:nvPr/>
        </p:nvSpPr>
        <p:spPr>
          <a:xfrm>
            <a:off x="530352" y="3355848"/>
            <a:ext cx="3590544" cy="1600200"/>
          </a:xfrm>
          <a:prstGeom prst="roundRect">
            <a:avLst>
              <a:gd name="adj" fmla="val 6286"/>
            </a:avLst>
          </a:prstGeom>
          <a:solidFill>
            <a:srgbClr val="FFFFFF"/>
          </a:solidFill>
          <a:ln w="9525">
            <a:solidFill>
              <a:srgbClr val="D8E5F2"/>
            </a:solidFill>
            <a:prstDash val="solid"/>
          </a:ln>
        </p:spPr>
      </p:sp>
      <p:sp>
        <p:nvSpPr>
          <p:cNvPr id="24" name="Shape 22"/>
          <p:cNvSpPr/>
          <p:nvPr/>
        </p:nvSpPr>
        <p:spPr>
          <a:xfrm>
            <a:off x="530352" y="3355848"/>
            <a:ext cx="50292" cy="1600200"/>
          </a:xfrm>
          <a:prstGeom prst="rect">
            <a:avLst>
              <a:gd name="adj" fmla="val 163636"/>
            </a:avLst>
          </a:prstGeom>
          <a:solidFill>
            <a:srgbClr val="1767C7"/>
          </a:solidFill>
          <a:ln w="9525">
            <a:solidFill>
              <a:srgbClr val="1767C7"/>
            </a:solidFill>
            <a:prstDash val="solid"/>
          </a:ln>
        </p:spPr>
      </p:sp>
      <p:sp>
        <p:nvSpPr>
          <p:cNvPr id="25" name="Text 23"/>
          <p:cNvSpPr/>
          <p:nvPr/>
        </p:nvSpPr>
        <p:spPr>
          <a:xfrm>
            <a:off x="685800" y="3465576"/>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Controlled execution</a:t>
            </a:r>
            <a:endParaRPr lang="en-US" sz="1410" dirty="0"/>
          </a:p>
        </p:txBody>
      </p:sp>
      <p:sp>
        <p:nvSpPr>
          <p:cNvPr id="26" name="Text 24"/>
          <p:cNvSpPr/>
          <p:nvPr/>
        </p:nvSpPr>
        <p:spPr>
          <a:xfrm>
            <a:off x="685800" y="3840480"/>
            <a:ext cx="3288792" cy="100584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Approval, scope checks, guarded writes, rollback snapshots and verification.</a:t>
            </a:r>
            <a:endParaRPr lang="en-US" sz="1050" dirty="0"/>
          </a:p>
        </p:txBody>
      </p:sp>
      <p:sp>
        <p:nvSpPr>
          <p:cNvPr id="27" name="Shape 25"/>
          <p:cNvSpPr/>
          <p:nvPr/>
        </p:nvSpPr>
        <p:spPr>
          <a:xfrm>
            <a:off x="4303776" y="3355848"/>
            <a:ext cx="3590544" cy="1600200"/>
          </a:xfrm>
          <a:prstGeom prst="roundRect">
            <a:avLst>
              <a:gd name="adj" fmla="val 6286"/>
            </a:avLst>
          </a:prstGeom>
          <a:solidFill>
            <a:srgbClr val="FFFFFF"/>
          </a:solidFill>
          <a:ln w="9525">
            <a:solidFill>
              <a:srgbClr val="D8E5F2"/>
            </a:solidFill>
            <a:prstDash val="solid"/>
          </a:ln>
        </p:spPr>
      </p:sp>
      <p:sp>
        <p:nvSpPr>
          <p:cNvPr id="28" name="Shape 26"/>
          <p:cNvSpPr/>
          <p:nvPr/>
        </p:nvSpPr>
        <p:spPr>
          <a:xfrm>
            <a:off x="4303776" y="3355848"/>
            <a:ext cx="50292" cy="1600200"/>
          </a:xfrm>
          <a:prstGeom prst="rect">
            <a:avLst>
              <a:gd name="adj" fmla="val 163636"/>
            </a:avLst>
          </a:prstGeom>
          <a:solidFill>
            <a:srgbClr val="1767C7"/>
          </a:solidFill>
          <a:ln w="9525">
            <a:solidFill>
              <a:srgbClr val="1767C7"/>
            </a:solidFill>
            <a:prstDash val="solid"/>
          </a:ln>
        </p:spPr>
      </p:sp>
      <p:sp>
        <p:nvSpPr>
          <p:cNvPr id="29" name="Text 27"/>
          <p:cNvSpPr/>
          <p:nvPr/>
        </p:nvSpPr>
        <p:spPr>
          <a:xfrm>
            <a:off x="4459224" y="3465576"/>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Provider-flexible AI</a:t>
            </a:r>
            <a:endParaRPr lang="en-US" sz="1410" dirty="0"/>
          </a:p>
        </p:txBody>
      </p:sp>
      <p:sp>
        <p:nvSpPr>
          <p:cNvPr id="30" name="Text 28"/>
          <p:cNvSpPr/>
          <p:nvPr/>
        </p:nvSpPr>
        <p:spPr>
          <a:xfrm>
            <a:off x="4459224" y="3840480"/>
            <a:ext cx="3288792" cy="100584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OpenAI-compatible completion/embedding clients with streaming and model settings.</a:t>
            </a:r>
            <a:endParaRPr lang="en-US" sz="1050" dirty="0"/>
          </a:p>
        </p:txBody>
      </p:sp>
      <p:sp>
        <p:nvSpPr>
          <p:cNvPr id="31" name="Shape 29"/>
          <p:cNvSpPr/>
          <p:nvPr/>
        </p:nvSpPr>
        <p:spPr>
          <a:xfrm>
            <a:off x="8077200" y="3355848"/>
            <a:ext cx="3590544" cy="1600200"/>
          </a:xfrm>
          <a:prstGeom prst="roundRect">
            <a:avLst>
              <a:gd name="adj" fmla="val 6286"/>
            </a:avLst>
          </a:prstGeom>
          <a:solidFill>
            <a:srgbClr val="FFFFFF"/>
          </a:solidFill>
          <a:ln w="9525">
            <a:solidFill>
              <a:srgbClr val="D8E5F2"/>
            </a:solidFill>
            <a:prstDash val="solid"/>
          </a:ln>
        </p:spPr>
      </p:sp>
      <p:sp>
        <p:nvSpPr>
          <p:cNvPr id="32" name="Shape 30"/>
          <p:cNvSpPr/>
          <p:nvPr/>
        </p:nvSpPr>
        <p:spPr>
          <a:xfrm>
            <a:off x="8077200" y="3355848"/>
            <a:ext cx="50292" cy="1600200"/>
          </a:xfrm>
          <a:prstGeom prst="rect">
            <a:avLst>
              <a:gd name="adj" fmla="val 163636"/>
            </a:avLst>
          </a:prstGeom>
          <a:solidFill>
            <a:srgbClr val="1767C7"/>
          </a:solidFill>
          <a:ln w="9525">
            <a:solidFill>
              <a:srgbClr val="1767C7"/>
            </a:solidFill>
            <a:prstDash val="solid"/>
          </a:ln>
        </p:spPr>
      </p:sp>
      <p:sp>
        <p:nvSpPr>
          <p:cNvPr id="33" name="Text 31"/>
          <p:cNvSpPr/>
          <p:nvPr/>
        </p:nvSpPr>
        <p:spPr>
          <a:xfrm>
            <a:off x="8232648" y="3465576"/>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Durable activity records</a:t>
            </a:r>
            <a:endParaRPr lang="en-US" sz="1410" dirty="0"/>
          </a:p>
        </p:txBody>
      </p:sp>
      <p:sp>
        <p:nvSpPr>
          <p:cNvPr id="34" name="Text 32"/>
          <p:cNvSpPr/>
          <p:nvPr/>
        </p:nvSpPr>
        <p:spPr>
          <a:xfrm>
            <a:off x="8232648" y="3840480"/>
            <a:ext cx="3288792" cy="100584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Local H2 entities plus file-based run/session, index and artifact data.</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SYSTEM DESIGN</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Architectural principles</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Architectural rules traced to code rather than aspirational features.</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OVERVIEW</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03</a:t>
            </a:r>
            <a:endParaRPr lang="en-US" sz="900" dirty="0"/>
          </a:p>
        </p:txBody>
      </p:sp>
      <p:sp>
        <p:nvSpPr>
          <p:cNvPr id="11" name="Shape 9"/>
          <p:cNvSpPr/>
          <p:nvPr/>
        </p:nvSpPr>
        <p:spPr>
          <a:xfrm>
            <a:off x="530352" y="1591056"/>
            <a:ext cx="3590544" cy="1645920"/>
          </a:xfrm>
          <a:prstGeom prst="roundRect">
            <a:avLst>
              <a:gd name="adj" fmla="val 6111"/>
            </a:avLst>
          </a:prstGeom>
          <a:solidFill>
            <a:srgbClr val="FFFFFF"/>
          </a:solidFill>
          <a:ln w="9525">
            <a:solidFill>
              <a:srgbClr val="D8E5F2"/>
            </a:solidFill>
            <a:prstDash val="solid"/>
          </a:ln>
        </p:spPr>
      </p:sp>
      <p:sp>
        <p:nvSpPr>
          <p:cNvPr id="12" name="Shape 10"/>
          <p:cNvSpPr/>
          <p:nvPr/>
        </p:nvSpPr>
        <p:spPr>
          <a:xfrm>
            <a:off x="530352" y="1591056"/>
            <a:ext cx="50292" cy="1645920"/>
          </a:xfrm>
          <a:prstGeom prst="rect">
            <a:avLst>
              <a:gd name="adj" fmla="val 163636"/>
            </a:avLst>
          </a:prstGeom>
          <a:solidFill>
            <a:srgbClr val="1767C7"/>
          </a:solidFill>
          <a:ln w="9525">
            <a:solidFill>
              <a:srgbClr val="1767C7"/>
            </a:solidFill>
            <a:prstDash val="solid"/>
          </a:ln>
        </p:spPr>
      </p:sp>
      <p:sp>
        <p:nvSpPr>
          <p:cNvPr id="13" name="Text 11"/>
          <p:cNvSpPr/>
          <p:nvPr/>
        </p:nvSpPr>
        <p:spPr>
          <a:xfrm>
            <a:off x="685800" y="1700784"/>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Prompt and plan integrity</a:t>
            </a:r>
            <a:endParaRPr lang="en-US" sz="1410" dirty="0"/>
          </a:p>
        </p:txBody>
      </p:sp>
      <p:sp>
        <p:nvSpPr>
          <p:cNvPr id="14" name="Text 12"/>
          <p:cNvSpPr/>
          <p:nvPr/>
        </p:nvSpPr>
        <p:spPr>
          <a:xfrm>
            <a:off x="685800" y="2075688"/>
            <a:ext cx="3288792" cy="105156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The user request drives scope; approved Agent steps act as execution contract.</a:t>
            </a:r>
            <a:endParaRPr lang="en-US" sz="1050" dirty="0"/>
          </a:p>
        </p:txBody>
      </p:sp>
      <p:sp>
        <p:nvSpPr>
          <p:cNvPr id="15" name="Shape 13"/>
          <p:cNvSpPr/>
          <p:nvPr/>
        </p:nvSpPr>
        <p:spPr>
          <a:xfrm>
            <a:off x="4303776" y="1591056"/>
            <a:ext cx="3590544" cy="1645920"/>
          </a:xfrm>
          <a:prstGeom prst="roundRect">
            <a:avLst>
              <a:gd name="adj" fmla="val 6111"/>
            </a:avLst>
          </a:prstGeom>
          <a:solidFill>
            <a:srgbClr val="FFFFFF"/>
          </a:solidFill>
          <a:ln w="9525">
            <a:solidFill>
              <a:srgbClr val="D8E5F2"/>
            </a:solidFill>
            <a:prstDash val="solid"/>
          </a:ln>
        </p:spPr>
      </p:sp>
      <p:sp>
        <p:nvSpPr>
          <p:cNvPr id="16" name="Shape 14"/>
          <p:cNvSpPr/>
          <p:nvPr/>
        </p:nvSpPr>
        <p:spPr>
          <a:xfrm>
            <a:off x="4303776" y="1591056"/>
            <a:ext cx="50292" cy="1645920"/>
          </a:xfrm>
          <a:prstGeom prst="rect">
            <a:avLst>
              <a:gd name="adj" fmla="val 163636"/>
            </a:avLst>
          </a:prstGeom>
          <a:solidFill>
            <a:srgbClr val="1767C7"/>
          </a:solidFill>
          <a:ln w="9525">
            <a:solidFill>
              <a:srgbClr val="1767C7"/>
            </a:solidFill>
            <a:prstDash val="solid"/>
          </a:ln>
        </p:spPr>
      </p:sp>
      <p:sp>
        <p:nvSpPr>
          <p:cNvPr id="17" name="Text 15"/>
          <p:cNvSpPr/>
          <p:nvPr/>
        </p:nvSpPr>
        <p:spPr>
          <a:xfrm>
            <a:off x="4459224" y="1700784"/>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Least-privilege resources</a:t>
            </a:r>
            <a:endParaRPr lang="en-US" sz="1410" dirty="0"/>
          </a:p>
        </p:txBody>
      </p:sp>
      <p:sp>
        <p:nvSpPr>
          <p:cNvPr id="18" name="Text 16"/>
          <p:cNvSpPr/>
          <p:nvPr/>
        </p:nvSpPr>
        <p:spPr>
          <a:xfrm>
            <a:off x="4459224" y="2075688"/>
            <a:ext cx="3288792" cy="105156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Writable primary workspace; reference projects are read-only; protected paths guarded.</a:t>
            </a:r>
            <a:endParaRPr lang="en-US" sz="1050" dirty="0"/>
          </a:p>
        </p:txBody>
      </p:sp>
      <p:sp>
        <p:nvSpPr>
          <p:cNvPr id="19" name="Shape 17"/>
          <p:cNvSpPr/>
          <p:nvPr/>
        </p:nvSpPr>
        <p:spPr>
          <a:xfrm>
            <a:off x="8077200" y="1591056"/>
            <a:ext cx="3590544" cy="1645920"/>
          </a:xfrm>
          <a:prstGeom prst="roundRect">
            <a:avLst>
              <a:gd name="adj" fmla="val 6111"/>
            </a:avLst>
          </a:prstGeom>
          <a:solidFill>
            <a:srgbClr val="FFFFFF"/>
          </a:solidFill>
          <a:ln w="9525">
            <a:solidFill>
              <a:srgbClr val="D8E5F2"/>
            </a:solidFill>
            <a:prstDash val="solid"/>
          </a:ln>
        </p:spPr>
      </p:sp>
      <p:sp>
        <p:nvSpPr>
          <p:cNvPr id="20" name="Shape 18"/>
          <p:cNvSpPr/>
          <p:nvPr/>
        </p:nvSpPr>
        <p:spPr>
          <a:xfrm>
            <a:off x="8077200" y="1591056"/>
            <a:ext cx="50292" cy="1645920"/>
          </a:xfrm>
          <a:prstGeom prst="rect">
            <a:avLst>
              <a:gd name="adj" fmla="val 163636"/>
            </a:avLst>
          </a:prstGeom>
          <a:solidFill>
            <a:srgbClr val="1767C7"/>
          </a:solidFill>
          <a:ln w="9525">
            <a:solidFill>
              <a:srgbClr val="1767C7"/>
            </a:solidFill>
            <a:prstDash val="solid"/>
          </a:ln>
        </p:spPr>
      </p:sp>
      <p:sp>
        <p:nvSpPr>
          <p:cNvPr id="21" name="Text 19"/>
          <p:cNvSpPr/>
          <p:nvPr/>
        </p:nvSpPr>
        <p:spPr>
          <a:xfrm>
            <a:off x="8232648" y="1700784"/>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Evidence over assertion</a:t>
            </a:r>
            <a:endParaRPr lang="en-US" sz="1410" dirty="0"/>
          </a:p>
        </p:txBody>
      </p:sp>
      <p:sp>
        <p:nvSpPr>
          <p:cNvPr id="22" name="Text 20"/>
          <p:cNvSpPr/>
          <p:nvPr/>
        </p:nvSpPr>
        <p:spPr>
          <a:xfrm>
            <a:off x="8232648" y="2075688"/>
            <a:ext cx="3288792" cy="105156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Verify files/changes before declaring completion; preserve meaningful failure states.</a:t>
            </a:r>
            <a:endParaRPr lang="en-US" sz="1050" dirty="0"/>
          </a:p>
        </p:txBody>
      </p:sp>
      <p:sp>
        <p:nvSpPr>
          <p:cNvPr id="23" name="Shape 21"/>
          <p:cNvSpPr/>
          <p:nvPr/>
        </p:nvSpPr>
        <p:spPr>
          <a:xfrm>
            <a:off x="530352" y="3410712"/>
            <a:ext cx="3590544" cy="1645920"/>
          </a:xfrm>
          <a:prstGeom prst="roundRect">
            <a:avLst>
              <a:gd name="adj" fmla="val 6111"/>
            </a:avLst>
          </a:prstGeom>
          <a:solidFill>
            <a:srgbClr val="FFFFFF"/>
          </a:solidFill>
          <a:ln w="9525">
            <a:solidFill>
              <a:srgbClr val="D8E5F2"/>
            </a:solidFill>
            <a:prstDash val="solid"/>
          </a:ln>
        </p:spPr>
      </p:sp>
      <p:sp>
        <p:nvSpPr>
          <p:cNvPr id="24" name="Shape 22"/>
          <p:cNvSpPr/>
          <p:nvPr/>
        </p:nvSpPr>
        <p:spPr>
          <a:xfrm>
            <a:off x="530352" y="3410712"/>
            <a:ext cx="50292" cy="1645920"/>
          </a:xfrm>
          <a:prstGeom prst="rect">
            <a:avLst>
              <a:gd name="adj" fmla="val 163636"/>
            </a:avLst>
          </a:prstGeom>
          <a:solidFill>
            <a:srgbClr val="1767C7"/>
          </a:solidFill>
          <a:ln w="9525">
            <a:solidFill>
              <a:srgbClr val="1767C7"/>
            </a:solidFill>
            <a:prstDash val="solid"/>
          </a:ln>
        </p:spPr>
      </p:sp>
      <p:sp>
        <p:nvSpPr>
          <p:cNvPr id="25" name="Text 23"/>
          <p:cNvSpPr/>
          <p:nvPr/>
        </p:nvSpPr>
        <p:spPr>
          <a:xfrm>
            <a:off x="685800" y="3520440"/>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Explicit MCP activation</a:t>
            </a:r>
            <a:endParaRPr lang="en-US" sz="1410" dirty="0"/>
          </a:p>
        </p:txBody>
      </p:sp>
      <p:sp>
        <p:nvSpPr>
          <p:cNvPr id="26" name="Text 24"/>
          <p:cNvSpPr/>
          <p:nvPr/>
        </p:nvSpPr>
        <p:spPr>
          <a:xfrm>
            <a:off x="685800" y="3895344"/>
            <a:ext cx="3288792" cy="105156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Current user prompt requires “MCP”, plus integration-enabled permission gates.</a:t>
            </a:r>
            <a:endParaRPr lang="en-US" sz="1050" dirty="0"/>
          </a:p>
        </p:txBody>
      </p:sp>
      <p:sp>
        <p:nvSpPr>
          <p:cNvPr id="27" name="Shape 25"/>
          <p:cNvSpPr/>
          <p:nvPr/>
        </p:nvSpPr>
        <p:spPr>
          <a:xfrm>
            <a:off x="4303776" y="3410712"/>
            <a:ext cx="3590544" cy="1645920"/>
          </a:xfrm>
          <a:prstGeom prst="roundRect">
            <a:avLst>
              <a:gd name="adj" fmla="val 6111"/>
            </a:avLst>
          </a:prstGeom>
          <a:solidFill>
            <a:srgbClr val="FFFFFF"/>
          </a:solidFill>
          <a:ln w="9525">
            <a:solidFill>
              <a:srgbClr val="D8E5F2"/>
            </a:solidFill>
            <a:prstDash val="solid"/>
          </a:ln>
        </p:spPr>
      </p:sp>
      <p:sp>
        <p:nvSpPr>
          <p:cNvPr id="28" name="Shape 26"/>
          <p:cNvSpPr/>
          <p:nvPr/>
        </p:nvSpPr>
        <p:spPr>
          <a:xfrm>
            <a:off x="4303776" y="3410712"/>
            <a:ext cx="50292" cy="1645920"/>
          </a:xfrm>
          <a:prstGeom prst="rect">
            <a:avLst>
              <a:gd name="adj" fmla="val 163636"/>
            </a:avLst>
          </a:prstGeom>
          <a:solidFill>
            <a:srgbClr val="1767C7"/>
          </a:solidFill>
          <a:ln w="9525">
            <a:solidFill>
              <a:srgbClr val="1767C7"/>
            </a:solidFill>
            <a:prstDash val="solid"/>
          </a:ln>
        </p:spPr>
      </p:sp>
      <p:sp>
        <p:nvSpPr>
          <p:cNvPr id="29" name="Text 27"/>
          <p:cNvSpPr/>
          <p:nvPr/>
        </p:nvSpPr>
        <p:spPr>
          <a:xfrm>
            <a:off x="4459224" y="3520440"/>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Bounded context economy</a:t>
            </a:r>
            <a:endParaRPr lang="en-US" sz="1410" dirty="0"/>
          </a:p>
        </p:txBody>
      </p:sp>
      <p:sp>
        <p:nvSpPr>
          <p:cNvPr id="30" name="Text 28"/>
          <p:cNvSpPr/>
          <p:nvPr/>
        </p:nvSpPr>
        <p:spPr>
          <a:xfrm>
            <a:off x="4459224" y="3895344"/>
            <a:ext cx="3288792" cy="105156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Local retrieval, tool-output clipping and checkpoint summaries before model requests.</a:t>
            </a:r>
            <a:endParaRPr lang="en-US" sz="1050" dirty="0"/>
          </a:p>
        </p:txBody>
      </p:sp>
      <p:sp>
        <p:nvSpPr>
          <p:cNvPr id="31" name="Shape 29"/>
          <p:cNvSpPr/>
          <p:nvPr/>
        </p:nvSpPr>
        <p:spPr>
          <a:xfrm>
            <a:off x="8077200" y="3410712"/>
            <a:ext cx="3590544" cy="1645920"/>
          </a:xfrm>
          <a:prstGeom prst="roundRect">
            <a:avLst>
              <a:gd name="adj" fmla="val 6111"/>
            </a:avLst>
          </a:prstGeom>
          <a:solidFill>
            <a:srgbClr val="FFFFFF"/>
          </a:solidFill>
          <a:ln w="9525">
            <a:solidFill>
              <a:srgbClr val="D8E5F2"/>
            </a:solidFill>
            <a:prstDash val="solid"/>
          </a:ln>
        </p:spPr>
      </p:sp>
      <p:sp>
        <p:nvSpPr>
          <p:cNvPr id="32" name="Shape 30"/>
          <p:cNvSpPr/>
          <p:nvPr/>
        </p:nvSpPr>
        <p:spPr>
          <a:xfrm>
            <a:off x="8077200" y="3410712"/>
            <a:ext cx="50292" cy="1645920"/>
          </a:xfrm>
          <a:prstGeom prst="rect">
            <a:avLst>
              <a:gd name="adj" fmla="val 163636"/>
            </a:avLst>
          </a:prstGeom>
          <a:solidFill>
            <a:srgbClr val="1767C7"/>
          </a:solidFill>
          <a:ln w="9525">
            <a:solidFill>
              <a:srgbClr val="1767C7"/>
            </a:solidFill>
            <a:prstDash val="solid"/>
          </a:ln>
        </p:spPr>
      </p:sp>
      <p:sp>
        <p:nvSpPr>
          <p:cNvPr id="33" name="Text 31"/>
          <p:cNvSpPr/>
          <p:nvPr/>
        </p:nvSpPr>
        <p:spPr>
          <a:xfrm>
            <a:off x="8232648" y="3520440"/>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Progress without UI lock-in</a:t>
            </a:r>
            <a:endParaRPr lang="en-US" sz="1410" dirty="0"/>
          </a:p>
        </p:txBody>
      </p:sp>
      <p:sp>
        <p:nvSpPr>
          <p:cNvPr id="34" name="Text 32"/>
          <p:cNvSpPr/>
          <p:nvPr/>
        </p:nvSpPr>
        <p:spPr>
          <a:xfrm>
            <a:off x="8232648" y="3895344"/>
            <a:ext cx="3288792" cy="1051560"/>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Terminal sessions execute independently of an open browser connection.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CONTEXT VIEW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System context and trust boundaries</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One Java process hosts UI and services; provider/MCP systems sit outside its local trust boundary.</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ARCHITECTURE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04</a:t>
            </a:r>
            <a:endParaRPr lang="en-US" sz="900" dirty="0"/>
          </a:p>
        </p:txBody>
      </p:sp>
      <p:sp>
        <p:nvSpPr>
          <p:cNvPr id="11" name="Shape 9"/>
          <p:cNvSpPr/>
          <p:nvPr/>
        </p:nvSpPr>
        <p:spPr>
          <a:xfrm>
            <a:off x="576072" y="1938528"/>
            <a:ext cx="2011680" cy="950976"/>
          </a:xfrm>
          <a:prstGeom prst="roundRect">
            <a:avLst>
              <a:gd name="adj" fmla="val 10577"/>
            </a:avLst>
          </a:prstGeom>
          <a:solidFill>
            <a:srgbClr val="F5F9FE"/>
          </a:solidFill>
          <a:ln w="9525">
            <a:solidFill>
              <a:srgbClr val="D8E5F2"/>
            </a:solidFill>
            <a:prstDash val="solid"/>
          </a:ln>
        </p:spPr>
      </p:sp>
      <p:sp>
        <p:nvSpPr>
          <p:cNvPr id="12" name="Text 10"/>
          <p:cNvSpPr/>
          <p:nvPr/>
        </p:nvSpPr>
        <p:spPr>
          <a:xfrm>
            <a:off x="658368" y="2048256"/>
            <a:ext cx="1847088"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Engineering users</a:t>
            </a:r>
            <a:endParaRPr lang="en-US" sz="1410" dirty="0"/>
          </a:p>
        </p:txBody>
      </p:sp>
      <p:sp>
        <p:nvSpPr>
          <p:cNvPr id="13" name="Text 11"/>
          <p:cNvSpPr/>
          <p:nvPr/>
        </p:nvSpPr>
        <p:spPr>
          <a:xfrm>
            <a:off x="676656" y="2386584"/>
            <a:ext cx="1810512" cy="429768"/>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Dev · QA · PO · BA · Tech Lead</a:t>
            </a:r>
            <a:endParaRPr lang="en-US" sz="1010" dirty="0"/>
          </a:p>
        </p:txBody>
      </p:sp>
      <p:sp>
        <p:nvSpPr>
          <p:cNvPr id="14" name="Shape 12"/>
          <p:cNvSpPr/>
          <p:nvPr/>
        </p:nvSpPr>
        <p:spPr>
          <a:xfrm>
            <a:off x="2971800" y="1874520"/>
            <a:ext cx="2340864" cy="1069848"/>
          </a:xfrm>
          <a:prstGeom prst="roundRect">
            <a:avLst>
              <a:gd name="adj" fmla="val 9402"/>
            </a:avLst>
          </a:prstGeom>
          <a:solidFill>
            <a:srgbClr val="EDF5FD"/>
          </a:solidFill>
          <a:ln w="9525">
            <a:solidFill>
              <a:srgbClr val="D8E5F2"/>
            </a:solidFill>
            <a:prstDash val="solid"/>
          </a:ln>
        </p:spPr>
      </p:sp>
      <p:sp>
        <p:nvSpPr>
          <p:cNvPr id="15" name="Text 13"/>
          <p:cNvSpPr/>
          <p:nvPr/>
        </p:nvSpPr>
        <p:spPr>
          <a:xfrm>
            <a:off x="3054096" y="1984248"/>
            <a:ext cx="2176272"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Browser UI</a:t>
            </a:r>
            <a:endParaRPr lang="en-US" sz="1410" dirty="0"/>
          </a:p>
        </p:txBody>
      </p:sp>
      <p:sp>
        <p:nvSpPr>
          <p:cNvPr id="16" name="Text 14"/>
          <p:cNvSpPr/>
          <p:nvPr/>
        </p:nvSpPr>
        <p:spPr>
          <a:xfrm>
            <a:off x="3072384" y="2322576"/>
            <a:ext cx="2139696" cy="548640"/>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HTML / CSS / JavaScript</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SSE event stream</a:t>
            </a:r>
            <a:endParaRPr lang="en-US" sz="1010" dirty="0"/>
          </a:p>
        </p:txBody>
      </p:sp>
      <p:sp>
        <p:nvSpPr>
          <p:cNvPr id="17" name="Shape 15"/>
          <p:cNvSpPr/>
          <p:nvPr/>
        </p:nvSpPr>
        <p:spPr>
          <a:xfrm>
            <a:off x="5751576" y="1673352"/>
            <a:ext cx="2752344" cy="1481328"/>
          </a:xfrm>
          <a:prstGeom prst="roundRect">
            <a:avLst>
              <a:gd name="adj" fmla="val 6790"/>
            </a:avLst>
          </a:prstGeom>
          <a:solidFill>
            <a:srgbClr val="EDF5FD"/>
          </a:solidFill>
          <a:ln w="9525">
            <a:solidFill>
              <a:srgbClr val="D8E5F2"/>
            </a:solidFill>
            <a:prstDash val="solid"/>
          </a:ln>
        </p:spPr>
      </p:sp>
      <p:sp>
        <p:nvSpPr>
          <p:cNvPr id="18" name="Text 16"/>
          <p:cNvSpPr/>
          <p:nvPr/>
        </p:nvSpPr>
        <p:spPr>
          <a:xfrm>
            <a:off x="5833872" y="1783080"/>
            <a:ext cx="2587752" cy="283464"/>
          </a:xfrm>
          <a:prstGeom prst="rect">
            <a:avLst/>
          </a:prstGeom>
          <a:noFill/>
          <a:ln/>
        </p:spPr>
        <p:txBody>
          <a:bodyPr wrap="square" lIns="0" tIns="0" rIns="0" bIns="0" rtlCol="0" anchor="ctr">
            <a:normAutofit/>
          </a:bodyPr>
          <a:lstStyle/>
          <a:p>
            <a:pPr algn="ctr" indent="0" marL="0">
              <a:buNone/>
            </a:pPr>
            <a:r>
              <a:rPr lang="en-US" sz="1600" b="1" dirty="0">
                <a:solidFill>
                  <a:srgbClr val="0C2B4E"/>
                </a:solidFill>
                <a:latin typeface="Aptos" pitchFamily="34" charset="0"/>
                <a:ea typeface="Aptos" pitchFamily="34" charset="-122"/>
                <a:cs typeface="Aptos" pitchFamily="34" charset="-120"/>
              </a:rPr>
              <a:t>ELIYA runtime</a:t>
            </a:r>
            <a:endParaRPr lang="en-US" sz="1600" dirty="0"/>
          </a:p>
        </p:txBody>
      </p:sp>
      <p:sp>
        <p:nvSpPr>
          <p:cNvPr id="19" name="Text 17"/>
          <p:cNvSpPr/>
          <p:nvPr/>
        </p:nvSpPr>
        <p:spPr>
          <a:xfrm>
            <a:off x="5852160" y="2121408"/>
            <a:ext cx="2551176" cy="960120"/>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Spring Boot 3.5.16</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127.0.0.1 : 8090</a:t>
            </a:r>
            <a:endParaRPr lang="en-US" sz="1010" dirty="0"/>
          </a:p>
        </p:txBody>
      </p:sp>
      <p:sp>
        <p:nvSpPr>
          <p:cNvPr id="20" name="Shape 18"/>
          <p:cNvSpPr/>
          <p:nvPr/>
        </p:nvSpPr>
        <p:spPr>
          <a:xfrm>
            <a:off x="9208008" y="1883664"/>
            <a:ext cx="2414016" cy="1060704"/>
          </a:xfrm>
          <a:prstGeom prst="roundRect">
            <a:avLst>
              <a:gd name="adj" fmla="val 9483"/>
            </a:avLst>
          </a:prstGeom>
          <a:solidFill>
            <a:srgbClr val="F5F9FE"/>
          </a:solidFill>
          <a:ln w="9525">
            <a:solidFill>
              <a:srgbClr val="D8E5F2"/>
            </a:solidFill>
            <a:prstDash val="solid"/>
          </a:ln>
        </p:spPr>
      </p:sp>
      <p:sp>
        <p:nvSpPr>
          <p:cNvPr id="21" name="Text 19"/>
          <p:cNvSpPr/>
          <p:nvPr/>
        </p:nvSpPr>
        <p:spPr>
          <a:xfrm>
            <a:off x="9290304" y="1993392"/>
            <a:ext cx="2249424"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External systems</a:t>
            </a:r>
            <a:endParaRPr lang="en-US" sz="1410" dirty="0"/>
          </a:p>
        </p:txBody>
      </p:sp>
      <p:sp>
        <p:nvSpPr>
          <p:cNvPr id="22" name="Text 20"/>
          <p:cNvSpPr/>
          <p:nvPr/>
        </p:nvSpPr>
        <p:spPr>
          <a:xfrm>
            <a:off x="9308592" y="2331720"/>
            <a:ext cx="2212848" cy="539496"/>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LLM / embeddings</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MCP services</a:t>
            </a:r>
            <a:endParaRPr lang="en-US" sz="1010" dirty="0"/>
          </a:p>
        </p:txBody>
      </p:sp>
      <p:sp>
        <p:nvSpPr>
          <p:cNvPr id="23" name="Shape 21"/>
          <p:cNvSpPr/>
          <p:nvPr/>
        </p:nvSpPr>
        <p:spPr>
          <a:xfrm>
            <a:off x="2615184" y="2423160"/>
            <a:ext cx="310896" cy="0"/>
          </a:xfrm>
          <a:prstGeom prst="line">
            <a:avLst/>
          </a:prstGeom>
          <a:noFill/>
          <a:ln w="17780">
            <a:solidFill>
              <a:srgbClr val="1767C7"/>
            </a:solidFill>
            <a:prstDash val="solid"/>
            <a:headEnd type="none"/>
            <a:tailEnd type="triangle"/>
          </a:ln>
        </p:spPr>
      </p:sp>
      <p:sp>
        <p:nvSpPr>
          <p:cNvPr id="24" name="Shape 22"/>
          <p:cNvSpPr/>
          <p:nvPr/>
        </p:nvSpPr>
        <p:spPr>
          <a:xfrm>
            <a:off x="5330952" y="2423160"/>
            <a:ext cx="365760" cy="0"/>
          </a:xfrm>
          <a:prstGeom prst="line">
            <a:avLst/>
          </a:prstGeom>
          <a:noFill/>
          <a:ln w="17780">
            <a:solidFill>
              <a:srgbClr val="1767C7"/>
            </a:solidFill>
            <a:prstDash val="solid"/>
            <a:headEnd type="none"/>
            <a:tailEnd type="triangle"/>
          </a:ln>
        </p:spPr>
      </p:sp>
      <p:sp>
        <p:nvSpPr>
          <p:cNvPr id="25" name="Shape 23"/>
          <p:cNvSpPr/>
          <p:nvPr/>
        </p:nvSpPr>
        <p:spPr>
          <a:xfrm>
            <a:off x="8558784" y="2423160"/>
            <a:ext cx="603504" cy="0"/>
          </a:xfrm>
          <a:prstGeom prst="line">
            <a:avLst/>
          </a:prstGeom>
          <a:noFill/>
          <a:ln w="17780">
            <a:solidFill>
              <a:srgbClr val="1767C7"/>
            </a:solidFill>
            <a:prstDash val="solid"/>
            <a:headEnd type="none"/>
            <a:tailEnd type="triangle"/>
          </a:ln>
        </p:spPr>
      </p:sp>
      <p:sp>
        <p:nvSpPr>
          <p:cNvPr id="26" name="Shape 24"/>
          <p:cNvSpPr/>
          <p:nvPr/>
        </p:nvSpPr>
        <p:spPr>
          <a:xfrm>
            <a:off x="2898648" y="4005072"/>
            <a:ext cx="2944368" cy="1069848"/>
          </a:xfrm>
          <a:prstGeom prst="roundRect">
            <a:avLst>
              <a:gd name="adj" fmla="val 9402"/>
            </a:avLst>
          </a:prstGeom>
          <a:solidFill>
            <a:srgbClr val="FFFFFF"/>
          </a:solidFill>
          <a:ln w="9525">
            <a:solidFill>
              <a:srgbClr val="D8E5F2"/>
            </a:solidFill>
            <a:prstDash val="solid"/>
          </a:ln>
        </p:spPr>
      </p:sp>
      <p:sp>
        <p:nvSpPr>
          <p:cNvPr id="27" name="Text 25"/>
          <p:cNvSpPr/>
          <p:nvPr/>
        </p:nvSpPr>
        <p:spPr>
          <a:xfrm>
            <a:off x="2980944" y="4114800"/>
            <a:ext cx="2779776"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Local workspaces</a:t>
            </a:r>
            <a:endParaRPr lang="en-US" sz="1410" dirty="0"/>
          </a:p>
        </p:txBody>
      </p:sp>
      <p:sp>
        <p:nvSpPr>
          <p:cNvPr id="28" name="Text 26"/>
          <p:cNvSpPr/>
          <p:nvPr/>
        </p:nvSpPr>
        <p:spPr>
          <a:xfrm>
            <a:off x="2999232" y="4453128"/>
            <a:ext cx="2743200" cy="548640"/>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Primary writable root</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up to five reference roots</a:t>
            </a:r>
            <a:endParaRPr lang="en-US" sz="1010" dirty="0"/>
          </a:p>
        </p:txBody>
      </p:sp>
      <p:sp>
        <p:nvSpPr>
          <p:cNvPr id="29" name="Shape 27"/>
          <p:cNvSpPr/>
          <p:nvPr/>
        </p:nvSpPr>
        <p:spPr>
          <a:xfrm>
            <a:off x="6473952" y="4005072"/>
            <a:ext cx="2953512" cy="1069848"/>
          </a:xfrm>
          <a:prstGeom prst="roundRect">
            <a:avLst>
              <a:gd name="adj" fmla="val 9402"/>
            </a:avLst>
          </a:prstGeom>
          <a:solidFill>
            <a:srgbClr val="FFFFFF"/>
          </a:solidFill>
          <a:ln w="9525">
            <a:solidFill>
              <a:srgbClr val="D8E5F2"/>
            </a:solidFill>
            <a:prstDash val="solid"/>
          </a:ln>
        </p:spPr>
      </p:sp>
      <p:sp>
        <p:nvSpPr>
          <p:cNvPr id="30" name="Text 28"/>
          <p:cNvSpPr/>
          <p:nvPr/>
        </p:nvSpPr>
        <p:spPr>
          <a:xfrm>
            <a:off x="6556248" y="4114800"/>
            <a:ext cx="2788920"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Local application data</a:t>
            </a:r>
            <a:endParaRPr lang="en-US" sz="1410" dirty="0"/>
          </a:p>
        </p:txBody>
      </p:sp>
      <p:sp>
        <p:nvSpPr>
          <p:cNvPr id="31" name="Text 29"/>
          <p:cNvSpPr/>
          <p:nvPr/>
        </p:nvSpPr>
        <p:spPr>
          <a:xfrm>
            <a:off x="6574536" y="4453128"/>
            <a:ext cx="2752344" cy="548640"/>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H2, runs, sessions, indexes,</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snapshots &amp; uploads</a:t>
            </a:r>
            <a:endParaRPr lang="en-US" sz="1010" dirty="0"/>
          </a:p>
        </p:txBody>
      </p:sp>
      <p:sp>
        <p:nvSpPr>
          <p:cNvPr id="32" name="Shape 30"/>
          <p:cNvSpPr/>
          <p:nvPr/>
        </p:nvSpPr>
        <p:spPr>
          <a:xfrm>
            <a:off x="6446520" y="3209544"/>
            <a:ext cx="-1600200" cy="768096"/>
          </a:xfrm>
          <a:prstGeom prst="line">
            <a:avLst/>
          </a:prstGeom>
          <a:noFill/>
          <a:ln w="15875">
            <a:solidFill>
              <a:srgbClr val="1767C7"/>
            </a:solidFill>
            <a:prstDash val="solid"/>
            <a:headEnd type="none"/>
            <a:tailEnd type="triangle"/>
          </a:ln>
        </p:spPr>
      </p:sp>
      <p:sp>
        <p:nvSpPr>
          <p:cNvPr id="33" name="Shape 31"/>
          <p:cNvSpPr/>
          <p:nvPr/>
        </p:nvSpPr>
        <p:spPr>
          <a:xfrm>
            <a:off x="7635240" y="3218688"/>
            <a:ext cx="301752" cy="731520"/>
          </a:xfrm>
          <a:prstGeom prst="line">
            <a:avLst/>
          </a:prstGeom>
          <a:noFill/>
          <a:ln w="15875">
            <a:solidFill>
              <a:srgbClr val="1767C7"/>
            </a:solidFill>
            <a:prstDash val="solid"/>
            <a:headEnd type="none"/>
            <a:tailEnd type="triangle"/>
          </a:ln>
        </p:spPr>
      </p:sp>
      <p:sp>
        <p:nvSpPr>
          <p:cNvPr id="34" name="Shape 32"/>
          <p:cNvSpPr/>
          <p:nvPr/>
        </p:nvSpPr>
        <p:spPr>
          <a:xfrm>
            <a:off x="530352" y="5614416"/>
            <a:ext cx="11137392" cy="484632"/>
          </a:xfrm>
          <a:prstGeom prst="roundRect">
            <a:avLst>
              <a:gd name="adj" fmla="val 20755"/>
            </a:avLst>
          </a:prstGeom>
          <a:solidFill>
            <a:srgbClr val="F5F9FE"/>
          </a:solidFill>
          <a:ln w="9525">
            <a:solidFill>
              <a:srgbClr val="F5F9FE"/>
            </a:solidFill>
            <a:prstDash val="solid"/>
          </a:ln>
        </p:spPr>
      </p:sp>
      <p:sp>
        <p:nvSpPr>
          <p:cNvPr id="35" name="Text 33"/>
          <p:cNvSpPr/>
          <p:nvPr/>
        </p:nvSpPr>
        <p:spPr>
          <a:xfrm>
            <a:off x="713232" y="5701284"/>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BOUNDARY</a:t>
            </a:r>
            <a:endParaRPr lang="en-US" sz="1110" dirty="0"/>
          </a:p>
        </p:txBody>
      </p:sp>
      <p:sp>
        <p:nvSpPr>
          <p:cNvPr id="36" name="Text 34"/>
          <p:cNvSpPr/>
          <p:nvPr/>
        </p:nvSpPr>
        <p:spPr>
          <a:xfrm>
            <a:off x="2423160" y="5664708"/>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App-side file, shell and Git tools run using the local OS process privileges.</a:t>
            </a:r>
            <a:endParaRPr lang="en-US" sz="10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STACK VIEW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Technology stack and runtime packaging</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Actual build/runtime dependencies from ELIYA70 pom.xml and application.properties.</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ARCHITECTURE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05</a:t>
            </a:r>
            <a:endParaRPr lang="en-US" sz="900" dirty="0"/>
          </a:p>
        </p:txBody>
      </p:sp>
      <p:sp>
        <p:nvSpPr>
          <p:cNvPr id="11" name="Shape 9"/>
          <p:cNvSpPr/>
          <p:nvPr/>
        </p:nvSpPr>
        <p:spPr>
          <a:xfrm>
            <a:off x="539496" y="1435608"/>
            <a:ext cx="11100816" cy="539496"/>
          </a:xfrm>
          <a:prstGeom prst="roundRect">
            <a:avLst>
              <a:gd name="adj" fmla="val 18644"/>
            </a:avLst>
          </a:prstGeom>
          <a:solidFill>
            <a:srgbClr val="FFFFFF"/>
          </a:solidFill>
          <a:ln w="9525">
            <a:solidFill>
              <a:srgbClr val="D8E5F2"/>
            </a:solidFill>
            <a:prstDash val="solid"/>
          </a:ln>
        </p:spPr>
      </p:sp>
      <p:sp>
        <p:nvSpPr>
          <p:cNvPr id="12" name="Text 10"/>
          <p:cNvSpPr/>
          <p:nvPr/>
        </p:nvSpPr>
        <p:spPr>
          <a:xfrm>
            <a:off x="713232" y="1517904"/>
            <a:ext cx="1883664" cy="283464"/>
          </a:xfrm>
          <a:prstGeom prst="rect">
            <a:avLst/>
          </a:prstGeom>
          <a:noFill/>
          <a:ln/>
        </p:spPr>
        <p:txBody>
          <a:bodyPr wrap="square" lIns="0" tIns="0" rIns="0" bIns="0" rtlCol="0" anchor="ctr">
            <a:normAutofit/>
          </a:bodyPr>
          <a:lstStyle/>
          <a:p>
            <a:pPr algn="l" indent="0" marL="0">
              <a:buNone/>
            </a:pPr>
            <a:r>
              <a:rPr lang="en-US" sz="1170" b="1" dirty="0">
                <a:solidFill>
                  <a:srgbClr val="1767C7"/>
                </a:solidFill>
                <a:latin typeface="Aptos" pitchFamily="34" charset="0"/>
                <a:ea typeface="Aptos" pitchFamily="34" charset="-122"/>
                <a:cs typeface="Aptos" pitchFamily="34" charset="-120"/>
              </a:rPr>
              <a:t>Experience</a:t>
            </a:r>
            <a:endParaRPr lang="en-US" sz="1170" dirty="0"/>
          </a:p>
        </p:txBody>
      </p:sp>
      <p:sp>
        <p:nvSpPr>
          <p:cNvPr id="13" name="Text 11"/>
          <p:cNvSpPr/>
          <p:nvPr/>
        </p:nvSpPr>
        <p:spPr>
          <a:xfrm>
            <a:off x="2770632" y="1508760"/>
            <a:ext cx="6537960" cy="329184"/>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Static SPA assets: index.html, app.js, app.css, markdown.js</a:t>
            </a:r>
            <a:endParaRPr lang="en-US" sz="1090" dirty="0"/>
          </a:p>
        </p:txBody>
      </p:sp>
      <p:sp>
        <p:nvSpPr>
          <p:cNvPr id="14" name="Text 12"/>
          <p:cNvSpPr/>
          <p:nvPr/>
        </p:nvSpPr>
        <p:spPr>
          <a:xfrm>
            <a:off x="9436608" y="1517904"/>
            <a:ext cx="1993392" cy="283464"/>
          </a:xfrm>
          <a:prstGeom prst="rect">
            <a:avLst/>
          </a:prstGeom>
          <a:noFill/>
          <a:ln/>
        </p:spPr>
        <p:txBody>
          <a:bodyPr wrap="square" lIns="0" tIns="0" rIns="0" bIns="0" rtlCol="0" anchor="ctr">
            <a:normAutofit/>
          </a:bodyPr>
          <a:lstStyle/>
          <a:p>
            <a:pPr algn="r" indent="0" marL="0">
              <a:buNone/>
            </a:pPr>
            <a:r>
              <a:rPr lang="en-US" sz="1030" dirty="0">
                <a:solidFill>
                  <a:srgbClr val="5B7190"/>
                </a:solidFill>
                <a:latin typeface="Aptos" pitchFamily="34" charset="0"/>
                <a:ea typeface="Aptos" pitchFamily="34" charset="-122"/>
                <a:cs typeface="Aptos" pitchFamily="34" charset="-120"/>
              </a:rPr>
              <a:t>Served by Spring Boot</a:t>
            </a:r>
            <a:endParaRPr lang="en-US" sz="1030" dirty="0"/>
          </a:p>
        </p:txBody>
      </p:sp>
      <p:sp>
        <p:nvSpPr>
          <p:cNvPr id="15" name="Shape 13"/>
          <p:cNvSpPr/>
          <p:nvPr/>
        </p:nvSpPr>
        <p:spPr>
          <a:xfrm>
            <a:off x="539496" y="2057400"/>
            <a:ext cx="11100816" cy="539496"/>
          </a:xfrm>
          <a:prstGeom prst="roundRect">
            <a:avLst>
              <a:gd name="adj" fmla="val 18644"/>
            </a:avLst>
          </a:prstGeom>
          <a:solidFill>
            <a:srgbClr val="F5F9FE"/>
          </a:solidFill>
          <a:ln w="9525">
            <a:solidFill>
              <a:srgbClr val="F5F9FE"/>
            </a:solidFill>
            <a:prstDash val="solid"/>
          </a:ln>
        </p:spPr>
      </p:sp>
      <p:sp>
        <p:nvSpPr>
          <p:cNvPr id="16" name="Text 14"/>
          <p:cNvSpPr/>
          <p:nvPr/>
        </p:nvSpPr>
        <p:spPr>
          <a:xfrm>
            <a:off x="713232" y="2139696"/>
            <a:ext cx="1883664" cy="283464"/>
          </a:xfrm>
          <a:prstGeom prst="rect">
            <a:avLst/>
          </a:prstGeom>
          <a:noFill/>
          <a:ln/>
        </p:spPr>
        <p:txBody>
          <a:bodyPr wrap="square" lIns="0" tIns="0" rIns="0" bIns="0" rtlCol="0" anchor="ctr">
            <a:normAutofit/>
          </a:bodyPr>
          <a:lstStyle/>
          <a:p>
            <a:pPr algn="l" indent="0" marL="0">
              <a:buNone/>
            </a:pPr>
            <a:r>
              <a:rPr lang="en-US" sz="1170" b="1" dirty="0">
                <a:solidFill>
                  <a:srgbClr val="1767C7"/>
                </a:solidFill>
                <a:latin typeface="Aptos" pitchFamily="34" charset="0"/>
                <a:ea typeface="Aptos" pitchFamily="34" charset="-122"/>
                <a:cs typeface="Aptos" pitchFamily="34" charset="-120"/>
              </a:rPr>
              <a:t>HTTP &amp; API</a:t>
            </a:r>
            <a:endParaRPr lang="en-US" sz="1170" dirty="0"/>
          </a:p>
        </p:txBody>
      </p:sp>
      <p:sp>
        <p:nvSpPr>
          <p:cNvPr id="17" name="Text 15"/>
          <p:cNvSpPr/>
          <p:nvPr/>
        </p:nvSpPr>
        <p:spPr>
          <a:xfrm>
            <a:off x="2770632" y="2130552"/>
            <a:ext cx="6537960" cy="329184"/>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Spring Boot 3.5.16 Web, REST controllers, server-sent events</a:t>
            </a:r>
            <a:endParaRPr lang="en-US" sz="1090" dirty="0"/>
          </a:p>
        </p:txBody>
      </p:sp>
      <p:sp>
        <p:nvSpPr>
          <p:cNvPr id="18" name="Text 16"/>
          <p:cNvSpPr/>
          <p:nvPr/>
        </p:nvSpPr>
        <p:spPr>
          <a:xfrm>
            <a:off x="9436608" y="2139696"/>
            <a:ext cx="1993392" cy="283464"/>
          </a:xfrm>
          <a:prstGeom prst="rect">
            <a:avLst/>
          </a:prstGeom>
          <a:noFill/>
          <a:ln/>
        </p:spPr>
        <p:txBody>
          <a:bodyPr wrap="square" lIns="0" tIns="0" rIns="0" bIns="0" rtlCol="0" anchor="ctr">
            <a:normAutofit/>
          </a:bodyPr>
          <a:lstStyle/>
          <a:p>
            <a:pPr algn="r" indent="0" marL="0">
              <a:buNone/>
            </a:pPr>
            <a:r>
              <a:rPr lang="en-US" sz="1030" dirty="0">
                <a:solidFill>
                  <a:srgbClr val="5B7190"/>
                </a:solidFill>
                <a:latin typeface="Aptos" pitchFamily="34" charset="0"/>
                <a:ea typeface="Aptos" pitchFamily="34" charset="-122"/>
                <a:cs typeface="Aptos" pitchFamily="34" charset="-120"/>
              </a:rPr>
              <a:t>Loopback port 8090</a:t>
            </a:r>
            <a:endParaRPr lang="en-US" sz="1030" dirty="0"/>
          </a:p>
        </p:txBody>
      </p:sp>
      <p:sp>
        <p:nvSpPr>
          <p:cNvPr id="19" name="Shape 17"/>
          <p:cNvSpPr/>
          <p:nvPr/>
        </p:nvSpPr>
        <p:spPr>
          <a:xfrm>
            <a:off x="539496" y="2679192"/>
            <a:ext cx="11100816" cy="539496"/>
          </a:xfrm>
          <a:prstGeom prst="roundRect">
            <a:avLst>
              <a:gd name="adj" fmla="val 18644"/>
            </a:avLst>
          </a:prstGeom>
          <a:solidFill>
            <a:srgbClr val="FFFFFF"/>
          </a:solidFill>
          <a:ln w="9525">
            <a:solidFill>
              <a:srgbClr val="D8E5F2"/>
            </a:solidFill>
            <a:prstDash val="solid"/>
          </a:ln>
        </p:spPr>
      </p:sp>
      <p:sp>
        <p:nvSpPr>
          <p:cNvPr id="20" name="Text 18"/>
          <p:cNvSpPr/>
          <p:nvPr/>
        </p:nvSpPr>
        <p:spPr>
          <a:xfrm>
            <a:off x="713232" y="2761488"/>
            <a:ext cx="1883664" cy="283464"/>
          </a:xfrm>
          <a:prstGeom prst="rect">
            <a:avLst/>
          </a:prstGeom>
          <a:noFill/>
          <a:ln/>
        </p:spPr>
        <p:txBody>
          <a:bodyPr wrap="square" lIns="0" tIns="0" rIns="0" bIns="0" rtlCol="0" anchor="ctr">
            <a:normAutofit/>
          </a:bodyPr>
          <a:lstStyle/>
          <a:p>
            <a:pPr algn="l" indent="0" marL="0">
              <a:buNone/>
            </a:pPr>
            <a:r>
              <a:rPr lang="en-US" sz="1170" b="1" dirty="0">
                <a:solidFill>
                  <a:srgbClr val="1767C7"/>
                </a:solidFill>
                <a:latin typeface="Aptos" pitchFamily="34" charset="0"/>
                <a:ea typeface="Aptos" pitchFamily="34" charset="-122"/>
                <a:cs typeface="Aptos" pitchFamily="34" charset="-120"/>
              </a:rPr>
              <a:t>Core services</a:t>
            </a:r>
            <a:endParaRPr lang="en-US" sz="1170" dirty="0"/>
          </a:p>
        </p:txBody>
      </p:sp>
      <p:sp>
        <p:nvSpPr>
          <p:cNvPr id="21" name="Text 19"/>
          <p:cNvSpPr/>
          <p:nvPr/>
        </p:nvSpPr>
        <p:spPr>
          <a:xfrm>
            <a:off x="2770632" y="2752344"/>
            <a:ext cx="6537960" cy="329184"/>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Java 17; planner, agent runner, sessions, retrieval, policies</a:t>
            </a:r>
            <a:endParaRPr lang="en-US" sz="1090" dirty="0"/>
          </a:p>
        </p:txBody>
      </p:sp>
      <p:sp>
        <p:nvSpPr>
          <p:cNvPr id="22" name="Text 20"/>
          <p:cNvSpPr/>
          <p:nvPr/>
        </p:nvSpPr>
        <p:spPr>
          <a:xfrm>
            <a:off x="9436608" y="2761488"/>
            <a:ext cx="1993392" cy="283464"/>
          </a:xfrm>
          <a:prstGeom prst="rect">
            <a:avLst/>
          </a:prstGeom>
          <a:noFill/>
          <a:ln/>
        </p:spPr>
        <p:txBody>
          <a:bodyPr wrap="square" lIns="0" tIns="0" rIns="0" bIns="0" rtlCol="0" anchor="ctr">
            <a:normAutofit/>
          </a:bodyPr>
          <a:lstStyle/>
          <a:p>
            <a:pPr algn="r" indent="0" marL="0">
              <a:buNone/>
            </a:pPr>
            <a:r>
              <a:rPr lang="en-US" sz="1030" dirty="0">
                <a:solidFill>
                  <a:srgbClr val="5B7190"/>
                </a:solidFill>
                <a:latin typeface="Aptos" pitchFamily="34" charset="0"/>
                <a:ea typeface="Aptos" pitchFamily="34" charset="-122"/>
                <a:cs typeface="Aptos" pitchFamily="34" charset="-120"/>
              </a:rPr>
              <a:t>Single JVM</a:t>
            </a:r>
            <a:endParaRPr lang="en-US" sz="1030" dirty="0"/>
          </a:p>
        </p:txBody>
      </p:sp>
      <p:sp>
        <p:nvSpPr>
          <p:cNvPr id="23" name="Shape 21"/>
          <p:cNvSpPr/>
          <p:nvPr/>
        </p:nvSpPr>
        <p:spPr>
          <a:xfrm>
            <a:off x="539496" y="3300984"/>
            <a:ext cx="11100816" cy="539496"/>
          </a:xfrm>
          <a:prstGeom prst="roundRect">
            <a:avLst>
              <a:gd name="adj" fmla="val 18644"/>
            </a:avLst>
          </a:prstGeom>
          <a:solidFill>
            <a:srgbClr val="F5F9FE"/>
          </a:solidFill>
          <a:ln w="9525">
            <a:solidFill>
              <a:srgbClr val="F5F9FE"/>
            </a:solidFill>
            <a:prstDash val="solid"/>
          </a:ln>
        </p:spPr>
      </p:sp>
      <p:sp>
        <p:nvSpPr>
          <p:cNvPr id="24" name="Text 22"/>
          <p:cNvSpPr/>
          <p:nvPr/>
        </p:nvSpPr>
        <p:spPr>
          <a:xfrm>
            <a:off x="713232" y="3383280"/>
            <a:ext cx="1883664" cy="283464"/>
          </a:xfrm>
          <a:prstGeom prst="rect">
            <a:avLst/>
          </a:prstGeom>
          <a:noFill/>
          <a:ln/>
        </p:spPr>
        <p:txBody>
          <a:bodyPr wrap="square" lIns="0" tIns="0" rIns="0" bIns="0" rtlCol="0" anchor="ctr">
            <a:normAutofit/>
          </a:bodyPr>
          <a:lstStyle/>
          <a:p>
            <a:pPr algn="l" indent="0" marL="0">
              <a:buNone/>
            </a:pPr>
            <a:r>
              <a:rPr lang="en-US" sz="1170" b="1" dirty="0">
                <a:solidFill>
                  <a:srgbClr val="1767C7"/>
                </a:solidFill>
                <a:latin typeface="Aptos" pitchFamily="34" charset="0"/>
                <a:ea typeface="Aptos" pitchFamily="34" charset="-122"/>
                <a:cs typeface="Aptos" pitchFamily="34" charset="-120"/>
              </a:rPr>
              <a:t>Persistence</a:t>
            </a:r>
            <a:endParaRPr lang="en-US" sz="1170" dirty="0"/>
          </a:p>
        </p:txBody>
      </p:sp>
      <p:sp>
        <p:nvSpPr>
          <p:cNvPr id="25" name="Text 23"/>
          <p:cNvSpPr/>
          <p:nvPr/>
        </p:nvSpPr>
        <p:spPr>
          <a:xfrm>
            <a:off x="2770632" y="3374136"/>
            <a:ext cx="6537960" cy="329184"/>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Spring Data JPA + H2; local files for journals, caches and output</a:t>
            </a:r>
            <a:endParaRPr lang="en-US" sz="1090" dirty="0"/>
          </a:p>
        </p:txBody>
      </p:sp>
      <p:sp>
        <p:nvSpPr>
          <p:cNvPr id="26" name="Text 24"/>
          <p:cNvSpPr/>
          <p:nvPr/>
        </p:nvSpPr>
        <p:spPr>
          <a:xfrm>
            <a:off x="9436608" y="3383280"/>
            <a:ext cx="1993392" cy="283464"/>
          </a:xfrm>
          <a:prstGeom prst="rect">
            <a:avLst/>
          </a:prstGeom>
          <a:noFill/>
          <a:ln/>
        </p:spPr>
        <p:txBody>
          <a:bodyPr wrap="square" lIns="0" tIns="0" rIns="0" bIns="0" rtlCol="0" anchor="ctr">
            <a:normAutofit/>
          </a:bodyPr>
          <a:lstStyle/>
          <a:p>
            <a:pPr algn="r" indent="0" marL="0">
              <a:buNone/>
            </a:pPr>
            <a:r>
              <a:rPr lang="en-US" sz="1030" dirty="0">
                <a:solidFill>
                  <a:srgbClr val="5B7190"/>
                </a:solidFill>
                <a:latin typeface="Aptos" pitchFamily="34" charset="0"/>
                <a:ea typeface="Aptos" pitchFamily="34" charset="-122"/>
                <a:cs typeface="Aptos" pitchFamily="34" charset="-120"/>
              </a:rPr>
              <a:t>On-device state</a:t>
            </a:r>
            <a:endParaRPr lang="en-US" sz="1030" dirty="0"/>
          </a:p>
        </p:txBody>
      </p:sp>
      <p:sp>
        <p:nvSpPr>
          <p:cNvPr id="27" name="Shape 25"/>
          <p:cNvSpPr/>
          <p:nvPr/>
        </p:nvSpPr>
        <p:spPr>
          <a:xfrm>
            <a:off x="539496" y="3922776"/>
            <a:ext cx="11100816" cy="539496"/>
          </a:xfrm>
          <a:prstGeom prst="roundRect">
            <a:avLst>
              <a:gd name="adj" fmla="val 18644"/>
            </a:avLst>
          </a:prstGeom>
          <a:solidFill>
            <a:srgbClr val="FFFFFF"/>
          </a:solidFill>
          <a:ln w="9525">
            <a:solidFill>
              <a:srgbClr val="D8E5F2"/>
            </a:solidFill>
            <a:prstDash val="solid"/>
          </a:ln>
        </p:spPr>
      </p:sp>
      <p:sp>
        <p:nvSpPr>
          <p:cNvPr id="28" name="Text 26"/>
          <p:cNvSpPr/>
          <p:nvPr/>
        </p:nvSpPr>
        <p:spPr>
          <a:xfrm>
            <a:off x="713232" y="4005072"/>
            <a:ext cx="1883664" cy="283464"/>
          </a:xfrm>
          <a:prstGeom prst="rect">
            <a:avLst/>
          </a:prstGeom>
          <a:noFill/>
          <a:ln/>
        </p:spPr>
        <p:txBody>
          <a:bodyPr wrap="square" lIns="0" tIns="0" rIns="0" bIns="0" rtlCol="0" anchor="ctr">
            <a:normAutofit/>
          </a:bodyPr>
          <a:lstStyle/>
          <a:p>
            <a:pPr algn="l" indent="0" marL="0">
              <a:buNone/>
            </a:pPr>
            <a:r>
              <a:rPr lang="en-US" sz="1170" b="1" dirty="0">
                <a:solidFill>
                  <a:srgbClr val="1767C7"/>
                </a:solidFill>
                <a:latin typeface="Aptos" pitchFamily="34" charset="0"/>
                <a:ea typeface="Aptos" pitchFamily="34" charset="-122"/>
                <a:cs typeface="Aptos" pitchFamily="34" charset="-120"/>
              </a:rPr>
              <a:t>Document processing</a:t>
            </a:r>
            <a:endParaRPr lang="en-US" sz="1170" dirty="0"/>
          </a:p>
        </p:txBody>
      </p:sp>
      <p:sp>
        <p:nvSpPr>
          <p:cNvPr id="29" name="Text 27"/>
          <p:cNvSpPr/>
          <p:nvPr/>
        </p:nvSpPr>
        <p:spPr>
          <a:xfrm>
            <a:off x="2770632" y="3995928"/>
            <a:ext cx="6537960" cy="329184"/>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Apache Tika 2.9.2; PDFBox 2.0.32; Apache POI 5.2.5</a:t>
            </a:r>
            <a:endParaRPr lang="en-US" sz="1090" dirty="0"/>
          </a:p>
        </p:txBody>
      </p:sp>
      <p:sp>
        <p:nvSpPr>
          <p:cNvPr id="30" name="Text 28"/>
          <p:cNvSpPr/>
          <p:nvPr/>
        </p:nvSpPr>
        <p:spPr>
          <a:xfrm>
            <a:off x="9436608" y="4005072"/>
            <a:ext cx="1993392" cy="283464"/>
          </a:xfrm>
          <a:prstGeom prst="rect">
            <a:avLst/>
          </a:prstGeom>
          <a:noFill/>
          <a:ln/>
        </p:spPr>
        <p:txBody>
          <a:bodyPr wrap="square" lIns="0" tIns="0" rIns="0" bIns="0" rtlCol="0" anchor="ctr">
            <a:normAutofit/>
          </a:bodyPr>
          <a:lstStyle/>
          <a:p>
            <a:pPr algn="r" indent="0" marL="0">
              <a:buNone/>
            </a:pPr>
            <a:r>
              <a:rPr lang="en-US" sz="1030" dirty="0">
                <a:solidFill>
                  <a:srgbClr val="5B7190"/>
                </a:solidFill>
                <a:latin typeface="Aptos" pitchFamily="34" charset="0"/>
                <a:ea typeface="Aptos" pitchFamily="34" charset="-122"/>
                <a:cs typeface="Aptos" pitchFamily="34" charset="-120"/>
              </a:rPr>
              <a:t>PDF / Office / Excel</a:t>
            </a:r>
            <a:endParaRPr lang="en-US" sz="1030" dirty="0"/>
          </a:p>
        </p:txBody>
      </p:sp>
      <p:sp>
        <p:nvSpPr>
          <p:cNvPr id="31" name="Shape 29"/>
          <p:cNvSpPr/>
          <p:nvPr/>
        </p:nvSpPr>
        <p:spPr>
          <a:xfrm>
            <a:off x="539496" y="4544568"/>
            <a:ext cx="11100816" cy="539496"/>
          </a:xfrm>
          <a:prstGeom prst="roundRect">
            <a:avLst>
              <a:gd name="adj" fmla="val 18644"/>
            </a:avLst>
          </a:prstGeom>
          <a:solidFill>
            <a:srgbClr val="F5F9FE"/>
          </a:solidFill>
          <a:ln w="9525">
            <a:solidFill>
              <a:srgbClr val="F5F9FE"/>
            </a:solidFill>
            <a:prstDash val="solid"/>
          </a:ln>
        </p:spPr>
      </p:sp>
      <p:sp>
        <p:nvSpPr>
          <p:cNvPr id="32" name="Text 30"/>
          <p:cNvSpPr/>
          <p:nvPr/>
        </p:nvSpPr>
        <p:spPr>
          <a:xfrm>
            <a:off x="713232" y="4626864"/>
            <a:ext cx="1883664" cy="283464"/>
          </a:xfrm>
          <a:prstGeom prst="rect">
            <a:avLst/>
          </a:prstGeom>
          <a:noFill/>
          <a:ln/>
        </p:spPr>
        <p:txBody>
          <a:bodyPr wrap="square" lIns="0" tIns="0" rIns="0" bIns="0" rtlCol="0" anchor="ctr">
            <a:normAutofit/>
          </a:bodyPr>
          <a:lstStyle/>
          <a:p>
            <a:pPr algn="l" indent="0" marL="0">
              <a:buNone/>
            </a:pPr>
            <a:r>
              <a:rPr lang="en-US" sz="1170" b="1" dirty="0">
                <a:solidFill>
                  <a:srgbClr val="1767C7"/>
                </a:solidFill>
                <a:latin typeface="Aptos" pitchFamily="34" charset="0"/>
                <a:ea typeface="Aptos" pitchFamily="34" charset="-122"/>
                <a:cs typeface="Aptos" pitchFamily="34" charset="-120"/>
              </a:rPr>
              <a:t>Model integration</a:t>
            </a:r>
            <a:endParaRPr lang="en-US" sz="1170" dirty="0"/>
          </a:p>
        </p:txBody>
      </p:sp>
      <p:sp>
        <p:nvSpPr>
          <p:cNvPr id="33" name="Text 31"/>
          <p:cNvSpPr/>
          <p:nvPr/>
        </p:nvSpPr>
        <p:spPr>
          <a:xfrm>
            <a:off x="2770632" y="4617720"/>
            <a:ext cx="6537960" cy="329184"/>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JDK HttpClient; OpenAI-compatible chat / embedding endpoints</a:t>
            </a:r>
            <a:endParaRPr lang="en-US" sz="1090" dirty="0"/>
          </a:p>
        </p:txBody>
      </p:sp>
      <p:sp>
        <p:nvSpPr>
          <p:cNvPr id="34" name="Text 32"/>
          <p:cNvSpPr/>
          <p:nvPr/>
        </p:nvSpPr>
        <p:spPr>
          <a:xfrm>
            <a:off x="9436608" y="4626864"/>
            <a:ext cx="1993392" cy="283464"/>
          </a:xfrm>
          <a:prstGeom prst="rect">
            <a:avLst/>
          </a:prstGeom>
          <a:noFill/>
          <a:ln/>
        </p:spPr>
        <p:txBody>
          <a:bodyPr wrap="square" lIns="0" tIns="0" rIns="0" bIns="0" rtlCol="0" anchor="ctr">
            <a:normAutofit/>
          </a:bodyPr>
          <a:lstStyle/>
          <a:p>
            <a:pPr algn="r" indent="0" marL="0">
              <a:buNone/>
            </a:pPr>
            <a:r>
              <a:rPr lang="en-US" sz="1030" dirty="0">
                <a:solidFill>
                  <a:srgbClr val="5B7190"/>
                </a:solidFill>
                <a:latin typeface="Aptos" pitchFamily="34" charset="0"/>
                <a:ea typeface="Aptos" pitchFamily="34" charset="-122"/>
                <a:cs typeface="Aptos" pitchFamily="34" charset="-120"/>
              </a:rPr>
              <a:t>Configured providers</a:t>
            </a:r>
            <a:endParaRPr lang="en-US" sz="1030" dirty="0"/>
          </a:p>
        </p:txBody>
      </p:sp>
      <p:sp>
        <p:nvSpPr>
          <p:cNvPr id="35" name="Shape 33"/>
          <p:cNvSpPr/>
          <p:nvPr/>
        </p:nvSpPr>
        <p:spPr>
          <a:xfrm>
            <a:off x="539496" y="5166360"/>
            <a:ext cx="11100816" cy="539496"/>
          </a:xfrm>
          <a:prstGeom prst="roundRect">
            <a:avLst>
              <a:gd name="adj" fmla="val 18644"/>
            </a:avLst>
          </a:prstGeom>
          <a:solidFill>
            <a:srgbClr val="FFFFFF"/>
          </a:solidFill>
          <a:ln w="9525">
            <a:solidFill>
              <a:srgbClr val="D8E5F2"/>
            </a:solidFill>
            <a:prstDash val="solid"/>
          </a:ln>
        </p:spPr>
      </p:sp>
      <p:sp>
        <p:nvSpPr>
          <p:cNvPr id="36" name="Text 34"/>
          <p:cNvSpPr/>
          <p:nvPr/>
        </p:nvSpPr>
        <p:spPr>
          <a:xfrm>
            <a:off x="713232" y="5248656"/>
            <a:ext cx="1883664" cy="283464"/>
          </a:xfrm>
          <a:prstGeom prst="rect">
            <a:avLst/>
          </a:prstGeom>
          <a:noFill/>
          <a:ln/>
        </p:spPr>
        <p:txBody>
          <a:bodyPr wrap="square" lIns="0" tIns="0" rIns="0" bIns="0" rtlCol="0" anchor="ctr">
            <a:normAutofit/>
          </a:bodyPr>
          <a:lstStyle/>
          <a:p>
            <a:pPr algn="l" indent="0" marL="0">
              <a:buNone/>
            </a:pPr>
            <a:r>
              <a:rPr lang="en-US" sz="1170" b="1" dirty="0">
                <a:solidFill>
                  <a:srgbClr val="1767C7"/>
                </a:solidFill>
                <a:latin typeface="Aptos" pitchFamily="34" charset="0"/>
                <a:ea typeface="Aptos" pitchFamily="34" charset="-122"/>
                <a:cs typeface="Aptos" pitchFamily="34" charset="-120"/>
              </a:rPr>
              <a:t>Build &amp; delivery</a:t>
            </a:r>
            <a:endParaRPr lang="en-US" sz="1170" dirty="0"/>
          </a:p>
        </p:txBody>
      </p:sp>
      <p:sp>
        <p:nvSpPr>
          <p:cNvPr id="37" name="Text 35"/>
          <p:cNvSpPr/>
          <p:nvPr/>
        </p:nvSpPr>
        <p:spPr>
          <a:xfrm>
            <a:off x="2770632" y="5239512"/>
            <a:ext cx="6537960" cy="329184"/>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Maven wrapper; spring-boot-maven-plugin; eliya.jar</a:t>
            </a:r>
            <a:endParaRPr lang="en-US" sz="1090" dirty="0"/>
          </a:p>
        </p:txBody>
      </p:sp>
      <p:sp>
        <p:nvSpPr>
          <p:cNvPr id="38" name="Text 36"/>
          <p:cNvSpPr/>
          <p:nvPr/>
        </p:nvSpPr>
        <p:spPr>
          <a:xfrm>
            <a:off x="9436608" y="5248656"/>
            <a:ext cx="1993392" cy="283464"/>
          </a:xfrm>
          <a:prstGeom prst="rect">
            <a:avLst/>
          </a:prstGeom>
          <a:noFill/>
          <a:ln/>
        </p:spPr>
        <p:txBody>
          <a:bodyPr wrap="square" lIns="0" tIns="0" rIns="0" bIns="0" rtlCol="0" anchor="ctr">
            <a:normAutofit/>
          </a:bodyPr>
          <a:lstStyle/>
          <a:p>
            <a:pPr algn="r" indent="0" marL="0">
              <a:buNone/>
            </a:pPr>
            <a:r>
              <a:rPr lang="en-US" sz="1030" dirty="0">
                <a:solidFill>
                  <a:srgbClr val="5B7190"/>
                </a:solidFill>
                <a:latin typeface="Aptos" pitchFamily="34" charset="0"/>
                <a:ea typeface="Aptos" pitchFamily="34" charset="-122"/>
                <a:cs typeface="Aptos" pitchFamily="34" charset="-120"/>
              </a:rPr>
              <a:t>Windows / macOS / Linux</a:t>
            </a:r>
            <a:endParaRPr lang="en-US" sz="1030" dirty="0"/>
          </a:p>
        </p:txBody>
      </p:sp>
      <p:sp>
        <p:nvSpPr>
          <p:cNvPr id="39" name="Shape 37"/>
          <p:cNvSpPr/>
          <p:nvPr/>
        </p:nvSpPr>
        <p:spPr>
          <a:xfrm>
            <a:off x="530352" y="6053328"/>
            <a:ext cx="11137392" cy="484632"/>
          </a:xfrm>
          <a:prstGeom prst="roundRect">
            <a:avLst>
              <a:gd name="adj" fmla="val 20755"/>
            </a:avLst>
          </a:prstGeom>
          <a:solidFill>
            <a:srgbClr val="EDF5FD"/>
          </a:solidFill>
          <a:ln w="9525">
            <a:solidFill>
              <a:srgbClr val="EDF5FD"/>
            </a:solidFill>
            <a:prstDash val="solid"/>
          </a:ln>
        </p:spPr>
      </p:sp>
      <p:sp>
        <p:nvSpPr>
          <p:cNvPr id="40" name="Text 38"/>
          <p:cNvSpPr/>
          <p:nvPr/>
        </p:nvSpPr>
        <p:spPr>
          <a:xfrm>
            <a:off x="713232" y="6140196"/>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DEPLOYMENT</a:t>
            </a:r>
            <a:endParaRPr lang="en-US" sz="1110" dirty="0"/>
          </a:p>
        </p:txBody>
      </p:sp>
      <p:sp>
        <p:nvSpPr>
          <p:cNvPr id="41" name="Text 39"/>
          <p:cNvSpPr/>
          <p:nvPr/>
        </p:nvSpPr>
        <p:spPr>
          <a:xfrm>
            <a:off x="2423160" y="6103620"/>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Local-first standalone JAR; no Kubernetes/microservice topology is implied.</a:t>
            </a:r>
            <a:endParaRPr lang="en-US" sz="10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CONTAINER / COMPONENT VIEW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Logical component architecture</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Logical service layers in a single process; arrows represent calls and dependency direction.</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ARCHITECTURE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06</a:t>
            </a:r>
            <a:endParaRPr lang="en-US" sz="900" dirty="0"/>
          </a:p>
        </p:txBody>
      </p:sp>
      <p:sp>
        <p:nvSpPr>
          <p:cNvPr id="11" name="Shape 9"/>
          <p:cNvSpPr/>
          <p:nvPr/>
        </p:nvSpPr>
        <p:spPr>
          <a:xfrm>
            <a:off x="978408" y="1444752"/>
            <a:ext cx="10232136" cy="585216"/>
          </a:xfrm>
          <a:prstGeom prst="roundRect">
            <a:avLst>
              <a:gd name="adj" fmla="val 17188"/>
            </a:avLst>
          </a:prstGeom>
          <a:solidFill>
            <a:srgbClr val="EDF5FD"/>
          </a:solidFill>
          <a:ln w="9525">
            <a:solidFill>
              <a:srgbClr val="D8E5F2"/>
            </a:solidFill>
            <a:prstDash val="solid"/>
          </a:ln>
        </p:spPr>
      </p:sp>
      <p:sp>
        <p:nvSpPr>
          <p:cNvPr id="12" name="Shape 10"/>
          <p:cNvSpPr/>
          <p:nvPr/>
        </p:nvSpPr>
        <p:spPr>
          <a:xfrm>
            <a:off x="1115568" y="1581912"/>
            <a:ext cx="1865376" cy="310896"/>
          </a:xfrm>
          <a:prstGeom prst="roundRect">
            <a:avLst>
              <a:gd name="adj" fmla="val 32353"/>
            </a:avLst>
          </a:prstGeom>
          <a:solidFill>
            <a:srgbClr val="1767C7"/>
          </a:solidFill>
          <a:ln w="9525">
            <a:solidFill>
              <a:srgbClr val="1767C7"/>
            </a:solidFill>
            <a:prstDash val="solid"/>
          </a:ln>
        </p:spPr>
      </p:sp>
      <p:sp>
        <p:nvSpPr>
          <p:cNvPr id="13" name="Text 11"/>
          <p:cNvSpPr/>
          <p:nvPr/>
        </p:nvSpPr>
        <p:spPr>
          <a:xfrm>
            <a:off x="1161288" y="1613916"/>
            <a:ext cx="1773936" cy="182880"/>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Aptos" pitchFamily="34" charset="0"/>
                <a:ea typeface="Aptos" pitchFamily="34" charset="-122"/>
                <a:cs typeface="Aptos" pitchFamily="34" charset="-120"/>
              </a:rPr>
              <a:t>PRESENTATION</a:t>
            </a:r>
            <a:endParaRPr lang="en-US" sz="940" dirty="0"/>
          </a:p>
        </p:txBody>
      </p:sp>
      <p:sp>
        <p:nvSpPr>
          <p:cNvPr id="14" name="Text 12"/>
          <p:cNvSpPr/>
          <p:nvPr/>
        </p:nvSpPr>
        <p:spPr>
          <a:xfrm>
            <a:off x="3218688" y="1554480"/>
            <a:ext cx="7516368" cy="356616"/>
          </a:xfrm>
          <a:prstGeom prst="rect">
            <a:avLst/>
          </a:prstGeom>
          <a:noFill/>
          <a:ln/>
        </p:spPr>
        <p:txBody>
          <a:bodyPr wrap="square" lIns="0" tIns="0" rIns="0" bIns="0" rtlCol="0" anchor="ctr">
            <a:normAutofit/>
          </a:bodyPr>
          <a:lstStyle/>
          <a:p>
            <a:pPr algn="l" indent="0" marL="0">
              <a:buNone/>
            </a:pPr>
            <a:r>
              <a:rPr lang="en-US" sz="1210" dirty="0">
                <a:solidFill>
                  <a:srgbClr val="18324F"/>
                </a:solidFill>
                <a:latin typeface="Aptos" pitchFamily="34" charset="0"/>
                <a:ea typeface="Aptos" pitchFamily="34" charset="-122"/>
                <a:cs typeface="Aptos" pitchFamily="34" charset="-120"/>
              </a:rPr>
              <a:t>Chat · Agent · Terminal · Settings · Prompt Factory · Confluence Composer</a:t>
            </a:r>
            <a:endParaRPr lang="en-US" sz="1210" dirty="0"/>
          </a:p>
        </p:txBody>
      </p:sp>
      <p:sp>
        <p:nvSpPr>
          <p:cNvPr id="15" name="Shape 13"/>
          <p:cNvSpPr/>
          <p:nvPr/>
        </p:nvSpPr>
        <p:spPr>
          <a:xfrm>
            <a:off x="6089904" y="2039112"/>
            <a:ext cx="0" cy="100584"/>
          </a:xfrm>
          <a:prstGeom prst="line">
            <a:avLst/>
          </a:prstGeom>
          <a:noFill/>
          <a:ln w="17780">
            <a:solidFill>
              <a:srgbClr val="1767C7"/>
            </a:solidFill>
            <a:prstDash val="solid"/>
            <a:headEnd type="none"/>
            <a:tailEnd type="triangle"/>
          </a:ln>
        </p:spPr>
      </p:sp>
      <p:sp>
        <p:nvSpPr>
          <p:cNvPr id="16" name="Shape 14"/>
          <p:cNvSpPr/>
          <p:nvPr/>
        </p:nvSpPr>
        <p:spPr>
          <a:xfrm>
            <a:off x="978408" y="2148840"/>
            <a:ext cx="10232136" cy="585216"/>
          </a:xfrm>
          <a:prstGeom prst="roundRect">
            <a:avLst>
              <a:gd name="adj" fmla="val 17188"/>
            </a:avLst>
          </a:prstGeom>
          <a:solidFill>
            <a:srgbClr val="F5F9FE"/>
          </a:solidFill>
          <a:ln w="9525">
            <a:solidFill>
              <a:srgbClr val="D8E5F2"/>
            </a:solidFill>
            <a:prstDash val="solid"/>
          </a:ln>
        </p:spPr>
      </p:sp>
      <p:sp>
        <p:nvSpPr>
          <p:cNvPr id="17" name="Shape 15"/>
          <p:cNvSpPr/>
          <p:nvPr/>
        </p:nvSpPr>
        <p:spPr>
          <a:xfrm>
            <a:off x="1115568" y="2286000"/>
            <a:ext cx="1865376" cy="310896"/>
          </a:xfrm>
          <a:prstGeom prst="roundRect">
            <a:avLst>
              <a:gd name="adj" fmla="val 32353"/>
            </a:avLst>
          </a:prstGeom>
          <a:solidFill>
            <a:srgbClr val="1767C7"/>
          </a:solidFill>
          <a:ln w="9525">
            <a:solidFill>
              <a:srgbClr val="1767C7"/>
            </a:solidFill>
            <a:prstDash val="solid"/>
          </a:ln>
        </p:spPr>
      </p:sp>
      <p:sp>
        <p:nvSpPr>
          <p:cNvPr id="18" name="Text 16"/>
          <p:cNvSpPr/>
          <p:nvPr/>
        </p:nvSpPr>
        <p:spPr>
          <a:xfrm>
            <a:off x="1161288" y="2318004"/>
            <a:ext cx="1773936" cy="182880"/>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Aptos" pitchFamily="34" charset="0"/>
                <a:ea typeface="Aptos" pitchFamily="34" charset="-122"/>
                <a:cs typeface="Aptos" pitchFamily="34" charset="-120"/>
              </a:rPr>
              <a:t>API GATEWAY</a:t>
            </a:r>
            <a:endParaRPr lang="en-US" sz="940" dirty="0"/>
          </a:p>
        </p:txBody>
      </p:sp>
      <p:sp>
        <p:nvSpPr>
          <p:cNvPr id="19" name="Text 17"/>
          <p:cNvSpPr/>
          <p:nvPr/>
        </p:nvSpPr>
        <p:spPr>
          <a:xfrm>
            <a:off x="3218688" y="2258568"/>
            <a:ext cx="7516368" cy="356616"/>
          </a:xfrm>
          <a:prstGeom prst="rect">
            <a:avLst/>
          </a:prstGeom>
          <a:noFill/>
          <a:ln/>
        </p:spPr>
        <p:txBody>
          <a:bodyPr wrap="square" lIns="0" tIns="0" rIns="0" bIns="0" rtlCol="0" anchor="ctr">
            <a:normAutofit/>
          </a:bodyPr>
          <a:lstStyle/>
          <a:p>
            <a:pPr algn="l" indent="0" marL="0">
              <a:buNone/>
            </a:pPr>
            <a:r>
              <a:rPr lang="en-US" sz="1210" dirty="0">
                <a:solidFill>
                  <a:srgbClr val="18324F"/>
                </a:solidFill>
                <a:latin typeface="Aptos" pitchFamily="34" charset="0"/>
                <a:ea typeface="Aptos" pitchFamily="34" charset="-122"/>
                <a:cs typeface="Aptos" pitchFamily="34" charset="-120"/>
              </a:rPr>
              <a:t>Chat / Agent / Terminal / Project / Knowledge / MCP / Artifact controllers</a:t>
            </a:r>
            <a:endParaRPr lang="en-US" sz="1210" dirty="0"/>
          </a:p>
        </p:txBody>
      </p:sp>
      <p:sp>
        <p:nvSpPr>
          <p:cNvPr id="20" name="Shape 18"/>
          <p:cNvSpPr/>
          <p:nvPr/>
        </p:nvSpPr>
        <p:spPr>
          <a:xfrm>
            <a:off x="6089904" y="2743200"/>
            <a:ext cx="0" cy="100584"/>
          </a:xfrm>
          <a:prstGeom prst="line">
            <a:avLst/>
          </a:prstGeom>
          <a:noFill/>
          <a:ln w="17780">
            <a:solidFill>
              <a:srgbClr val="1767C7"/>
            </a:solidFill>
            <a:prstDash val="solid"/>
            <a:headEnd type="none"/>
            <a:tailEnd type="triangle"/>
          </a:ln>
        </p:spPr>
      </p:sp>
      <p:sp>
        <p:nvSpPr>
          <p:cNvPr id="21" name="Shape 19"/>
          <p:cNvSpPr/>
          <p:nvPr/>
        </p:nvSpPr>
        <p:spPr>
          <a:xfrm>
            <a:off x="978408" y="2852928"/>
            <a:ext cx="10232136" cy="585216"/>
          </a:xfrm>
          <a:prstGeom prst="roundRect">
            <a:avLst>
              <a:gd name="adj" fmla="val 17188"/>
            </a:avLst>
          </a:prstGeom>
          <a:solidFill>
            <a:srgbClr val="EDF5FD"/>
          </a:solidFill>
          <a:ln w="9525">
            <a:solidFill>
              <a:srgbClr val="D8E5F2"/>
            </a:solidFill>
            <a:prstDash val="solid"/>
          </a:ln>
        </p:spPr>
      </p:sp>
      <p:sp>
        <p:nvSpPr>
          <p:cNvPr id="22" name="Shape 20"/>
          <p:cNvSpPr/>
          <p:nvPr/>
        </p:nvSpPr>
        <p:spPr>
          <a:xfrm>
            <a:off x="1115568" y="2990088"/>
            <a:ext cx="1865376" cy="310896"/>
          </a:xfrm>
          <a:prstGeom prst="roundRect">
            <a:avLst>
              <a:gd name="adj" fmla="val 32353"/>
            </a:avLst>
          </a:prstGeom>
          <a:solidFill>
            <a:srgbClr val="1767C7"/>
          </a:solidFill>
          <a:ln w="9525">
            <a:solidFill>
              <a:srgbClr val="1767C7"/>
            </a:solidFill>
            <a:prstDash val="solid"/>
          </a:ln>
        </p:spPr>
      </p:sp>
      <p:sp>
        <p:nvSpPr>
          <p:cNvPr id="23" name="Text 21"/>
          <p:cNvSpPr/>
          <p:nvPr/>
        </p:nvSpPr>
        <p:spPr>
          <a:xfrm>
            <a:off x="1161288" y="3022092"/>
            <a:ext cx="1773936" cy="182880"/>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Aptos" pitchFamily="34" charset="0"/>
                <a:ea typeface="Aptos" pitchFamily="34" charset="-122"/>
                <a:cs typeface="Aptos" pitchFamily="34" charset="-120"/>
              </a:rPr>
              <a:t>ORCHESTRATION</a:t>
            </a:r>
            <a:endParaRPr lang="en-US" sz="940" dirty="0"/>
          </a:p>
        </p:txBody>
      </p:sp>
      <p:sp>
        <p:nvSpPr>
          <p:cNvPr id="24" name="Text 22"/>
          <p:cNvSpPr/>
          <p:nvPr/>
        </p:nvSpPr>
        <p:spPr>
          <a:xfrm>
            <a:off x="3218688" y="2962656"/>
            <a:ext cx="7516368" cy="356616"/>
          </a:xfrm>
          <a:prstGeom prst="rect">
            <a:avLst/>
          </a:prstGeom>
          <a:noFill/>
          <a:ln/>
        </p:spPr>
        <p:txBody>
          <a:bodyPr wrap="square" lIns="0" tIns="0" rIns="0" bIns="0" rtlCol="0" anchor="ctr">
            <a:normAutofit/>
          </a:bodyPr>
          <a:lstStyle/>
          <a:p>
            <a:pPr algn="l" indent="0" marL="0">
              <a:buNone/>
            </a:pPr>
            <a:r>
              <a:rPr lang="en-US" sz="1210" dirty="0">
                <a:solidFill>
                  <a:srgbClr val="18324F"/>
                </a:solidFill>
                <a:latin typeface="Aptos" pitchFamily="34" charset="0"/>
                <a:ea typeface="Aptos" pitchFamily="34" charset="-122"/>
                <a:cs typeface="Aptos" pitchFamily="34" charset="-120"/>
              </a:rPr>
              <a:t>ChatService · AgentService · AgentRunService · TerminalSessionService</a:t>
            </a:r>
            <a:endParaRPr lang="en-US" sz="1210" dirty="0"/>
          </a:p>
        </p:txBody>
      </p:sp>
      <p:sp>
        <p:nvSpPr>
          <p:cNvPr id="25" name="Shape 23"/>
          <p:cNvSpPr/>
          <p:nvPr/>
        </p:nvSpPr>
        <p:spPr>
          <a:xfrm>
            <a:off x="6089904" y="3447288"/>
            <a:ext cx="0" cy="100584"/>
          </a:xfrm>
          <a:prstGeom prst="line">
            <a:avLst/>
          </a:prstGeom>
          <a:noFill/>
          <a:ln w="17780">
            <a:solidFill>
              <a:srgbClr val="1767C7"/>
            </a:solidFill>
            <a:prstDash val="solid"/>
            <a:headEnd type="none"/>
            <a:tailEnd type="triangle"/>
          </a:ln>
        </p:spPr>
      </p:sp>
      <p:sp>
        <p:nvSpPr>
          <p:cNvPr id="26" name="Shape 24"/>
          <p:cNvSpPr/>
          <p:nvPr/>
        </p:nvSpPr>
        <p:spPr>
          <a:xfrm>
            <a:off x="978408" y="3557016"/>
            <a:ext cx="10232136" cy="585216"/>
          </a:xfrm>
          <a:prstGeom prst="roundRect">
            <a:avLst>
              <a:gd name="adj" fmla="val 17188"/>
            </a:avLst>
          </a:prstGeom>
          <a:solidFill>
            <a:srgbClr val="F5F9FE"/>
          </a:solidFill>
          <a:ln w="9525">
            <a:solidFill>
              <a:srgbClr val="D8E5F2"/>
            </a:solidFill>
            <a:prstDash val="solid"/>
          </a:ln>
        </p:spPr>
      </p:sp>
      <p:sp>
        <p:nvSpPr>
          <p:cNvPr id="27" name="Shape 25"/>
          <p:cNvSpPr/>
          <p:nvPr/>
        </p:nvSpPr>
        <p:spPr>
          <a:xfrm>
            <a:off x="1115568" y="3694176"/>
            <a:ext cx="1865376" cy="310896"/>
          </a:xfrm>
          <a:prstGeom prst="roundRect">
            <a:avLst>
              <a:gd name="adj" fmla="val 32353"/>
            </a:avLst>
          </a:prstGeom>
          <a:solidFill>
            <a:srgbClr val="1767C7"/>
          </a:solidFill>
          <a:ln w="9525">
            <a:solidFill>
              <a:srgbClr val="1767C7"/>
            </a:solidFill>
            <a:prstDash val="solid"/>
          </a:ln>
        </p:spPr>
      </p:sp>
      <p:sp>
        <p:nvSpPr>
          <p:cNvPr id="28" name="Text 26"/>
          <p:cNvSpPr/>
          <p:nvPr/>
        </p:nvSpPr>
        <p:spPr>
          <a:xfrm>
            <a:off x="1161288" y="3726180"/>
            <a:ext cx="1773936" cy="182880"/>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Aptos" pitchFamily="34" charset="0"/>
                <a:ea typeface="Aptos" pitchFamily="34" charset="-122"/>
                <a:cs typeface="Aptos" pitchFamily="34" charset="-120"/>
              </a:rPr>
              <a:t>INTELLIGENCE</a:t>
            </a:r>
            <a:endParaRPr lang="en-US" sz="940" dirty="0"/>
          </a:p>
        </p:txBody>
      </p:sp>
      <p:sp>
        <p:nvSpPr>
          <p:cNvPr id="29" name="Text 27"/>
          <p:cNvSpPr/>
          <p:nvPr/>
        </p:nvSpPr>
        <p:spPr>
          <a:xfrm>
            <a:off x="3218688" y="3666744"/>
            <a:ext cx="7516368" cy="356616"/>
          </a:xfrm>
          <a:prstGeom prst="rect">
            <a:avLst/>
          </a:prstGeom>
          <a:noFill/>
          <a:ln/>
        </p:spPr>
        <p:txBody>
          <a:bodyPr wrap="square" lIns="0" tIns="0" rIns="0" bIns="0" rtlCol="0" anchor="ctr">
            <a:normAutofit/>
          </a:bodyPr>
          <a:lstStyle/>
          <a:p>
            <a:pPr algn="l" indent="0" marL="0">
              <a:buNone/>
            </a:pPr>
            <a:r>
              <a:rPr lang="en-US" sz="1210" dirty="0">
                <a:solidFill>
                  <a:srgbClr val="18324F"/>
                </a:solidFill>
                <a:latin typeface="Aptos" pitchFamily="34" charset="0"/>
                <a:ea typeface="Aptos" pitchFamily="34" charset="-122"/>
                <a:cs typeface="Aptos" pitchFamily="34" charset="-120"/>
              </a:rPr>
              <a:t>ContextWindowManager · WorkspaceRetrievalIndexService · Code / Flow services</a:t>
            </a:r>
            <a:endParaRPr lang="en-US" sz="1210" dirty="0"/>
          </a:p>
        </p:txBody>
      </p:sp>
      <p:sp>
        <p:nvSpPr>
          <p:cNvPr id="30" name="Shape 28"/>
          <p:cNvSpPr/>
          <p:nvPr/>
        </p:nvSpPr>
        <p:spPr>
          <a:xfrm>
            <a:off x="6089904" y="4151376"/>
            <a:ext cx="0" cy="100584"/>
          </a:xfrm>
          <a:prstGeom prst="line">
            <a:avLst/>
          </a:prstGeom>
          <a:noFill/>
          <a:ln w="17780">
            <a:solidFill>
              <a:srgbClr val="1767C7"/>
            </a:solidFill>
            <a:prstDash val="solid"/>
            <a:headEnd type="none"/>
            <a:tailEnd type="triangle"/>
          </a:ln>
        </p:spPr>
      </p:sp>
      <p:sp>
        <p:nvSpPr>
          <p:cNvPr id="31" name="Shape 29"/>
          <p:cNvSpPr/>
          <p:nvPr/>
        </p:nvSpPr>
        <p:spPr>
          <a:xfrm>
            <a:off x="978408" y="4261104"/>
            <a:ext cx="10232136" cy="585216"/>
          </a:xfrm>
          <a:prstGeom prst="roundRect">
            <a:avLst>
              <a:gd name="adj" fmla="val 17188"/>
            </a:avLst>
          </a:prstGeom>
          <a:solidFill>
            <a:srgbClr val="EDF5FD"/>
          </a:solidFill>
          <a:ln w="9525">
            <a:solidFill>
              <a:srgbClr val="D8E5F2"/>
            </a:solidFill>
            <a:prstDash val="solid"/>
          </a:ln>
        </p:spPr>
      </p:sp>
      <p:sp>
        <p:nvSpPr>
          <p:cNvPr id="32" name="Shape 30"/>
          <p:cNvSpPr/>
          <p:nvPr/>
        </p:nvSpPr>
        <p:spPr>
          <a:xfrm>
            <a:off x="1115568" y="4398264"/>
            <a:ext cx="1865376" cy="310896"/>
          </a:xfrm>
          <a:prstGeom prst="roundRect">
            <a:avLst>
              <a:gd name="adj" fmla="val 32353"/>
            </a:avLst>
          </a:prstGeom>
          <a:solidFill>
            <a:srgbClr val="1767C7"/>
          </a:solidFill>
          <a:ln w="9525">
            <a:solidFill>
              <a:srgbClr val="1767C7"/>
            </a:solidFill>
            <a:prstDash val="solid"/>
          </a:ln>
        </p:spPr>
      </p:sp>
      <p:sp>
        <p:nvSpPr>
          <p:cNvPr id="33" name="Text 31"/>
          <p:cNvSpPr/>
          <p:nvPr/>
        </p:nvSpPr>
        <p:spPr>
          <a:xfrm>
            <a:off x="1161288" y="4430268"/>
            <a:ext cx="1773936" cy="182880"/>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Aptos" pitchFamily="34" charset="0"/>
                <a:ea typeface="Aptos" pitchFamily="34" charset="-122"/>
                <a:cs typeface="Aptos" pitchFamily="34" charset="-120"/>
              </a:rPr>
              <a:t>ADAPTERS &amp; TOOLS</a:t>
            </a:r>
            <a:endParaRPr lang="en-US" sz="940" dirty="0"/>
          </a:p>
        </p:txBody>
      </p:sp>
      <p:sp>
        <p:nvSpPr>
          <p:cNvPr id="34" name="Text 32"/>
          <p:cNvSpPr/>
          <p:nvPr/>
        </p:nvSpPr>
        <p:spPr>
          <a:xfrm>
            <a:off x="3218688" y="4370832"/>
            <a:ext cx="7516368" cy="356616"/>
          </a:xfrm>
          <a:prstGeom prst="rect">
            <a:avLst/>
          </a:prstGeom>
          <a:noFill/>
          <a:ln/>
        </p:spPr>
        <p:txBody>
          <a:bodyPr wrap="square" lIns="0" tIns="0" rIns="0" bIns="0" rtlCol="0" anchor="ctr">
            <a:normAutofit/>
          </a:bodyPr>
          <a:lstStyle/>
          <a:p>
            <a:pPr algn="l" indent="0" marL="0">
              <a:buNone/>
            </a:pPr>
            <a:r>
              <a:rPr lang="en-US" sz="1210" dirty="0">
                <a:solidFill>
                  <a:srgbClr val="18324F"/>
                </a:solidFill>
                <a:latin typeface="Aptos" pitchFamily="34" charset="0"/>
                <a:ea typeface="Aptos" pitchFamily="34" charset="-122"/>
                <a:cs typeface="Aptos" pitchFamily="34" charset="-120"/>
              </a:rPr>
              <a:t>OpenAiCompatibleClient · McpManager · AgentToolRegistry · Git / Files / Shell</a:t>
            </a:r>
            <a:endParaRPr lang="en-US" sz="1210" dirty="0"/>
          </a:p>
        </p:txBody>
      </p:sp>
      <p:sp>
        <p:nvSpPr>
          <p:cNvPr id="35" name="Shape 33"/>
          <p:cNvSpPr/>
          <p:nvPr/>
        </p:nvSpPr>
        <p:spPr>
          <a:xfrm>
            <a:off x="6089904" y="4855464"/>
            <a:ext cx="0" cy="100584"/>
          </a:xfrm>
          <a:prstGeom prst="line">
            <a:avLst/>
          </a:prstGeom>
          <a:noFill/>
          <a:ln w="17780">
            <a:solidFill>
              <a:srgbClr val="1767C7"/>
            </a:solidFill>
            <a:prstDash val="solid"/>
            <a:headEnd type="none"/>
            <a:tailEnd type="triangle"/>
          </a:ln>
        </p:spPr>
      </p:sp>
      <p:sp>
        <p:nvSpPr>
          <p:cNvPr id="36" name="Shape 34"/>
          <p:cNvSpPr/>
          <p:nvPr/>
        </p:nvSpPr>
        <p:spPr>
          <a:xfrm>
            <a:off x="978408" y="4965192"/>
            <a:ext cx="10232136" cy="585216"/>
          </a:xfrm>
          <a:prstGeom prst="roundRect">
            <a:avLst>
              <a:gd name="adj" fmla="val 17188"/>
            </a:avLst>
          </a:prstGeom>
          <a:solidFill>
            <a:srgbClr val="F5F9FE"/>
          </a:solidFill>
          <a:ln w="9525">
            <a:solidFill>
              <a:srgbClr val="D8E5F2"/>
            </a:solidFill>
            <a:prstDash val="solid"/>
          </a:ln>
        </p:spPr>
      </p:sp>
      <p:sp>
        <p:nvSpPr>
          <p:cNvPr id="37" name="Shape 35"/>
          <p:cNvSpPr/>
          <p:nvPr/>
        </p:nvSpPr>
        <p:spPr>
          <a:xfrm>
            <a:off x="1115568" y="5102352"/>
            <a:ext cx="1865376" cy="310896"/>
          </a:xfrm>
          <a:prstGeom prst="roundRect">
            <a:avLst>
              <a:gd name="adj" fmla="val 32353"/>
            </a:avLst>
          </a:prstGeom>
          <a:solidFill>
            <a:srgbClr val="1767C7"/>
          </a:solidFill>
          <a:ln w="9525">
            <a:solidFill>
              <a:srgbClr val="1767C7"/>
            </a:solidFill>
            <a:prstDash val="solid"/>
          </a:ln>
        </p:spPr>
      </p:sp>
      <p:sp>
        <p:nvSpPr>
          <p:cNvPr id="38" name="Text 36"/>
          <p:cNvSpPr/>
          <p:nvPr/>
        </p:nvSpPr>
        <p:spPr>
          <a:xfrm>
            <a:off x="1161288" y="5134356"/>
            <a:ext cx="1773936" cy="182880"/>
          </a:xfrm>
          <a:prstGeom prst="rect">
            <a:avLst/>
          </a:prstGeom>
          <a:noFill/>
          <a:ln/>
        </p:spPr>
        <p:txBody>
          <a:bodyPr wrap="square" lIns="0" tIns="0" rIns="0" bIns="0" rtlCol="0" anchor="ctr">
            <a:normAutofit/>
          </a:bodyPr>
          <a:lstStyle/>
          <a:p>
            <a:pPr algn="ctr" indent="0" marL="0">
              <a:buNone/>
            </a:pPr>
            <a:r>
              <a:rPr lang="en-US" sz="940" b="1" dirty="0">
                <a:solidFill>
                  <a:srgbClr val="FFFFFF"/>
                </a:solidFill>
                <a:latin typeface="Aptos" pitchFamily="34" charset="0"/>
                <a:ea typeface="Aptos" pitchFamily="34" charset="-122"/>
                <a:cs typeface="Aptos" pitchFamily="34" charset="-120"/>
              </a:rPr>
              <a:t>STATE / RESOURCES</a:t>
            </a:r>
            <a:endParaRPr lang="en-US" sz="940" dirty="0"/>
          </a:p>
        </p:txBody>
      </p:sp>
      <p:sp>
        <p:nvSpPr>
          <p:cNvPr id="39" name="Text 37"/>
          <p:cNvSpPr/>
          <p:nvPr/>
        </p:nvSpPr>
        <p:spPr>
          <a:xfrm>
            <a:off x="3218688" y="5074920"/>
            <a:ext cx="7516368" cy="356616"/>
          </a:xfrm>
          <a:prstGeom prst="rect">
            <a:avLst/>
          </a:prstGeom>
          <a:noFill/>
          <a:ln/>
        </p:spPr>
        <p:txBody>
          <a:bodyPr wrap="square" lIns="0" tIns="0" rIns="0" bIns="0" rtlCol="0" anchor="ctr">
            <a:normAutofit/>
          </a:bodyPr>
          <a:lstStyle/>
          <a:p>
            <a:pPr algn="l" indent="0" marL="0">
              <a:buNone/>
            </a:pPr>
            <a:r>
              <a:rPr lang="en-US" sz="1210" dirty="0">
                <a:solidFill>
                  <a:srgbClr val="18324F"/>
                </a:solidFill>
                <a:latin typeface="Aptos" pitchFamily="34" charset="0"/>
                <a:ea typeface="Aptos" pitchFamily="34" charset="-122"/>
                <a:cs typeface="Aptos" pitchFamily="34" charset="-120"/>
              </a:rPr>
              <a:t>JPA + H2 · session/run files · indexes · selected workspace roots</a:t>
            </a:r>
            <a:endParaRPr lang="en-US" sz="12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INTERACTION MODEL</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Three modes, explicit behavioral contracts</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Reuse the same underlying capabilities while protecting user intent and execution permissions.</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EXECUTION</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07</a:t>
            </a:r>
            <a:endParaRPr lang="en-US" sz="900" dirty="0"/>
          </a:p>
        </p:txBody>
      </p:sp>
      <p:sp>
        <p:nvSpPr>
          <p:cNvPr id="11" name="Shape 9"/>
          <p:cNvSpPr/>
          <p:nvPr/>
        </p:nvSpPr>
        <p:spPr>
          <a:xfrm>
            <a:off x="548640" y="1581912"/>
            <a:ext cx="3593592" cy="3758184"/>
          </a:xfrm>
          <a:prstGeom prst="roundRect">
            <a:avLst>
              <a:gd name="adj" fmla="val 2799"/>
            </a:avLst>
          </a:prstGeom>
          <a:solidFill>
            <a:srgbClr val="FFFFFF"/>
          </a:solidFill>
          <a:ln w="9525">
            <a:solidFill>
              <a:srgbClr val="D8E5F2"/>
            </a:solidFill>
            <a:prstDash val="solid"/>
          </a:ln>
        </p:spPr>
      </p:sp>
      <p:sp>
        <p:nvSpPr>
          <p:cNvPr id="12" name="Shape 10"/>
          <p:cNvSpPr/>
          <p:nvPr/>
        </p:nvSpPr>
        <p:spPr>
          <a:xfrm>
            <a:off x="768096" y="1828800"/>
            <a:ext cx="987552" cy="265176"/>
          </a:xfrm>
          <a:prstGeom prst="roundRect">
            <a:avLst>
              <a:gd name="adj" fmla="val 37931"/>
            </a:avLst>
          </a:prstGeom>
          <a:solidFill>
            <a:srgbClr val="EDF5FD"/>
          </a:solidFill>
          <a:ln w="9525">
            <a:solidFill>
              <a:srgbClr val="EDF5FD"/>
            </a:solidFill>
            <a:prstDash val="solid"/>
          </a:ln>
        </p:spPr>
      </p:sp>
      <p:sp>
        <p:nvSpPr>
          <p:cNvPr id="13" name="Text 11"/>
          <p:cNvSpPr/>
          <p:nvPr/>
        </p:nvSpPr>
        <p:spPr>
          <a:xfrm>
            <a:off x="841248" y="1837944"/>
            <a:ext cx="841248"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CHAT</a:t>
            </a:r>
            <a:endParaRPr lang="en-US" sz="860" dirty="0"/>
          </a:p>
        </p:txBody>
      </p:sp>
      <p:sp>
        <p:nvSpPr>
          <p:cNvPr id="14" name="Text 12"/>
          <p:cNvSpPr/>
          <p:nvPr/>
        </p:nvSpPr>
        <p:spPr>
          <a:xfrm>
            <a:off x="749808" y="2322576"/>
            <a:ext cx="3182112" cy="502920"/>
          </a:xfrm>
          <a:prstGeom prst="rect">
            <a:avLst/>
          </a:prstGeom>
          <a:noFill/>
          <a:ln/>
        </p:spPr>
        <p:txBody>
          <a:bodyPr wrap="square" lIns="0" tIns="0" rIns="0" bIns="0" rtlCol="0" anchor="ctr">
            <a:normAutofit/>
          </a:bodyPr>
          <a:lstStyle/>
          <a:p>
            <a:pPr algn="l" indent="0" marL="0">
              <a:buNone/>
            </a:pPr>
            <a:r>
              <a:rPr lang="en-US" sz="1650" b="1" dirty="0">
                <a:solidFill>
                  <a:srgbClr val="0C2B4E"/>
                </a:solidFill>
                <a:latin typeface="Aptos" pitchFamily="34" charset="0"/>
                <a:ea typeface="Aptos" pitchFamily="34" charset="-122"/>
                <a:cs typeface="Aptos" pitchFamily="34" charset="-120"/>
              </a:rPr>
              <a:t>Analyze → explain → prepare</a:t>
            </a:r>
            <a:endParaRPr lang="en-US" sz="1650" dirty="0"/>
          </a:p>
        </p:txBody>
      </p:sp>
      <p:sp>
        <p:nvSpPr>
          <p:cNvPr id="15" name="Text 13"/>
          <p:cNvSpPr/>
          <p:nvPr/>
        </p:nvSpPr>
        <p:spPr>
          <a:xfrm>
            <a:off x="749808" y="2971800"/>
            <a:ext cx="3163824" cy="978408"/>
          </a:xfrm>
          <a:prstGeom prst="rect">
            <a:avLst/>
          </a:prstGeom>
          <a:noFill/>
          <a:ln/>
        </p:spPr>
        <p:txBody>
          <a:bodyPr wrap="square" lIns="0" tIns="0" rIns="0" bIns="0" rtlCol="0" anchor="ctr">
            <a:normAutofit/>
          </a:bodyPr>
          <a:lstStyle/>
          <a:p>
            <a:pPr algn="l" indent="0" marL="0">
              <a:buNone/>
            </a:pPr>
            <a:r>
              <a:rPr lang="en-US" sz="1200" dirty="0">
                <a:solidFill>
                  <a:srgbClr val="5B7190"/>
                </a:solidFill>
                <a:latin typeface="Aptos" pitchFamily="34" charset="0"/>
                <a:ea typeface="Aptos" pitchFamily="34" charset="-122"/>
                <a:cs typeface="Aptos" pitchFamily="34" charset="-120"/>
              </a:rPr>
              <a:t>Workspace and document retrieval; MCP only when explicitly requested.</a:t>
            </a:r>
            <a:endParaRPr lang="en-US" sz="1200" dirty="0"/>
          </a:p>
        </p:txBody>
      </p:sp>
      <p:sp>
        <p:nvSpPr>
          <p:cNvPr id="16" name="Shape 14"/>
          <p:cNvSpPr/>
          <p:nvPr/>
        </p:nvSpPr>
        <p:spPr>
          <a:xfrm>
            <a:off x="749808" y="4105656"/>
            <a:ext cx="3172968" cy="0"/>
          </a:xfrm>
          <a:prstGeom prst="line">
            <a:avLst>
              <a:gd name="adj" fmla="val Infinity"/>
            </a:avLst>
          </a:prstGeom>
          <a:solidFill>
            <a:srgbClr val="D8E5F2"/>
          </a:solidFill>
          <a:ln w="9525">
            <a:solidFill>
              <a:srgbClr val="D8E5F2"/>
            </a:solidFill>
            <a:prstDash val="solid"/>
          </a:ln>
        </p:spPr>
      </p:sp>
      <p:sp>
        <p:nvSpPr>
          <p:cNvPr id="17" name="Text 15"/>
          <p:cNvSpPr/>
          <p:nvPr/>
        </p:nvSpPr>
        <p:spPr>
          <a:xfrm>
            <a:off x="758952" y="4251960"/>
            <a:ext cx="3191256" cy="393192"/>
          </a:xfrm>
          <a:prstGeom prst="rect">
            <a:avLst/>
          </a:prstGeom>
          <a:noFill/>
          <a:ln/>
        </p:spPr>
        <p:txBody>
          <a:bodyPr wrap="square" lIns="0" tIns="0" rIns="0" bIns="0" rtlCol="0" anchor="ctr">
            <a:normAutofit/>
          </a:bodyPr>
          <a:lstStyle/>
          <a:p>
            <a:pPr algn="l" indent="0" marL="0">
              <a:buNone/>
            </a:pPr>
            <a:r>
              <a:rPr lang="en-US" sz="1120" b="1" dirty="0">
                <a:solidFill>
                  <a:srgbClr val="1767C7"/>
                </a:solidFill>
                <a:latin typeface="Aptos" pitchFamily="34" charset="0"/>
                <a:ea typeface="Aptos" pitchFamily="34" charset="-122"/>
                <a:cs typeface="Aptos" pitchFamily="34" charset="-120"/>
              </a:rPr>
              <a:t>No automatic workspace edits</a:t>
            </a:r>
            <a:endParaRPr lang="en-US" sz="1120" dirty="0"/>
          </a:p>
        </p:txBody>
      </p:sp>
      <p:sp>
        <p:nvSpPr>
          <p:cNvPr id="18" name="Text 16"/>
          <p:cNvSpPr/>
          <p:nvPr/>
        </p:nvSpPr>
        <p:spPr>
          <a:xfrm>
            <a:off x="758952" y="4782312"/>
            <a:ext cx="3191256" cy="301752"/>
          </a:xfrm>
          <a:prstGeom prst="rect">
            <a:avLst/>
          </a:prstGeom>
          <a:noFill/>
          <a:ln/>
        </p:spPr>
        <p:txBody>
          <a:bodyPr wrap="square" lIns="0" tIns="0" rIns="0" bIns="0" rtlCol="0" anchor="ctr">
            <a:normAutofit/>
          </a:bodyPr>
          <a:lstStyle/>
          <a:p>
            <a:pPr algn="l" indent="0" marL="0">
              <a:buNone/>
            </a:pPr>
            <a:r>
              <a:rPr lang="en-US" sz="1120" dirty="0">
                <a:solidFill>
                  <a:srgbClr val="5B7190"/>
                </a:solidFill>
                <a:latin typeface="Aptos" pitchFamily="34" charset="0"/>
                <a:ea typeface="Aptos" pitchFamily="34" charset="-122"/>
                <a:cs typeface="Aptos" pitchFamily="34" charset="-120"/>
              </a:rPr>
              <a:t>Usually read-only</a:t>
            </a:r>
            <a:endParaRPr lang="en-US" sz="1120" dirty="0"/>
          </a:p>
        </p:txBody>
      </p:sp>
      <p:sp>
        <p:nvSpPr>
          <p:cNvPr id="19" name="Shape 17"/>
          <p:cNvSpPr/>
          <p:nvPr/>
        </p:nvSpPr>
        <p:spPr>
          <a:xfrm>
            <a:off x="4334256" y="1581912"/>
            <a:ext cx="3593592" cy="3758184"/>
          </a:xfrm>
          <a:prstGeom prst="roundRect">
            <a:avLst>
              <a:gd name="adj" fmla="val 2799"/>
            </a:avLst>
          </a:prstGeom>
          <a:solidFill>
            <a:srgbClr val="EDF5FD"/>
          </a:solidFill>
          <a:ln w="9525">
            <a:solidFill>
              <a:srgbClr val="D8E5F2"/>
            </a:solidFill>
            <a:prstDash val="solid"/>
          </a:ln>
        </p:spPr>
      </p:sp>
      <p:sp>
        <p:nvSpPr>
          <p:cNvPr id="20" name="Shape 18"/>
          <p:cNvSpPr/>
          <p:nvPr/>
        </p:nvSpPr>
        <p:spPr>
          <a:xfrm>
            <a:off x="4553712" y="1828800"/>
            <a:ext cx="987552" cy="265176"/>
          </a:xfrm>
          <a:prstGeom prst="roundRect">
            <a:avLst>
              <a:gd name="adj" fmla="val 37931"/>
            </a:avLst>
          </a:prstGeom>
          <a:solidFill>
            <a:srgbClr val="1767C7"/>
          </a:solidFill>
          <a:ln w="9525">
            <a:solidFill>
              <a:srgbClr val="1767C7"/>
            </a:solidFill>
            <a:prstDash val="solid"/>
          </a:ln>
        </p:spPr>
      </p:sp>
      <p:sp>
        <p:nvSpPr>
          <p:cNvPr id="21" name="Text 19"/>
          <p:cNvSpPr/>
          <p:nvPr/>
        </p:nvSpPr>
        <p:spPr>
          <a:xfrm>
            <a:off x="4626864" y="1837944"/>
            <a:ext cx="841248" cy="22860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AGENT</a:t>
            </a:r>
            <a:endParaRPr lang="en-US" sz="860" dirty="0"/>
          </a:p>
        </p:txBody>
      </p:sp>
      <p:sp>
        <p:nvSpPr>
          <p:cNvPr id="22" name="Text 20"/>
          <p:cNvSpPr/>
          <p:nvPr/>
        </p:nvSpPr>
        <p:spPr>
          <a:xfrm>
            <a:off x="4535424" y="2322576"/>
            <a:ext cx="3182112" cy="502920"/>
          </a:xfrm>
          <a:prstGeom prst="rect">
            <a:avLst/>
          </a:prstGeom>
          <a:noFill/>
          <a:ln/>
        </p:spPr>
        <p:txBody>
          <a:bodyPr wrap="square" lIns="0" tIns="0" rIns="0" bIns="0" rtlCol="0" anchor="ctr">
            <a:normAutofit/>
          </a:bodyPr>
          <a:lstStyle/>
          <a:p>
            <a:pPr algn="l" indent="0" marL="0">
              <a:buNone/>
            </a:pPr>
            <a:r>
              <a:rPr lang="en-US" sz="1650" b="1" dirty="0">
                <a:solidFill>
                  <a:srgbClr val="0C2B4E"/>
                </a:solidFill>
                <a:latin typeface="Aptos" pitchFamily="34" charset="0"/>
                <a:ea typeface="Aptos" pitchFamily="34" charset="-122"/>
                <a:cs typeface="Aptos" pitchFamily="34" charset="-120"/>
              </a:rPr>
              <a:t>Plan → review → approve → execute</a:t>
            </a:r>
            <a:endParaRPr lang="en-US" sz="1650" dirty="0"/>
          </a:p>
        </p:txBody>
      </p:sp>
      <p:sp>
        <p:nvSpPr>
          <p:cNvPr id="23" name="Text 21"/>
          <p:cNvSpPr/>
          <p:nvPr/>
        </p:nvSpPr>
        <p:spPr>
          <a:xfrm>
            <a:off x="4535424" y="2971800"/>
            <a:ext cx="3163824" cy="978408"/>
          </a:xfrm>
          <a:prstGeom prst="rect">
            <a:avLst/>
          </a:prstGeom>
          <a:noFill/>
          <a:ln/>
        </p:spPr>
        <p:txBody>
          <a:bodyPr wrap="square" lIns="0" tIns="0" rIns="0" bIns="0" rtlCol="0" anchor="ctr">
            <a:normAutofit/>
          </a:bodyPr>
          <a:lstStyle/>
          <a:p>
            <a:pPr algn="l" indent="0" marL="0">
              <a:buNone/>
            </a:pPr>
            <a:r>
              <a:rPr lang="en-US" sz="1200" dirty="0">
                <a:solidFill>
                  <a:srgbClr val="5B7190"/>
                </a:solidFill>
                <a:latin typeface="Aptos" pitchFamily="34" charset="0"/>
                <a:ea typeface="Aptos" pitchFamily="34" charset="-122"/>
                <a:cs typeface="Aptos" pitchFamily="34" charset="-120"/>
              </a:rPr>
              <a:t>User may edit draft plan before approval; execute tool steps and verify.</a:t>
            </a:r>
            <a:endParaRPr lang="en-US" sz="1200" dirty="0"/>
          </a:p>
        </p:txBody>
      </p:sp>
      <p:sp>
        <p:nvSpPr>
          <p:cNvPr id="24" name="Shape 22"/>
          <p:cNvSpPr/>
          <p:nvPr/>
        </p:nvSpPr>
        <p:spPr>
          <a:xfrm>
            <a:off x="4535424" y="4105656"/>
            <a:ext cx="3172968" cy="0"/>
          </a:xfrm>
          <a:prstGeom prst="line">
            <a:avLst>
              <a:gd name="adj" fmla="val Infinity"/>
            </a:avLst>
          </a:prstGeom>
          <a:solidFill>
            <a:srgbClr val="D8E5F2"/>
          </a:solidFill>
          <a:ln w="9525">
            <a:solidFill>
              <a:srgbClr val="D8E5F2"/>
            </a:solidFill>
            <a:prstDash val="solid"/>
          </a:ln>
        </p:spPr>
      </p:sp>
      <p:sp>
        <p:nvSpPr>
          <p:cNvPr id="25" name="Text 23"/>
          <p:cNvSpPr/>
          <p:nvPr/>
        </p:nvSpPr>
        <p:spPr>
          <a:xfrm>
            <a:off x="4544568" y="4251960"/>
            <a:ext cx="3191256" cy="393192"/>
          </a:xfrm>
          <a:prstGeom prst="rect">
            <a:avLst/>
          </a:prstGeom>
          <a:noFill/>
          <a:ln/>
        </p:spPr>
        <p:txBody>
          <a:bodyPr wrap="square" lIns="0" tIns="0" rIns="0" bIns="0" rtlCol="0" anchor="ctr">
            <a:normAutofit/>
          </a:bodyPr>
          <a:lstStyle/>
          <a:p>
            <a:pPr algn="l" indent="0" marL="0">
              <a:buNone/>
            </a:pPr>
            <a:r>
              <a:rPr lang="en-US" sz="1120" b="1" dirty="0">
                <a:solidFill>
                  <a:srgbClr val="1767C7"/>
                </a:solidFill>
                <a:latin typeface="Aptos" pitchFamily="34" charset="0"/>
                <a:ea typeface="Aptos" pitchFamily="34" charset="-122"/>
                <a:cs typeface="Aptos" pitchFamily="34" charset="-120"/>
              </a:rPr>
              <a:t>Approval-backed writes</a:t>
            </a:r>
            <a:endParaRPr lang="en-US" sz="1120" dirty="0"/>
          </a:p>
        </p:txBody>
      </p:sp>
      <p:sp>
        <p:nvSpPr>
          <p:cNvPr id="26" name="Text 24"/>
          <p:cNvSpPr/>
          <p:nvPr/>
        </p:nvSpPr>
        <p:spPr>
          <a:xfrm>
            <a:off x="4544568" y="4782312"/>
            <a:ext cx="3191256" cy="301752"/>
          </a:xfrm>
          <a:prstGeom prst="rect">
            <a:avLst/>
          </a:prstGeom>
          <a:noFill/>
          <a:ln/>
        </p:spPr>
        <p:txBody>
          <a:bodyPr wrap="square" lIns="0" tIns="0" rIns="0" bIns="0" rtlCol="0" anchor="ctr">
            <a:normAutofit/>
          </a:bodyPr>
          <a:lstStyle/>
          <a:p>
            <a:pPr algn="l" indent="0" marL="0">
              <a:buNone/>
            </a:pPr>
            <a:r>
              <a:rPr lang="en-US" sz="1120" dirty="0">
                <a:solidFill>
                  <a:srgbClr val="5B7190"/>
                </a:solidFill>
                <a:latin typeface="Aptos" pitchFamily="34" charset="0"/>
                <a:ea typeface="Aptos" pitchFamily="34" charset="-122"/>
                <a:cs typeface="Aptos" pitchFamily="34" charset="-120"/>
              </a:rPr>
              <a:t>Interactive plan contract</a:t>
            </a:r>
            <a:endParaRPr lang="en-US" sz="1120" dirty="0"/>
          </a:p>
        </p:txBody>
      </p:sp>
      <p:sp>
        <p:nvSpPr>
          <p:cNvPr id="27" name="Shape 25"/>
          <p:cNvSpPr/>
          <p:nvPr/>
        </p:nvSpPr>
        <p:spPr>
          <a:xfrm>
            <a:off x="8119872" y="1581912"/>
            <a:ext cx="3593592" cy="3758184"/>
          </a:xfrm>
          <a:prstGeom prst="roundRect">
            <a:avLst>
              <a:gd name="adj" fmla="val 2799"/>
            </a:avLst>
          </a:prstGeom>
          <a:solidFill>
            <a:srgbClr val="FFFFFF"/>
          </a:solidFill>
          <a:ln w="9525">
            <a:solidFill>
              <a:srgbClr val="D8E5F2"/>
            </a:solidFill>
            <a:prstDash val="solid"/>
          </a:ln>
        </p:spPr>
      </p:sp>
      <p:sp>
        <p:nvSpPr>
          <p:cNvPr id="28" name="Shape 26"/>
          <p:cNvSpPr/>
          <p:nvPr/>
        </p:nvSpPr>
        <p:spPr>
          <a:xfrm>
            <a:off x="8339328" y="1828800"/>
            <a:ext cx="987552" cy="265176"/>
          </a:xfrm>
          <a:prstGeom prst="roundRect">
            <a:avLst>
              <a:gd name="adj" fmla="val 37931"/>
            </a:avLst>
          </a:prstGeom>
          <a:solidFill>
            <a:srgbClr val="EDF5FD"/>
          </a:solidFill>
          <a:ln w="9525">
            <a:solidFill>
              <a:srgbClr val="EDF5FD"/>
            </a:solidFill>
            <a:prstDash val="solid"/>
          </a:ln>
        </p:spPr>
      </p:sp>
      <p:sp>
        <p:nvSpPr>
          <p:cNvPr id="29" name="Text 27"/>
          <p:cNvSpPr/>
          <p:nvPr/>
        </p:nvSpPr>
        <p:spPr>
          <a:xfrm>
            <a:off x="8412480" y="1837944"/>
            <a:ext cx="841248"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TERMINAL</a:t>
            </a:r>
            <a:endParaRPr lang="en-US" sz="860" dirty="0"/>
          </a:p>
        </p:txBody>
      </p:sp>
      <p:sp>
        <p:nvSpPr>
          <p:cNvPr id="30" name="Text 28"/>
          <p:cNvSpPr/>
          <p:nvPr/>
        </p:nvSpPr>
        <p:spPr>
          <a:xfrm>
            <a:off x="8321040" y="2322576"/>
            <a:ext cx="3182112" cy="502920"/>
          </a:xfrm>
          <a:prstGeom prst="rect">
            <a:avLst/>
          </a:prstGeom>
          <a:noFill/>
          <a:ln/>
        </p:spPr>
        <p:txBody>
          <a:bodyPr wrap="square" lIns="0" tIns="0" rIns="0" bIns="0" rtlCol="0" anchor="ctr">
            <a:normAutofit/>
          </a:bodyPr>
          <a:lstStyle/>
          <a:p>
            <a:pPr algn="l" indent="0" marL="0">
              <a:buNone/>
            </a:pPr>
            <a:r>
              <a:rPr lang="en-US" sz="1650" b="1" dirty="0">
                <a:solidFill>
                  <a:srgbClr val="0C2B4E"/>
                </a:solidFill>
                <a:latin typeface="Aptos" pitchFamily="34" charset="0"/>
                <a:ea typeface="Aptos" pitchFamily="34" charset="-122"/>
                <a:cs typeface="Aptos" pitchFamily="34" charset="-120"/>
              </a:rPr>
              <a:t>New session → plan → auto-execute</a:t>
            </a:r>
            <a:endParaRPr lang="en-US" sz="1650" dirty="0"/>
          </a:p>
        </p:txBody>
      </p:sp>
      <p:sp>
        <p:nvSpPr>
          <p:cNvPr id="31" name="Text 29"/>
          <p:cNvSpPr/>
          <p:nvPr/>
        </p:nvSpPr>
        <p:spPr>
          <a:xfrm>
            <a:off x="8321040" y="2971800"/>
            <a:ext cx="3163824" cy="978408"/>
          </a:xfrm>
          <a:prstGeom prst="rect">
            <a:avLst/>
          </a:prstGeom>
          <a:noFill/>
          <a:ln/>
        </p:spPr>
        <p:txBody>
          <a:bodyPr wrap="square" lIns="0" tIns="0" rIns="0" bIns="0" rtlCol="0" anchor="ctr">
            <a:normAutofit/>
          </a:bodyPr>
          <a:lstStyle/>
          <a:p>
            <a:pPr algn="l" indent="0" marL="0">
              <a:buNone/>
            </a:pPr>
            <a:r>
              <a:rPr lang="en-US" sz="1200" dirty="0">
                <a:solidFill>
                  <a:srgbClr val="5B7190"/>
                </a:solidFill>
                <a:latin typeface="Aptos" pitchFamily="34" charset="0"/>
                <a:ea typeface="Aptos" pitchFamily="34" charset="-122"/>
                <a:cs typeface="Aptos" pitchFamily="34" charset="-120"/>
              </a:rPr>
              <a:t>Independent conversation, workspace/model choice, queue, cancellation and live events.</a:t>
            </a:r>
            <a:endParaRPr lang="en-US" sz="1200" dirty="0"/>
          </a:p>
        </p:txBody>
      </p:sp>
      <p:sp>
        <p:nvSpPr>
          <p:cNvPr id="32" name="Shape 30"/>
          <p:cNvSpPr/>
          <p:nvPr/>
        </p:nvSpPr>
        <p:spPr>
          <a:xfrm>
            <a:off x="8321040" y="4105656"/>
            <a:ext cx="3172968" cy="0"/>
          </a:xfrm>
          <a:prstGeom prst="line">
            <a:avLst>
              <a:gd name="adj" fmla="val Infinity"/>
            </a:avLst>
          </a:prstGeom>
          <a:solidFill>
            <a:srgbClr val="D8E5F2"/>
          </a:solidFill>
          <a:ln w="9525">
            <a:solidFill>
              <a:srgbClr val="D8E5F2"/>
            </a:solidFill>
            <a:prstDash val="solid"/>
          </a:ln>
        </p:spPr>
      </p:sp>
      <p:sp>
        <p:nvSpPr>
          <p:cNvPr id="33" name="Text 31"/>
          <p:cNvSpPr/>
          <p:nvPr/>
        </p:nvSpPr>
        <p:spPr>
          <a:xfrm>
            <a:off x="8330184" y="4251960"/>
            <a:ext cx="3191256" cy="393192"/>
          </a:xfrm>
          <a:prstGeom prst="rect">
            <a:avLst/>
          </a:prstGeom>
          <a:noFill/>
          <a:ln/>
        </p:spPr>
        <p:txBody>
          <a:bodyPr wrap="square" lIns="0" tIns="0" rIns="0" bIns="0" rtlCol="0" anchor="ctr">
            <a:normAutofit/>
          </a:bodyPr>
          <a:lstStyle/>
          <a:p>
            <a:pPr algn="l" indent="0" marL="0">
              <a:buNone/>
            </a:pPr>
            <a:r>
              <a:rPr lang="en-US" sz="1120" b="1" dirty="0">
                <a:solidFill>
                  <a:srgbClr val="1767C7"/>
                </a:solidFill>
                <a:latin typeface="Aptos" pitchFamily="34" charset="0"/>
                <a:ea typeface="Aptos" pitchFamily="34" charset="-122"/>
                <a:cs typeface="Aptos" pitchFamily="34" charset="-120"/>
              </a:rPr>
              <a:t>No plan approval; safeguards remain</a:t>
            </a:r>
            <a:endParaRPr lang="en-US" sz="1120" dirty="0"/>
          </a:p>
        </p:txBody>
      </p:sp>
      <p:sp>
        <p:nvSpPr>
          <p:cNvPr id="34" name="Text 32"/>
          <p:cNvSpPr/>
          <p:nvPr/>
        </p:nvSpPr>
        <p:spPr>
          <a:xfrm>
            <a:off x="8330184" y="4782312"/>
            <a:ext cx="3191256" cy="301752"/>
          </a:xfrm>
          <a:prstGeom prst="rect">
            <a:avLst/>
          </a:prstGeom>
          <a:noFill/>
          <a:ln/>
        </p:spPr>
        <p:txBody>
          <a:bodyPr wrap="square" lIns="0" tIns="0" rIns="0" bIns="0" rtlCol="0" anchor="ctr">
            <a:normAutofit/>
          </a:bodyPr>
          <a:lstStyle/>
          <a:p>
            <a:pPr algn="l" indent="0" marL="0">
              <a:buNone/>
            </a:pPr>
            <a:r>
              <a:rPr lang="en-US" sz="1120" dirty="0">
                <a:solidFill>
                  <a:srgbClr val="5B7190"/>
                </a:solidFill>
                <a:latin typeface="Aptos" pitchFamily="34" charset="0"/>
                <a:ea typeface="Aptos" pitchFamily="34" charset="-122"/>
                <a:cs typeface="Aptos" pitchFamily="34" charset="-120"/>
              </a:rPr>
              <a:t>Detached worker</a:t>
            </a:r>
            <a:endParaRPr lang="en-US" sz="1120" dirty="0"/>
          </a:p>
        </p:txBody>
      </p:sp>
      <p:sp>
        <p:nvSpPr>
          <p:cNvPr id="35" name="Shape 33"/>
          <p:cNvSpPr/>
          <p:nvPr/>
        </p:nvSpPr>
        <p:spPr>
          <a:xfrm>
            <a:off x="530352" y="5705856"/>
            <a:ext cx="11137392" cy="484632"/>
          </a:xfrm>
          <a:prstGeom prst="roundRect">
            <a:avLst>
              <a:gd name="adj" fmla="val 20755"/>
            </a:avLst>
          </a:prstGeom>
          <a:solidFill>
            <a:srgbClr val="EDF5FD"/>
          </a:solidFill>
          <a:ln w="9525">
            <a:solidFill>
              <a:srgbClr val="EDF5FD"/>
            </a:solidFill>
            <a:prstDash val="solid"/>
          </a:ln>
        </p:spPr>
      </p:sp>
      <p:sp>
        <p:nvSpPr>
          <p:cNvPr id="36" name="Text 34"/>
          <p:cNvSpPr/>
          <p:nvPr/>
        </p:nvSpPr>
        <p:spPr>
          <a:xfrm>
            <a:off x="713232" y="5792724"/>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HANDOFF</a:t>
            </a:r>
            <a:endParaRPr lang="en-US" sz="1110" dirty="0"/>
          </a:p>
        </p:txBody>
      </p:sp>
      <p:sp>
        <p:nvSpPr>
          <p:cNvPr id="37" name="Text 35"/>
          <p:cNvSpPr/>
          <p:nvPr/>
        </p:nvSpPr>
        <p:spPr>
          <a:xfrm>
            <a:off x="2423160" y="5756148"/>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Chat creates reviewed implementation prompts; Agent can transfer an approved draft into Terminal.</a:t>
            </a:r>
            <a:endParaRPr lang="en-US" sz="109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SEQUENCE VIEW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Chat request path and progressive output</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A fast, context-aware analysis path with explicit external-source routing.</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EXECUTION</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08</a:t>
            </a:r>
            <a:endParaRPr lang="en-US" sz="900" dirty="0"/>
          </a:p>
        </p:txBody>
      </p:sp>
      <p:sp>
        <p:nvSpPr>
          <p:cNvPr id="11" name="Shape 9"/>
          <p:cNvSpPr/>
          <p:nvPr/>
        </p:nvSpPr>
        <p:spPr>
          <a:xfrm>
            <a:off x="530352" y="1828800"/>
            <a:ext cx="2095805" cy="1197864"/>
          </a:xfrm>
          <a:prstGeom prst="roundRect">
            <a:avLst>
              <a:gd name="adj" fmla="val 8397"/>
            </a:avLst>
          </a:prstGeom>
          <a:solidFill>
            <a:srgbClr val="EDF5FD"/>
          </a:solidFill>
          <a:ln w="9525">
            <a:solidFill>
              <a:srgbClr val="D8E5F2"/>
            </a:solidFill>
            <a:prstDash val="solid"/>
          </a:ln>
        </p:spPr>
      </p:sp>
      <p:sp>
        <p:nvSpPr>
          <p:cNvPr id="12" name="Text 10"/>
          <p:cNvSpPr/>
          <p:nvPr/>
        </p:nvSpPr>
        <p:spPr>
          <a:xfrm>
            <a:off x="612648" y="1938528"/>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1 · Request</a:t>
            </a:r>
            <a:endParaRPr lang="en-US" sz="1240" dirty="0"/>
          </a:p>
        </p:txBody>
      </p:sp>
      <p:sp>
        <p:nvSpPr>
          <p:cNvPr id="13" name="Text 11"/>
          <p:cNvSpPr/>
          <p:nvPr/>
        </p:nvSpPr>
        <p:spPr>
          <a:xfrm>
            <a:off x="630936" y="2276856"/>
            <a:ext cx="1894637" cy="67665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Chat UI and current prompt</a:t>
            </a:r>
            <a:endParaRPr lang="en-US" sz="970" dirty="0"/>
          </a:p>
        </p:txBody>
      </p:sp>
      <p:sp>
        <p:nvSpPr>
          <p:cNvPr id="14" name="Shape 12"/>
          <p:cNvSpPr/>
          <p:nvPr/>
        </p:nvSpPr>
        <p:spPr>
          <a:xfrm>
            <a:off x="2635301" y="2427732"/>
            <a:ext cx="54864" cy="0"/>
          </a:xfrm>
          <a:prstGeom prst="line">
            <a:avLst/>
          </a:prstGeom>
          <a:noFill/>
          <a:ln w="19050">
            <a:solidFill>
              <a:srgbClr val="1767C7"/>
            </a:solidFill>
            <a:prstDash val="solid"/>
            <a:headEnd type="none"/>
            <a:tailEnd type="triangle"/>
          </a:ln>
        </p:spPr>
      </p:sp>
      <p:sp>
        <p:nvSpPr>
          <p:cNvPr id="15" name="Shape 13"/>
          <p:cNvSpPr/>
          <p:nvPr/>
        </p:nvSpPr>
        <p:spPr>
          <a:xfrm>
            <a:off x="2790749" y="1828800"/>
            <a:ext cx="2095805" cy="1197864"/>
          </a:xfrm>
          <a:prstGeom prst="roundRect">
            <a:avLst>
              <a:gd name="adj" fmla="val 8397"/>
            </a:avLst>
          </a:prstGeom>
          <a:solidFill>
            <a:srgbClr val="F5F9FE"/>
          </a:solidFill>
          <a:ln w="9525">
            <a:solidFill>
              <a:srgbClr val="D8E5F2"/>
            </a:solidFill>
            <a:prstDash val="solid"/>
          </a:ln>
        </p:spPr>
      </p:sp>
      <p:sp>
        <p:nvSpPr>
          <p:cNvPr id="16" name="Text 14"/>
          <p:cNvSpPr/>
          <p:nvPr/>
        </p:nvSpPr>
        <p:spPr>
          <a:xfrm>
            <a:off x="2873045" y="1938528"/>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2 · Scope</a:t>
            </a:r>
            <a:endParaRPr lang="en-US" sz="1240" dirty="0"/>
          </a:p>
        </p:txBody>
      </p:sp>
      <p:sp>
        <p:nvSpPr>
          <p:cNvPr id="17" name="Text 15"/>
          <p:cNvSpPr/>
          <p:nvPr/>
        </p:nvSpPr>
        <p:spPr>
          <a:xfrm>
            <a:off x="2891333" y="2276856"/>
            <a:ext cx="1894637" cy="67665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ChatService + workspace</a:t>
            </a:r>
            <a:endParaRPr lang="en-US" sz="970" dirty="0"/>
          </a:p>
        </p:txBody>
      </p:sp>
      <p:sp>
        <p:nvSpPr>
          <p:cNvPr id="18" name="Shape 16"/>
          <p:cNvSpPr/>
          <p:nvPr/>
        </p:nvSpPr>
        <p:spPr>
          <a:xfrm>
            <a:off x="4895698" y="2427732"/>
            <a:ext cx="54864" cy="0"/>
          </a:xfrm>
          <a:prstGeom prst="line">
            <a:avLst/>
          </a:prstGeom>
          <a:noFill/>
          <a:ln w="19050">
            <a:solidFill>
              <a:srgbClr val="1767C7"/>
            </a:solidFill>
            <a:prstDash val="solid"/>
            <a:headEnd type="none"/>
            <a:tailEnd type="triangle"/>
          </a:ln>
        </p:spPr>
      </p:sp>
      <p:sp>
        <p:nvSpPr>
          <p:cNvPr id="19" name="Shape 17"/>
          <p:cNvSpPr/>
          <p:nvPr/>
        </p:nvSpPr>
        <p:spPr>
          <a:xfrm>
            <a:off x="5051146" y="1828800"/>
            <a:ext cx="2095805" cy="1197864"/>
          </a:xfrm>
          <a:prstGeom prst="roundRect">
            <a:avLst>
              <a:gd name="adj" fmla="val 8397"/>
            </a:avLst>
          </a:prstGeom>
          <a:solidFill>
            <a:srgbClr val="EDF5FD"/>
          </a:solidFill>
          <a:ln w="9525">
            <a:solidFill>
              <a:srgbClr val="D8E5F2"/>
            </a:solidFill>
            <a:prstDash val="solid"/>
          </a:ln>
        </p:spPr>
      </p:sp>
      <p:sp>
        <p:nvSpPr>
          <p:cNvPr id="20" name="Text 18"/>
          <p:cNvSpPr/>
          <p:nvPr/>
        </p:nvSpPr>
        <p:spPr>
          <a:xfrm>
            <a:off x="5133442" y="1938528"/>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3 · Evidence</a:t>
            </a:r>
            <a:endParaRPr lang="en-US" sz="1240" dirty="0"/>
          </a:p>
        </p:txBody>
      </p:sp>
      <p:sp>
        <p:nvSpPr>
          <p:cNvPr id="21" name="Text 19"/>
          <p:cNvSpPr/>
          <p:nvPr/>
        </p:nvSpPr>
        <p:spPr>
          <a:xfrm>
            <a:off x="5151730" y="2276856"/>
            <a:ext cx="1894637" cy="67665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Cached retrieval / optional MCP</a:t>
            </a:r>
            <a:endParaRPr lang="en-US" sz="970" dirty="0"/>
          </a:p>
        </p:txBody>
      </p:sp>
      <p:sp>
        <p:nvSpPr>
          <p:cNvPr id="22" name="Shape 20"/>
          <p:cNvSpPr/>
          <p:nvPr/>
        </p:nvSpPr>
        <p:spPr>
          <a:xfrm>
            <a:off x="7156094" y="2427732"/>
            <a:ext cx="54864" cy="0"/>
          </a:xfrm>
          <a:prstGeom prst="line">
            <a:avLst/>
          </a:prstGeom>
          <a:noFill/>
          <a:ln w="19050">
            <a:solidFill>
              <a:srgbClr val="1767C7"/>
            </a:solidFill>
            <a:prstDash val="solid"/>
            <a:headEnd type="none"/>
            <a:tailEnd type="triangle"/>
          </a:ln>
        </p:spPr>
      </p:sp>
      <p:sp>
        <p:nvSpPr>
          <p:cNvPr id="23" name="Shape 21"/>
          <p:cNvSpPr/>
          <p:nvPr/>
        </p:nvSpPr>
        <p:spPr>
          <a:xfrm>
            <a:off x="7311542" y="1828800"/>
            <a:ext cx="2095805" cy="1197864"/>
          </a:xfrm>
          <a:prstGeom prst="roundRect">
            <a:avLst>
              <a:gd name="adj" fmla="val 8397"/>
            </a:avLst>
          </a:prstGeom>
          <a:solidFill>
            <a:srgbClr val="F5F9FE"/>
          </a:solidFill>
          <a:ln w="9525">
            <a:solidFill>
              <a:srgbClr val="D8E5F2"/>
            </a:solidFill>
            <a:prstDash val="solid"/>
          </a:ln>
        </p:spPr>
      </p:sp>
      <p:sp>
        <p:nvSpPr>
          <p:cNvPr id="24" name="Text 22"/>
          <p:cNvSpPr/>
          <p:nvPr/>
        </p:nvSpPr>
        <p:spPr>
          <a:xfrm>
            <a:off x="7393838" y="1938528"/>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4 · Model</a:t>
            </a:r>
            <a:endParaRPr lang="en-US" sz="1240" dirty="0"/>
          </a:p>
        </p:txBody>
      </p:sp>
      <p:sp>
        <p:nvSpPr>
          <p:cNvPr id="25" name="Text 23"/>
          <p:cNvSpPr/>
          <p:nvPr/>
        </p:nvSpPr>
        <p:spPr>
          <a:xfrm>
            <a:off x="7412126" y="2276856"/>
            <a:ext cx="1894637" cy="67665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OpenAiCompatibleClient</a:t>
            </a:r>
            <a:endParaRPr lang="en-US" sz="970" dirty="0"/>
          </a:p>
        </p:txBody>
      </p:sp>
      <p:sp>
        <p:nvSpPr>
          <p:cNvPr id="26" name="Shape 24"/>
          <p:cNvSpPr/>
          <p:nvPr/>
        </p:nvSpPr>
        <p:spPr>
          <a:xfrm>
            <a:off x="9416491" y="2427732"/>
            <a:ext cx="54864" cy="0"/>
          </a:xfrm>
          <a:prstGeom prst="line">
            <a:avLst/>
          </a:prstGeom>
          <a:noFill/>
          <a:ln w="19050">
            <a:solidFill>
              <a:srgbClr val="1767C7"/>
            </a:solidFill>
            <a:prstDash val="solid"/>
            <a:headEnd type="none"/>
            <a:tailEnd type="triangle"/>
          </a:ln>
        </p:spPr>
      </p:sp>
      <p:sp>
        <p:nvSpPr>
          <p:cNvPr id="27" name="Shape 25"/>
          <p:cNvSpPr/>
          <p:nvPr/>
        </p:nvSpPr>
        <p:spPr>
          <a:xfrm>
            <a:off x="9571939" y="1828800"/>
            <a:ext cx="2095805" cy="1197864"/>
          </a:xfrm>
          <a:prstGeom prst="roundRect">
            <a:avLst>
              <a:gd name="adj" fmla="val 8397"/>
            </a:avLst>
          </a:prstGeom>
          <a:solidFill>
            <a:srgbClr val="EDF5FD"/>
          </a:solidFill>
          <a:ln w="9525">
            <a:solidFill>
              <a:srgbClr val="D8E5F2"/>
            </a:solidFill>
            <a:prstDash val="solid"/>
          </a:ln>
        </p:spPr>
      </p:sp>
      <p:sp>
        <p:nvSpPr>
          <p:cNvPr id="28" name="Text 26"/>
          <p:cNvSpPr/>
          <p:nvPr/>
        </p:nvSpPr>
        <p:spPr>
          <a:xfrm>
            <a:off x="9654235" y="1938528"/>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5 · Stream</a:t>
            </a:r>
            <a:endParaRPr lang="en-US" sz="1240" dirty="0"/>
          </a:p>
        </p:txBody>
      </p:sp>
      <p:sp>
        <p:nvSpPr>
          <p:cNvPr id="29" name="Text 27"/>
          <p:cNvSpPr/>
          <p:nvPr/>
        </p:nvSpPr>
        <p:spPr>
          <a:xfrm>
            <a:off x="9672523" y="2276856"/>
            <a:ext cx="1894637" cy="67665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SSE tokens + continuation</a:t>
            </a:r>
            <a:endParaRPr lang="en-US" sz="970" dirty="0"/>
          </a:p>
        </p:txBody>
      </p:sp>
      <p:sp>
        <p:nvSpPr>
          <p:cNvPr id="30" name="Shape 28"/>
          <p:cNvSpPr/>
          <p:nvPr/>
        </p:nvSpPr>
        <p:spPr>
          <a:xfrm>
            <a:off x="566928" y="3675888"/>
            <a:ext cx="5358384" cy="1527048"/>
          </a:xfrm>
          <a:prstGeom prst="roundRect">
            <a:avLst>
              <a:gd name="adj" fmla="val 6587"/>
            </a:avLst>
          </a:prstGeom>
          <a:solidFill>
            <a:srgbClr val="FFFFFF"/>
          </a:solidFill>
          <a:ln w="9525">
            <a:solidFill>
              <a:srgbClr val="D8E5F2"/>
            </a:solidFill>
            <a:prstDash val="solid"/>
          </a:ln>
        </p:spPr>
      </p:sp>
      <p:sp>
        <p:nvSpPr>
          <p:cNvPr id="31" name="Text 29"/>
          <p:cNvSpPr/>
          <p:nvPr/>
        </p:nvSpPr>
        <p:spPr>
          <a:xfrm>
            <a:off x="731520" y="3794760"/>
            <a:ext cx="5047488"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Retrieval path</a:t>
            </a:r>
            <a:endParaRPr lang="en-US" sz="1350" dirty="0"/>
          </a:p>
        </p:txBody>
      </p:sp>
      <p:sp>
        <p:nvSpPr>
          <p:cNvPr id="32" name="Text 30"/>
          <p:cNvSpPr/>
          <p:nvPr/>
        </p:nvSpPr>
        <p:spPr>
          <a:xfrm>
            <a:off x="749808" y="418795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3" name="Text 31"/>
          <p:cNvSpPr/>
          <p:nvPr/>
        </p:nvSpPr>
        <p:spPr>
          <a:xfrm>
            <a:off x="987552" y="4178808"/>
            <a:ext cx="4745736"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Index/cache and relevant file snippets</a:t>
            </a:r>
            <a:endParaRPr lang="en-US" sz="1100" dirty="0"/>
          </a:p>
        </p:txBody>
      </p:sp>
      <p:sp>
        <p:nvSpPr>
          <p:cNvPr id="34" name="Text 32"/>
          <p:cNvSpPr/>
          <p:nvPr/>
        </p:nvSpPr>
        <p:spPr>
          <a:xfrm>
            <a:off x="749808" y="450799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5" name="Text 33"/>
          <p:cNvSpPr/>
          <p:nvPr/>
        </p:nvSpPr>
        <p:spPr>
          <a:xfrm>
            <a:off x="987552" y="4498848"/>
            <a:ext cx="4745736"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Optional Jira/Confluence evidence via MCP gate</a:t>
            </a:r>
            <a:endParaRPr lang="en-US" sz="1100" dirty="0"/>
          </a:p>
        </p:txBody>
      </p:sp>
      <p:sp>
        <p:nvSpPr>
          <p:cNvPr id="36" name="Text 34"/>
          <p:cNvSpPr/>
          <p:nvPr/>
        </p:nvSpPr>
        <p:spPr>
          <a:xfrm>
            <a:off x="749808" y="482803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7" name="Text 35"/>
          <p:cNvSpPr/>
          <p:nvPr/>
        </p:nvSpPr>
        <p:spPr>
          <a:xfrm>
            <a:off x="987552" y="4818888"/>
            <a:ext cx="4745736"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Attachment and multimodal context when available</a:t>
            </a:r>
            <a:endParaRPr lang="en-US" sz="1100" dirty="0"/>
          </a:p>
        </p:txBody>
      </p:sp>
      <p:sp>
        <p:nvSpPr>
          <p:cNvPr id="38" name="Shape 36"/>
          <p:cNvSpPr/>
          <p:nvPr/>
        </p:nvSpPr>
        <p:spPr>
          <a:xfrm>
            <a:off x="6108192" y="3675888"/>
            <a:ext cx="5504688" cy="1527048"/>
          </a:xfrm>
          <a:prstGeom prst="roundRect">
            <a:avLst>
              <a:gd name="adj" fmla="val 6587"/>
            </a:avLst>
          </a:prstGeom>
          <a:solidFill>
            <a:srgbClr val="FFFFFF"/>
          </a:solidFill>
          <a:ln w="9525">
            <a:solidFill>
              <a:srgbClr val="D8E5F2"/>
            </a:solidFill>
            <a:prstDash val="solid"/>
          </a:ln>
        </p:spPr>
      </p:sp>
      <p:sp>
        <p:nvSpPr>
          <p:cNvPr id="39" name="Text 37"/>
          <p:cNvSpPr/>
          <p:nvPr/>
        </p:nvSpPr>
        <p:spPr>
          <a:xfrm>
            <a:off x="6272784" y="3794760"/>
            <a:ext cx="5193792"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Response integrity</a:t>
            </a:r>
            <a:endParaRPr lang="en-US" sz="1350" dirty="0"/>
          </a:p>
        </p:txBody>
      </p:sp>
      <p:sp>
        <p:nvSpPr>
          <p:cNvPr id="40" name="Text 38"/>
          <p:cNvSpPr/>
          <p:nvPr/>
        </p:nvSpPr>
        <p:spPr>
          <a:xfrm>
            <a:off x="6291072" y="418795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1" name="Text 39"/>
          <p:cNvSpPr/>
          <p:nvPr/>
        </p:nvSpPr>
        <p:spPr>
          <a:xfrm>
            <a:off x="6528816" y="4178808"/>
            <a:ext cx="4892040"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Use streaming for progressive status</a:t>
            </a:r>
            <a:endParaRPr lang="en-US" sz="1100" dirty="0"/>
          </a:p>
        </p:txBody>
      </p:sp>
      <p:sp>
        <p:nvSpPr>
          <p:cNvPr id="42" name="Text 40"/>
          <p:cNvSpPr/>
          <p:nvPr/>
        </p:nvSpPr>
        <p:spPr>
          <a:xfrm>
            <a:off x="6291072" y="450799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3" name="Text 41"/>
          <p:cNvSpPr/>
          <p:nvPr/>
        </p:nvSpPr>
        <p:spPr>
          <a:xfrm>
            <a:off x="6528816" y="4498848"/>
            <a:ext cx="4892040"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Continue answers that hit explicit output limits</a:t>
            </a:r>
            <a:endParaRPr lang="en-US" sz="1100" dirty="0"/>
          </a:p>
        </p:txBody>
      </p:sp>
      <p:sp>
        <p:nvSpPr>
          <p:cNvPr id="44" name="Text 42"/>
          <p:cNvSpPr/>
          <p:nvPr/>
        </p:nvSpPr>
        <p:spPr>
          <a:xfrm>
            <a:off x="6291072" y="482803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5" name="Text 43"/>
          <p:cNvSpPr/>
          <p:nvPr/>
        </p:nvSpPr>
        <p:spPr>
          <a:xfrm>
            <a:off x="6528816" y="4818888"/>
            <a:ext cx="4892040"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Do not mutate workspace as a Chat side effect</a:t>
            </a:r>
            <a:endParaRPr lang="en-US" sz="1100" dirty="0"/>
          </a:p>
        </p:txBody>
      </p:sp>
      <p:sp>
        <p:nvSpPr>
          <p:cNvPr id="46" name="Shape 44"/>
          <p:cNvSpPr/>
          <p:nvPr/>
        </p:nvSpPr>
        <p:spPr>
          <a:xfrm>
            <a:off x="530352" y="5669280"/>
            <a:ext cx="11137392" cy="484632"/>
          </a:xfrm>
          <a:prstGeom prst="roundRect">
            <a:avLst>
              <a:gd name="adj" fmla="val 20755"/>
            </a:avLst>
          </a:prstGeom>
          <a:solidFill>
            <a:srgbClr val="EDF5FD"/>
          </a:solidFill>
          <a:ln w="9525">
            <a:solidFill>
              <a:srgbClr val="EDF5FD"/>
            </a:solidFill>
            <a:prstDash val="solid"/>
          </a:ln>
        </p:spPr>
      </p:sp>
      <p:sp>
        <p:nvSpPr>
          <p:cNvPr id="47" name="Text 45"/>
          <p:cNvSpPr/>
          <p:nvPr/>
        </p:nvSpPr>
        <p:spPr>
          <a:xfrm>
            <a:off x="713232" y="5756148"/>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DESIGN INTENT</a:t>
            </a:r>
            <a:endParaRPr lang="en-US" sz="1110" dirty="0"/>
          </a:p>
        </p:txBody>
      </p:sp>
      <p:sp>
        <p:nvSpPr>
          <p:cNvPr id="48" name="Text 46"/>
          <p:cNvSpPr/>
          <p:nvPr/>
        </p:nvSpPr>
        <p:spPr>
          <a:xfrm>
            <a:off x="2423160" y="5719572"/>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Prioritize cached/bounded reads, responsive streaming and evidence-backed gap analysis.</a:t>
            </a:r>
            <a:endParaRPr lang="en-US" sz="109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STATE / PROCESS VIEW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Agent lifecycle: plan-to-verified-outcome</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The reviewed plan is a contract; the runtime verifies artifacts and only asks for input when needed.</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EXECUTION</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09</a:t>
            </a:r>
            <a:endParaRPr lang="en-US" sz="900" dirty="0"/>
          </a:p>
        </p:txBody>
      </p:sp>
      <p:sp>
        <p:nvSpPr>
          <p:cNvPr id="11" name="Shape 9"/>
          <p:cNvSpPr/>
          <p:nvPr/>
        </p:nvSpPr>
        <p:spPr>
          <a:xfrm>
            <a:off x="530352" y="1700784"/>
            <a:ext cx="1719072" cy="1344168"/>
          </a:xfrm>
          <a:prstGeom prst="roundRect">
            <a:avLst>
              <a:gd name="adj" fmla="val 7483"/>
            </a:avLst>
          </a:prstGeom>
          <a:solidFill>
            <a:srgbClr val="EDF5FD"/>
          </a:solidFill>
          <a:ln w="9525">
            <a:solidFill>
              <a:srgbClr val="D8E5F2"/>
            </a:solidFill>
            <a:prstDash val="solid"/>
          </a:ln>
        </p:spPr>
      </p:sp>
      <p:sp>
        <p:nvSpPr>
          <p:cNvPr id="12" name="Text 10"/>
          <p:cNvSpPr/>
          <p:nvPr/>
        </p:nvSpPr>
        <p:spPr>
          <a:xfrm>
            <a:off x="612648" y="1810512"/>
            <a:ext cx="1554480"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REQUEST</a:t>
            </a:r>
            <a:endParaRPr lang="en-US" sz="1240" dirty="0"/>
          </a:p>
        </p:txBody>
      </p:sp>
      <p:sp>
        <p:nvSpPr>
          <p:cNvPr id="13" name="Text 11"/>
          <p:cNvSpPr/>
          <p:nvPr/>
        </p:nvSpPr>
        <p:spPr>
          <a:xfrm>
            <a:off x="630936" y="2148840"/>
            <a:ext cx="1517904" cy="822960"/>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Prompt and selected workspace</a:t>
            </a:r>
            <a:endParaRPr lang="en-US" sz="970" dirty="0"/>
          </a:p>
        </p:txBody>
      </p:sp>
      <p:sp>
        <p:nvSpPr>
          <p:cNvPr id="14" name="Shape 12"/>
          <p:cNvSpPr/>
          <p:nvPr/>
        </p:nvSpPr>
        <p:spPr>
          <a:xfrm>
            <a:off x="2258568" y="2372868"/>
            <a:ext cx="54864" cy="0"/>
          </a:xfrm>
          <a:prstGeom prst="line">
            <a:avLst/>
          </a:prstGeom>
          <a:noFill/>
          <a:ln w="19050">
            <a:solidFill>
              <a:srgbClr val="1767C7"/>
            </a:solidFill>
            <a:prstDash val="solid"/>
            <a:headEnd type="none"/>
            <a:tailEnd type="triangle"/>
          </a:ln>
        </p:spPr>
      </p:sp>
      <p:sp>
        <p:nvSpPr>
          <p:cNvPr id="15" name="Shape 13"/>
          <p:cNvSpPr/>
          <p:nvPr/>
        </p:nvSpPr>
        <p:spPr>
          <a:xfrm>
            <a:off x="2414016" y="1700784"/>
            <a:ext cx="1719072" cy="1344168"/>
          </a:xfrm>
          <a:prstGeom prst="roundRect">
            <a:avLst>
              <a:gd name="adj" fmla="val 7483"/>
            </a:avLst>
          </a:prstGeom>
          <a:solidFill>
            <a:srgbClr val="F5F9FE"/>
          </a:solidFill>
          <a:ln w="9525">
            <a:solidFill>
              <a:srgbClr val="D8E5F2"/>
            </a:solidFill>
            <a:prstDash val="solid"/>
          </a:ln>
        </p:spPr>
      </p:sp>
      <p:sp>
        <p:nvSpPr>
          <p:cNvPr id="16" name="Text 14"/>
          <p:cNvSpPr/>
          <p:nvPr/>
        </p:nvSpPr>
        <p:spPr>
          <a:xfrm>
            <a:off x="2496312" y="1810512"/>
            <a:ext cx="1554480"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PLAN</a:t>
            </a:r>
            <a:endParaRPr lang="en-US" sz="1240" dirty="0"/>
          </a:p>
        </p:txBody>
      </p:sp>
      <p:sp>
        <p:nvSpPr>
          <p:cNvPr id="17" name="Text 15"/>
          <p:cNvSpPr/>
          <p:nvPr/>
        </p:nvSpPr>
        <p:spPr>
          <a:xfrm>
            <a:off x="2514600" y="2148840"/>
            <a:ext cx="1517904" cy="822960"/>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Contract &amp; relevance checks</a:t>
            </a:r>
            <a:endParaRPr lang="en-US" sz="970" dirty="0"/>
          </a:p>
        </p:txBody>
      </p:sp>
      <p:sp>
        <p:nvSpPr>
          <p:cNvPr id="18" name="Shape 16"/>
          <p:cNvSpPr/>
          <p:nvPr/>
        </p:nvSpPr>
        <p:spPr>
          <a:xfrm>
            <a:off x="4142232" y="2372868"/>
            <a:ext cx="54864" cy="0"/>
          </a:xfrm>
          <a:prstGeom prst="line">
            <a:avLst/>
          </a:prstGeom>
          <a:noFill/>
          <a:ln w="19050">
            <a:solidFill>
              <a:srgbClr val="1767C7"/>
            </a:solidFill>
            <a:prstDash val="solid"/>
            <a:headEnd type="none"/>
            <a:tailEnd type="triangle"/>
          </a:ln>
        </p:spPr>
      </p:sp>
      <p:sp>
        <p:nvSpPr>
          <p:cNvPr id="19" name="Shape 17"/>
          <p:cNvSpPr/>
          <p:nvPr/>
        </p:nvSpPr>
        <p:spPr>
          <a:xfrm>
            <a:off x="4297680" y="1700784"/>
            <a:ext cx="1719072" cy="1344168"/>
          </a:xfrm>
          <a:prstGeom prst="roundRect">
            <a:avLst>
              <a:gd name="adj" fmla="val 7483"/>
            </a:avLst>
          </a:prstGeom>
          <a:solidFill>
            <a:srgbClr val="EDF5FD"/>
          </a:solidFill>
          <a:ln w="9525">
            <a:solidFill>
              <a:srgbClr val="D8E5F2"/>
            </a:solidFill>
            <a:prstDash val="solid"/>
          </a:ln>
        </p:spPr>
      </p:sp>
      <p:sp>
        <p:nvSpPr>
          <p:cNvPr id="20" name="Text 18"/>
          <p:cNvSpPr/>
          <p:nvPr/>
        </p:nvSpPr>
        <p:spPr>
          <a:xfrm>
            <a:off x="4379976" y="1810512"/>
            <a:ext cx="1554480"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REVIEW</a:t>
            </a:r>
            <a:endParaRPr lang="en-US" sz="1240" dirty="0"/>
          </a:p>
        </p:txBody>
      </p:sp>
      <p:sp>
        <p:nvSpPr>
          <p:cNvPr id="21" name="Text 19"/>
          <p:cNvSpPr/>
          <p:nvPr/>
        </p:nvSpPr>
        <p:spPr>
          <a:xfrm>
            <a:off x="4398264" y="2148840"/>
            <a:ext cx="1517904" cy="822960"/>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User edits/approves plan</a:t>
            </a:r>
            <a:endParaRPr lang="en-US" sz="970" dirty="0"/>
          </a:p>
        </p:txBody>
      </p:sp>
      <p:sp>
        <p:nvSpPr>
          <p:cNvPr id="22" name="Shape 20"/>
          <p:cNvSpPr/>
          <p:nvPr/>
        </p:nvSpPr>
        <p:spPr>
          <a:xfrm>
            <a:off x="6025896" y="2372868"/>
            <a:ext cx="54864" cy="0"/>
          </a:xfrm>
          <a:prstGeom prst="line">
            <a:avLst/>
          </a:prstGeom>
          <a:noFill/>
          <a:ln w="19050">
            <a:solidFill>
              <a:srgbClr val="1767C7"/>
            </a:solidFill>
            <a:prstDash val="solid"/>
            <a:headEnd type="none"/>
            <a:tailEnd type="triangle"/>
          </a:ln>
        </p:spPr>
      </p:sp>
      <p:sp>
        <p:nvSpPr>
          <p:cNvPr id="23" name="Shape 21"/>
          <p:cNvSpPr/>
          <p:nvPr/>
        </p:nvSpPr>
        <p:spPr>
          <a:xfrm>
            <a:off x="6181344" y="1700784"/>
            <a:ext cx="1719072" cy="1344168"/>
          </a:xfrm>
          <a:prstGeom prst="roundRect">
            <a:avLst>
              <a:gd name="adj" fmla="val 7483"/>
            </a:avLst>
          </a:prstGeom>
          <a:solidFill>
            <a:srgbClr val="F5F9FE"/>
          </a:solidFill>
          <a:ln w="9525">
            <a:solidFill>
              <a:srgbClr val="D8E5F2"/>
            </a:solidFill>
            <a:prstDash val="solid"/>
          </a:ln>
        </p:spPr>
      </p:sp>
      <p:sp>
        <p:nvSpPr>
          <p:cNvPr id="24" name="Text 22"/>
          <p:cNvSpPr/>
          <p:nvPr/>
        </p:nvSpPr>
        <p:spPr>
          <a:xfrm>
            <a:off x="6263640" y="1810512"/>
            <a:ext cx="1554480"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EXECUTE</a:t>
            </a:r>
            <a:endParaRPr lang="en-US" sz="1240" dirty="0"/>
          </a:p>
        </p:txBody>
      </p:sp>
      <p:sp>
        <p:nvSpPr>
          <p:cNvPr id="25" name="Text 23"/>
          <p:cNvSpPr/>
          <p:nvPr/>
        </p:nvSpPr>
        <p:spPr>
          <a:xfrm>
            <a:off x="6281928" y="2148840"/>
            <a:ext cx="1517904" cy="822960"/>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Tool calls and step ledger</a:t>
            </a:r>
            <a:endParaRPr lang="en-US" sz="970" dirty="0"/>
          </a:p>
        </p:txBody>
      </p:sp>
      <p:sp>
        <p:nvSpPr>
          <p:cNvPr id="26" name="Shape 24"/>
          <p:cNvSpPr/>
          <p:nvPr/>
        </p:nvSpPr>
        <p:spPr>
          <a:xfrm>
            <a:off x="7909560" y="2372868"/>
            <a:ext cx="54864" cy="0"/>
          </a:xfrm>
          <a:prstGeom prst="line">
            <a:avLst/>
          </a:prstGeom>
          <a:noFill/>
          <a:ln w="19050">
            <a:solidFill>
              <a:srgbClr val="1767C7"/>
            </a:solidFill>
            <a:prstDash val="solid"/>
            <a:headEnd type="none"/>
            <a:tailEnd type="triangle"/>
          </a:ln>
        </p:spPr>
      </p:sp>
      <p:sp>
        <p:nvSpPr>
          <p:cNvPr id="27" name="Shape 25"/>
          <p:cNvSpPr/>
          <p:nvPr/>
        </p:nvSpPr>
        <p:spPr>
          <a:xfrm>
            <a:off x="8065008" y="1700784"/>
            <a:ext cx="1719072" cy="1344168"/>
          </a:xfrm>
          <a:prstGeom prst="roundRect">
            <a:avLst>
              <a:gd name="adj" fmla="val 7483"/>
            </a:avLst>
          </a:prstGeom>
          <a:solidFill>
            <a:srgbClr val="EDF5FD"/>
          </a:solidFill>
          <a:ln w="9525">
            <a:solidFill>
              <a:srgbClr val="D8E5F2"/>
            </a:solidFill>
            <a:prstDash val="solid"/>
          </a:ln>
        </p:spPr>
      </p:sp>
      <p:sp>
        <p:nvSpPr>
          <p:cNvPr id="28" name="Text 26"/>
          <p:cNvSpPr/>
          <p:nvPr/>
        </p:nvSpPr>
        <p:spPr>
          <a:xfrm>
            <a:off x="8147304" y="1810512"/>
            <a:ext cx="1554480"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VERIFY</a:t>
            </a:r>
            <a:endParaRPr lang="en-US" sz="1240" dirty="0"/>
          </a:p>
        </p:txBody>
      </p:sp>
      <p:sp>
        <p:nvSpPr>
          <p:cNvPr id="29" name="Text 27"/>
          <p:cNvSpPr/>
          <p:nvPr/>
        </p:nvSpPr>
        <p:spPr>
          <a:xfrm>
            <a:off x="8165592" y="2148840"/>
            <a:ext cx="1517904" cy="822960"/>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Paths/content/diff/tests</a:t>
            </a:r>
            <a:endParaRPr lang="en-US" sz="970" dirty="0"/>
          </a:p>
        </p:txBody>
      </p:sp>
      <p:sp>
        <p:nvSpPr>
          <p:cNvPr id="30" name="Shape 28"/>
          <p:cNvSpPr/>
          <p:nvPr/>
        </p:nvSpPr>
        <p:spPr>
          <a:xfrm>
            <a:off x="9793224" y="2372868"/>
            <a:ext cx="54864" cy="0"/>
          </a:xfrm>
          <a:prstGeom prst="line">
            <a:avLst/>
          </a:prstGeom>
          <a:noFill/>
          <a:ln w="19050">
            <a:solidFill>
              <a:srgbClr val="1767C7"/>
            </a:solidFill>
            <a:prstDash val="solid"/>
            <a:headEnd type="none"/>
            <a:tailEnd type="triangle"/>
          </a:ln>
        </p:spPr>
      </p:sp>
      <p:sp>
        <p:nvSpPr>
          <p:cNvPr id="31" name="Shape 29"/>
          <p:cNvSpPr/>
          <p:nvPr/>
        </p:nvSpPr>
        <p:spPr>
          <a:xfrm>
            <a:off x="9948672" y="1700784"/>
            <a:ext cx="1719072" cy="1344168"/>
          </a:xfrm>
          <a:prstGeom prst="roundRect">
            <a:avLst>
              <a:gd name="adj" fmla="val 7483"/>
            </a:avLst>
          </a:prstGeom>
          <a:solidFill>
            <a:srgbClr val="F5F9FE"/>
          </a:solidFill>
          <a:ln w="9525">
            <a:solidFill>
              <a:srgbClr val="D8E5F2"/>
            </a:solidFill>
            <a:prstDash val="solid"/>
          </a:ln>
        </p:spPr>
      </p:sp>
      <p:sp>
        <p:nvSpPr>
          <p:cNvPr id="32" name="Text 30"/>
          <p:cNvSpPr/>
          <p:nvPr/>
        </p:nvSpPr>
        <p:spPr>
          <a:xfrm>
            <a:off x="10030968" y="1810512"/>
            <a:ext cx="1554480"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CLOSE</a:t>
            </a:r>
            <a:endParaRPr lang="en-US" sz="1240" dirty="0"/>
          </a:p>
        </p:txBody>
      </p:sp>
      <p:sp>
        <p:nvSpPr>
          <p:cNvPr id="33" name="Text 31"/>
          <p:cNvSpPr/>
          <p:nvPr/>
        </p:nvSpPr>
        <p:spPr>
          <a:xfrm>
            <a:off x="10049256" y="2148840"/>
            <a:ext cx="1517904" cy="822960"/>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Completed / failed with report</a:t>
            </a:r>
            <a:endParaRPr lang="en-US" sz="970" dirty="0"/>
          </a:p>
        </p:txBody>
      </p:sp>
      <p:sp>
        <p:nvSpPr>
          <p:cNvPr id="34" name="Shape 32"/>
          <p:cNvSpPr/>
          <p:nvPr/>
        </p:nvSpPr>
        <p:spPr>
          <a:xfrm>
            <a:off x="658368" y="3767328"/>
            <a:ext cx="3419856" cy="1051560"/>
          </a:xfrm>
          <a:prstGeom prst="roundRect">
            <a:avLst>
              <a:gd name="adj" fmla="val 9565"/>
            </a:avLst>
          </a:prstGeom>
          <a:solidFill>
            <a:srgbClr val="F5F9FE"/>
          </a:solidFill>
          <a:ln w="9525">
            <a:solidFill>
              <a:srgbClr val="D8E5F2"/>
            </a:solidFill>
            <a:prstDash val="solid"/>
          </a:ln>
        </p:spPr>
      </p:sp>
      <p:sp>
        <p:nvSpPr>
          <p:cNvPr id="35" name="Text 33"/>
          <p:cNvSpPr/>
          <p:nvPr/>
        </p:nvSpPr>
        <p:spPr>
          <a:xfrm>
            <a:off x="822960" y="3968496"/>
            <a:ext cx="3063240" cy="283464"/>
          </a:xfrm>
          <a:prstGeom prst="rect">
            <a:avLst/>
          </a:prstGeom>
          <a:noFill/>
          <a:ln/>
        </p:spPr>
        <p:txBody>
          <a:bodyPr wrap="square" lIns="0" tIns="0" rIns="0" bIns="0" rtlCol="0" anchor="ctr">
            <a:normAutofit/>
          </a:bodyPr>
          <a:lstStyle/>
          <a:p>
            <a:pPr algn="l" indent="0" marL="0">
              <a:buNone/>
            </a:pPr>
            <a:r>
              <a:rPr lang="en-US" sz="1450" b="1" dirty="0">
                <a:solidFill>
                  <a:srgbClr val="0C2B4E"/>
                </a:solidFill>
                <a:latin typeface="Aptos" pitchFamily="34" charset="0"/>
                <a:ea typeface="Aptos" pitchFamily="34" charset="-122"/>
                <a:cs typeface="Aptos" pitchFamily="34" charset="-120"/>
              </a:rPr>
              <a:t>Optional clarification</a:t>
            </a:r>
            <a:endParaRPr lang="en-US" sz="1450" dirty="0"/>
          </a:p>
        </p:txBody>
      </p:sp>
      <p:sp>
        <p:nvSpPr>
          <p:cNvPr id="36" name="Text 34"/>
          <p:cNvSpPr/>
          <p:nvPr/>
        </p:nvSpPr>
        <p:spPr>
          <a:xfrm>
            <a:off x="822960" y="4370832"/>
            <a:ext cx="3044952"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ask_user only for genuine decisions</a:t>
            </a:r>
            <a:endParaRPr lang="en-US" sz="1100" dirty="0"/>
          </a:p>
        </p:txBody>
      </p:sp>
      <p:sp>
        <p:nvSpPr>
          <p:cNvPr id="37" name="Shape 35"/>
          <p:cNvSpPr/>
          <p:nvPr/>
        </p:nvSpPr>
        <p:spPr>
          <a:xfrm>
            <a:off x="4352544" y="3767328"/>
            <a:ext cx="3429000" cy="1051560"/>
          </a:xfrm>
          <a:prstGeom prst="roundRect">
            <a:avLst>
              <a:gd name="adj" fmla="val 9565"/>
            </a:avLst>
          </a:prstGeom>
          <a:solidFill>
            <a:srgbClr val="F5F9FE"/>
          </a:solidFill>
          <a:ln w="9525">
            <a:solidFill>
              <a:srgbClr val="D8E5F2"/>
            </a:solidFill>
            <a:prstDash val="solid"/>
          </a:ln>
        </p:spPr>
      </p:sp>
      <p:sp>
        <p:nvSpPr>
          <p:cNvPr id="38" name="Text 36"/>
          <p:cNvSpPr/>
          <p:nvPr/>
        </p:nvSpPr>
        <p:spPr>
          <a:xfrm>
            <a:off x="4517136" y="3968496"/>
            <a:ext cx="3017520" cy="283464"/>
          </a:xfrm>
          <a:prstGeom prst="rect">
            <a:avLst/>
          </a:prstGeom>
          <a:noFill/>
          <a:ln/>
        </p:spPr>
        <p:txBody>
          <a:bodyPr wrap="square" lIns="0" tIns="0" rIns="0" bIns="0" rtlCol="0" anchor="ctr">
            <a:normAutofit/>
          </a:bodyPr>
          <a:lstStyle/>
          <a:p>
            <a:pPr algn="l" indent="0" marL="0">
              <a:buNone/>
            </a:pPr>
            <a:r>
              <a:rPr lang="en-US" sz="1450" b="1" dirty="0">
                <a:solidFill>
                  <a:srgbClr val="0C2B4E"/>
                </a:solidFill>
                <a:latin typeface="Aptos" pitchFamily="34" charset="0"/>
                <a:ea typeface="Aptos" pitchFamily="34" charset="-122"/>
                <a:cs typeface="Aptos" pitchFamily="34" charset="-120"/>
              </a:rPr>
              <a:t>Controlled recovery</a:t>
            </a:r>
            <a:endParaRPr lang="en-US" sz="1450" dirty="0"/>
          </a:p>
        </p:txBody>
      </p:sp>
      <p:sp>
        <p:nvSpPr>
          <p:cNvPr id="39" name="Text 37"/>
          <p:cNvSpPr/>
          <p:nvPr/>
        </p:nvSpPr>
        <p:spPr>
          <a:xfrm>
            <a:off x="4517136" y="4370832"/>
            <a:ext cx="3017520"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Retry/replan when actionable</a:t>
            </a:r>
            <a:endParaRPr lang="en-US" sz="1100" dirty="0"/>
          </a:p>
        </p:txBody>
      </p:sp>
      <p:sp>
        <p:nvSpPr>
          <p:cNvPr id="40" name="Shape 38"/>
          <p:cNvSpPr/>
          <p:nvPr/>
        </p:nvSpPr>
        <p:spPr>
          <a:xfrm>
            <a:off x="8065008" y="3767328"/>
            <a:ext cx="3447288" cy="1051560"/>
          </a:xfrm>
          <a:prstGeom prst="roundRect">
            <a:avLst>
              <a:gd name="adj" fmla="val 9565"/>
            </a:avLst>
          </a:prstGeom>
          <a:solidFill>
            <a:srgbClr val="F5F9FE"/>
          </a:solidFill>
          <a:ln w="9525">
            <a:solidFill>
              <a:srgbClr val="D8E5F2"/>
            </a:solidFill>
            <a:prstDash val="solid"/>
          </a:ln>
        </p:spPr>
      </p:sp>
      <p:sp>
        <p:nvSpPr>
          <p:cNvPr id="41" name="Text 39"/>
          <p:cNvSpPr/>
          <p:nvPr/>
        </p:nvSpPr>
        <p:spPr>
          <a:xfrm>
            <a:off x="8220456" y="3968496"/>
            <a:ext cx="3108960" cy="283464"/>
          </a:xfrm>
          <a:prstGeom prst="rect">
            <a:avLst/>
          </a:prstGeom>
          <a:noFill/>
          <a:ln/>
        </p:spPr>
        <p:txBody>
          <a:bodyPr wrap="square" lIns="0" tIns="0" rIns="0" bIns="0" rtlCol="0" anchor="ctr">
            <a:normAutofit/>
          </a:bodyPr>
          <a:lstStyle/>
          <a:p>
            <a:pPr algn="l" indent="0" marL="0">
              <a:buNone/>
            </a:pPr>
            <a:r>
              <a:rPr lang="en-US" sz="1450" b="1" dirty="0">
                <a:solidFill>
                  <a:srgbClr val="0C2B4E"/>
                </a:solidFill>
                <a:latin typeface="Aptos" pitchFamily="34" charset="0"/>
                <a:ea typeface="Aptos" pitchFamily="34" charset="-122"/>
                <a:cs typeface="Aptos" pitchFamily="34" charset="-120"/>
              </a:rPr>
              <a:t>Result evidence</a:t>
            </a:r>
            <a:endParaRPr lang="en-US" sz="1450" dirty="0"/>
          </a:p>
        </p:txBody>
      </p:sp>
      <p:sp>
        <p:nvSpPr>
          <p:cNvPr id="42" name="Text 40"/>
          <p:cNvSpPr/>
          <p:nvPr/>
        </p:nvSpPr>
        <p:spPr>
          <a:xfrm>
            <a:off x="8220456" y="4370832"/>
            <a:ext cx="3108960"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Artifacts, report and token ledger</a:t>
            </a:r>
            <a:endParaRPr lang="en-US" sz="1100" dirty="0"/>
          </a:p>
        </p:txBody>
      </p:sp>
      <p:sp>
        <p:nvSpPr>
          <p:cNvPr id="43" name="Shape 41"/>
          <p:cNvSpPr/>
          <p:nvPr/>
        </p:nvSpPr>
        <p:spPr>
          <a:xfrm>
            <a:off x="530352" y="5541264"/>
            <a:ext cx="11137392" cy="484632"/>
          </a:xfrm>
          <a:prstGeom prst="roundRect">
            <a:avLst>
              <a:gd name="adj" fmla="val 20755"/>
            </a:avLst>
          </a:prstGeom>
          <a:solidFill>
            <a:srgbClr val="EDF5FD"/>
          </a:solidFill>
          <a:ln w="9525">
            <a:solidFill>
              <a:srgbClr val="EDF5FD"/>
            </a:solidFill>
            <a:prstDash val="solid"/>
          </a:ln>
        </p:spPr>
      </p:sp>
      <p:sp>
        <p:nvSpPr>
          <p:cNvPr id="44" name="Text 42"/>
          <p:cNvSpPr/>
          <p:nvPr/>
        </p:nvSpPr>
        <p:spPr>
          <a:xfrm>
            <a:off x="713232" y="5628132"/>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ELIYA70 FIX</a:t>
            </a:r>
            <a:endParaRPr lang="en-US" sz="1110" dirty="0"/>
          </a:p>
        </p:txBody>
      </p:sp>
      <p:sp>
        <p:nvSpPr>
          <p:cNvPr id="45" name="Text 43"/>
          <p:cNvSpPr/>
          <p:nvPr/>
        </p:nvSpPr>
        <p:spPr>
          <a:xfrm>
            <a:off x="2423160" y="5591556"/>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Verification failure ≠ missing user guidance; saved legacy prompts are normalized.</a:t>
            </a:r>
            <a:endParaRPr lang="en-US" sz="109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RUNTIME VIEW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Terminal: durable sessions and bounded concurrency</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Terminal is a backend-managed Agent session, not a browser-bound command prompt.</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EXECUTION</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10</a:t>
            </a:r>
            <a:endParaRPr lang="en-US" sz="900" dirty="0"/>
          </a:p>
        </p:txBody>
      </p:sp>
      <p:sp>
        <p:nvSpPr>
          <p:cNvPr id="11" name="Shape 9"/>
          <p:cNvSpPr/>
          <p:nvPr/>
        </p:nvSpPr>
        <p:spPr>
          <a:xfrm>
            <a:off x="685800" y="1591056"/>
            <a:ext cx="2834640" cy="1078992"/>
          </a:xfrm>
          <a:prstGeom prst="roundRect">
            <a:avLst>
              <a:gd name="adj" fmla="val 9322"/>
            </a:avLst>
          </a:prstGeom>
          <a:solidFill>
            <a:srgbClr val="EDF5FD"/>
          </a:solidFill>
          <a:ln w="9525">
            <a:solidFill>
              <a:srgbClr val="D8E5F2"/>
            </a:solidFill>
            <a:prstDash val="solid"/>
          </a:ln>
        </p:spPr>
      </p:sp>
      <p:sp>
        <p:nvSpPr>
          <p:cNvPr id="12" name="Text 10"/>
          <p:cNvSpPr/>
          <p:nvPr/>
        </p:nvSpPr>
        <p:spPr>
          <a:xfrm>
            <a:off x="768096" y="1700784"/>
            <a:ext cx="2670048"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Terminal tabs</a:t>
            </a:r>
            <a:endParaRPr lang="en-US" sz="1410" dirty="0"/>
          </a:p>
        </p:txBody>
      </p:sp>
      <p:sp>
        <p:nvSpPr>
          <p:cNvPr id="13" name="Text 11"/>
          <p:cNvSpPr/>
          <p:nvPr/>
        </p:nvSpPr>
        <p:spPr>
          <a:xfrm>
            <a:off x="786384" y="2039112"/>
            <a:ext cx="2633472" cy="557784"/>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Distinct conversation history</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Selected model / workspace</a:t>
            </a:r>
            <a:endParaRPr lang="en-US" sz="1010" dirty="0"/>
          </a:p>
        </p:txBody>
      </p:sp>
      <p:sp>
        <p:nvSpPr>
          <p:cNvPr id="14" name="Shape 12"/>
          <p:cNvSpPr/>
          <p:nvPr/>
        </p:nvSpPr>
        <p:spPr>
          <a:xfrm>
            <a:off x="4078224" y="1517904"/>
            <a:ext cx="3877056" cy="1225296"/>
          </a:xfrm>
          <a:prstGeom prst="roundRect">
            <a:avLst>
              <a:gd name="adj" fmla="val 8209"/>
            </a:avLst>
          </a:prstGeom>
          <a:solidFill>
            <a:srgbClr val="EDF5FD"/>
          </a:solidFill>
          <a:ln w="9525">
            <a:solidFill>
              <a:srgbClr val="D8E5F2"/>
            </a:solidFill>
            <a:prstDash val="solid"/>
          </a:ln>
        </p:spPr>
      </p:sp>
      <p:sp>
        <p:nvSpPr>
          <p:cNvPr id="15" name="Text 13"/>
          <p:cNvSpPr/>
          <p:nvPr/>
        </p:nvSpPr>
        <p:spPr>
          <a:xfrm>
            <a:off x="4160520" y="1627632"/>
            <a:ext cx="3712464"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Session coordinator</a:t>
            </a:r>
            <a:endParaRPr lang="en-US" sz="1410" dirty="0"/>
          </a:p>
        </p:txBody>
      </p:sp>
      <p:sp>
        <p:nvSpPr>
          <p:cNvPr id="16" name="Text 14"/>
          <p:cNvSpPr/>
          <p:nvPr/>
        </p:nvSpPr>
        <p:spPr>
          <a:xfrm>
            <a:off x="4178808" y="1965960"/>
            <a:ext cx="3675888" cy="704088"/>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Queue, interrupt, cancel, answer</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Saved event journal</a:t>
            </a:r>
            <a:endParaRPr lang="en-US" sz="1010" dirty="0"/>
          </a:p>
        </p:txBody>
      </p:sp>
      <p:sp>
        <p:nvSpPr>
          <p:cNvPr id="17" name="Shape 15"/>
          <p:cNvSpPr/>
          <p:nvPr/>
        </p:nvSpPr>
        <p:spPr>
          <a:xfrm>
            <a:off x="8485632" y="1591056"/>
            <a:ext cx="2962656" cy="1078992"/>
          </a:xfrm>
          <a:prstGeom prst="roundRect">
            <a:avLst>
              <a:gd name="adj" fmla="val 9322"/>
            </a:avLst>
          </a:prstGeom>
          <a:solidFill>
            <a:srgbClr val="EDF5FD"/>
          </a:solidFill>
          <a:ln w="9525">
            <a:solidFill>
              <a:srgbClr val="D8E5F2"/>
            </a:solidFill>
            <a:prstDash val="solid"/>
          </a:ln>
        </p:spPr>
      </p:sp>
      <p:sp>
        <p:nvSpPr>
          <p:cNvPr id="18" name="Text 16"/>
          <p:cNvSpPr/>
          <p:nvPr/>
        </p:nvSpPr>
        <p:spPr>
          <a:xfrm>
            <a:off x="8567928" y="1700784"/>
            <a:ext cx="2798064"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Agent execution worker</a:t>
            </a:r>
            <a:endParaRPr lang="en-US" sz="1410" dirty="0"/>
          </a:p>
        </p:txBody>
      </p:sp>
      <p:sp>
        <p:nvSpPr>
          <p:cNvPr id="19" name="Text 17"/>
          <p:cNvSpPr/>
          <p:nvPr/>
        </p:nvSpPr>
        <p:spPr>
          <a:xfrm>
            <a:off x="8586216" y="2039112"/>
            <a:ext cx="2761488" cy="557784"/>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Shared planner &amp; tool registry</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max 12 active sessions</a:t>
            </a:r>
            <a:endParaRPr lang="en-US" sz="1010" dirty="0"/>
          </a:p>
        </p:txBody>
      </p:sp>
      <p:sp>
        <p:nvSpPr>
          <p:cNvPr id="20" name="Shape 18"/>
          <p:cNvSpPr/>
          <p:nvPr/>
        </p:nvSpPr>
        <p:spPr>
          <a:xfrm>
            <a:off x="3547872" y="2103120"/>
            <a:ext cx="484632" cy="0"/>
          </a:xfrm>
          <a:prstGeom prst="line">
            <a:avLst/>
          </a:prstGeom>
          <a:noFill/>
          <a:ln w="17780">
            <a:solidFill>
              <a:srgbClr val="1767C7"/>
            </a:solidFill>
            <a:prstDash val="solid"/>
            <a:headEnd type="none"/>
            <a:tailEnd type="triangle"/>
          </a:ln>
        </p:spPr>
      </p:sp>
      <p:sp>
        <p:nvSpPr>
          <p:cNvPr id="21" name="Shape 19"/>
          <p:cNvSpPr/>
          <p:nvPr/>
        </p:nvSpPr>
        <p:spPr>
          <a:xfrm>
            <a:off x="7991856" y="2103120"/>
            <a:ext cx="448056" cy="0"/>
          </a:xfrm>
          <a:prstGeom prst="line">
            <a:avLst/>
          </a:prstGeom>
          <a:noFill/>
          <a:ln w="17780">
            <a:solidFill>
              <a:srgbClr val="1767C7"/>
            </a:solidFill>
            <a:prstDash val="solid"/>
            <a:headEnd type="none"/>
            <a:tailEnd type="triangle"/>
          </a:ln>
        </p:spPr>
      </p:sp>
      <p:sp>
        <p:nvSpPr>
          <p:cNvPr id="22" name="Shape 20"/>
          <p:cNvSpPr/>
          <p:nvPr/>
        </p:nvSpPr>
        <p:spPr>
          <a:xfrm>
            <a:off x="694944" y="3410712"/>
            <a:ext cx="5394960" cy="1545336"/>
          </a:xfrm>
          <a:prstGeom prst="roundRect">
            <a:avLst>
              <a:gd name="adj" fmla="val 6509"/>
            </a:avLst>
          </a:prstGeom>
          <a:solidFill>
            <a:srgbClr val="FFFFFF"/>
          </a:solidFill>
          <a:ln w="9525">
            <a:solidFill>
              <a:srgbClr val="D8E5F2"/>
            </a:solidFill>
            <a:prstDash val="solid"/>
          </a:ln>
        </p:spPr>
      </p:sp>
      <p:sp>
        <p:nvSpPr>
          <p:cNvPr id="23" name="Text 21"/>
          <p:cNvSpPr/>
          <p:nvPr/>
        </p:nvSpPr>
        <p:spPr>
          <a:xfrm>
            <a:off x="859536" y="3529584"/>
            <a:ext cx="5084064"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Workspace-aware scheduler</a:t>
            </a:r>
            <a:endParaRPr lang="en-US" sz="1350" dirty="0"/>
          </a:p>
        </p:txBody>
      </p:sp>
      <p:sp>
        <p:nvSpPr>
          <p:cNvPr id="24" name="Text 22"/>
          <p:cNvSpPr/>
          <p:nvPr/>
        </p:nvSpPr>
        <p:spPr>
          <a:xfrm>
            <a:off x="877824" y="392277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25" name="Text 23"/>
          <p:cNvSpPr/>
          <p:nvPr/>
        </p:nvSpPr>
        <p:spPr>
          <a:xfrm>
            <a:off x="1115568" y="3913632"/>
            <a:ext cx="4782312"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Overlapping canonical roots share a write lane</a:t>
            </a:r>
            <a:endParaRPr lang="en-US" sz="1070" dirty="0"/>
          </a:p>
        </p:txBody>
      </p:sp>
      <p:sp>
        <p:nvSpPr>
          <p:cNvPr id="26" name="Text 24"/>
          <p:cNvSpPr/>
          <p:nvPr/>
        </p:nvSpPr>
        <p:spPr>
          <a:xfrm>
            <a:off x="877824" y="424281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27" name="Text 25"/>
          <p:cNvSpPr/>
          <p:nvPr/>
        </p:nvSpPr>
        <p:spPr>
          <a:xfrm>
            <a:off x="1115568" y="4233672"/>
            <a:ext cx="4782312"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Nonoverlapping roots may execute concurrently</a:t>
            </a:r>
            <a:endParaRPr lang="en-US" sz="1070" dirty="0"/>
          </a:p>
        </p:txBody>
      </p:sp>
      <p:sp>
        <p:nvSpPr>
          <p:cNvPr id="28" name="Text 26"/>
          <p:cNvSpPr/>
          <p:nvPr/>
        </p:nvSpPr>
        <p:spPr>
          <a:xfrm>
            <a:off x="877824" y="456285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29" name="Text 27"/>
          <p:cNvSpPr/>
          <p:nvPr/>
        </p:nvSpPr>
        <p:spPr>
          <a:xfrm>
            <a:off x="1115568" y="4553712"/>
            <a:ext cx="4782312"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Worktrees create stronger directory isolation</a:t>
            </a:r>
            <a:endParaRPr lang="en-US" sz="1070" dirty="0"/>
          </a:p>
        </p:txBody>
      </p:sp>
      <p:sp>
        <p:nvSpPr>
          <p:cNvPr id="30" name="Shape 28"/>
          <p:cNvSpPr/>
          <p:nvPr/>
        </p:nvSpPr>
        <p:spPr>
          <a:xfrm>
            <a:off x="6236208" y="3410712"/>
            <a:ext cx="5221224" cy="1545336"/>
          </a:xfrm>
          <a:prstGeom prst="roundRect">
            <a:avLst>
              <a:gd name="adj" fmla="val 6509"/>
            </a:avLst>
          </a:prstGeom>
          <a:solidFill>
            <a:srgbClr val="FFFFFF"/>
          </a:solidFill>
          <a:ln w="9525">
            <a:solidFill>
              <a:srgbClr val="D8E5F2"/>
            </a:solidFill>
            <a:prstDash val="solid"/>
          </a:ln>
        </p:spPr>
      </p:sp>
      <p:sp>
        <p:nvSpPr>
          <p:cNvPr id="31" name="Text 29"/>
          <p:cNvSpPr/>
          <p:nvPr/>
        </p:nvSpPr>
        <p:spPr>
          <a:xfrm>
            <a:off x="6400800" y="3529584"/>
            <a:ext cx="4910328"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State and reconnect semantics</a:t>
            </a:r>
            <a:endParaRPr lang="en-US" sz="1350" dirty="0"/>
          </a:p>
        </p:txBody>
      </p:sp>
      <p:sp>
        <p:nvSpPr>
          <p:cNvPr id="32" name="Text 30"/>
          <p:cNvSpPr/>
          <p:nvPr/>
        </p:nvSpPr>
        <p:spPr>
          <a:xfrm>
            <a:off x="6419088" y="392277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3" name="Text 31"/>
          <p:cNvSpPr/>
          <p:nvPr/>
        </p:nvSpPr>
        <p:spPr>
          <a:xfrm>
            <a:off x="6656832" y="3913632"/>
            <a:ext cx="4608576"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SSE events and activity history are replayable</a:t>
            </a:r>
            <a:endParaRPr lang="en-US" sz="1070" dirty="0"/>
          </a:p>
        </p:txBody>
      </p:sp>
      <p:sp>
        <p:nvSpPr>
          <p:cNvPr id="34" name="Text 32"/>
          <p:cNvSpPr/>
          <p:nvPr/>
        </p:nvSpPr>
        <p:spPr>
          <a:xfrm>
            <a:off x="6419088" y="424281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5" name="Text 33"/>
          <p:cNvSpPr/>
          <p:nvPr/>
        </p:nvSpPr>
        <p:spPr>
          <a:xfrm>
            <a:off x="6656832" y="4233672"/>
            <a:ext cx="4608576"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Backend runs when tab is hidden or refreshed</a:t>
            </a:r>
            <a:endParaRPr lang="en-US" sz="1070" dirty="0"/>
          </a:p>
        </p:txBody>
      </p:sp>
      <p:sp>
        <p:nvSpPr>
          <p:cNvPr id="36" name="Text 34"/>
          <p:cNvSpPr/>
          <p:nvPr/>
        </p:nvSpPr>
        <p:spPr>
          <a:xfrm>
            <a:off x="6419088" y="456285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7" name="Text 35"/>
          <p:cNvSpPr/>
          <p:nvPr/>
        </p:nvSpPr>
        <p:spPr>
          <a:xfrm>
            <a:off x="6656832" y="4553712"/>
            <a:ext cx="4608576"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Interrupted OS processes are not resumed after restart</a:t>
            </a:r>
            <a:endParaRPr lang="en-US" sz="1070" dirty="0"/>
          </a:p>
        </p:txBody>
      </p:sp>
      <p:sp>
        <p:nvSpPr>
          <p:cNvPr id="38" name="Shape 36"/>
          <p:cNvSpPr/>
          <p:nvPr/>
        </p:nvSpPr>
        <p:spPr>
          <a:xfrm>
            <a:off x="530352" y="5632704"/>
            <a:ext cx="11137392" cy="484632"/>
          </a:xfrm>
          <a:prstGeom prst="roundRect">
            <a:avLst>
              <a:gd name="adj" fmla="val 20755"/>
            </a:avLst>
          </a:prstGeom>
          <a:solidFill>
            <a:srgbClr val="EDF5FD"/>
          </a:solidFill>
          <a:ln w="9525">
            <a:solidFill>
              <a:srgbClr val="EDF5FD"/>
            </a:solidFill>
            <a:prstDash val="solid"/>
          </a:ln>
        </p:spPr>
      </p:sp>
      <p:sp>
        <p:nvSpPr>
          <p:cNvPr id="39" name="Text 37"/>
          <p:cNvSpPr/>
          <p:nvPr/>
        </p:nvSpPr>
        <p:spPr>
          <a:xfrm>
            <a:off x="713232" y="5719572"/>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IMPORTANT</a:t>
            </a:r>
            <a:endParaRPr lang="en-US" sz="1110" dirty="0"/>
          </a:p>
        </p:txBody>
      </p:sp>
      <p:sp>
        <p:nvSpPr>
          <p:cNvPr id="40" name="Text 38"/>
          <p:cNvSpPr/>
          <p:nvPr/>
        </p:nvSpPr>
        <p:spPr>
          <a:xfrm>
            <a:off x="2423160" y="5682996"/>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This is managed background execution while the JVM stays alive—not unattended OS restart recovery.</a:t>
            </a:r>
            <a:endParaRPr lang="en-US" sz="109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CONTEXT VIEW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Evidence assembly and source-of-truth hierarchy</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Context is scoped, retrieved and transformed before it reaches a model.</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INTELLIGENCE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11</a:t>
            </a:r>
            <a:endParaRPr lang="en-US" sz="900" dirty="0"/>
          </a:p>
        </p:txBody>
      </p:sp>
      <p:sp>
        <p:nvSpPr>
          <p:cNvPr id="11" name="Shape 9"/>
          <p:cNvSpPr/>
          <p:nvPr/>
        </p:nvSpPr>
        <p:spPr>
          <a:xfrm>
            <a:off x="594360" y="1719072"/>
            <a:ext cx="2606040" cy="1042416"/>
          </a:xfrm>
          <a:prstGeom prst="roundRect">
            <a:avLst>
              <a:gd name="adj" fmla="val 9649"/>
            </a:avLst>
          </a:prstGeom>
          <a:solidFill>
            <a:srgbClr val="EDF5FD"/>
          </a:solidFill>
          <a:ln w="9525">
            <a:solidFill>
              <a:srgbClr val="D8E5F2"/>
            </a:solidFill>
            <a:prstDash val="solid"/>
          </a:ln>
        </p:spPr>
      </p:sp>
      <p:sp>
        <p:nvSpPr>
          <p:cNvPr id="12" name="Text 10"/>
          <p:cNvSpPr/>
          <p:nvPr/>
        </p:nvSpPr>
        <p:spPr>
          <a:xfrm>
            <a:off x="676656" y="1828800"/>
            <a:ext cx="2441448" cy="283464"/>
          </a:xfrm>
          <a:prstGeom prst="rect">
            <a:avLst/>
          </a:prstGeom>
          <a:noFill/>
          <a:ln/>
        </p:spPr>
        <p:txBody>
          <a:bodyPr wrap="square" lIns="0" tIns="0" rIns="0" bIns="0" rtlCol="0" anchor="ctr">
            <a:normAutofit/>
          </a:bodyPr>
          <a:lstStyle/>
          <a:p>
            <a:pPr algn="ctr" indent="0" marL="0">
              <a:buNone/>
            </a:pPr>
            <a:r>
              <a:rPr lang="en-US" sz="1300" b="1" dirty="0">
                <a:solidFill>
                  <a:srgbClr val="0C2B4E"/>
                </a:solidFill>
                <a:latin typeface="Aptos" pitchFamily="34" charset="0"/>
                <a:ea typeface="Aptos" pitchFamily="34" charset="-122"/>
                <a:cs typeface="Aptos" pitchFamily="34" charset="-120"/>
              </a:rPr>
              <a:t>Selected workspace</a:t>
            </a:r>
            <a:endParaRPr lang="en-US" sz="1300" dirty="0"/>
          </a:p>
        </p:txBody>
      </p:sp>
      <p:sp>
        <p:nvSpPr>
          <p:cNvPr id="13" name="Text 11"/>
          <p:cNvSpPr/>
          <p:nvPr/>
        </p:nvSpPr>
        <p:spPr>
          <a:xfrm>
            <a:off x="694944" y="2167128"/>
            <a:ext cx="2404872" cy="521208"/>
          </a:xfrm>
          <a:prstGeom prst="rect">
            <a:avLst/>
          </a:prstGeom>
          <a:noFill/>
          <a:ln/>
        </p:spPr>
        <p:txBody>
          <a:bodyPr wrap="square" lIns="0" tIns="0" rIns="0" bIns="0" rtlCol="0" anchor="ctr">
            <a:normAutofit/>
          </a:bodyPr>
          <a:lstStyle/>
          <a:p>
            <a:pPr algn="ctr" indent="0" marL="0">
              <a:buNone/>
            </a:pPr>
            <a:r>
              <a:rPr lang="en-US" sz="1000" dirty="0">
                <a:solidFill>
                  <a:srgbClr val="5B7190"/>
                </a:solidFill>
                <a:latin typeface="Aptos" pitchFamily="34" charset="0"/>
                <a:ea typeface="Aptos" pitchFamily="34" charset="-122"/>
                <a:cs typeface="Aptos" pitchFamily="34" charset="-120"/>
              </a:rPr>
              <a:t>Live source tree</a:t>
            </a:r>
            <a:endParaRPr lang="en-US" sz="1000" dirty="0"/>
          </a:p>
          <a:p>
            <a:pPr algn="ctr" indent="0" marL="0">
              <a:buNone/>
            </a:pPr>
            <a:r>
              <a:rPr lang="en-US" sz="1000" dirty="0">
                <a:solidFill>
                  <a:srgbClr val="5B7190"/>
                </a:solidFill>
                <a:latin typeface="Aptos" pitchFamily="34" charset="0"/>
                <a:ea typeface="Aptos" pitchFamily="34" charset="-122"/>
                <a:cs typeface="Aptos" pitchFamily="34" charset="-120"/>
              </a:rPr>
              <a:t>Primary editable root</a:t>
            </a:r>
            <a:endParaRPr lang="en-US" sz="1000" dirty="0"/>
          </a:p>
        </p:txBody>
      </p:sp>
      <p:sp>
        <p:nvSpPr>
          <p:cNvPr id="14" name="Shape 12"/>
          <p:cNvSpPr/>
          <p:nvPr/>
        </p:nvSpPr>
        <p:spPr>
          <a:xfrm>
            <a:off x="3493008" y="1719072"/>
            <a:ext cx="2606040" cy="1042416"/>
          </a:xfrm>
          <a:prstGeom prst="roundRect">
            <a:avLst>
              <a:gd name="adj" fmla="val 9649"/>
            </a:avLst>
          </a:prstGeom>
          <a:solidFill>
            <a:srgbClr val="F5F9FE"/>
          </a:solidFill>
          <a:ln w="9525">
            <a:solidFill>
              <a:srgbClr val="D8E5F2"/>
            </a:solidFill>
            <a:prstDash val="solid"/>
          </a:ln>
        </p:spPr>
      </p:sp>
      <p:sp>
        <p:nvSpPr>
          <p:cNvPr id="15" name="Text 13"/>
          <p:cNvSpPr/>
          <p:nvPr/>
        </p:nvSpPr>
        <p:spPr>
          <a:xfrm>
            <a:off x="3575304" y="1828800"/>
            <a:ext cx="2441448" cy="283464"/>
          </a:xfrm>
          <a:prstGeom prst="rect">
            <a:avLst/>
          </a:prstGeom>
          <a:noFill/>
          <a:ln/>
        </p:spPr>
        <p:txBody>
          <a:bodyPr wrap="square" lIns="0" tIns="0" rIns="0" bIns="0" rtlCol="0" anchor="ctr">
            <a:normAutofit/>
          </a:bodyPr>
          <a:lstStyle/>
          <a:p>
            <a:pPr algn="ctr" indent="0" marL="0">
              <a:buNone/>
            </a:pPr>
            <a:r>
              <a:rPr lang="en-US" sz="1300" b="1" dirty="0">
                <a:solidFill>
                  <a:srgbClr val="0C2B4E"/>
                </a:solidFill>
                <a:latin typeface="Aptos" pitchFamily="34" charset="0"/>
                <a:ea typeface="Aptos" pitchFamily="34" charset="-122"/>
                <a:cs typeface="Aptos" pitchFamily="34" charset="-120"/>
              </a:rPr>
              <a:t>Reference projects</a:t>
            </a:r>
            <a:endParaRPr lang="en-US" sz="1300" dirty="0"/>
          </a:p>
        </p:txBody>
      </p:sp>
      <p:sp>
        <p:nvSpPr>
          <p:cNvPr id="16" name="Text 14"/>
          <p:cNvSpPr/>
          <p:nvPr/>
        </p:nvSpPr>
        <p:spPr>
          <a:xfrm>
            <a:off x="3593592" y="2167128"/>
            <a:ext cx="2404872" cy="521208"/>
          </a:xfrm>
          <a:prstGeom prst="rect">
            <a:avLst/>
          </a:prstGeom>
          <a:noFill/>
          <a:ln/>
        </p:spPr>
        <p:txBody>
          <a:bodyPr wrap="square" lIns="0" tIns="0" rIns="0" bIns="0" rtlCol="0" anchor="ctr">
            <a:normAutofit/>
          </a:bodyPr>
          <a:lstStyle/>
          <a:p>
            <a:pPr algn="ctr" indent="0" marL="0">
              <a:buNone/>
            </a:pPr>
            <a:r>
              <a:rPr lang="en-US" sz="1000" dirty="0">
                <a:solidFill>
                  <a:srgbClr val="5B7190"/>
                </a:solidFill>
                <a:latin typeface="Aptos" pitchFamily="34" charset="0"/>
                <a:ea typeface="Aptos" pitchFamily="34" charset="-122"/>
                <a:cs typeface="Aptos" pitchFamily="34" charset="-120"/>
              </a:rPr>
              <a:t>Up to five mapped roots</a:t>
            </a:r>
            <a:endParaRPr lang="en-US" sz="1000" dirty="0"/>
          </a:p>
          <a:p>
            <a:pPr algn="ctr" indent="0" marL="0">
              <a:buNone/>
            </a:pPr>
            <a:r>
              <a:rPr lang="en-US" sz="1000" dirty="0">
                <a:solidFill>
                  <a:srgbClr val="5B7190"/>
                </a:solidFill>
                <a:latin typeface="Aptos" pitchFamily="34" charset="0"/>
                <a:ea typeface="Aptos" pitchFamily="34" charset="-122"/>
                <a:cs typeface="Aptos" pitchFamily="34" charset="-120"/>
              </a:rPr>
              <a:t>Read-only access</a:t>
            </a:r>
            <a:endParaRPr lang="en-US" sz="1000" dirty="0"/>
          </a:p>
        </p:txBody>
      </p:sp>
      <p:sp>
        <p:nvSpPr>
          <p:cNvPr id="17" name="Shape 15"/>
          <p:cNvSpPr/>
          <p:nvPr/>
        </p:nvSpPr>
        <p:spPr>
          <a:xfrm>
            <a:off x="6391656" y="1719072"/>
            <a:ext cx="2606040" cy="1042416"/>
          </a:xfrm>
          <a:prstGeom prst="roundRect">
            <a:avLst>
              <a:gd name="adj" fmla="val 9649"/>
            </a:avLst>
          </a:prstGeom>
          <a:solidFill>
            <a:srgbClr val="EDF5FD"/>
          </a:solidFill>
          <a:ln w="9525">
            <a:solidFill>
              <a:srgbClr val="D8E5F2"/>
            </a:solidFill>
            <a:prstDash val="solid"/>
          </a:ln>
        </p:spPr>
      </p:sp>
      <p:sp>
        <p:nvSpPr>
          <p:cNvPr id="18" name="Text 16"/>
          <p:cNvSpPr/>
          <p:nvPr/>
        </p:nvSpPr>
        <p:spPr>
          <a:xfrm>
            <a:off x="6473952" y="1828800"/>
            <a:ext cx="2441448" cy="283464"/>
          </a:xfrm>
          <a:prstGeom prst="rect">
            <a:avLst/>
          </a:prstGeom>
          <a:noFill/>
          <a:ln/>
        </p:spPr>
        <p:txBody>
          <a:bodyPr wrap="square" lIns="0" tIns="0" rIns="0" bIns="0" rtlCol="0" anchor="ctr">
            <a:normAutofit/>
          </a:bodyPr>
          <a:lstStyle/>
          <a:p>
            <a:pPr algn="ctr" indent="0" marL="0">
              <a:buNone/>
            </a:pPr>
            <a:r>
              <a:rPr lang="en-US" sz="1300" b="1" dirty="0">
                <a:solidFill>
                  <a:srgbClr val="0C2B4E"/>
                </a:solidFill>
                <a:latin typeface="Aptos" pitchFamily="34" charset="0"/>
                <a:ea typeface="Aptos" pitchFamily="34" charset="-122"/>
                <a:cs typeface="Aptos" pitchFamily="34" charset="-120"/>
              </a:rPr>
              <a:t>Attachments</a:t>
            </a:r>
            <a:endParaRPr lang="en-US" sz="1300" dirty="0"/>
          </a:p>
        </p:txBody>
      </p:sp>
      <p:sp>
        <p:nvSpPr>
          <p:cNvPr id="19" name="Text 17"/>
          <p:cNvSpPr/>
          <p:nvPr/>
        </p:nvSpPr>
        <p:spPr>
          <a:xfrm>
            <a:off x="6492240" y="2167128"/>
            <a:ext cx="2404872" cy="521208"/>
          </a:xfrm>
          <a:prstGeom prst="rect">
            <a:avLst/>
          </a:prstGeom>
          <a:noFill/>
          <a:ln/>
        </p:spPr>
        <p:txBody>
          <a:bodyPr wrap="square" lIns="0" tIns="0" rIns="0" bIns="0" rtlCol="0" anchor="ctr">
            <a:normAutofit/>
          </a:bodyPr>
          <a:lstStyle/>
          <a:p>
            <a:pPr algn="ctr" indent="0" marL="0">
              <a:buNone/>
            </a:pPr>
            <a:r>
              <a:rPr lang="en-US" sz="1000" dirty="0">
                <a:solidFill>
                  <a:srgbClr val="5B7190"/>
                </a:solidFill>
                <a:latin typeface="Aptos" pitchFamily="34" charset="0"/>
                <a:ea typeface="Aptos" pitchFamily="34" charset="-122"/>
                <a:cs typeface="Aptos" pitchFamily="34" charset="-120"/>
              </a:rPr>
              <a:t>Uploaded text / Office / PDF</a:t>
            </a:r>
            <a:endParaRPr lang="en-US" sz="1000" dirty="0"/>
          </a:p>
          <a:p>
            <a:pPr algn="ctr" indent="0" marL="0">
              <a:buNone/>
            </a:pPr>
            <a:r>
              <a:rPr lang="en-US" sz="1000" dirty="0">
                <a:solidFill>
                  <a:srgbClr val="5B7190"/>
                </a:solidFill>
                <a:latin typeface="Aptos" pitchFamily="34" charset="0"/>
                <a:ea typeface="Aptos" pitchFamily="34" charset="-122"/>
                <a:cs typeface="Aptos" pitchFamily="34" charset="-120"/>
              </a:rPr>
              <a:t>Parsed and excerpted</a:t>
            </a:r>
            <a:endParaRPr lang="en-US" sz="1000" dirty="0"/>
          </a:p>
        </p:txBody>
      </p:sp>
      <p:sp>
        <p:nvSpPr>
          <p:cNvPr id="20" name="Shape 18"/>
          <p:cNvSpPr/>
          <p:nvPr/>
        </p:nvSpPr>
        <p:spPr>
          <a:xfrm>
            <a:off x="9290304" y="1719072"/>
            <a:ext cx="2606040" cy="1042416"/>
          </a:xfrm>
          <a:prstGeom prst="roundRect">
            <a:avLst>
              <a:gd name="adj" fmla="val 9649"/>
            </a:avLst>
          </a:prstGeom>
          <a:solidFill>
            <a:srgbClr val="F5F9FE"/>
          </a:solidFill>
          <a:ln w="9525">
            <a:solidFill>
              <a:srgbClr val="D8E5F2"/>
            </a:solidFill>
            <a:prstDash val="solid"/>
          </a:ln>
        </p:spPr>
      </p:sp>
      <p:sp>
        <p:nvSpPr>
          <p:cNvPr id="21" name="Text 19"/>
          <p:cNvSpPr/>
          <p:nvPr/>
        </p:nvSpPr>
        <p:spPr>
          <a:xfrm>
            <a:off x="9372600" y="1828800"/>
            <a:ext cx="2441448" cy="283464"/>
          </a:xfrm>
          <a:prstGeom prst="rect">
            <a:avLst/>
          </a:prstGeom>
          <a:noFill/>
          <a:ln/>
        </p:spPr>
        <p:txBody>
          <a:bodyPr wrap="square" lIns="0" tIns="0" rIns="0" bIns="0" rtlCol="0" anchor="ctr">
            <a:normAutofit/>
          </a:bodyPr>
          <a:lstStyle/>
          <a:p>
            <a:pPr algn="ctr" indent="0" marL="0">
              <a:buNone/>
            </a:pPr>
            <a:r>
              <a:rPr lang="en-US" sz="1300" b="1" dirty="0">
                <a:solidFill>
                  <a:srgbClr val="0C2B4E"/>
                </a:solidFill>
                <a:latin typeface="Aptos" pitchFamily="34" charset="0"/>
                <a:ea typeface="Aptos" pitchFamily="34" charset="-122"/>
                <a:cs typeface="Aptos" pitchFamily="34" charset="-120"/>
              </a:rPr>
              <a:t>MCP evidence</a:t>
            </a:r>
            <a:endParaRPr lang="en-US" sz="1300" dirty="0"/>
          </a:p>
        </p:txBody>
      </p:sp>
      <p:sp>
        <p:nvSpPr>
          <p:cNvPr id="22" name="Text 20"/>
          <p:cNvSpPr/>
          <p:nvPr/>
        </p:nvSpPr>
        <p:spPr>
          <a:xfrm>
            <a:off x="9390888" y="2167128"/>
            <a:ext cx="2404872" cy="521208"/>
          </a:xfrm>
          <a:prstGeom prst="rect">
            <a:avLst/>
          </a:prstGeom>
          <a:noFill/>
          <a:ln/>
        </p:spPr>
        <p:txBody>
          <a:bodyPr wrap="square" lIns="0" tIns="0" rIns="0" bIns="0" rtlCol="0" anchor="ctr">
            <a:normAutofit/>
          </a:bodyPr>
          <a:lstStyle/>
          <a:p>
            <a:pPr algn="ctr" indent="0" marL="0">
              <a:buNone/>
            </a:pPr>
            <a:r>
              <a:rPr lang="en-US" sz="1000" dirty="0">
                <a:solidFill>
                  <a:srgbClr val="5B7190"/>
                </a:solidFill>
                <a:latin typeface="Aptos" pitchFamily="34" charset="0"/>
                <a:ea typeface="Aptos" pitchFamily="34" charset="-122"/>
                <a:cs typeface="Aptos" pitchFamily="34" charset="-120"/>
              </a:rPr>
              <a:t>External Jira / Confluence etc.</a:t>
            </a:r>
            <a:endParaRPr lang="en-US" sz="1000" dirty="0"/>
          </a:p>
          <a:p>
            <a:pPr algn="ctr" indent="0" marL="0">
              <a:buNone/>
            </a:pPr>
            <a:r>
              <a:rPr lang="en-US" sz="1000" dirty="0">
                <a:solidFill>
                  <a:srgbClr val="5B7190"/>
                </a:solidFill>
                <a:latin typeface="Aptos" pitchFamily="34" charset="0"/>
                <a:ea typeface="Aptos" pitchFamily="34" charset="-122"/>
                <a:cs typeface="Aptos" pitchFamily="34" charset="-120"/>
              </a:rPr>
              <a:t>Only when explicitly enabled</a:t>
            </a:r>
            <a:endParaRPr lang="en-US" sz="1000" dirty="0"/>
          </a:p>
        </p:txBody>
      </p:sp>
      <p:sp>
        <p:nvSpPr>
          <p:cNvPr id="23" name="Shape 21"/>
          <p:cNvSpPr/>
          <p:nvPr/>
        </p:nvSpPr>
        <p:spPr>
          <a:xfrm>
            <a:off x="1892808" y="2807208"/>
            <a:ext cx="4142232" cy="905256"/>
          </a:xfrm>
          <a:prstGeom prst="line">
            <a:avLst/>
          </a:prstGeom>
          <a:noFill/>
          <a:ln w="13970">
            <a:solidFill>
              <a:srgbClr val="1767C7"/>
            </a:solidFill>
            <a:prstDash val="solid"/>
            <a:headEnd type="none"/>
            <a:tailEnd type="triangle"/>
          </a:ln>
        </p:spPr>
      </p:sp>
      <p:sp>
        <p:nvSpPr>
          <p:cNvPr id="24" name="Shape 22"/>
          <p:cNvSpPr/>
          <p:nvPr/>
        </p:nvSpPr>
        <p:spPr>
          <a:xfrm>
            <a:off x="4791456" y="2807208"/>
            <a:ext cx="1243584" cy="905256"/>
          </a:xfrm>
          <a:prstGeom prst="line">
            <a:avLst/>
          </a:prstGeom>
          <a:noFill/>
          <a:ln w="13970">
            <a:solidFill>
              <a:srgbClr val="1767C7"/>
            </a:solidFill>
            <a:prstDash val="solid"/>
            <a:headEnd type="none"/>
            <a:tailEnd type="triangle"/>
          </a:ln>
        </p:spPr>
      </p:sp>
      <p:sp>
        <p:nvSpPr>
          <p:cNvPr id="25" name="Shape 23"/>
          <p:cNvSpPr/>
          <p:nvPr/>
        </p:nvSpPr>
        <p:spPr>
          <a:xfrm>
            <a:off x="7690104" y="2807208"/>
            <a:ext cx="-1655064" cy="905256"/>
          </a:xfrm>
          <a:prstGeom prst="line">
            <a:avLst/>
          </a:prstGeom>
          <a:noFill/>
          <a:ln w="13970">
            <a:solidFill>
              <a:srgbClr val="1767C7"/>
            </a:solidFill>
            <a:prstDash val="solid"/>
            <a:headEnd type="none"/>
            <a:tailEnd type="triangle"/>
          </a:ln>
        </p:spPr>
      </p:sp>
      <p:sp>
        <p:nvSpPr>
          <p:cNvPr id="26" name="Shape 24"/>
          <p:cNvSpPr/>
          <p:nvPr/>
        </p:nvSpPr>
        <p:spPr>
          <a:xfrm>
            <a:off x="10588752" y="2807208"/>
            <a:ext cx="-4553712" cy="905256"/>
          </a:xfrm>
          <a:prstGeom prst="line">
            <a:avLst/>
          </a:prstGeom>
          <a:noFill/>
          <a:ln w="13970">
            <a:solidFill>
              <a:srgbClr val="1767C7"/>
            </a:solidFill>
            <a:prstDash val="solid"/>
            <a:headEnd type="none"/>
            <a:tailEnd type="triangle"/>
          </a:ln>
        </p:spPr>
      </p:sp>
      <p:sp>
        <p:nvSpPr>
          <p:cNvPr id="27" name="Shape 25"/>
          <p:cNvSpPr/>
          <p:nvPr/>
        </p:nvSpPr>
        <p:spPr>
          <a:xfrm>
            <a:off x="2999232" y="3739896"/>
            <a:ext cx="6327648" cy="932688"/>
          </a:xfrm>
          <a:prstGeom prst="roundRect">
            <a:avLst>
              <a:gd name="adj" fmla="val 10784"/>
            </a:avLst>
          </a:prstGeom>
          <a:solidFill>
            <a:srgbClr val="EDF5FD"/>
          </a:solidFill>
          <a:ln w="9525">
            <a:solidFill>
              <a:srgbClr val="D8E5F2"/>
            </a:solidFill>
            <a:prstDash val="solid"/>
          </a:ln>
        </p:spPr>
      </p:sp>
      <p:sp>
        <p:nvSpPr>
          <p:cNvPr id="28" name="Text 26"/>
          <p:cNvSpPr/>
          <p:nvPr/>
        </p:nvSpPr>
        <p:spPr>
          <a:xfrm>
            <a:off x="3081528" y="3849624"/>
            <a:ext cx="6163056" cy="283464"/>
          </a:xfrm>
          <a:prstGeom prst="rect">
            <a:avLst/>
          </a:prstGeom>
          <a:noFill/>
          <a:ln/>
        </p:spPr>
        <p:txBody>
          <a:bodyPr wrap="square" lIns="0" tIns="0" rIns="0" bIns="0" rtlCol="0" anchor="ctr">
            <a:normAutofit/>
          </a:bodyPr>
          <a:lstStyle/>
          <a:p>
            <a:pPr algn="ctr" indent="0" marL="0">
              <a:buNone/>
            </a:pPr>
            <a:r>
              <a:rPr lang="en-US" sz="1580" b="1" dirty="0">
                <a:solidFill>
                  <a:srgbClr val="0C2B4E"/>
                </a:solidFill>
                <a:latin typeface="Aptos" pitchFamily="34" charset="0"/>
                <a:ea typeface="Aptos" pitchFamily="34" charset="-122"/>
                <a:cs typeface="Aptos" pitchFamily="34" charset="-120"/>
              </a:rPr>
              <a:t>Context selection &amp; provenance</a:t>
            </a:r>
            <a:endParaRPr lang="en-US" sz="1580" dirty="0"/>
          </a:p>
        </p:txBody>
      </p:sp>
      <p:sp>
        <p:nvSpPr>
          <p:cNvPr id="29" name="Text 27"/>
          <p:cNvSpPr/>
          <p:nvPr/>
        </p:nvSpPr>
        <p:spPr>
          <a:xfrm>
            <a:off x="3099816" y="4187952"/>
            <a:ext cx="6126480" cy="411480"/>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Fresh filesystem evidence · snippets · scope filters · budgets</a:t>
            </a:r>
            <a:endParaRPr lang="en-US" sz="1010" dirty="0"/>
          </a:p>
        </p:txBody>
      </p:sp>
      <p:sp>
        <p:nvSpPr>
          <p:cNvPr id="30" name="Shape 28"/>
          <p:cNvSpPr/>
          <p:nvPr/>
        </p:nvSpPr>
        <p:spPr>
          <a:xfrm>
            <a:off x="6172200" y="4718304"/>
            <a:ext cx="0" cy="438912"/>
          </a:xfrm>
          <a:prstGeom prst="line">
            <a:avLst/>
          </a:prstGeom>
          <a:noFill/>
          <a:ln w="17780">
            <a:solidFill>
              <a:srgbClr val="1767C7"/>
            </a:solidFill>
            <a:prstDash val="solid"/>
            <a:headEnd type="none"/>
            <a:tailEnd type="triangle"/>
          </a:ln>
        </p:spPr>
      </p:sp>
      <p:sp>
        <p:nvSpPr>
          <p:cNvPr id="31" name="Shape 29"/>
          <p:cNvSpPr/>
          <p:nvPr/>
        </p:nvSpPr>
        <p:spPr>
          <a:xfrm>
            <a:off x="3639312" y="5166360"/>
            <a:ext cx="5010912" cy="539496"/>
          </a:xfrm>
          <a:prstGeom prst="roundRect">
            <a:avLst>
              <a:gd name="adj" fmla="val 18644"/>
            </a:avLst>
          </a:prstGeom>
          <a:solidFill>
            <a:srgbClr val="FFFFFF"/>
          </a:solidFill>
          <a:ln w="9525">
            <a:solidFill>
              <a:srgbClr val="D8E5F2"/>
            </a:solidFill>
            <a:prstDash val="solid"/>
          </a:ln>
        </p:spPr>
      </p:sp>
      <p:sp>
        <p:nvSpPr>
          <p:cNvPr id="32" name="Text 30"/>
          <p:cNvSpPr/>
          <p:nvPr/>
        </p:nvSpPr>
        <p:spPr>
          <a:xfrm>
            <a:off x="3721608" y="5276088"/>
            <a:ext cx="4846320" cy="283464"/>
          </a:xfrm>
          <a:prstGeom prst="rect">
            <a:avLst/>
          </a:prstGeom>
          <a:noFill/>
          <a:ln/>
        </p:spPr>
        <p:txBody>
          <a:bodyPr wrap="square" lIns="0" tIns="0" rIns="0" bIns="0" rtlCol="0" anchor="ctr">
            <a:normAutofit/>
          </a:bodyPr>
          <a:lstStyle/>
          <a:p>
            <a:pPr algn="ctr" indent="0" marL="0">
              <a:buNone/>
            </a:pPr>
            <a:r>
              <a:rPr lang="en-US" sz="1280" b="1" dirty="0">
                <a:solidFill>
                  <a:srgbClr val="0C2B4E"/>
                </a:solidFill>
                <a:latin typeface="Aptos" pitchFamily="34" charset="0"/>
                <a:ea typeface="Aptos" pitchFamily="34" charset="-122"/>
                <a:cs typeface="Aptos" pitchFamily="34" charset="-120"/>
              </a:rPr>
              <a:t>Model request</a:t>
            </a:r>
            <a:endParaRPr lang="en-US" sz="1280" dirty="0"/>
          </a:p>
        </p:txBody>
      </p:sp>
      <p:sp>
        <p:nvSpPr>
          <p:cNvPr id="33" name="Text 31"/>
          <p:cNvSpPr/>
          <p:nvPr/>
        </p:nvSpPr>
        <p:spPr>
          <a:xfrm>
            <a:off x="3739896" y="5614416"/>
            <a:ext cx="4809744" cy="18288"/>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System/task contract + minimal relevant evidence</a:t>
            </a:r>
            <a:endParaRPr lang="en-US" sz="10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DATA / INTELLIGENCE FLOW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Workspace indexing and hybrid retrieval</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Deterministic lexical search is the baseline; embeddings provide optional semantic reranking.</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INTELLIGENCE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12</a:t>
            </a:r>
            <a:endParaRPr lang="en-US" sz="900" dirty="0"/>
          </a:p>
        </p:txBody>
      </p:sp>
      <p:sp>
        <p:nvSpPr>
          <p:cNvPr id="11" name="Shape 9"/>
          <p:cNvSpPr/>
          <p:nvPr/>
        </p:nvSpPr>
        <p:spPr>
          <a:xfrm>
            <a:off x="530352" y="1709928"/>
            <a:ext cx="2095805" cy="1289304"/>
          </a:xfrm>
          <a:prstGeom prst="roundRect">
            <a:avLst>
              <a:gd name="adj" fmla="val 7801"/>
            </a:avLst>
          </a:prstGeom>
          <a:solidFill>
            <a:srgbClr val="EDF5FD"/>
          </a:solidFill>
          <a:ln w="9525">
            <a:solidFill>
              <a:srgbClr val="D8E5F2"/>
            </a:solidFill>
            <a:prstDash val="solid"/>
          </a:ln>
        </p:spPr>
      </p:sp>
      <p:sp>
        <p:nvSpPr>
          <p:cNvPr id="12" name="Text 10"/>
          <p:cNvSpPr/>
          <p:nvPr/>
        </p:nvSpPr>
        <p:spPr>
          <a:xfrm>
            <a:off x="612648"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Discover</a:t>
            </a:r>
            <a:endParaRPr lang="en-US" sz="1240" dirty="0"/>
          </a:p>
        </p:txBody>
      </p:sp>
      <p:sp>
        <p:nvSpPr>
          <p:cNvPr id="13" name="Text 11"/>
          <p:cNvSpPr/>
          <p:nvPr/>
        </p:nvSpPr>
        <p:spPr>
          <a:xfrm>
            <a:off x="630936" y="2157984"/>
            <a:ext cx="1894637" cy="76809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Canonical root + prune dirs</a:t>
            </a:r>
            <a:endParaRPr lang="en-US" sz="970" dirty="0"/>
          </a:p>
        </p:txBody>
      </p:sp>
      <p:sp>
        <p:nvSpPr>
          <p:cNvPr id="14" name="Shape 12"/>
          <p:cNvSpPr/>
          <p:nvPr/>
        </p:nvSpPr>
        <p:spPr>
          <a:xfrm>
            <a:off x="2635301" y="2354580"/>
            <a:ext cx="54864" cy="0"/>
          </a:xfrm>
          <a:prstGeom prst="line">
            <a:avLst/>
          </a:prstGeom>
          <a:noFill/>
          <a:ln w="19050">
            <a:solidFill>
              <a:srgbClr val="1767C7"/>
            </a:solidFill>
            <a:prstDash val="solid"/>
            <a:headEnd type="none"/>
            <a:tailEnd type="triangle"/>
          </a:ln>
        </p:spPr>
      </p:sp>
      <p:sp>
        <p:nvSpPr>
          <p:cNvPr id="15" name="Shape 13"/>
          <p:cNvSpPr/>
          <p:nvPr/>
        </p:nvSpPr>
        <p:spPr>
          <a:xfrm>
            <a:off x="2790749" y="1709928"/>
            <a:ext cx="2095805" cy="1289304"/>
          </a:xfrm>
          <a:prstGeom prst="roundRect">
            <a:avLst>
              <a:gd name="adj" fmla="val 7801"/>
            </a:avLst>
          </a:prstGeom>
          <a:solidFill>
            <a:srgbClr val="F5F9FE"/>
          </a:solidFill>
          <a:ln w="9525">
            <a:solidFill>
              <a:srgbClr val="D8E5F2"/>
            </a:solidFill>
            <a:prstDash val="solid"/>
          </a:ln>
        </p:spPr>
      </p:sp>
      <p:sp>
        <p:nvSpPr>
          <p:cNvPr id="16" name="Text 14"/>
          <p:cNvSpPr/>
          <p:nvPr/>
        </p:nvSpPr>
        <p:spPr>
          <a:xfrm>
            <a:off x="2873045"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Parse</a:t>
            </a:r>
            <a:endParaRPr lang="en-US" sz="1240" dirty="0"/>
          </a:p>
        </p:txBody>
      </p:sp>
      <p:sp>
        <p:nvSpPr>
          <p:cNvPr id="17" name="Text 15"/>
          <p:cNvSpPr/>
          <p:nvPr/>
        </p:nvSpPr>
        <p:spPr>
          <a:xfrm>
            <a:off x="2891333" y="2157984"/>
            <a:ext cx="1894637" cy="76809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Code + documents (Tika)</a:t>
            </a:r>
            <a:endParaRPr lang="en-US" sz="970" dirty="0"/>
          </a:p>
        </p:txBody>
      </p:sp>
      <p:sp>
        <p:nvSpPr>
          <p:cNvPr id="18" name="Shape 16"/>
          <p:cNvSpPr/>
          <p:nvPr/>
        </p:nvSpPr>
        <p:spPr>
          <a:xfrm>
            <a:off x="4895698" y="2354580"/>
            <a:ext cx="54864" cy="0"/>
          </a:xfrm>
          <a:prstGeom prst="line">
            <a:avLst/>
          </a:prstGeom>
          <a:noFill/>
          <a:ln w="19050">
            <a:solidFill>
              <a:srgbClr val="1767C7"/>
            </a:solidFill>
            <a:prstDash val="solid"/>
            <a:headEnd type="none"/>
            <a:tailEnd type="triangle"/>
          </a:ln>
        </p:spPr>
      </p:sp>
      <p:sp>
        <p:nvSpPr>
          <p:cNvPr id="19" name="Shape 17"/>
          <p:cNvSpPr/>
          <p:nvPr/>
        </p:nvSpPr>
        <p:spPr>
          <a:xfrm>
            <a:off x="5051146" y="1709928"/>
            <a:ext cx="2095805" cy="1289304"/>
          </a:xfrm>
          <a:prstGeom prst="roundRect">
            <a:avLst>
              <a:gd name="adj" fmla="val 7801"/>
            </a:avLst>
          </a:prstGeom>
          <a:solidFill>
            <a:srgbClr val="EDF5FD"/>
          </a:solidFill>
          <a:ln w="9525">
            <a:solidFill>
              <a:srgbClr val="D8E5F2"/>
            </a:solidFill>
            <a:prstDash val="solid"/>
          </a:ln>
        </p:spPr>
      </p:sp>
      <p:sp>
        <p:nvSpPr>
          <p:cNvPr id="20" name="Text 18"/>
          <p:cNvSpPr/>
          <p:nvPr/>
        </p:nvSpPr>
        <p:spPr>
          <a:xfrm>
            <a:off x="5133442"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Index</a:t>
            </a:r>
            <a:endParaRPr lang="en-US" sz="1240" dirty="0"/>
          </a:p>
        </p:txBody>
      </p:sp>
      <p:sp>
        <p:nvSpPr>
          <p:cNvPr id="21" name="Text 19"/>
          <p:cNvSpPr/>
          <p:nvPr/>
        </p:nvSpPr>
        <p:spPr>
          <a:xfrm>
            <a:off x="5151730" y="2157984"/>
            <a:ext cx="1894637" cy="76809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Lexical and symbol data</a:t>
            </a:r>
            <a:endParaRPr lang="en-US" sz="970" dirty="0"/>
          </a:p>
        </p:txBody>
      </p:sp>
      <p:sp>
        <p:nvSpPr>
          <p:cNvPr id="22" name="Shape 20"/>
          <p:cNvSpPr/>
          <p:nvPr/>
        </p:nvSpPr>
        <p:spPr>
          <a:xfrm>
            <a:off x="7156094" y="2354580"/>
            <a:ext cx="54864" cy="0"/>
          </a:xfrm>
          <a:prstGeom prst="line">
            <a:avLst/>
          </a:prstGeom>
          <a:noFill/>
          <a:ln w="19050">
            <a:solidFill>
              <a:srgbClr val="1767C7"/>
            </a:solidFill>
            <a:prstDash val="solid"/>
            <a:headEnd type="none"/>
            <a:tailEnd type="triangle"/>
          </a:ln>
        </p:spPr>
      </p:sp>
      <p:sp>
        <p:nvSpPr>
          <p:cNvPr id="23" name="Shape 21"/>
          <p:cNvSpPr/>
          <p:nvPr/>
        </p:nvSpPr>
        <p:spPr>
          <a:xfrm>
            <a:off x="7311542" y="1709928"/>
            <a:ext cx="2095805" cy="1289304"/>
          </a:xfrm>
          <a:prstGeom prst="roundRect">
            <a:avLst>
              <a:gd name="adj" fmla="val 7801"/>
            </a:avLst>
          </a:prstGeom>
          <a:solidFill>
            <a:srgbClr val="F5F9FE"/>
          </a:solidFill>
          <a:ln w="9525">
            <a:solidFill>
              <a:srgbClr val="D8E5F2"/>
            </a:solidFill>
            <a:prstDash val="solid"/>
          </a:ln>
        </p:spPr>
      </p:sp>
      <p:sp>
        <p:nvSpPr>
          <p:cNvPr id="24" name="Text 22"/>
          <p:cNvSpPr/>
          <p:nvPr/>
        </p:nvSpPr>
        <p:spPr>
          <a:xfrm>
            <a:off x="7393838"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Rerank</a:t>
            </a:r>
            <a:endParaRPr lang="en-US" sz="1240" dirty="0"/>
          </a:p>
        </p:txBody>
      </p:sp>
      <p:sp>
        <p:nvSpPr>
          <p:cNvPr id="25" name="Text 23"/>
          <p:cNvSpPr/>
          <p:nvPr/>
        </p:nvSpPr>
        <p:spPr>
          <a:xfrm>
            <a:off x="7412126" y="2157984"/>
            <a:ext cx="1894637" cy="76809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Semantic embeddings (optional)</a:t>
            </a:r>
            <a:endParaRPr lang="en-US" sz="970" dirty="0"/>
          </a:p>
        </p:txBody>
      </p:sp>
      <p:sp>
        <p:nvSpPr>
          <p:cNvPr id="26" name="Shape 24"/>
          <p:cNvSpPr/>
          <p:nvPr/>
        </p:nvSpPr>
        <p:spPr>
          <a:xfrm>
            <a:off x="9416491" y="2354580"/>
            <a:ext cx="54864" cy="0"/>
          </a:xfrm>
          <a:prstGeom prst="line">
            <a:avLst/>
          </a:prstGeom>
          <a:noFill/>
          <a:ln w="19050">
            <a:solidFill>
              <a:srgbClr val="1767C7"/>
            </a:solidFill>
            <a:prstDash val="solid"/>
            <a:headEnd type="none"/>
            <a:tailEnd type="triangle"/>
          </a:ln>
        </p:spPr>
      </p:sp>
      <p:sp>
        <p:nvSpPr>
          <p:cNvPr id="27" name="Shape 25"/>
          <p:cNvSpPr/>
          <p:nvPr/>
        </p:nvSpPr>
        <p:spPr>
          <a:xfrm>
            <a:off x="9571939" y="1709928"/>
            <a:ext cx="2095805" cy="1289304"/>
          </a:xfrm>
          <a:prstGeom prst="roundRect">
            <a:avLst>
              <a:gd name="adj" fmla="val 7801"/>
            </a:avLst>
          </a:prstGeom>
          <a:solidFill>
            <a:srgbClr val="EDF5FD"/>
          </a:solidFill>
          <a:ln w="9525">
            <a:solidFill>
              <a:srgbClr val="D8E5F2"/>
            </a:solidFill>
            <a:prstDash val="solid"/>
          </a:ln>
        </p:spPr>
      </p:sp>
      <p:sp>
        <p:nvSpPr>
          <p:cNvPr id="28" name="Text 26"/>
          <p:cNvSpPr/>
          <p:nvPr/>
        </p:nvSpPr>
        <p:spPr>
          <a:xfrm>
            <a:off x="9654235"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Return</a:t>
            </a:r>
            <a:endParaRPr lang="en-US" sz="1240" dirty="0"/>
          </a:p>
        </p:txBody>
      </p:sp>
      <p:sp>
        <p:nvSpPr>
          <p:cNvPr id="29" name="Text 27"/>
          <p:cNvSpPr/>
          <p:nvPr/>
        </p:nvSpPr>
        <p:spPr>
          <a:xfrm>
            <a:off x="9672523" y="2157984"/>
            <a:ext cx="1894637" cy="76809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Bounded evidence + path</a:t>
            </a:r>
            <a:endParaRPr lang="en-US" sz="970" dirty="0"/>
          </a:p>
        </p:txBody>
      </p:sp>
      <p:sp>
        <p:nvSpPr>
          <p:cNvPr id="30" name="Shape 28"/>
          <p:cNvSpPr/>
          <p:nvPr/>
        </p:nvSpPr>
        <p:spPr>
          <a:xfrm>
            <a:off x="557784" y="3657600"/>
            <a:ext cx="5376672" cy="1463040"/>
          </a:xfrm>
          <a:prstGeom prst="roundRect">
            <a:avLst>
              <a:gd name="adj" fmla="val 6875"/>
            </a:avLst>
          </a:prstGeom>
          <a:solidFill>
            <a:srgbClr val="FFFFFF"/>
          </a:solidFill>
          <a:ln w="9525">
            <a:solidFill>
              <a:srgbClr val="D8E5F2"/>
            </a:solidFill>
            <a:prstDash val="solid"/>
          </a:ln>
        </p:spPr>
      </p:sp>
      <p:sp>
        <p:nvSpPr>
          <p:cNvPr id="31" name="Text 29"/>
          <p:cNvSpPr/>
          <p:nvPr/>
        </p:nvSpPr>
        <p:spPr>
          <a:xfrm>
            <a:off x="722376" y="3776472"/>
            <a:ext cx="5065776"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Source intelligence</a:t>
            </a:r>
            <a:endParaRPr lang="en-US" sz="1350" dirty="0"/>
          </a:p>
        </p:txBody>
      </p:sp>
      <p:sp>
        <p:nvSpPr>
          <p:cNvPr id="32" name="Text 30"/>
          <p:cNvSpPr/>
          <p:nvPr/>
        </p:nvSpPr>
        <p:spPr>
          <a:xfrm>
            <a:off x="740664" y="416966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3" name="Text 31"/>
          <p:cNvSpPr/>
          <p:nvPr/>
        </p:nvSpPr>
        <p:spPr>
          <a:xfrm>
            <a:off x="978408" y="4160520"/>
            <a:ext cx="4764024"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Symbol index and cross-file navigation</a:t>
            </a:r>
            <a:endParaRPr lang="en-US" sz="1070" dirty="0"/>
          </a:p>
        </p:txBody>
      </p:sp>
      <p:sp>
        <p:nvSpPr>
          <p:cNvPr id="34" name="Text 32"/>
          <p:cNvSpPr/>
          <p:nvPr/>
        </p:nvSpPr>
        <p:spPr>
          <a:xfrm>
            <a:off x="740664" y="448970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5" name="Text 33"/>
          <p:cNvSpPr/>
          <p:nvPr/>
        </p:nvSpPr>
        <p:spPr>
          <a:xfrm>
            <a:off x="978408" y="4480560"/>
            <a:ext cx="4764024"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Dependency/flow tracing and code intelligence</a:t>
            </a:r>
            <a:endParaRPr lang="en-US" sz="1070" dirty="0"/>
          </a:p>
        </p:txBody>
      </p:sp>
      <p:sp>
        <p:nvSpPr>
          <p:cNvPr id="36" name="Text 34"/>
          <p:cNvSpPr/>
          <p:nvPr/>
        </p:nvSpPr>
        <p:spPr>
          <a:xfrm>
            <a:off x="740664" y="480974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7" name="Text 35"/>
          <p:cNvSpPr/>
          <p:nvPr/>
        </p:nvSpPr>
        <p:spPr>
          <a:xfrm>
            <a:off x="978408" y="4800600"/>
            <a:ext cx="4764024"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Incremental cache refresh and document extraction</a:t>
            </a:r>
            <a:endParaRPr lang="en-US" sz="1070" dirty="0"/>
          </a:p>
        </p:txBody>
      </p:sp>
      <p:sp>
        <p:nvSpPr>
          <p:cNvPr id="38" name="Shape 36"/>
          <p:cNvSpPr/>
          <p:nvPr/>
        </p:nvSpPr>
        <p:spPr>
          <a:xfrm>
            <a:off x="6135624" y="3657600"/>
            <a:ext cx="5513832" cy="1463040"/>
          </a:xfrm>
          <a:prstGeom prst="roundRect">
            <a:avLst>
              <a:gd name="adj" fmla="val 6875"/>
            </a:avLst>
          </a:prstGeom>
          <a:solidFill>
            <a:srgbClr val="FFFFFF"/>
          </a:solidFill>
          <a:ln w="9525">
            <a:solidFill>
              <a:srgbClr val="D8E5F2"/>
            </a:solidFill>
            <a:prstDash val="solid"/>
          </a:ln>
        </p:spPr>
      </p:sp>
      <p:sp>
        <p:nvSpPr>
          <p:cNvPr id="39" name="Text 37"/>
          <p:cNvSpPr/>
          <p:nvPr/>
        </p:nvSpPr>
        <p:spPr>
          <a:xfrm>
            <a:off x="6300216" y="3776472"/>
            <a:ext cx="5202936"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Hard limits and fallback</a:t>
            </a:r>
            <a:endParaRPr lang="en-US" sz="1350" dirty="0"/>
          </a:p>
        </p:txBody>
      </p:sp>
      <p:sp>
        <p:nvSpPr>
          <p:cNvPr id="40" name="Text 38"/>
          <p:cNvSpPr/>
          <p:nvPr/>
        </p:nvSpPr>
        <p:spPr>
          <a:xfrm>
            <a:off x="6318504" y="416966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1" name="Text 39"/>
          <p:cNvSpPr/>
          <p:nvPr/>
        </p:nvSpPr>
        <p:spPr>
          <a:xfrm>
            <a:off x="6556248" y="4160520"/>
            <a:ext cx="4901184"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Default max indexed files: 40,000 (configurable)</a:t>
            </a:r>
            <a:endParaRPr lang="en-US" sz="1070" dirty="0"/>
          </a:p>
        </p:txBody>
      </p:sp>
      <p:sp>
        <p:nvSpPr>
          <p:cNvPr id="42" name="Text 40"/>
          <p:cNvSpPr/>
          <p:nvPr/>
        </p:nvSpPr>
        <p:spPr>
          <a:xfrm>
            <a:off x="6318504" y="448970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3" name="Text 41"/>
          <p:cNvSpPr/>
          <p:nvPr/>
        </p:nvSpPr>
        <p:spPr>
          <a:xfrm>
            <a:off x="6556248" y="4480560"/>
            <a:ext cx="4901184"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Common build, VCS and dependency folders pruned</a:t>
            </a:r>
            <a:endParaRPr lang="en-US" sz="1070" dirty="0"/>
          </a:p>
        </p:txBody>
      </p:sp>
      <p:sp>
        <p:nvSpPr>
          <p:cNvPr id="44" name="Text 42"/>
          <p:cNvSpPr/>
          <p:nvPr/>
        </p:nvSpPr>
        <p:spPr>
          <a:xfrm>
            <a:off x="6318504" y="480974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5" name="Text 43"/>
          <p:cNvSpPr/>
          <p:nvPr/>
        </p:nvSpPr>
        <p:spPr>
          <a:xfrm>
            <a:off x="6556248" y="4800600"/>
            <a:ext cx="4901184" cy="246888"/>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Embedding errors fall back to lexical retrieval</a:t>
            </a:r>
            <a:endParaRPr lang="en-US" sz="1070" dirty="0"/>
          </a:p>
        </p:txBody>
      </p:sp>
      <p:sp>
        <p:nvSpPr>
          <p:cNvPr id="46" name="Shape 44"/>
          <p:cNvSpPr/>
          <p:nvPr/>
        </p:nvSpPr>
        <p:spPr>
          <a:xfrm>
            <a:off x="530352" y="5623560"/>
            <a:ext cx="11137392" cy="484632"/>
          </a:xfrm>
          <a:prstGeom prst="roundRect">
            <a:avLst>
              <a:gd name="adj" fmla="val 20755"/>
            </a:avLst>
          </a:prstGeom>
          <a:solidFill>
            <a:srgbClr val="EDF5FD"/>
          </a:solidFill>
          <a:ln w="9525">
            <a:solidFill>
              <a:srgbClr val="EDF5FD"/>
            </a:solidFill>
            <a:prstDash val="solid"/>
          </a:ln>
        </p:spPr>
      </p:sp>
      <p:sp>
        <p:nvSpPr>
          <p:cNvPr id="47" name="Text 45"/>
          <p:cNvSpPr/>
          <p:nvPr/>
        </p:nvSpPr>
        <p:spPr>
          <a:xfrm>
            <a:off x="713232" y="5710428"/>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ACCURACY RULE</a:t>
            </a:r>
            <a:endParaRPr lang="en-US" sz="1110" dirty="0"/>
          </a:p>
        </p:txBody>
      </p:sp>
      <p:sp>
        <p:nvSpPr>
          <p:cNvPr id="48" name="Text 46"/>
          <p:cNvSpPr/>
          <p:nvPr/>
        </p:nvSpPr>
        <p:spPr>
          <a:xfrm>
            <a:off x="2423160" y="5673852"/>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Results guide the Agent to files; verification and edits operate on live filesystem content.</a:t>
            </a:r>
            <a:endParaRPr lang="en-US" sz="109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INTEGRATION VIEW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Model abstraction and provider boundary</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Role-based model configuration over OpenAI-compatible HTTP/streaming interfaces.</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INTELLIGENCE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13</a:t>
            </a:r>
            <a:endParaRPr lang="en-US" sz="900" dirty="0"/>
          </a:p>
        </p:txBody>
      </p:sp>
      <p:sp>
        <p:nvSpPr>
          <p:cNvPr id="11" name="Shape 9"/>
          <p:cNvSpPr/>
          <p:nvPr/>
        </p:nvSpPr>
        <p:spPr>
          <a:xfrm>
            <a:off x="566928" y="1508760"/>
            <a:ext cx="5705856" cy="795528"/>
          </a:xfrm>
          <a:prstGeom prst="roundRect">
            <a:avLst>
              <a:gd name="adj" fmla="val 12644"/>
            </a:avLst>
          </a:prstGeom>
          <a:solidFill>
            <a:srgbClr val="FFFFFF"/>
          </a:solidFill>
          <a:ln w="9525">
            <a:solidFill>
              <a:srgbClr val="D8E5F2"/>
            </a:solidFill>
            <a:prstDash val="solid"/>
          </a:ln>
        </p:spPr>
      </p:sp>
      <p:sp>
        <p:nvSpPr>
          <p:cNvPr id="12" name="Shape 10"/>
          <p:cNvSpPr/>
          <p:nvPr/>
        </p:nvSpPr>
        <p:spPr>
          <a:xfrm>
            <a:off x="566928" y="1508760"/>
            <a:ext cx="50292" cy="795528"/>
          </a:xfrm>
          <a:prstGeom prst="rect">
            <a:avLst>
              <a:gd name="adj" fmla="val 163636"/>
            </a:avLst>
          </a:prstGeom>
          <a:solidFill>
            <a:srgbClr val="1767C7"/>
          </a:solidFill>
          <a:ln w="9525">
            <a:solidFill>
              <a:srgbClr val="1767C7"/>
            </a:solidFill>
            <a:prstDash val="solid"/>
          </a:ln>
        </p:spPr>
      </p:sp>
      <p:sp>
        <p:nvSpPr>
          <p:cNvPr id="13" name="Text 11"/>
          <p:cNvSpPr/>
          <p:nvPr/>
        </p:nvSpPr>
        <p:spPr>
          <a:xfrm>
            <a:off x="722376" y="1618488"/>
            <a:ext cx="5413248" cy="283464"/>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Role routing</a:t>
            </a:r>
            <a:endParaRPr lang="en-US" sz="1350" dirty="0"/>
          </a:p>
        </p:txBody>
      </p:sp>
      <p:sp>
        <p:nvSpPr>
          <p:cNvPr id="14" name="Text 12"/>
          <p:cNvSpPr/>
          <p:nvPr/>
        </p:nvSpPr>
        <p:spPr>
          <a:xfrm>
            <a:off x="722376" y="1993392"/>
            <a:ext cx="5404104" cy="201168"/>
          </a:xfrm>
          <a:prstGeom prst="rect">
            <a:avLst/>
          </a:prstGeom>
          <a:noFill/>
          <a:ln/>
        </p:spPr>
        <p:txBody>
          <a:bodyPr wrap="square" lIns="0" tIns="0" rIns="0" bIns="0" rtlCol="0" anchor="ctr">
            <a:normAutofit/>
          </a:bodyPr>
          <a:lstStyle/>
          <a:p>
            <a:pPr algn="l" indent="0" marL="0">
              <a:buNone/>
            </a:pPr>
            <a:r>
              <a:rPr lang="en-US" sz="1110" dirty="0">
                <a:solidFill>
                  <a:srgbClr val="5B7190"/>
                </a:solidFill>
                <a:latin typeface="Aptos" pitchFamily="34" charset="0"/>
                <a:ea typeface="Aptos" pitchFamily="34" charset="-122"/>
                <a:cs typeface="Aptos" pitchFamily="34" charset="-120"/>
              </a:rPr>
              <a:t>Chat / Agent / Vision / Embeddings (configured model roles)</a:t>
            </a:r>
            <a:endParaRPr lang="en-US" sz="1110" dirty="0"/>
          </a:p>
        </p:txBody>
      </p:sp>
      <p:sp>
        <p:nvSpPr>
          <p:cNvPr id="15" name="Shape 13"/>
          <p:cNvSpPr/>
          <p:nvPr/>
        </p:nvSpPr>
        <p:spPr>
          <a:xfrm>
            <a:off x="566928" y="2478024"/>
            <a:ext cx="5705856" cy="795528"/>
          </a:xfrm>
          <a:prstGeom prst="roundRect">
            <a:avLst>
              <a:gd name="adj" fmla="val 12644"/>
            </a:avLst>
          </a:prstGeom>
          <a:solidFill>
            <a:srgbClr val="F5F9FE"/>
          </a:solidFill>
          <a:ln w="9525">
            <a:solidFill>
              <a:srgbClr val="D8E5F2"/>
            </a:solidFill>
            <a:prstDash val="solid"/>
          </a:ln>
        </p:spPr>
      </p:sp>
      <p:sp>
        <p:nvSpPr>
          <p:cNvPr id="16" name="Shape 14"/>
          <p:cNvSpPr/>
          <p:nvPr/>
        </p:nvSpPr>
        <p:spPr>
          <a:xfrm>
            <a:off x="566928" y="2478024"/>
            <a:ext cx="50292" cy="795528"/>
          </a:xfrm>
          <a:prstGeom prst="rect">
            <a:avLst>
              <a:gd name="adj" fmla="val 163636"/>
            </a:avLst>
          </a:prstGeom>
          <a:solidFill>
            <a:srgbClr val="1767C7"/>
          </a:solidFill>
          <a:ln w="9525">
            <a:solidFill>
              <a:srgbClr val="1767C7"/>
            </a:solidFill>
            <a:prstDash val="solid"/>
          </a:ln>
        </p:spPr>
      </p:sp>
      <p:sp>
        <p:nvSpPr>
          <p:cNvPr id="17" name="Text 15"/>
          <p:cNvSpPr/>
          <p:nvPr/>
        </p:nvSpPr>
        <p:spPr>
          <a:xfrm>
            <a:off x="722376" y="2587752"/>
            <a:ext cx="5413248" cy="283464"/>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Capability handling</a:t>
            </a:r>
            <a:endParaRPr lang="en-US" sz="1350" dirty="0"/>
          </a:p>
        </p:txBody>
      </p:sp>
      <p:sp>
        <p:nvSpPr>
          <p:cNvPr id="18" name="Text 16"/>
          <p:cNvSpPr/>
          <p:nvPr/>
        </p:nvSpPr>
        <p:spPr>
          <a:xfrm>
            <a:off x="722376" y="2962656"/>
            <a:ext cx="5404104" cy="201168"/>
          </a:xfrm>
          <a:prstGeom prst="rect">
            <a:avLst/>
          </a:prstGeom>
          <a:noFill/>
          <a:ln/>
        </p:spPr>
        <p:txBody>
          <a:bodyPr wrap="square" lIns="0" tIns="0" rIns="0" bIns="0" rtlCol="0" anchor="ctr">
            <a:normAutofit/>
          </a:bodyPr>
          <a:lstStyle/>
          <a:p>
            <a:pPr algn="l" indent="0" marL="0">
              <a:buNone/>
            </a:pPr>
            <a:r>
              <a:rPr lang="en-US" sz="1110" dirty="0">
                <a:solidFill>
                  <a:srgbClr val="5B7190"/>
                </a:solidFill>
                <a:latin typeface="Aptos" pitchFamily="34" charset="0"/>
                <a:ea typeface="Aptos" pitchFamily="34" charset="-122"/>
                <a:cs typeface="Aptos" pitchFamily="34" charset="-120"/>
              </a:rPr>
              <a:t>Tool-call support detection, JSON fallback, streaming SSE variants</a:t>
            </a:r>
            <a:endParaRPr lang="en-US" sz="1110" dirty="0"/>
          </a:p>
        </p:txBody>
      </p:sp>
      <p:sp>
        <p:nvSpPr>
          <p:cNvPr id="19" name="Shape 17"/>
          <p:cNvSpPr/>
          <p:nvPr/>
        </p:nvSpPr>
        <p:spPr>
          <a:xfrm>
            <a:off x="566928" y="3447288"/>
            <a:ext cx="5705856" cy="795528"/>
          </a:xfrm>
          <a:prstGeom prst="roundRect">
            <a:avLst>
              <a:gd name="adj" fmla="val 12644"/>
            </a:avLst>
          </a:prstGeom>
          <a:solidFill>
            <a:srgbClr val="FFFFFF"/>
          </a:solidFill>
          <a:ln w="9525">
            <a:solidFill>
              <a:srgbClr val="D8E5F2"/>
            </a:solidFill>
            <a:prstDash val="solid"/>
          </a:ln>
        </p:spPr>
      </p:sp>
      <p:sp>
        <p:nvSpPr>
          <p:cNvPr id="20" name="Shape 18"/>
          <p:cNvSpPr/>
          <p:nvPr/>
        </p:nvSpPr>
        <p:spPr>
          <a:xfrm>
            <a:off x="566928" y="3447288"/>
            <a:ext cx="50292" cy="795528"/>
          </a:xfrm>
          <a:prstGeom prst="rect">
            <a:avLst>
              <a:gd name="adj" fmla="val 163636"/>
            </a:avLst>
          </a:prstGeom>
          <a:solidFill>
            <a:srgbClr val="1767C7"/>
          </a:solidFill>
          <a:ln w="9525">
            <a:solidFill>
              <a:srgbClr val="1767C7"/>
            </a:solidFill>
            <a:prstDash val="solid"/>
          </a:ln>
        </p:spPr>
      </p:sp>
      <p:sp>
        <p:nvSpPr>
          <p:cNvPr id="21" name="Text 19"/>
          <p:cNvSpPr/>
          <p:nvPr/>
        </p:nvSpPr>
        <p:spPr>
          <a:xfrm>
            <a:off x="722376" y="3557016"/>
            <a:ext cx="5413248" cy="283464"/>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Request shaping</a:t>
            </a:r>
            <a:endParaRPr lang="en-US" sz="1350" dirty="0"/>
          </a:p>
        </p:txBody>
      </p:sp>
      <p:sp>
        <p:nvSpPr>
          <p:cNvPr id="22" name="Text 20"/>
          <p:cNvSpPr/>
          <p:nvPr/>
        </p:nvSpPr>
        <p:spPr>
          <a:xfrm>
            <a:off x="722376" y="3931920"/>
            <a:ext cx="5404104" cy="201168"/>
          </a:xfrm>
          <a:prstGeom prst="rect">
            <a:avLst/>
          </a:prstGeom>
          <a:noFill/>
          <a:ln/>
        </p:spPr>
        <p:txBody>
          <a:bodyPr wrap="square" lIns="0" tIns="0" rIns="0" bIns="0" rtlCol="0" anchor="ctr">
            <a:normAutofit/>
          </a:bodyPr>
          <a:lstStyle/>
          <a:p>
            <a:pPr algn="l" indent="0" marL="0">
              <a:buNone/>
            </a:pPr>
            <a:r>
              <a:rPr lang="en-US" sz="1110" dirty="0">
                <a:solidFill>
                  <a:srgbClr val="5B7190"/>
                </a:solidFill>
                <a:latin typeface="Aptos" pitchFamily="34" charset="0"/>
                <a:ea typeface="Aptos" pitchFamily="34" charset="-122"/>
                <a:cs typeface="Aptos" pitchFamily="34" charset="-120"/>
              </a:rPr>
              <a:t>Prompt budget, active context, output reserve and cache-affinity key</a:t>
            </a:r>
            <a:endParaRPr lang="en-US" sz="1110" dirty="0"/>
          </a:p>
        </p:txBody>
      </p:sp>
      <p:sp>
        <p:nvSpPr>
          <p:cNvPr id="23" name="Shape 21"/>
          <p:cNvSpPr/>
          <p:nvPr/>
        </p:nvSpPr>
        <p:spPr>
          <a:xfrm>
            <a:off x="566928" y="4416552"/>
            <a:ext cx="5705856" cy="795528"/>
          </a:xfrm>
          <a:prstGeom prst="roundRect">
            <a:avLst>
              <a:gd name="adj" fmla="val 12644"/>
            </a:avLst>
          </a:prstGeom>
          <a:solidFill>
            <a:srgbClr val="F5F9FE"/>
          </a:solidFill>
          <a:ln w="9525">
            <a:solidFill>
              <a:srgbClr val="D8E5F2"/>
            </a:solidFill>
            <a:prstDash val="solid"/>
          </a:ln>
        </p:spPr>
      </p:sp>
      <p:sp>
        <p:nvSpPr>
          <p:cNvPr id="24" name="Shape 22"/>
          <p:cNvSpPr/>
          <p:nvPr/>
        </p:nvSpPr>
        <p:spPr>
          <a:xfrm>
            <a:off x="566928" y="4416552"/>
            <a:ext cx="50292" cy="795528"/>
          </a:xfrm>
          <a:prstGeom prst="rect">
            <a:avLst>
              <a:gd name="adj" fmla="val 163636"/>
            </a:avLst>
          </a:prstGeom>
          <a:solidFill>
            <a:srgbClr val="1767C7"/>
          </a:solidFill>
          <a:ln w="9525">
            <a:solidFill>
              <a:srgbClr val="1767C7"/>
            </a:solidFill>
            <a:prstDash val="solid"/>
          </a:ln>
        </p:spPr>
      </p:sp>
      <p:sp>
        <p:nvSpPr>
          <p:cNvPr id="25" name="Text 23"/>
          <p:cNvSpPr/>
          <p:nvPr/>
        </p:nvSpPr>
        <p:spPr>
          <a:xfrm>
            <a:off x="722376" y="4526280"/>
            <a:ext cx="5413248" cy="283464"/>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Usage reporting</a:t>
            </a:r>
            <a:endParaRPr lang="en-US" sz="1350" dirty="0"/>
          </a:p>
        </p:txBody>
      </p:sp>
      <p:sp>
        <p:nvSpPr>
          <p:cNvPr id="26" name="Text 24"/>
          <p:cNvSpPr/>
          <p:nvPr/>
        </p:nvSpPr>
        <p:spPr>
          <a:xfrm>
            <a:off x="722376" y="4901184"/>
            <a:ext cx="5404104" cy="201168"/>
          </a:xfrm>
          <a:prstGeom prst="rect">
            <a:avLst/>
          </a:prstGeom>
          <a:noFill/>
          <a:ln/>
        </p:spPr>
        <p:txBody>
          <a:bodyPr wrap="square" lIns="0" tIns="0" rIns="0" bIns="0" rtlCol="0" anchor="ctr">
            <a:normAutofit/>
          </a:bodyPr>
          <a:lstStyle/>
          <a:p>
            <a:pPr algn="l" indent="0" marL="0">
              <a:buNone/>
            </a:pPr>
            <a:r>
              <a:rPr lang="en-US" sz="1110" dirty="0">
                <a:solidFill>
                  <a:srgbClr val="5B7190"/>
                </a:solidFill>
                <a:latin typeface="Aptos" pitchFamily="34" charset="0"/>
                <a:ea typeface="Aptos" pitchFamily="34" charset="-122"/>
                <a:cs typeface="Aptos" pitchFamily="34" charset="-120"/>
              </a:rPr>
              <a:t>Provider-reported input/output, cached subset and missing-usage markers</a:t>
            </a:r>
            <a:endParaRPr lang="en-US" sz="1110" dirty="0"/>
          </a:p>
        </p:txBody>
      </p:sp>
      <p:sp>
        <p:nvSpPr>
          <p:cNvPr id="27" name="Shape 25"/>
          <p:cNvSpPr/>
          <p:nvPr/>
        </p:nvSpPr>
        <p:spPr>
          <a:xfrm>
            <a:off x="6876288" y="2029968"/>
            <a:ext cx="4142232" cy="1060704"/>
          </a:xfrm>
          <a:prstGeom prst="roundRect">
            <a:avLst>
              <a:gd name="adj" fmla="val 9483"/>
            </a:avLst>
          </a:prstGeom>
          <a:solidFill>
            <a:srgbClr val="EDF5FD"/>
          </a:solidFill>
          <a:ln w="9525">
            <a:solidFill>
              <a:srgbClr val="D8E5F2"/>
            </a:solidFill>
            <a:prstDash val="solid"/>
          </a:ln>
        </p:spPr>
      </p:sp>
      <p:sp>
        <p:nvSpPr>
          <p:cNvPr id="28" name="Text 26"/>
          <p:cNvSpPr/>
          <p:nvPr/>
        </p:nvSpPr>
        <p:spPr>
          <a:xfrm>
            <a:off x="6958584" y="2139696"/>
            <a:ext cx="3977640"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OpenAiCompatibleClient</a:t>
            </a:r>
            <a:endParaRPr lang="en-US" sz="1410" dirty="0"/>
          </a:p>
        </p:txBody>
      </p:sp>
      <p:sp>
        <p:nvSpPr>
          <p:cNvPr id="29" name="Text 27"/>
          <p:cNvSpPr/>
          <p:nvPr/>
        </p:nvSpPr>
        <p:spPr>
          <a:xfrm>
            <a:off x="6976872" y="2478024"/>
            <a:ext cx="3941064" cy="539496"/>
          </a:xfrm>
          <a:prstGeom prst="rect">
            <a:avLst/>
          </a:prstGeom>
          <a:noFill/>
          <a:ln/>
        </p:spPr>
        <p:txBody>
          <a:bodyPr wrap="square" lIns="0" tIns="0" rIns="0" bIns="0" rtlCol="0" anchor="ctr">
            <a:normAutofit/>
          </a:bodyPr>
          <a:lstStyle/>
          <a:p>
            <a:pPr algn="ctr" indent="0" marL="0">
              <a:buNone/>
            </a:pPr>
            <a:r>
              <a:rPr lang="en-US" sz="1000" dirty="0">
                <a:solidFill>
                  <a:srgbClr val="5B7190"/>
                </a:solidFill>
                <a:latin typeface="Aptos" pitchFamily="34" charset="0"/>
                <a:ea typeface="Aptos" pitchFamily="34" charset="-122"/>
                <a:cs typeface="Aptos" pitchFamily="34" charset="-120"/>
              </a:rPr>
              <a:t>JDK HttpClient  ·  /chat/completions  ·  /embeddings</a:t>
            </a:r>
            <a:endParaRPr lang="en-US" sz="1000" dirty="0"/>
          </a:p>
        </p:txBody>
      </p:sp>
      <p:sp>
        <p:nvSpPr>
          <p:cNvPr id="30" name="Shape 28"/>
          <p:cNvSpPr/>
          <p:nvPr/>
        </p:nvSpPr>
        <p:spPr>
          <a:xfrm>
            <a:off x="6345936" y="2743200"/>
            <a:ext cx="493776" cy="0"/>
          </a:xfrm>
          <a:prstGeom prst="line">
            <a:avLst/>
          </a:prstGeom>
          <a:noFill/>
          <a:ln w="17780">
            <a:solidFill>
              <a:srgbClr val="1767C7"/>
            </a:solidFill>
            <a:prstDash val="solid"/>
            <a:headEnd type="none"/>
            <a:tailEnd type="triangle"/>
          </a:ln>
        </p:spPr>
      </p:sp>
      <p:sp>
        <p:nvSpPr>
          <p:cNvPr id="31" name="Shape 29"/>
          <p:cNvSpPr/>
          <p:nvPr/>
        </p:nvSpPr>
        <p:spPr>
          <a:xfrm>
            <a:off x="7031736" y="3977640"/>
            <a:ext cx="3840480" cy="960120"/>
          </a:xfrm>
          <a:prstGeom prst="roundRect">
            <a:avLst>
              <a:gd name="adj" fmla="val 10476"/>
            </a:avLst>
          </a:prstGeom>
          <a:solidFill>
            <a:srgbClr val="FFFFFF"/>
          </a:solidFill>
          <a:ln w="9525">
            <a:solidFill>
              <a:srgbClr val="D8E5F2"/>
            </a:solidFill>
            <a:prstDash val="solid"/>
          </a:ln>
        </p:spPr>
      </p:sp>
      <p:sp>
        <p:nvSpPr>
          <p:cNvPr id="32" name="Text 30"/>
          <p:cNvSpPr/>
          <p:nvPr/>
        </p:nvSpPr>
        <p:spPr>
          <a:xfrm>
            <a:off x="7114032" y="4087368"/>
            <a:ext cx="3675888" cy="283464"/>
          </a:xfrm>
          <a:prstGeom prst="rect">
            <a:avLst/>
          </a:prstGeom>
          <a:noFill/>
          <a:ln/>
        </p:spPr>
        <p:txBody>
          <a:bodyPr wrap="square" lIns="0" tIns="0" rIns="0" bIns="0" rtlCol="0" anchor="ctr">
            <a:normAutofit/>
          </a:bodyPr>
          <a:lstStyle/>
          <a:p>
            <a:pPr algn="ctr" indent="0" marL="0">
              <a:buNone/>
            </a:pPr>
            <a:r>
              <a:rPr lang="en-US" sz="1400" b="1" dirty="0">
                <a:solidFill>
                  <a:srgbClr val="0C2B4E"/>
                </a:solidFill>
                <a:latin typeface="Aptos" pitchFamily="34" charset="0"/>
                <a:ea typeface="Aptos" pitchFamily="34" charset="-122"/>
                <a:cs typeface="Aptos" pitchFamily="34" charset="-120"/>
              </a:rPr>
              <a:t>Configured providers</a:t>
            </a:r>
            <a:endParaRPr lang="en-US" sz="1400" dirty="0"/>
          </a:p>
        </p:txBody>
      </p:sp>
      <p:sp>
        <p:nvSpPr>
          <p:cNvPr id="33" name="Text 31"/>
          <p:cNvSpPr/>
          <p:nvPr/>
        </p:nvSpPr>
        <p:spPr>
          <a:xfrm>
            <a:off x="7132320" y="4425696"/>
            <a:ext cx="3639312" cy="438912"/>
          </a:xfrm>
          <a:prstGeom prst="rect">
            <a:avLst/>
          </a:prstGeom>
          <a:noFill/>
          <a:ln/>
        </p:spPr>
        <p:txBody>
          <a:bodyPr wrap="square" lIns="0" tIns="0" rIns="0" bIns="0" rtlCol="0" anchor="ctr">
            <a:normAutofit/>
          </a:bodyPr>
          <a:lstStyle/>
          <a:p>
            <a:pPr algn="ctr" indent="0" marL="0">
              <a:buNone/>
            </a:pPr>
            <a:r>
              <a:rPr lang="en-US" sz="1000" dirty="0">
                <a:solidFill>
                  <a:srgbClr val="5B7190"/>
                </a:solidFill>
                <a:latin typeface="Aptos" pitchFamily="34" charset="0"/>
                <a:ea typeface="Aptos" pitchFamily="34" charset="-122"/>
                <a:cs typeface="Aptos" pitchFamily="34" charset="-120"/>
              </a:rPr>
              <a:t>Internal gateways / hosted compatible endpoints</a:t>
            </a:r>
            <a:endParaRPr lang="en-US" sz="1000" dirty="0"/>
          </a:p>
          <a:p>
            <a:pPr algn="ctr" indent="0" marL="0">
              <a:buNone/>
            </a:pPr>
            <a:r>
              <a:rPr lang="en-US" sz="1000" dirty="0">
                <a:solidFill>
                  <a:srgbClr val="5B7190"/>
                </a:solidFill>
                <a:latin typeface="Aptos" pitchFamily="34" charset="0"/>
                <a:ea typeface="Aptos" pitchFamily="34" charset="-122"/>
                <a:cs typeface="Aptos" pitchFamily="34" charset="-120"/>
              </a:rPr>
              <a:t>Secrets configured via Settings</a:t>
            </a:r>
            <a:endParaRPr lang="en-US" sz="1000" dirty="0"/>
          </a:p>
        </p:txBody>
      </p:sp>
      <p:sp>
        <p:nvSpPr>
          <p:cNvPr id="34" name="Shape 32"/>
          <p:cNvSpPr/>
          <p:nvPr/>
        </p:nvSpPr>
        <p:spPr>
          <a:xfrm>
            <a:off x="8933688" y="3145536"/>
            <a:ext cx="0" cy="786384"/>
          </a:xfrm>
          <a:prstGeom prst="line">
            <a:avLst/>
          </a:prstGeom>
          <a:noFill/>
          <a:ln w="17780">
            <a:solidFill>
              <a:srgbClr val="1767C7"/>
            </a:solidFill>
            <a:prstDash val="solid"/>
            <a:headEnd type="none"/>
            <a:tailEnd type="triangle"/>
          </a:ln>
        </p:spPr>
      </p:sp>
      <p:sp>
        <p:nvSpPr>
          <p:cNvPr id="35" name="Shape 33"/>
          <p:cNvSpPr/>
          <p:nvPr/>
        </p:nvSpPr>
        <p:spPr>
          <a:xfrm>
            <a:off x="530352" y="5715000"/>
            <a:ext cx="11137392" cy="484632"/>
          </a:xfrm>
          <a:prstGeom prst="roundRect">
            <a:avLst>
              <a:gd name="adj" fmla="val 20755"/>
            </a:avLst>
          </a:prstGeom>
          <a:solidFill>
            <a:srgbClr val="EDF5FD"/>
          </a:solidFill>
          <a:ln w="9525">
            <a:solidFill>
              <a:srgbClr val="EDF5FD"/>
            </a:solidFill>
            <a:prstDash val="solid"/>
          </a:ln>
        </p:spPr>
      </p:sp>
      <p:sp>
        <p:nvSpPr>
          <p:cNvPr id="36" name="Text 34"/>
          <p:cNvSpPr/>
          <p:nvPr/>
        </p:nvSpPr>
        <p:spPr>
          <a:xfrm>
            <a:off x="713232" y="5801868"/>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BOUNDARY</a:t>
            </a:r>
            <a:endParaRPr lang="en-US" sz="1110" dirty="0"/>
          </a:p>
        </p:txBody>
      </p:sp>
      <p:sp>
        <p:nvSpPr>
          <p:cNvPr id="37" name="Text 35"/>
          <p:cNvSpPr/>
          <p:nvPr/>
        </p:nvSpPr>
        <p:spPr>
          <a:xfrm>
            <a:off x="2423160" y="5765292"/>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“Compatible” means adapter-based integration, not identical provider behavior or price.</a:t>
            </a:r>
            <a:endParaRPr lang="en-US" sz="10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CONTROL FLOW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MCP connectivity: deliberate, gated activation</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Integration usage needs both an enabled connection and the exact MCP token in the current prompt.</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INTEGRATIONS</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14</a:t>
            </a:r>
            <a:endParaRPr lang="en-US" sz="900" dirty="0"/>
          </a:p>
        </p:txBody>
      </p:sp>
      <p:sp>
        <p:nvSpPr>
          <p:cNvPr id="11" name="Shape 9"/>
          <p:cNvSpPr/>
          <p:nvPr/>
        </p:nvSpPr>
        <p:spPr>
          <a:xfrm>
            <a:off x="704088" y="1938528"/>
            <a:ext cx="2075688" cy="1005840"/>
          </a:xfrm>
          <a:prstGeom prst="roundRect">
            <a:avLst>
              <a:gd name="adj" fmla="val 10000"/>
            </a:avLst>
          </a:prstGeom>
          <a:solidFill>
            <a:srgbClr val="F5F9FE"/>
          </a:solidFill>
          <a:ln w="9525">
            <a:solidFill>
              <a:srgbClr val="D8E5F2"/>
            </a:solidFill>
            <a:prstDash val="solid"/>
          </a:ln>
        </p:spPr>
      </p:sp>
      <p:sp>
        <p:nvSpPr>
          <p:cNvPr id="12" name="Text 10"/>
          <p:cNvSpPr/>
          <p:nvPr/>
        </p:nvSpPr>
        <p:spPr>
          <a:xfrm>
            <a:off x="786384" y="2048256"/>
            <a:ext cx="1911096"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User prompt</a:t>
            </a:r>
            <a:endParaRPr lang="en-US" sz="1410" dirty="0"/>
          </a:p>
        </p:txBody>
      </p:sp>
      <p:sp>
        <p:nvSpPr>
          <p:cNvPr id="13" name="Text 11"/>
          <p:cNvSpPr/>
          <p:nvPr/>
        </p:nvSpPr>
        <p:spPr>
          <a:xfrm>
            <a:off x="804672" y="2386584"/>
            <a:ext cx="1874520" cy="484632"/>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“…via Jira MCP…”</a:t>
            </a:r>
            <a:endParaRPr lang="en-US" sz="1010" dirty="0"/>
          </a:p>
        </p:txBody>
      </p:sp>
      <p:sp>
        <p:nvSpPr>
          <p:cNvPr id="14" name="Shape 12"/>
          <p:cNvSpPr/>
          <p:nvPr/>
        </p:nvSpPr>
        <p:spPr>
          <a:xfrm>
            <a:off x="3227832" y="1883664"/>
            <a:ext cx="2267712" cy="1133856"/>
          </a:xfrm>
          <a:prstGeom prst="roundRect">
            <a:avLst>
              <a:gd name="adj" fmla="val 8871"/>
            </a:avLst>
          </a:prstGeom>
          <a:solidFill>
            <a:srgbClr val="EDF5FD"/>
          </a:solidFill>
          <a:ln w="9525">
            <a:solidFill>
              <a:srgbClr val="D8E5F2"/>
            </a:solidFill>
            <a:prstDash val="solid"/>
          </a:ln>
        </p:spPr>
      </p:sp>
      <p:sp>
        <p:nvSpPr>
          <p:cNvPr id="15" name="Text 13"/>
          <p:cNvSpPr/>
          <p:nvPr/>
        </p:nvSpPr>
        <p:spPr>
          <a:xfrm>
            <a:off x="3310128" y="1993392"/>
            <a:ext cx="2103120"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Prompt gate</a:t>
            </a:r>
            <a:endParaRPr lang="en-US" sz="1410" dirty="0"/>
          </a:p>
        </p:txBody>
      </p:sp>
      <p:sp>
        <p:nvSpPr>
          <p:cNvPr id="16" name="Text 14"/>
          <p:cNvSpPr/>
          <p:nvPr/>
        </p:nvSpPr>
        <p:spPr>
          <a:xfrm>
            <a:off x="3328416" y="2331720"/>
            <a:ext cx="2066544" cy="612648"/>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Standalone “MCP” token</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case-insensitive</a:t>
            </a:r>
            <a:endParaRPr lang="en-US" sz="1010" dirty="0"/>
          </a:p>
        </p:txBody>
      </p:sp>
      <p:sp>
        <p:nvSpPr>
          <p:cNvPr id="17" name="Shape 15"/>
          <p:cNvSpPr/>
          <p:nvPr/>
        </p:nvSpPr>
        <p:spPr>
          <a:xfrm>
            <a:off x="5934456" y="1883664"/>
            <a:ext cx="2569464" cy="1133856"/>
          </a:xfrm>
          <a:prstGeom prst="roundRect">
            <a:avLst>
              <a:gd name="adj" fmla="val 8871"/>
            </a:avLst>
          </a:prstGeom>
          <a:solidFill>
            <a:srgbClr val="EDF5FD"/>
          </a:solidFill>
          <a:ln w="9525">
            <a:solidFill>
              <a:srgbClr val="D8E5F2"/>
            </a:solidFill>
            <a:prstDash val="solid"/>
          </a:ln>
        </p:spPr>
      </p:sp>
      <p:sp>
        <p:nvSpPr>
          <p:cNvPr id="18" name="Text 16"/>
          <p:cNvSpPr/>
          <p:nvPr/>
        </p:nvSpPr>
        <p:spPr>
          <a:xfrm>
            <a:off x="6016752" y="1993392"/>
            <a:ext cx="2404872"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MCP permission layer</a:t>
            </a:r>
            <a:endParaRPr lang="en-US" sz="1410" dirty="0"/>
          </a:p>
        </p:txBody>
      </p:sp>
      <p:sp>
        <p:nvSpPr>
          <p:cNvPr id="19" name="Text 17"/>
          <p:cNvSpPr/>
          <p:nvPr/>
        </p:nvSpPr>
        <p:spPr>
          <a:xfrm>
            <a:off x="6035040" y="2331720"/>
            <a:ext cx="2368296" cy="612648"/>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Configured + approved operation</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read / write policy</a:t>
            </a:r>
            <a:endParaRPr lang="en-US" sz="1010" dirty="0"/>
          </a:p>
        </p:txBody>
      </p:sp>
      <p:sp>
        <p:nvSpPr>
          <p:cNvPr id="20" name="Shape 18"/>
          <p:cNvSpPr/>
          <p:nvPr/>
        </p:nvSpPr>
        <p:spPr>
          <a:xfrm>
            <a:off x="8951976" y="1892808"/>
            <a:ext cx="2523744" cy="1115568"/>
          </a:xfrm>
          <a:prstGeom prst="roundRect">
            <a:avLst>
              <a:gd name="adj" fmla="val 9016"/>
            </a:avLst>
          </a:prstGeom>
          <a:solidFill>
            <a:srgbClr val="F5F9FE"/>
          </a:solidFill>
          <a:ln w="9525">
            <a:solidFill>
              <a:srgbClr val="D8E5F2"/>
            </a:solidFill>
            <a:prstDash val="solid"/>
          </a:ln>
        </p:spPr>
      </p:sp>
      <p:sp>
        <p:nvSpPr>
          <p:cNvPr id="21" name="Text 19"/>
          <p:cNvSpPr/>
          <p:nvPr/>
        </p:nvSpPr>
        <p:spPr>
          <a:xfrm>
            <a:off x="9034272" y="2002536"/>
            <a:ext cx="2359152"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Remote MCP server</a:t>
            </a:r>
            <a:endParaRPr lang="en-US" sz="1410" dirty="0"/>
          </a:p>
        </p:txBody>
      </p:sp>
      <p:sp>
        <p:nvSpPr>
          <p:cNvPr id="22" name="Text 20"/>
          <p:cNvSpPr/>
          <p:nvPr/>
        </p:nvSpPr>
        <p:spPr>
          <a:xfrm>
            <a:off x="9052560" y="2340864"/>
            <a:ext cx="2322576" cy="594360"/>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Jira · Confluence · GitLab</a:t>
            </a:r>
            <a:endParaRPr lang="en-US" sz="1010" dirty="0"/>
          </a:p>
          <a:p>
            <a:pPr algn="ctr" indent="0" marL="0">
              <a:buNone/>
            </a:pPr>
            <a:r>
              <a:rPr lang="en-US" sz="1010" dirty="0">
                <a:solidFill>
                  <a:srgbClr val="5B7190"/>
                </a:solidFill>
                <a:latin typeface="Aptos" pitchFamily="34" charset="0"/>
                <a:ea typeface="Aptos" pitchFamily="34" charset="-122"/>
                <a:cs typeface="Aptos" pitchFamily="34" charset="-120"/>
              </a:rPr>
              <a:t>Sonar / other configured</a:t>
            </a:r>
            <a:endParaRPr lang="en-US" sz="1010" dirty="0"/>
          </a:p>
        </p:txBody>
      </p:sp>
      <p:sp>
        <p:nvSpPr>
          <p:cNvPr id="23" name="Shape 21"/>
          <p:cNvSpPr/>
          <p:nvPr/>
        </p:nvSpPr>
        <p:spPr>
          <a:xfrm>
            <a:off x="2834640" y="2450592"/>
            <a:ext cx="347472" cy="0"/>
          </a:xfrm>
          <a:prstGeom prst="line">
            <a:avLst/>
          </a:prstGeom>
          <a:noFill/>
          <a:ln w="17780">
            <a:solidFill>
              <a:srgbClr val="1767C7"/>
            </a:solidFill>
            <a:prstDash val="solid"/>
            <a:headEnd type="none"/>
            <a:tailEnd type="triangle"/>
          </a:ln>
        </p:spPr>
      </p:sp>
      <p:sp>
        <p:nvSpPr>
          <p:cNvPr id="24" name="Shape 22"/>
          <p:cNvSpPr/>
          <p:nvPr/>
        </p:nvSpPr>
        <p:spPr>
          <a:xfrm>
            <a:off x="5541264" y="2450592"/>
            <a:ext cx="338328" cy="0"/>
          </a:xfrm>
          <a:prstGeom prst="line">
            <a:avLst/>
          </a:prstGeom>
          <a:noFill/>
          <a:ln w="17780">
            <a:solidFill>
              <a:srgbClr val="1767C7"/>
            </a:solidFill>
            <a:prstDash val="solid"/>
            <a:headEnd type="none"/>
            <a:tailEnd type="triangle"/>
          </a:ln>
        </p:spPr>
      </p:sp>
      <p:sp>
        <p:nvSpPr>
          <p:cNvPr id="25" name="Shape 23"/>
          <p:cNvSpPr/>
          <p:nvPr/>
        </p:nvSpPr>
        <p:spPr>
          <a:xfrm>
            <a:off x="8558784" y="2450592"/>
            <a:ext cx="338328" cy="0"/>
          </a:xfrm>
          <a:prstGeom prst="line">
            <a:avLst/>
          </a:prstGeom>
          <a:noFill/>
          <a:ln w="17780">
            <a:solidFill>
              <a:srgbClr val="1767C7"/>
            </a:solidFill>
            <a:prstDash val="solid"/>
            <a:headEnd type="none"/>
            <a:tailEnd type="triangle"/>
          </a:ln>
        </p:spPr>
      </p:sp>
      <p:sp>
        <p:nvSpPr>
          <p:cNvPr id="26" name="Shape 24"/>
          <p:cNvSpPr/>
          <p:nvPr/>
        </p:nvSpPr>
        <p:spPr>
          <a:xfrm>
            <a:off x="576072" y="3721608"/>
            <a:ext cx="5394960" cy="1517904"/>
          </a:xfrm>
          <a:prstGeom prst="roundRect">
            <a:avLst>
              <a:gd name="adj" fmla="val 6627"/>
            </a:avLst>
          </a:prstGeom>
          <a:solidFill>
            <a:srgbClr val="E7F5F1"/>
          </a:solidFill>
          <a:ln w="9525">
            <a:solidFill>
              <a:srgbClr val="D8E5F2"/>
            </a:solidFill>
            <a:prstDash val="solid"/>
          </a:ln>
        </p:spPr>
      </p:sp>
      <p:sp>
        <p:nvSpPr>
          <p:cNvPr id="27" name="Text 25"/>
          <p:cNvSpPr/>
          <p:nvPr/>
        </p:nvSpPr>
        <p:spPr>
          <a:xfrm>
            <a:off x="740664" y="3840480"/>
            <a:ext cx="5084064"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Allowed</a:t>
            </a:r>
            <a:endParaRPr lang="en-US" sz="1350" dirty="0"/>
          </a:p>
        </p:txBody>
      </p:sp>
      <p:sp>
        <p:nvSpPr>
          <p:cNvPr id="28" name="Text 26"/>
          <p:cNvSpPr/>
          <p:nvPr/>
        </p:nvSpPr>
        <p:spPr>
          <a:xfrm>
            <a:off x="758952" y="423367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29" name="Text 27"/>
          <p:cNvSpPr/>
          <p:nvPr/>
        </p:nvSpPr>
        <p:spPr>
          <a:xfrm>
            <a:off x="996696" y="4224528"/>
            <a:ext cx="4782312"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Current prompt includes “MCP”</a:t>
            </a:r>
            <a:endParaRPr lang="en-US" sz="1080" dirty="0"/>
          </a:p>
        </p:txBody>
      </p:sp>
      <p:sp>
        <p:nvSpPr>
          <p:cNvPr id="30" name="Text 28"/>
          <p:cNvSpPr/>
          <p:nvPr/>
        </p:nvSpPr>
        <p:spPr>
          <a:xfrm>
            <a:off x="758952" y="455371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1" name="Text 29"/>
          <p:cNvSpPr/>
          <p:nvPr/>
        </p:nvSpPr>
        <p:spPr>
          <a:xfrm>
            <a:off x="996696" y="4544568"/>
            <a:ext cx="4782312"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MCP configuration enabled</a:t>
            </a:r>
            <a:endParaRPr lang="en-US" sz="1080" dirty="0"/>
          </a:p>
        </p:txBody>
      </p:sp>
      <p:sp>
        <p:nvSpPr>
          <p:cNvPr id="32" name="Text 30"/>
          <p:cNvSpPr/>
          <p:nvPr/>
        </p:nvSpPr>
        <p:spPr>
          <a:xfrm>
            <a:off x="758952" y="487375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3" name="Text 31"/>
          <p:cNvSpPr/>
          <p:nvPr/>
        </p:nvSpPr>
        <p:spPr>
          <a:xfrm>
            <a:off x="996696" y="4864608"/>
            <a:ext cx="4782312"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Requested operation passes runtime permission policy</a:t>
            </a:r>
            <a:endParaRPr lang="en-US" sz="1080" dirty="0"/>
          </a:p>
        </p:txBody>
      </p:sp>
      <p:sp>
        <p:nvSpPr>
          <p:cNvPr id="34" name="Shape 32"/>
          <p:cNvSpPr/>
          <p:nvPr/>
        </p:nvSpPr>
        <p:spPr>
          <a:xfrm>
            <a:off x="6172200" y="3721608"/>
            <a:ext cx="5394960" cy="1517904"/>
          </a:xfrm>
          <a:prstGeom prst="roundRect">
            <a:avLst>
              <a:gd name="adj" fmla="val 6627"/>
            </a:avLst>
          </a:prstGeom>
          <a:solidFill>
            <a:srgbClr val="F5F9FE"/>
          </a:solidFill>
          <a:ln w="9525">
            <a:solidFill>
              <a:srgbClr val="D8E5F2"/>
            </a:solidFill>
            <a:prstDash val="solid"/>
          </a:ln>
        </p:spPr>
      </p:sp>
      <p:sp>
        <p:nvSpPr>
          <p:cNvPr id="35" name="Text 33"/>
          <p:cNvSpPr/>
          <p:nvPr/>
        </p:nvSpPr>
        <p:spPr>
          <a:xfrm>
            <a:off x="6336792" y="3840480"/>
            <a:ext cx="5084064"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Denied / skipped</a:t>
            </a:r>
            <a:endParaRPr lang="en-US" sz="1350" dirty="0"/>
          </a:p>
        </p:txBody>
      </p:sp>
      <p:sp>
        <p:nvSpPr>
          <p:cNvPr id="36" name="Text 34"/>
          <p:cNvSpPr/>
          <p:nvPr/>
        </p:nvSpPr>
        <p:spPr>
          <a:xfrm>
            <a:off x="6355080" y="423367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7" name="Text 35"/>
          <p:cNvSpPr/>
          <p:nvPr/>
        </p:nvSpPr>
        <p:spPr>
          <a:xfrm>
            <a:off x="6592824" y="4224528"/>
            <a:ext cx="4782312"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Only earlier chat or attachments mention MCP</a:t>
            </a:r>
            <a:endParaRPr lang="en-US" sz="1080" dirty="0"/>
          </a:p>
        </p:txBody>
      </p:sp>
      <p:sp>
        <p:nvSpPr>
          <p:cNvPr id="38" name="Text 36"/>
          <p:cNvSpPr/>
          <p:nvPr/>
        </p:nvSpPr>
        <p:spPr>
          <a:xfrm>
            <a:off x="6355080" y="455371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9" name="Text 37"/>
          <p:cNvSpPr/>
          <p:nvPr/>
        </p:nvSpPr>
        <p:spPr>
          <a:xfrm>
            <a:off x="6592824" y="4544568"/>
            <a:ext cx="4782312"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User disabled MCP</a:t>
            </a:r>
            <a:endParaRPr lang="en-US" sz="1080" dirty="0"/>
          </a:p>
        </p:txBody>
      </p:sp>
      <p:sp>
        <p:nvSpPr>
          <p:cNvPr id="40" name="Text 38"/>
          <p:cNvSpPr/>
          <p:nvPr/>
        </p:nvSpPr>
        <p:spPr>
          <a:xfrm>
            <a:off x="6355080" y="487375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1" name="Text 39"/>
          <p:cNvSpPr/>
          <p:nvPr/>
        </p:nvSpPr>
        <p:spPr>
          <a:xfrm>
            <a:off x="6592824" y="4864608"/>
            <a:ext cx="4782312"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Requested tool/action violates permissions</a:t>
            </a:r>
            <a:endParaRPr lang="en-US" sz="1080" dirty="0"/>
          </a:p>
        </p:txBody>
      </p:sp>
      <p:sp>
        <p:nvSpPr>
          <p:cNvPr id="42" name="Shape 40"/>
          <p:cNvSpPr/>
          <p:nvPr/>
        </p:nvSpPr>
        <p:spPr>
          <a:xfrm>
            <a:off x="530352" y="5641848"/>
            <a:ext cx="11137392" cy="484632"/>
          </a:xfrm>
          <a:prstGeom prst="roundRect">
            <a:avLst>
              <a:gd name="adj" fmla="val 20755"/>
            </a:avLst>
          </a:prstGeom>
          <a:solidFill>
            <a:srgbClr val="EDF5FD"/>
          </a:solidFill>
          <a:ln w="9525">
            <a:solidFill>
              <a:srgbClr val="EDF5FD"/>
            </a:solidFill>
            <a:prstDash val="solid"/>
          </a:ln>
        </p:spPr>
      </p:sp>
      <p:sp>
        <p:nvSpPr>
          <p:cNvPr id="43" name="Text 41"/>
          <p:cNvSpPr/>
          <p:nvPr/>
        </p:nvSpPr>
        <p:spPr>
          <a:xfrm>
            <a:off x="713232" y="5728716"/>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POLICY</a:t>
            </a:r>
            <a:endParaRPr lang="en-US" sz="1110" dirty="0"/>
          </a:p>
        </p:txBody>
      </p:sp>
      <p:sp>
        <p:nvSpPr>
          <p:cNvPr id="44" name="Text 42"/>
          <p:cNvSpPr/>
          <p:nvPr/>
        </p:nvSpPr>
        <p:spPr>
          <a:xfrm>
            <a:off x="2423160" y="5692140"/>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Issue IDs, links and integration names alone do not bypass the MCP prompt gate.</a:t>
            </a:r>
            <a:endParaRPr lang="en-US" sz="109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TOOL GOVERNANCE</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Tool execution and mutation controls</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Model tool requests are mediated before touching files, processes or Git.</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EXECUTION</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15</a:t>
            </a:r>
            <a:endParaRPr lang="en-US" sz="900" dirty="0"/>
          </a:p>
        </p:txBody>
      </p:sp>
      <p:sp>
        <p:nvSpPr>
          <p:cNvPr id="11" name="Shape 9"/>
          <p:cNvSpPr/>
          <p:nvPr/>
        </p:nvSpPr>
        <p:spPr>
          <a:xfrm>
            <a:off x="566928" y="1527048"/>
            <a:ext cx="6483096" cy="832104"/>
          </a:xfrm>
          <a:prstGeom prst="roundRect">
            <a:avLst>
              <a:gd name="adj" fmla="val 12088"/>
            </a:avLst>
          </a:prstGeom>
          <a:solidFill>
            <a:srgbClr val="FFFFFF"/>
          </a:solidFill>
          <a:ln w="9525">
            <a:solidFill>
              <a:srgbClr val="D8E5F2"/>
            </a:solidFill>
            <a:prstDash val="solid"/>
          </a:ln>
        </p:spPr>
      </p:sp>
      <p:sp>
        <p:nvSpPr>
          <p:cNvPr id="12" name="Shape 10"/>
          <p:cNvSpPr/>
          <p:nvPr/>
        </p:nvSpPr>
        <p:spPr>
          <a:xfrm>
            <a:off x="566928" y="1527048"/>
            <a:ext cx="50292" cy="832104"/>
          </a:xfrm>
          <a:prstGeom prst="rect">
            <a:avLst>
              <a:gd name="adj" fmla="val 163636"/>
            </a:avLst>
          </a:prstGeom>
          <a:solidFill>
            <a:srgbClr val="1767C7"/>
          </a:solidFill>
          <a:ln w="9525">
            <a:solidFill>
              <a:srgbClr val="1767C7"/>
            </a:solidFill>
            <a:prstDash val="solid"/>
          </a:ln>
        </p:spPr>
      </p:sp>
      <p:sp>
        <p:nvSpPr>
          <p:cNvPr id="13" name="Text 11"/>
          <p:cNvSpPr/>
          <p:nvPr/>
        </p:nvSpPr>
        <p:spPr>
          <a:xfrm>
            <a:off x="722376" y="1636776"/>
            <a:ext cx="6190488" cy="283464"/>
          </a:xfrm>
          <a:prstGeom prst="rect">
            <a:avLst/>
          </a:prstGeom>
          <a:noFill/>
          <a:ln/>
        </p:spPr>
        <p:txBody>
          <a:bodyPr wrap="square" lIns="0" tIns="0" rIns="0" bIns="0" rtlCol="0" anchor="ctr">
            <a:normAutofit/>
          </a:bodyPr>
          <a:lstStyle/>
          <a:p>
            <a:pPr algn="l" indent="0" marL="0">
              <a:buNone/>
            </a:pPr>
            <a:r>
              <a:rPr lang="en-US" sz="1280" b="1" dirty="0">
                <a:solidFill>
                  <a:srgbClr val="0C2B4E"/>
                </a:solidFill>
                <a:latin typeface="Aptos" pitchFamily="34" charset="0"/>
                <a:ea typeface="Aptos" pitchFamily="34" charset="-122"/>
                <a:cs typeface="Aptos" pitchFamily="34" charset="-120"/>
              </a:rPr>
              <a:t>READ / ANALYZE</a:t>
            </a:r>
            <a:endParaRPr lang="en-US" sz="1280" dirty="0"/>
          </a:p>
        </p:txBody>
      </p:sp>
      <p:sp>
        <p:nvSpPr>
          <p:cNvPr id="14" name="Text 12"/>
          <p:cNvSpPr/>
          <p:nvPr/>
        </p:nvSpPr>
        <p:spPr>
          <a:xfrm>
            <a:off x="722376" y="2011680"/>
            <a:ext cx="6181344" cy="237744"/>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File reads, grep, path lists, index, LSP, document inspection</a:t>
            </a:r>
            <a:endParaRPr lang="en-US" sz="1070" dirty="0"/>
          </a:p>
        </p:txBody>
      </p:sp>
      <p:sp>
        <p:nvSpPr>
          <p:cNvPr id="15" name="Shape 13"/>
          <p:cNvSpPr/>
          <p:nvPr/>
        </p:nvSpPr>
        <p:spPr>
          <a:xfrm>
            <a:off x="566928" y="2532888"/>
            <a:ext cx="6483096" cy="832104"/>
          </a:xfrm>
          <a:prstGeom prst="roundRect">
            <a:avLst>
              <a:gd name="adj" fmla="val 12088"/>
            </a:avLst>
          </a:prstGeom>
          <a:solidFill>
            <a:srgbClr val="F5F9FE"/>
          </a:solidFill>
          <a:ln w="9525">
            <a:solidFill>
              <a:srgbClr val="D8E5F2"/>
            </a:solidFill>
            <a:prstDash val="solid"/>
          </a:ln>
        </p:spPr>
      </p:sp>
      <p:sp>
        <p:nvSpPr>
          <p:cNvPr id="16" name="Shape 14"/>
          <p:cNvSpPr/>
          <p:nvPr/>
        </p:nvSpPr>
        <p:spPr>
          <a:xfrm>
            <a:off x="566928" y="2532888"/>
            <a:ext cx="50292" cy="832104"/>
          </a:xfrm>
          <a:prstGeom prst="rect">
            <a:avLst>
              <a:gd name="adj" fmla="val 163636"/>
            </a:avLst>
          </a:prstGeom>
          <a:solidFill>
            <a:srgbClr val="1767C7"/>
          </a:solidFill>
          <a:ln w="9525">
            <a:solidFill>
              <a:srgbClr val="1767C7"/>
            </a:solidFill>
            <a:prstDash val="solid"/>
          </a:ln>
        </p:spPr>
      </p:sp>
      <p:sp>
        <p:nvSpPr>
          <p:cNvPr id="17" name="Text 15"/>
          <p:cNvSpPr/>
          <p:nvPr/>
        </p:nvSpPr>
        <p:spPr>
          <a:xfrm>
            <a:off x="722376" y="2642616"/>
            <a:ext cx="6190488" cy="283464"/>
          </a:xfrm>
          <a:prstGeom prst="rect">
            <a:avLst/>
          </a:prstGeom>
          <a:noFill/>
          <a:ln/>
        </p:spPr>
        <p:txBody>
          <a:bodyPr wrap="square" lIns="0" tIns="0" rIns="0" bIns="0" rtlCol="0" anchor="ctr">
            <a:normAutofit/>
          </a:bodyPr>
          <a:lstStyle/>
          <a:p>
            <a:pPr algn="l" indent="0" marL="0">
              <a:buNone/>
            </a:pPr>
            <a:r>
              <a:rPr lang="en-US" sz="1280" b="1" dirty="0">
                <a:solidFill>
                  <a:srgbClr val="0C2B4E"/>
                </a:solidFill>
                <a:latin typeface="Aptos" pitchFamily="34" charset="0"/>
                <a:ea typeface="Aptos" pitchFamily="34" charset="-122"/>
                <a:cs typeface="Aptos" pitchFamily="34" charset="-120"/>
              </a:rPr>
              <a:t>CHANGE / PATCH</a:t>
            </a:r>
            <a:endParaRPr lang="en-US" sz="1280" dirty="0"/>
          </a:p>
        </p:txBody>
      </p:sp>
      <p:sp>
        <p:nvSpPr>
          <p:cNvPr id="18" name="Text 16"/>
          <p:cNvSpPr/>
          <p:nvPr/>
        </p:nvSpPr>
        <p:spPr>
          <a:xfrm>
            <a:off x="722376" y="3017520"/>
            <a:ext cx="6181344" cy="237744"/>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Scoped create/edit; operation snapshots and rollback</a:t>
            </a:r>
            <a:endParaRPr lang="en-US" sz="1070" dirty="0"/>
          </a:p>
        </p:txBody>
      </p:sp>
      <p:sp>
        <p:nvSpPr>
          <p:cNvPr id="19" name="Shape 17"/>
          <p:cNvSpPr/>
          <p:nvPr/>
        </p:nvSpPr>
        <p:spPr>
          <a:xfrm>
            <a:off x="566928" y="3538728"/>
            <a:ext cx="6483096" cy="832104"/>
          </a:xfrm>
          <a:prstGeom prst="roundRect">
            <a:avLst>
              <a:gd name="adj" fmla="val 12088"/>
            </a:avLst>
          </a:prstGeom>
          <a:solidFill>
            <a:srgbClr val="FFFFFF"/>
          </a:solidFill>
          <a:ln w="9525">
            <a:solidFill>
              <a:srgbClr val="D8E5F2"/>
            </a:solidFill>
            <a:prstDash val="solid"/>
          </a:ln>
        </p:spPr>
      </p:sp>
      <p:sp>
        <p:nvSpPr>
          <p:cNvPr id="20" name="Shape 18"/>
          <p:cNvSpPr/>
          <p:nvPr/>
        </p:nvSpPr>
        <p:spPr>
          <a:xfrm>
            <a:off x="566928" y="3538728"/>
            <a:ext cx="50292" cy="832104"/>
          </a:xfrm>
          <a:prstGeom prst="rect">
            <a:avLst>
              <a:gd name="adj" fmla="val 163636"/>
            </a:avLst>
          </a:prstGeom>
          <a:solidFill>
            <a:srgbClr val="1767C7"/>
          </a:solidFill>
          <a:ln w="9525">
            <a:solidFill>
              <a:srgbClr val="1767C7"/>
            </a:solidFill>
            <a:prstDash val="solid"/>
          </a:ln>
        </p:spPr>
      </p:sp>
      <p:sp>
        <p:nvSpPr>
          <p:cNvPr id="21" name="Text 19"/>
          <p:cNvSpPr/>
          <p:nvPr/>
        </p:nvSpPr>
        <p:spPr>
          <a:xfrm>
            <a:off x="722376" y="3648456"/>
            <a:ext cx="6190488" cy="283464"/>
          </a:xfrm>
          <a:prstGeom prst="rect">
            <a:avLst/>
          </a:prstGeom>
          <a:noFill/>
          <a:ln/>
        </p:spPr>
        <p:txBody>
          <a:bodyPr wrap="square" lIns="0" tIns="0" rIns="0" bIns="0" rtlCol="0" anchor="ctr">
            <a:normAutofit/>
          </a:bodyPr>
          <a:lstStyle/>
          <a:p>
            <a:pPr algn="l" indent="0" marL="0">
              <a:buNone/>
            </a:pPr>
            <a:r>
              <a:rPr lang="en-US" sz="1280" b="1" dirty="0">
                <a:solidFill>
                  <a:srgbClr val="0C2B4E"/>
                </a:solidFill>
                <a:latin typeface="Aptos" pitchFamily="34" charset="0"/>
                <a:ea typeface="Aptos" pitchFamily="34" charset="-122"/>
                <a:cs typeface="Aptos" pitchFamily="34" charset="-120"/>
              </a:rPr>
              <a:t>EXECUTE / VERIFY</a:t>
            </a:r>
            <a:endParaRPr lang="en-US" sz="1280" dirty="0"/>
          </a:p>
        </p:txBody>
      </p:sp>
      <p:sp>
        <p:nvSpPr>
          <p:cNvPr id="22" name="Text 20"/>
          <p:cNvSpPr/>
          <p:nvPr/>
        </p:nvSpPr>
        <p:spPr>
          <a:xfrm>
            <a:off x="722376" y="4023360"/>
            <a:ext cx="6181344" cy="237744"/>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Shell and process tools, compilation, test and diff review</a:t>
            </a:r>
            <a:endParaRPr lang="en-US" sz="1070" dirty="0"/>
          </a:p>
        </p:txBody>
      </p:sp>
      <p:sp>
        <p:nvSpPr>
          <p:cNvPr id="23" name="Shape 21"/>
          <p:cNvSpPr/>
          <p:nvPr/>
        </p:nvSpPr>
        <p:spPr>
          <a:xfrm>
            <a:off x="566928" y="4544568"/>
            <a:ext cx="6483096" cy="832104"/>
          </a:xfrm>
          <a:prstGeom prst="roundRect">
            <a:avLst>
              <a:gd name="adj" fmla="val 12088"/>
            </a:avLst>
          </a:prstGeom>
          <a:solidFill>
            <a:srgbClr val="F5F9FE"/>
          </a:solidFill>
          <a:ln w="9525">
            <a:solidFill>
              <a:srgbClr val="D8E5F2"/>
            </a:solidFill>
            <a:prstDash val="solid"/>
          </a:ln>
        </p:spPr>
      </p:sp>
      <p:sp>
        <p:nvSpPr>
          <p:cNvPr id="24" name="Shape 22"/>
          <p:cNvSpPr/>
          <p:nvPr/>
        </p:nvSpPr>
        <p:spPr>
          <a:xfrm>
            <a:off x="566928" y="4544568"/>
            <a:ext cx="50292" cy="832104"/>
          </a:xfrm>
          <a:prstGeom prst="rect">
            <a:avLst>
              <a:gd name="adj" fmla="val 163636"/>
            </a:avLst>
          </a:prstGeom>
          <a:solidFill>
            <a:srgbClr val="1767C7"/>
          </a:solidFill>
          <a:ln w="9525">
            <a:solidFill>
              <a:srgbClr val="1767C7"/>
            </a:solidFill>
            <a:prstDash val="solid"/>
          </a:ln>
        </p:spPr>
      </p:sp>
      <p:sp>
        <p:nvSpPr>
          <p:cNvPr id="25" name="Text 23"/>
          <p:cNvSpPr/>
          <p:nvPr/>
        </p:nvSpPr>
        <p:spPr>
          <a:xfrm>
            <a:off x="722376" y="4654296"/>
            <a:ext cx="6190488" cy="283464"/>
          </a:xfrm>
          <a:prstGeom prst="rect">
            <a:avLst/>
          </a:prstGeom>
          <a:noFill/>
          <a:ln/>
        </p:spPr>
        <p:txBody>
          <a:bodyPr wrap="square" lIns="0" tIns="0" rIns="0" bIns="0" rtlCol="0" anchor="ctr">
            <a:normAutofit/>
          </a:bodyPr>
          <a:lstStyle/>
          <a:p>
            <a:pPr algn="l" indent="0" marL="0">
              <a:buNone/>
            </a:pPr>
            <a:r>
              <a:rPr lang="en-US" sz="1280" b="1" dirty="0">
                <a:solidFill>
                  <a:srgbClr val="0C2B4E"/>
                </a:solidFill>
                <a:latin typeface="Aptos" pitchFamily="34" charset="0"/>
                <a:ea typeface="Aptos" pitchFamily="34" charset="-122"/>
                <a:cs typeface="Aptos" pitchFamily="34" charset="-120"/>
              </a:rPr>
              <a:t>GIT / WORKTREES</a:t>
            </a:r>
            <a:endParaRPr lang="en-US" sz="1280" dirty="0"/>
          </a:p>
        </p:txBody>
      </p:sp>
      <p:sp>
        <p:nvSpPr>
          <p:cNvPr id="26" name="Text 24"/>
          <p:cNvSpPr/>
          <p:nvPr/>
        </p:nvSpPr>
        <p:spPr>
          <a:xfrm>
            <a:off x="722376" y="5029200"/>
            <a:ext cx="6181344" cy="237744"/>
          </a:xfrm>
          <a:prstGeom prst="rect">
            <a:avLst/>
          </a:prstGeom>
          <a:noFill/>
          <a:ln/>
        </p:spPr>
        <p:txBody>
          <a:bodyPr wrap="square" lIns="0" tIns="0" rIns="0" bIns="0" rtlCol="0" anchor="ctr">
            <a:normAutofit/>
          </a:bodyPr>
          <a:lstStyle/>
          <a:p>
            <a:pPr algn="l" indent="0" marL="0">
              <a:buNone/>
            </a:pPr>
            <a:r>
              <a:rPr lang="en-US" sz="1070" dirty="0">
                <a:solidFill>
                  <a:srgbClr val="5B7190"/>
                </a:solidFill>
                <a:latin typeface="Aptos" pitchFamily="34" charset="0"/>
                <a:ea typeface="Aptos" pitchFamily="34" charset="-122"/>
                <a:cs typeface="Aptos" pitchFamily="34" charset="-120"/>
              </a:rPr>
              <a:t>Repository discovery, scoped branch and worktree operations</a:t>
            </a:r>
            <a:endParaRPr lang="en-US" sz="1070" dirty="0"/>
          </a:p>
        </p:txBody>
      </p:sp>
      <p:sp>
        <p:nvSpPr>
          <p:cNvPr id="27" name="Shape 25"/>
          <p:cNvSpPr/>
          <p:nvPr/>
        </p:nvSpPr>
        <p:spPr>
          <a:xfrm>
            <a:off x="7498080" y="1545336"/>
            <a:ext cx="4005072" cy="3968496"/>
          </a:xfrm>
          <a:prstGeom prst="roundRect">
            <a:avLst>
              <a:gd name="adj" fmla="val 2535"/>
            </a:avLst>
          </a:prstGeom>
          <a:solidFill>
            <a:srgbClr val="EDF5FD"/>
          </a:solidFill>
          <a:ln w="9525">
            <a:solidFill>
              <a:srgbClr val="D8E5F2"/>
            </a:solidFill>
            <a:prstDash val="solid"/>
          </a:ln>
        </p:spPr>
      </p:sp>
      <p:sp>
        <p:nvSpPr>
          <p:cNvPr id="28" name="Text 26"/>
          <p:cNvSpPr/>
          <p:nvPr/>
        </p:nvSpPr>
        <p:spPr>
          <a:xfrm>
            <a:off x="7754112" y="1755648"/>
            <a:ext cx="3429000" cy="374904"/>
          </a:xfrm>
          <a:prstGeom prst="rect">
            <a:avLst/>
          </a:prstGeom>
          <a:noFill/>
          <a:ln/>
        </p:spPr>
        <p:txBody>
          <a:bodyPr wrap="square" lIns="0" tIns="0" rIns="0" bIns="0" rtlCol="0" anchor="ctr">
            <a:normAutofit/>
          </a:bodyPr>
          <a:lstStyle/>
          <a:p>
            <a:pPr algn="l" indent="0" marL="0">
              <a:buNone/>
            </a:pPr>
            <a:r>
              <a:rPr lang="en-US" sz="1700" b="1" dirty="0">
                <a:solidFill>
                  <a:srgbClr val="0C2B4E"/>
                </a:solidFill>
                <a:latin typeface="Aptos" pitchFamily="34" charset="0"/>
                <a:ea typeface="Aptos" pitchFamily="34" charset="-122"/>
                <a:cs typeface="Aptos" pitchFamily="34" charset="-120"/>
              </a:rPr>
              <a:t>Policy checkpoints</a:t>
            </a:r>
            <a:endParaRPr lang="en-US" sz="1700" dirty="0"/>
          </a:p>
        </p:txBody>
      </p:sp>
      <p:sp>
        <p:nvSpPr>
          <p:cNvPr id="29" name="Shape 27"/>
          <p:cNvSpPr/>
          <p:nvPr/>
        </p:nvSpPr>
        <p:spPr>
          <a:xfrm>
            <a:off x="7763256" y="2391156"/>
            <a:ext cx="91440" cy="91440"/>
          </a:xfrm>
          <a:prstGeom prst="ellipse">
            <a:avLst>
              <a:gd name="adj" fmla="val 90000"/>
            </a:avLst>
          </a:prstGeom>
          <a:solidFill>
            <a:srgbClr val="1767C7"/>
          </a:solidFill>
          <a:ln w="9525">
            <a:solidFill>
              <a:srgbClr val="1767C7"/>
            </a:solidFill>
            <a:prstDash val="solid"/>
          </a:ln>
        </p:spPr>
      </p:sp>
      <p:sp>
        <p:nvSpPr>
          <p:cNvPr id="30" name="Text 28"/>
          <p:cNvSpPr/>
          <p:nvPr/>
        </p:nvSpPr>
        <p:spPr>
          <a:xfrm>
            <a:off x="7946136" y="2331720"/>
            <a:ext cx="3163824" cy="237744"/>
          </a:xfrm>
          <a:prstGeom prst="rect">
            <a:avLst/>
          </a:prstGeom>
          <a:noFill/>
          <a:ln/>
        </p:spPr>
        <p:txBody>
          <a:bodyPr wrap="square" lIns="0" tIns="0" rIns="0" bIns="0" rtlCol="0" anchor="ctr">
            <a:normAutofit/>
          </a:bodyPr>
          <a:lstStyle/>
          <a:p>
            <a:pPr algn="l" indent="0" marL="0">
              <a:buNone/>
            </a:pPr>
            <a:r>
              <a:rPr lang="en-US" sz="1160" b="1" dirty="0">
                <a:solidFill>
                  <a:srgbClr val="0C2B4E"/>
                </a:solidFill>
                <a:latin typeface="Aptos" pitchFamily="34" charset="0"/>
                <a:ea typeface="Aptos" pitchFamily="34" charset="-122"/>
                <a:cs typeface="Aptos" pitchFamily="34" charset="-120"/>
              </a:rPr>
              <a:t>Canonical root / path validation</a:t>
            </a:r>
            <a:endParaRPr lang="en-US" sz="1160" dirty="0"/>
          </a:p>
        </p:txBody>
      </p:sp>
      <p:sp>
        <p:nvSpPr>
          <p:cNvPr id="31" name="Shape 29"/>
          <p:cNvSpPr/>
          <p:nvPr/>
        </p:nvSpPr>
        <p:spPr>
          <a:xfrm>
            <a:off x="7763256" y="2958084"/>
            <a:ext cx="91440" cy="91440"/>
          </a:xfrm>
          <a:prstGeom prst="ellipse">
            <a:avLst>
              <a:gd name="adj" fmla="val 90000"/>
            </a:avLst>
          </a:prstGeom>
          <a:solidFill>
            <a:srgbClr val="1767C7"/>
          </a:solidFill>
          <a:ln w="9525">
            <a:solidFill>
              <a:srgbClr val="1767C7"/>
            </a:solidFill>
            <a:prstDash val="solid"/>
          </a:ln>
        </p:spPr>
      </p:sp>
      <p:sp>
        <p:nvSpPr>
          <p:cNvPr id="32" name="Text 30"/>
          <p:cNvSpPr/>
          <p:nvPr/>
        </p:nvSpPr>
        <p:spPr>
          <a:xfrm>
            <a:off x="7946136" y="2898648"/>
            <a:ext cx="3163824" cy="237744"/>
          </a:xfrm>
          <a:prstGeom prst="rect">
            <a:avLst/>
          </a:prstGeom>
          <a:noFill/>
          <a:ln/>
        </p:spPr>
        <p:txBody>
          <a:bodyPr wrap="square" lIns="0" tIns="0" rIns="0" bIns="0" rtlCol="0" anchor="ctr">
            <a:normAutofit/>
          </a:bodyPr>
          <a:lstStyle/>
          <a:p>
            <a:pPr algn="l" indent="0" marL="0">
              <a:buNone/>
            </a:pPr>
            <a:r>
              <a:rPr lang="en-US" sz="1160" b="1" dirty="0">
                <a:solidFill>
                  <a:srgbClr val="0C2B4E"/>
                </a:solidFill>
                <a:latin typeface="Aptos" pitchFamily="34" charset="0"/>
                <a:ea typeface="Aptos" pitchFamily="34" charset="-122"/>
                <a:cs typeface="Aptos" pitchFamily="34" charset="-120"/>
              </a:rPr>
              <a:t>Writable vs read-only resources</a:t>
            </a:r>
            <a:endParaRPr lang="en-US" sz="1160" dirty="0"/>
          </a:p>
        </p:txBody>
      </p:sp>
      <p:sp>
        <p:nvSpPr>
          <p:cNvPr id="33" name="Shape 31"/>
          <p:cNvSpPr/>
          <p:nvPr/>
        </p:nvSpPr>
        <p:spPr>
          <a:xfrm>
            <a:off x="7763256" y="3525012"/>
            <a:ext cx="91440" cy="91440"/>
          </a:xfrm>
          <a:prstGeom prst="ellipse">
            <a:avLst>
              <a:gd name="adj" fmla="val 90000"/>
            </a:avLst>
          </a:prstGeom>
          <a:solidFill>
            <a:srgbClr val="1767C7"/>
          </a:solidFill>
          <a:ln w="9525">
            <a:solidFill>
              <a:srgbClr val="1767C7"/>
            </a:solidFill>
            <a:prstDash val="solid"/>
          </a:ln>
        </p:spPr>
      </p:sp>
      <p:sp>
        <p:nvSpPr>
          <p:cNvPr id="34" name="Text 32"/>
          <p:cNvSpPr/>
          <p:nvPr/>
        </p:nvSpPr>
        <p:spPr>
          <a:xfrm>
            <a:off x="7946136" y="3465576"/>
            <a:ext cx="3163824" cy="237744"/>
          </a:xfrm>
          <a:prstGeom prst="rect">
            <a:avLst/>
          </a:prstGeom>
          <a:noFill/>
          <a:ln/>
        </p:spPr>
        <p:txBody>
          <a:bodyPr wrap="square" lIns="0" tIns="0" rIns="0" bIns="0" rtlCol="0" anchor="ctr">
            <a:normAutofit/>
          </a:bodyPr>
          <a:lstStyle/>
          <a:p>
            <a:pPr algn="l" indent="0" marL="0">
              <a:buNone/>
            </a:pPr>
            <a:r>
              <a:rPr lang="en-US" sz="1160" b="1" dirty="0">
                <a:solidFill>
                  <a:srgbClr val="0C2B4E"/>
                </a:solidFill>
                <a:latin typeface="Aptos" pitchFamily="34" charset="0"/>
                <a:ea typeface="Aptos" pitchFamily="34" charset="-122"/>
                <a:cs typeface="Aptos" pitchFamily="34" charset="-120"/>
              </a:rPr>
              <a:t>Sensitive deletion approval / timeout</a:t>
            </a:r>
            <a:endParaRPr lang="en-US" sz="1160" dirty="0"/>
          </a:p>
        </p:txBody>
      </p:sp>
      <p:sp>
        <p:nvSpPr>
          <p:cNvPr id="35" name="Shape 33"/>
          <p:cNvSpPr/>
          <p:nvPr/>
        </p:nvSpPr>
        <p:spPr>
          <a:xfrm>
            <a:off x="7763256" y="4091940"/>
            <a:ext cx="91440" cy="91440"/>
          </a:xfrm>
          <a:prstGeom prst="ellipse">
            <a:avLst>
              <a:gd name="adj" fmla="val 90000"/>
            </a:avLst>
          </a:prstGeom>
          <a:solidFill>
            <a:srgbClr val="1767C7"/>
          </a:solidFill>
          <a:ln w="9525">
            <a:solidFill>
              <a:srgbClr val="1767C7"/>
            </a:solidFill>
            <a:prstDash val="solid"/>
          </a:ln>
        </p:spPr>
      </p:sp>
      <p:sp>
        <p:nvSpPr>
          <p:cNvPr id="36" name="Text 34"/>
          <p:cNvSpPr/>
          <p:nvPr/>
        </p:nvSpPr>
        <p:spPr>
          <a:xfrm>
            <a:off x="7946136" y="4032504"/>
            <a:ext cx="3163824" cy="237744"/>
          </a:xfrm>
          <a:prstGeom prst="rect">
            <a:avLst/>
          </a:prstGeom>
          <a:noFill/>
          <a:ln/>
        </p:spPr>
        <p:txBody>
          <a:bodyPr wrap="square" lIns="0" tIns="0" rIns="0" bIns="0" rtlCol="0" anchor="ctr">
            <a:normAutofit/>
          </a:bodyPr>
          <a:lstStyle/>
          <a:p>
            <a:pPr algn="l" indent="0" marL="0">
              <a:buNone/>
            </a:pPr>
            <a:r>
              <a:rPr lang="en-US" sz="1160" b="1" dirty="0">
                <a:solidFill>
                  <a:srgbClr val="0C2B4E"/>
                </a:solidFill>
                <a:latin typeface="Aptos" pitchFamily="34" charset="0"/>
                <a:ea typeface="Aptos" pitchFamily="34" charset="-122"/>
                <a:cs typeface="Aptos" pitchFamily="34" charset="-120"/>
              </a:rPr>
              <a:t>Command and Git argument validation</a:t>
            </a:r>
            <a:endParaRPr lang="en-US" sz="1160" dirty="0"/>
          </a:p>
        </p:txBody>
      </p:sp>
      <p:sp>
        <p:nvSpPr>
          <p:cNvPr id="37" name="Shape 35"/>
          <p:cNvSpPr/>
          <p:nvPr/>
        </p:nvSpPr>
        <p:spPr>
          <a:xfrm>
            <a:off x="7763256" y="4658868"/>
            <a:ext cx="91440" cy="91440"/>
          </a:xfrm>
          <a:prstGeom prst="ellipse">
            <a:avLst>
              <a:gd name="adj" fmla="val 90000"/>
            </a:avLst>
          </a:prstGeom>
          <a:solidFill>
            <a:srgbClr val="1767C7"/>
          </a:solidFill>
          <a:ln w="9525">
            <a:solidFill>
              <a:srgbClr val="1767C7"/>
            </a:solidFill>
            <a:prstDash val="solid"/>
          </a:ln>
        </p:spPr>
      </p:sp>
      <p:sp>
        <p:nvSpPr>
          <p:cNvPr id="38" name="Text 36"/>
          <p:cNvSpPr/>
          <p:nvPr/>
        </p:nvSpPr>
        <p:spPr>
          <a:xfrm>
            <a:off x="7946136" y="4599432"/>
            <a:ext cx="3163824" cy="237744"/>
          </a:xfrm>
          <a:prstGeom prst="rect">
            <a:avLst/>
          </a:prstGeom>
          <a:noFill/>
          <a:ln/>
        </p:spPr>
        <p:txBody>
          <a:bodyPr wrap="square" lIns="0" tIns="0" rIns="0" bIns="0" rtlCol="0" anchor="ctr">
            <a:normAutofit/>
          </a:bodyPr>
          <a:lstStyle/>
          <a:p>
            <a:pPr algn="l" indent="0" marL="0">
              <a:buNone/>
            </a:pPr>
            <a:r>
              <a:rPr lang="en-US" sz="1160" b="1" dirty="0">
                <a:solidFill>
                  <a:srgbClr val="0C2B4E"/>
                </a:solidFill>
                <a:latin typeface="Aptos" pitchFamily="34" charset="0"/>
                <a:ea typeface="Aptos" pitchFamily="34" charset="-122"/>
                <a:cs typeface="Aptos" pitchFamily="34" charset="-120"/>
              </a:rPr>
              <a:t>Outcome checks + reversal protection</a:t>
            </a:r>
            <a:endParaRPr lang="en-US" sz="11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WORKSPACE TOPOLOGY</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Multi-repository Git and workspace isolation</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Repository operations select an exact root; worktrees reduce conflicting parallel modifications.</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EXECUTION</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16</a:t>
            </a:r>
            <a:endParaRPr lang="en-US" sz="900" dirty="0"/>
          </a:p>
        </p:txBody>
      </p:sp>
      <p:sp>
        <p:nvSpPr>
          <p:cNvPr id="11" name="Shape 9"/>
          <p:cNvSpPr/>
          <p:nvPr/>
        </p:nvSpPr>
        <p:spPr>
          <a:xfrm>
            <a:off x="4142232" y="1536192"/>
            <a:ext cx="3877056" cy="804672"/>
          </a:xfrm>
          <a:prstGeom prst="roundRect">
            <a:avLst>
              <a:gd name="adj" fmla="val 12500"/>
            </a:avLst>
          </a:prstGeom>
          <a:solidFill>
            <a:srgbClr val="EDF5FD"/>
          </a:solidFill>
          <a:ln w="9525">
            <a:solidFill>
              <a:srgbClr val="D8E5F2"/>
            </a:solidFill>
            <a:prstDash val="solid"/>
          </a:ln>
        </p:spPr>
      </p:sp>
      <p:sp>
        <p:nvSpPr>
          <p:cNvPr id="12" name="Text 10"/>
          <p:cNvSpPr/>
          <p:nvPr/>
        </p:nvSpPr>
        <p:spPr>
          <a:xfrm>
            <a:off x="4224528" y="1645920"/>
            <a:ext cx="3712464" cy="283464"/>
          </a:xfrm>
          <a:prstGeom prst="rect">
            <a:avLst/>
          </a:prstGeom>
          <a:noFill/>
          <a:ln/>
        </p:spPr>
        <p:txBody>
          <a:bodyPr wrap="square" lIns="0" tIns="0" rIns="0" bIns="0" rtlCol="0" anchor="ctr">
            <a:normAutofit/>
          </a:bodyPr>
          <a:lstStyle/>
          <a:p>
            <a:pPr algn="ctr" indent="0" marL="0">
              <a:buNone/>
            </a:pPr>
            <a:r>
              <a:rPr lang="en-US" sz="1600" b="1" dirty="0">
                <a:solidFill>
                  <a:srgbClr val="0C2B4E"/>
                </a:solidFill>
                <a:latin typeface="Aptos" pitchFamily="34" charset="0"/>
                <a:ea typeface="Aptos" pitchFamily="34" charset="-122"/>
                <a:cs typeface="Aptos" pitchFamily="34" charset="-120"/>
              </a:rPr>
              <a:t>Mapped workspace</a:t>
            </a:r>
            <a:endParaRPr lang="en-US" sz="1600" dirty="0"/>
          </a:p>
        </p:txBody>
      </p:sp>
      <p:sp>
        <p:nvSpPr>
          <p:cNvPr id="13" name="Text 11"/>
          <p:cNvSpPr/>
          <p:nvPr/>
        </p:nvSpPr>
        <p:spPr>
          <a:xfrm>
            <a:off x="4242816" y="1984248"/>
            <a:ext cx="3675888" cy="283464"/>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/workspace/project</a:t>
            </a:r>
            <a:endParaRPr lang="en-US" sz="1010" dirty="0"/>
          </a:p>
        </p:txBody>
      </p:sp>
      <p:sp>
        <p:nvSpPr>
          <p:cNvPr id="14" name="Shape 12"/>
          <p:cNvSpPr/>
          <p:nvPr/>
        </p:nvSpPr>
        <p:spPr>
          <a:xfrm>
            <a:off x="905256" y="2926080"/>
            <a:ext cx="3136392" cy="923544"/>
          </a:xfrm>
          <a:prstGeom prst="roundRect">
            <a:avLst>
              <a:gd name="adj" fmla="val 10891"/>
            </a:avLst>
          </a:prstGeom>
          <a:solidFill>
            <a:srgbClr val="F5F9FE"/>
          </a:solidFill>
          <a:ln w="9525">
            <a:solidFill>
              <a:srgbClr val="D8E5F2"/>
            </a:solidFill>
            <a:prstDash val="solid"/>
          </a:ln>
        </p:spPr>
      </p:sp>
      <p:sp>
        <p:nvSpPr>
          <p:cNvPr id="15" name="Text 13"/>
          <p:cNvSpPr/>
          <p:nvPr/>
        </p:nvSpPr>
        <p:spPr>
          <a:xfrm>
            <a:off x="987552" y="3035808"/>
            <a:ext cx="2971800"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Repo A</a:t>
            </a:r>
            <a:endParaRPr lang="en-US" sz="1410" dirty="0"/>
          </a:p>
        </p:txBody>
      </p:sp>
      <p:sp>
        <p:nvSpPr>
          <p:cNvPr id="16" name="Text 14"/>
          <p:cNvSpPr/>
          <p:nvPr/>
        </p:nvSpPr>
        <p:spPr>
          <a:xfrm>
            <a:off x="1005840" y="3374136"/>
            <a:ext cx="2935224" cy="402336"/>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frontend/.git</a:t>
            </a:r>
            <a:endParaRPr lang="en-US" sz="1010" dirty="0"/>
          </a:p>
        </p:txBody>
      </p:sp>
      <p:sp>
        <p:nvSpPr>
          <p:cNvPr id="17" name="Shape 15"/>
          <p:cNvSpPr/>
          <p:nvPr/>
        </p:nvSpPr>
        <p:spPr>
          <a:xfrm>
            <a:off x="6071616" y="2395728"/>
            <a:ext cx="-3611880" cy="484632"/>
          </a:xfrm>
          <a:prstGeom prst="line">
            <a:avLst/>
          </a:prstGeom>
          <a:noFill/>
          <a:ln w="14605">
            <a:solidFill>
              <a:srgbClr val="1767C7"/>
            </a:solidFill>
            <a:prstDash val="solid"/>
            <a:headEnd type="none"/>
            <a:tailEnd type="triangle"/>
          </a:ln>
        </p:spPr>
      </p:sp>
      <p:sp>
        <p:nvSpPr>
          <p:cNvPr id="18" name="Shape 16"/>
          <p:cNvSpPr/>
          <p:nvPr/>
        </p:nvSpPr>
        <p:spPr>
          <a:xfrm>
            <a:off x="4727448" y="2926080"/>
            <a:ext cx="3136392" cy="923544"/>
          </a:xfrm>
          <a:prstGeom prst="roundRect">
            <a:avLst>
              <a:gd name="adj" fmla="val 10891"/>
            </a:avLst>
          </a:prstGeom>
          <a:solidFill>
            <a:srgbClr val="F5F9FE"/>
          </a:solidFill>
          <a:ln w="9525">
            <a:solidFill>
              <a:srgbClr val="D8E5F2"/>
            </a:solidFill>
            <a:prstDash val="solid"/>
          </a:ln>
        </p:spPr>
      </p:sp>
      <p:sp>
        <p:nvSpPr>
          <p:cNvPr id="19" name="Text 17"/>
          <p:cNvSpPr/>
          <p:nvPr/>
        </p:nvSpPr>
        <p:spPr>
          <a:xfrm>
            <a:off x="4809744" y="3035808"/>
            <a:ext cx="2971800"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Repo B</a:t>
            </a:r>
            <a:endParaRPr lang="en-US" sz="1410" dirty="0"/>
          </a:p>
        </p:txBody>
      </p:sp>
      <p:sp>
        <p:nvSpPr>
          <p:cNvPr id="20" name="Text 18"/>
          <p:cNvSpPr/>
          <p:nvPr/>
        </p:nvSpPr>
        <p:spPr>
          <a:xfrm>
            <a:off x="4828032" y="3374136"/>
            <a:ext cx="2935224" cy="402336"/>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backend/.git</a:t>
            </a:r>
            <a:endParaRPr lang="en-US" sz="1010" dirty="0"/>
          </a:p>
        </p:txBody>
      </p:sp>
      <p:sp>
        <p:nvSpPr>
          <p:cNvPr id="21" name="Shape 19"/>
          <p:cNvSpPr/>
          <p:nvPr/>
        </p:nvSpPr>
        <p:spPr>
          <a:xfrm>
            <a:off x="6071616" y="2395728"/>
            <a:ext cx="210312" cy="484632"/>
          </a:xfrm>
          <a:prstGeom prst="line">
            <a:avLst/>
          </a:prstGeom>
          <a:noFill/>
          <a:ln w="14605">
            <a:solidFill>
              <a:srgbClr val="1767C7"/>
            </a:solidFill>
            <a:prstDash val="solid"/>
            <a:headEnd type="none"/>
            <a:tailEnd type="triangle"/>
          </a:ln>
        </p:spPr>
      </p:sp>
      <p:sp>
        <p:nvSpPr>
          <p:cNvPr id="22" name="Shape 20"/>
          <p:cNvSpPr/>
          <p:nvPr/>
        </p:nvSpPr>
        <p:spPr>
          <a:xfrm>
            <a:off x="8549640" y="2926080"/>
            <a:ext cx="3136392" cy="923544"/>
          </a:xfrm>
          <a:prstGeom prst="roundRect">
            <a:avLst>
              <a:gd name="adj" fmla="val 10891"/>
            </a:avLst>
          </a:prstGeom>
          <a:solidFill>
            <a:srgbClr val="F5F9FE"/>
          </a:solidFill>
          <a:ln w="9525">
            <a:solidFill>
              <a:srgbClr val="D8E5F2"/>
            </a:solidFill>
            <a:prstDash val="solid"/>
          </a:ln>
        </p:spPr>
      </p:sp>
      <p:sp>
        <p:nvSpPr>
          <p:cNvPr id="23" name="Text 21"/>
          <p:cNvSpPr/>
          <p:nvPr/>
        </p:nvSpPr>
        <p:spPr>
          <a:xfrm>
            <a:off x="8631936" y="3035808"/>
            <a:ext cx="2971800"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Repo C</a:t>
            </a:r>
            <a:endParaRPr lang="en-US" sz="1410" dirty="0"/>
          </a:p>
        </p:txBody>
      </p:sp>
      <p:sp>
        <p:nvSpPr>
          <p:cNvPr id="24" name="Text 22"/>
          <p:cNvSpPr/>
          <p:nvPr/>
        </p:nvSpPr>
        <p:spPr>
          <a:xfrm>
            <a:off x="8650224" y="3374136"/>
            <a:ext cx="2935224" cy="402336"/>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automation/.git</a:t>
            </a:r>
            <a:endParaRPr lang="en-US" sz="1010" dirty="0"/>
          </a:p>
        </p:txBody>
      </p:sp>
      <p:sp>
        <p:nvSpPr>
          <p:cNvPr id="25" name="Shape 23"/>
          <p:cNvSpPr/>
          <p:nvPr/>
        </p:nvSpPr>
        <p:spPr>
          <a:xfrm>
            <a:off x="6071616" y="2395728"/>
            <a:ext cx="4032504" cy="484632"/>
          </a:xfrm>
          <a:prstGeom prst="line">
            <a:avLst/>
          </a:prstGeom>
          <a:noFill/>
          <a:ln w="14605">
            <a:solidFill>
              <a:srgbClr val="1767C7"/>
            </a:solidFill>
            <a:prstDash val="solid"/>
            <a:headEnd type="none"/>
            <a:tailEnd type="triangle"/>
          </a:ln>
        </p:spPr>
      </p:sp>
      <p:sp>
        <p:nvSpPr>
          <p:cNvPr id="26" name="Shape 24"/>
          <p:cNvSpPr/>
          <p:nvPr/>
        </p:nvSpPr>
        <p:spPr>
          <a:xfrm>
            <a:off x="621792" y="4434840"/>
            <a:ext cx="5349240" cy="1143000"/>
          </a:xfrm>
          <a:prstGeom prst="roundRect">
            <a:avLst>
              <a:gd name="adj" fmla="val 8800"/>
            </a:avLst>
          </a:prstGeom>
          <a:solidFill>
            <a:srgbClr val="FFFFFF"/>
          </a:solidFill>
          <a:ln w="9525">
            <a:solidFill>
              <a:srgbClr val="D8E5F2"/>
            </a:solidFill>
            <a:prstDash val="solid"/>
          </a:ln>
        </p:spPr>
      </p:sp>
      <p:sp>
        <p:nvSpPr>
          <p:cNvPr id="27" name="Text 25"/>
          <p:cNvSpPr/>
          <p:nvPr/>
        </p:nvSpPr>
        <p:spPr>
          <a:xfrm>
            <a:off x="786384" y="4553712"/>
            <a:ext cx="5038344"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Branch mode</a:t>
            </a:r>
            <a:endParaRPr lang="en-US" sz="1350" dirty="0"/>
          </a:p>
        </p:txBody>
      </p:sp>
      <p:sp>
        <p:nvSpPr>
          <p:cNvPr id="28" name="Text 26"/>
          <p:cNvSpPr/>
          <p:nvPr/>
        </p:nvSpPr>
        <p:spPr>
          <a:xfrm>
            <a:off x="804672" y="494690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29" name="Text 27"/>
          <p:cNvSpPr/>
          <p:nvPr/>
        </p:nvSpPr>
        <p:spPr>
          <a:xfrm>
            <a:off x="1042416" y="4937760"/>
            <a:ext cx="4736592" cy="246888"/>
          </a:xfrm>
          <a:prstGeom prst="rect">
            <a:avLst/>
          </a:prstGeom>
          <a:noFill/>
          <a:ln/>
        </p:spPr>
        <p:txBody>
          <a:bodyPr wrap="square" lIns="0" tIns="0" rIns="0" bIns="0" rtlCol="0" anchor="ctr">
            <a:normAutofit/>
          </a:bodyPr>
          <a:lstStyle/>
          <a:p>
            <a:pPr algn="l" indent="0" marL="0">
              <a:buNone/>
            </a:pPr>
            <a:r>
              <a:rPr lang="en-US" sz="1035" dirty="0">
                <a:solidFill>
                  <a:srgbClr val="5B7190"/>
                </a:solidFill>
                <a:latin typeface="Aptos" pitchFamily="34" charset="0"/>
                <a:ea typeface="Aptos" pitchFamily="34" charset="-122"/>
                <a:cs typeface="Aptos" pitchFamily="34" charset="-120"/>
              </a:rPr>
              <a:t>Create branch without changing current checkout</a:t>
            </a:r>
            <a:endParaRPr lang="en-US" sz="1035" dirty="0"/>
          </a:p>
        </p:txBody>
      </p:sp>
      <p:sp>
        <p:nvSpPr>
          <p:cNvPr id="30" name="Text 28"/>
          <p:cNvSpPr/>
          <p:nvPr/>
        </p:nvSpPr>
        <p:spPr>
          <a:xfrm>
            <a:off x="804672" y="526694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1" name="Text 29"/>
          <p:cNvSpPr/>
          <p:nvPr/>
        </p:nvSpPr>
        <p:spPr>
          <a:xfrm>
            <a:off x="1042416" y="5257800"/>
            <a:ext cx="4736592" cy="246888"/>
          </a:xfrm>
          <a:prstGeom prst="rect">
            <a:avLst/>
          </a:prstGeom>
          <a:noFill/>
          <a:ln/>
        </p:spPr>
        <p:txBody>
          <a:bodyPr wrap="square" lIns="0" tIns="0" rIns="0" bIns="0" rtlCol="0" anchor="ctr">
            <a:normAutofit/>
          </a:bodyPr>
          <a:lstStyle/>
          <a:p>
            <a:pPr algn="l" indent="0" marL="0">
              <a:buNone/>
            </a:pPr>
            <a:r>
              <a:rPr lang="en-US" sz="1035" dirty="0">
                <a:solidFill>
                  <a:srgbClr val="5B7190"/>
                </a:solidFill>
                <a:latin typeface="Aptos" pitchFamily="34" charset="0"/>
                <a:ea typeface="Aptos" pitchFamily="34" charset="-122"/>
                <a:cs typeface="Aptos" pitchFamily="34" charset="-120"/>
              </a:rPr>
              <a:t>Exact repository path / Git-root verification</a:t>
            </a:r>
            <a:endParaRPr lang="en-US" sz="1035" dirty="0"/>
          </a:p>
        </p:txBody>
      </p:sp>
      <p:sp>
        <p:nvSpPr>
          <p:cNvPr id="32" name="Text 30"/>
          <p:cNvSpPr/>
          <p:nvPr/>
        </p:nvSpPr>
        <p:spPr>
          <a:xfrm>
            <a:off x="804672" y="558698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3" name="Text 31"/>
          <p:cNvSpPr/>
          <p:nvPr/>
        </p:nvSpPr>
        <p:spPr>
          <a:xfrm>
            <a:off x="1042416" y="5577840"/>
            <a:ext cx="4736592" cy="246888"/>
          </a:xfrm>
          <a:prstGeom prst="rect">
            <a:avLst/>
          </a:prstGeom>
          <a:noFill/>
          <a:ln/>
        </p:spPr>
        <p:txBody>
          <a:bodyPr wrap="square" lIns="0" tIns="0" rIns="0" bIns="0" rtlCol="0" anchor="ctr">
            <a:normAutofit/>
          </a:bodyPr>
          <a:lstStyle/>
          <a:p>
            <a:pPr algn="l" indent="0" marL="0">
              <a:buNone/>
            </a:pPr>
            <a:r>
              <a:rPr lang="en-US" sz="1035" dirty="0">
                <a:solidFill>
                  <a:srgbClr val="5B7190"/>
                </a:solidFill>
                <a:latin typeface="Aptos" pitchFamily="34" charset="0"/>
                <a:ea typeface="Aptos" pitchFamily="34" charset="-122"/>
                <a:cs typeface="Aptos" pitchFamily="34" charset="-120"/>
              </a:rPr>
              <a:t>No automatic merge or checkout mutation</a:t>
            </a:r>
            <a:endParaRPr lang="en-US" sz="1035" dirty="0"/>
          </a:p>
        </p:txBody>
      </p:sp>
      <p:sp>
        <p:nvSpPr>
          <p:cNvPr id="34" name="Shape 32"/>
          <p:cNvSpPr/>
          <p:nvPr/>
        </p:nvSpPr>
        <p:spPr>
          <a:xfrm>
            <a:off x="6172200" y="4434840"/>
            <a:ext cx="5349240" cy="1143000"/>
          </a:xfrm>
          <a:prstGeom prst="roundRect">
            <a:avLst>
              <a:gd name="adj" fmla="val 8800"/>
            </a:avLst>
          </a:prstGeom>
          <a:solidFill>
            <a:srgbClr val="FFFFFF"/>
          </a:solidFill>
          <a:ln w="9525">
            <a:solidFill>
              <a:srgbClr val="D8E5F2"/>
            </a:solidFill>
            <a:prstDash val="solid"/>
          </a:ln>
        </p:spPr>
      </p:sp>
      <p:sp>
        <p:nvSpPr>
          <p:cNvPr id="35" name="Text 33"/>
          <p:cNvSpPr/>
          <p:nvPr/>
        </p:nvSpPr>
        <p:spPr>
          <a:xfrm>
            <a:off x="6336792" y="4553712"/>
            <a:ext cx="5038344"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Worktree mode</a:t>
            </a:r>
            <a:endParaRPr lang="en-US" sz="1350" dirty="0"/>
          </a:p>
        </p:txBody>
      </p:sp>
      <p:sp>
        <p:nvSpPr>
          <p:cNvPr id="36" name="Text 34"/>
          <p:cNvSpPr/>
          <p:nvPr/>
        </p:nvSpPr>
        <p:spPr>
          <a:xfrm>
            <a:off x="6355080" y="494690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7" name="Text 35"/>
          <p:cNvSpPr/>
          <p:nvPr/>
        </p:nvSpPr>
        <p:spPr>
          <a:xfrm>
            <a:off x="6592824" y="4937760"/>
            <a:ext cx="4736592" cy="246888"/>
          </a:xfrm>
          <a:prstGeom prst="rect">
            <a:avLst/>
          </a:prstGeom>
          <a:noFill/>
          <a:ln/>
        </p:spPr>
        <p:txBody>
          <a:bodyPr wrap="square" lIns="0" tIns="0" rIns="0" bIns="0" rtlCol="0" anchor="ctr">
            <a:normAutofit/>
          </a:bodyPr>
          <a:lstStyle/>
          <a:p>
            <a:pPr algn="l" indent="0" marL="0">
              <a:buNone/>
            </a:pPr>
            <a:r>
              <a:rPr lang="en-US" sz="1035" dirty="0">
                <a:solidFill>
                  <a:srgbClr val="5B7190"/>
                </a:solidFill>
                <a:latin typeface="Aptos" pitchFamily="34" charset="0"/>
                <a:ea typeface="Aptos" pitchFamily="34" charset="-122"/>
                <a:cs typeface="Aptos" pitchFamily="34" charset="-120"/>
              </a:rPr>
              <a:t>New checkout mapped as a fresh project root</a:t>
            </a:r>
            <a:endParaRPr lang="en-US" sz="1035" dirty="0"/>
          </a:p>
        </p:txBody>
      </p:sp>
      <p:sp>
        <p:nvSpPr>
          <p:cNvPr id="38" name="Text 36"/>
          <p:cNvSpPr/>
          <p:nvPr/>
        </p:nvSpPr>
        <p:spPr>
          <a:xfrm>
            <a:off x="6355080" y="526694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9" name="Text 37"/>
          <p:cNvSpPr/>
          <p:nvPr/>
        </p:nvSpPr>
        <p:spPr>
          <a:xfrm>
            <a:off x="6592824" y="5257800"/>
            <a:ext cx="4736592" cy="246888"/>
          </a:xfrm>
          <a:prstGeom prst="rect">
            <a:avLst/>
          </a:prstGeom>
          <a:noFill/>
          <a:ln/>
        </p:spPr>
        <p:txBody>
          <a:bodyPr wrap="square" lIns="0" tIns="0" rIns="0" bIns="0" rtlCol="0" anchor="ctr">
            <a:normAutofit/>
          </a:bodyPr>
          <a:lstStyle/>
          <a:p>
            <a:pPr algn="l" indent="0" marL="0">
              <a:buNone/>
            </a:pPr>
            <a:r>
              <a:rPr lang="en-US" sz="1035" dirty="0">
                <a:solidFill>
                  <a:srgbClr val="5B7190"/>
                </a:solidFill>
                <a:latin typeface="Aptos" pitchFamily="34" charset="0"/>
                <a:ea typeface="Aptos" pitchFamily="34" charset="-122"/>
                <a:cs typeface="Aptos" pitchFamily="34" charset="-120"/>
              </a:rPr>
              <a:t>Independent Terminal can target the worktree</a:t>
            </a:r>
            <a:endParaRPr lang="en-US" sz="1035" dirty="0"/>
          </a:p>
        </p:txBody>
      </p:sp>
      <p:sp>
        <p:nvSpPr>
          <p:cNvPr id="40" name="Text 38"/>
          <p:cNvSpPr/>
          <p:nvPr/>
        </p:nvSpPr>
        <p:spPr>
          <a:xfrm>
            <a:off x="6355080" y="558698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1" name="Text 39"/>
          <p:cNvSpPr/>
          <p:nvPr/>
        </p:nvSpPr>
        <p:spPr>
          <a:xfrm>
            <a:off x="6592824" y="5577840"/>
            <a:ext cx="4736592" cy="246888"/>
          </a:xfrm>
          <a:prstGeom prst="rect">
            <a:avLst/>
          </a:prstGeom>
          <a:noFill/>
          <a:ln/>
        </p:spPr>
        <p:txBody>
          <a:bodyPr wrap="square" lIns="0" tIns="0" rIns="0" bIns="0" rtlCol="0" anchor="ctr">
            <a:normAutofit/>
          </a:bodyPr>
          <a:lstStyle/>
          <a:p>
            <a:pPr algn="l" indent="0" marL="0">
              <a:buNone/>
            </a:pPr>
            <a:r>
              <a:rPr lang="en-US" sz="1035" dirty="0">
                <a:solidFill>
                  <a:srgbClr val="5B7190"/>
                </a:solidFill>
                <a:latin typeface="Aptos" pitchFamily="34" charset="0"/>
                <a:ea typeface="Aptos" pitchFamily="34" charset="-122"/>
                <a:cs typeface="Aptos" pitchFamily="34" charset="-120"/>
              </a:rPr>
              <a:t>Merge, cleanup and conflict resolution stay manual</a:t>
            </a:r>
            <a:endParaRPr lang="en-US" sz="103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DATA ARCHITECTURE</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Local persistence and state ownership</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Relational metadata and structured on-disk artifacts have distinct responsibilities.</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ARCHITECTURE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17</a:t>
            </a:r>
            <a:endParaRPr lang="en-US" sz="900" dirty="0"/>
          </a:p>
        </p:txBody>
      </p:sp>
      <p:sp>
        <p:nvSpPr>
          <p:cNvPr id="11" name="Shape 9"/>
          <p:cNvSpPr/>
          <p:nvPr/>
        </p:nvSpPr>
        <p:spPr>
          <a:xfrm>
            <a:off x="603504" y="1435608"/>
            <a:ext cx="10927080" cy="795528"/>
          </a:xfrm>
          <a:prstGeom prst="roundRect">
            <a:avLst>
              <a:gd name="adj" fmla="val 12644"/>
            </a:avLst>
          </a:prstGeom>
          <a:solidFill>
            <a:srgbClr val="FFFFFF"/>
          </a:solidFill>
          <a:ln w="9525">
            <a:solidFill>
              <a:srgbClr val="D8E5F2"/>
            </a:solidFill>
            <a:prstDash val="solid"/>
          </a:ln>
        </p:spPr>
      </p:sp>
      <p:sp>
        <p:nvSpPr>
          <p:cNvPr id="12" name="Shape 10"/>
          <p:cNvSpPr/>
          <p:nvPr/>
        </p:nvSpPr>
        <p:spPr>
          <a:xfrm>
            <a:off x="777240" y="1609344"/>
            <a:ext cx="2286000" cy="420624"/>
          </a:xfrm>
          <a:prstGeom prst="roundRect">
            <a:avLst>
              <a:gd name="adj" fmla="val 23913"/>
            </a:avLst>
          </a:prstGeom>
          <a:solidFill>
            <a:srgbClr val="EDF5FD"/>
          </a:solidFill>
          <a:ln w="9525">
            <a:solidFill>
              <a:srgbClr val="EDF5FD"/>
            </a:solidFill>
            <a:prstDash val="solid"/>
          </a:ln>
        </p:spPr>
      </p:sp>
      <p:sp>
        <p:nvSpPr>
          <p:cNvPr id="13" name="Text 11"/>
          <p:cNvSpPr/>
          <p:nvPr/>
        </p:nvSpPr>
        <p:spPr>
          <a:xfrm>
            <a:off x="923544" y="1700784"/>
            <a:ext cx="2011680" cy="237744"/>
          </a:xfrm>
          <a:prstGeom prst="rect">
            <a:avLst/>
          </a:prstGeom>
          <a:noFill/>
          <a:ln/>
        </p:spPr>
        <p:txBody>
          <a:bodyPr wrap="square" lIns="0" tIns="0" rIns="0" bIns="0" rtlCol="0" anchor="ctr">
            <a:normAutofit/>
          </a:bodyPr>
          <a:lstStyle/>
          <a:p>
            <a:pPr algn="l" indent="0" marL="0">
              <a:buNone/>
            </a:pPr>
            <a:r>
              <a:rPr lang="en-US" sz="1230" b="1" dirty="0">
                <a:solidFill>
                  <a:srgbClr val="1767C7"/>
                </a:solidFill>
                <a:latin typeface="Aptos" pitchFamily="34" charset="0"/>
                <a:ea typeface="Aptos" pitchFamily="34" charset="-122"/>
                <a:cs typeface="Aptos" pitchFamily="34" charset="-120"/>
              </a:rPr>
              <a:t>H2 + JPA entities</a:t>
            </a:r>
            <a:endParaRPr lang="en-US" sz="1230" dirty="0"/>
          </a:p>
        </p:txBody>
      </p:sp>
      <p:sp>
        <p:nvSpPr>
          <p:cNvPr id="14" name="Text 12"/>
          <p:cNvSpPr/>
          <p:nvPr/>
        </p:nvSpPr>
        <p:spPr>
          <a:xfrm>
            <a:off x="3328416" y="1627632"/>
            <a:ext cx="7708392" cy="393192"/>
          </a:xfrm>
          <a:prstGeom prst="rect">
            <a:avLst/>
          </a:prstGeom>
          <a:noFill/>
          <a:ln/>
        </p:spPr>
        <p:txBody>
          <a:bodyPr wrap="square" lIns="0" tIns="0" rIns="0" bIns="0" rtlCol="0" anchor="ctr">
            <a:normAutofit/>
          </a:bodyPr>
          <a:lstStyle/>
          <a:p>
            <a:pPr algn="l" indent="0" marL="0">
              <a:buNone/>
            </a:pPr>
            <a:r>
              <a:rPr lang="en-US" sz="1140" dirty="0">
                <a:solidFill>
                  <a:srgbClr val="18324F"/>
                </a:solidFill>
                <a:latin typeface="Aptos" pitchFamily="34" charset="0"/>
                <a:ea typeface="Aptos" pitchFamily="34" charset="-122"/>
                <a:cs typeface="Aptos" pitchFamily="34" charset="-120"/>
              </a:rPr>
              <a:t>Conversations, messages, projects, uploaded files and workspace mapping</a:t>
            </a:r>
            <a:endParaRPr lang="en-US" sz="1140" dirty="0"/>
          </a:p>
        </p:txBody>
      </p:sp>
      <p:sp>
        <p:nvSpPr>
          <p:cNvPr id="15" name="Shape 13"/>
          <p:cNvSpPr/>
          <p:nvPr/>
        </p:nvSpPr>
        <p:spPr>
          <a:xfrm>
            <a:off x="603504" y="2368296"/>
            <a:ext cx="10927080" cy="795528"/>
          </a:xfrm>
          <a:prstGeom prst="roundRect">
            <a:avLst>
              <a:gd name="adj" fmla="val 12644"/>
            </a:avLst>
          </a:prstGeom>
          <a:solidFill>
            <a:srgbClr val="F5F9FE"/>
          </a:solidFill>
          <a:ln w="9525">
            <a:solidFill>
              <a:srgbClr val="D8E5F2"/>
            </a:solidFill>
            <a:prstDash val="solid"/>
          </a:ln>
        </p:spPr>
      </p:sp>
      <p:sp>
        <p:nvSpPr>
          <p:cNvPr id="16" name="Shape 14"/>
          <p:cNvSpPr/>
          <p:nvPr/>
        </p:nvSpPr>
        <p:spPr>
          <a:xfrm>
            <a:off x="777240" y="2542032"/>
            <a:ext cx="2286000" cy="420624"/>
          </a:xfrm>
          <a:prstGeom prst="roundRect">
            <a:avLst>
              <a:gd name="adj" fmla="val 23913"/>
            </a:avLst>
          </a:prstGeom>
          <a:solidFill>
            <a:srgbClr val="EDF5FD"/>
          </a:solidFill>
          <a:ln w="9525">
            <a:solidFill>
              <a:srgbClr val="EDF5FD"/>
            </a:solidFill>
            <a:prstDash val="solid"/>
          </a:ln>
        </p:spPr>
      </p:sp>
      <p:sp>
        <p:nvSpPr>
          <p:cNvPr id="17" name="Text 15"/>
          <p:cNvSpPr/>
          <p:nvPr/>
        </p:nvSpPr>
        <p:spPr>
          <a:xfrm>
            <a:off x="923544" y="2633472"/>
            <a:ext cx="2011680" cy="237744"/>
          </a:xfrm>
          <a:prstGeom prst="rect">
            <a:avLst/>
          </a:prstGeom>
          <a:noFill/>
          <a:ln/>
        </p:spPr>
        <p:txBody>
          <a:bodyPr wrap="square" lIns="0" tIns="0" rIns="0" bIns="0" rtlCol="0" anchor="ctr">
            <a:normAutofit/>
          </a:bodyPr>
          <a:lstStyle/>
          <a:p>
            <a:pPr algn="l" indent="0" marL="0">
              <a:buNone/>
            </a:pPr>
            <a:r>
              <a:rPr lang="en-US" sz="1230" b="1" dirty="0">
                <a:solidFill>
                  <a:srgbClr val="1767C7"/>
                </a:solidFill>
                <a:latin typeface="Aptos" pitchFamily="34" charset="0"/>
                <a:ea typeface="Aptos" pitchFamily="34" charset="-122"/>
                <a:cs typeface="Aptos" pitchFamily="34" charset="-120"/>
              </a:rPr>
              <a:t>Agent run store</a:t>
            </a:r>
            <a:endParaRPr lang="en-US" sz="1230" dirty="0"/>
          </a:p>
        </p:txBody>
      </p:sp>
      <p:sp>
        <p:nvSpPr>
          <p:cNvPr id="18" name="Text 16"/>
          <p:cNvSpPr/>
          <p:nvPr/>
        </p:nvSpPr>
        <p:spPr>
          <a:xfrm>
            <a:off x="3328416" y="2560320"/>
            <a:ext cx="7708392" cy="393192"/>
          </a:xfrm>
          <a:prstGeom prst="rect">
            <a:avLst/>
          </a:prstGeom>
          <a:noFill/>
          <a:ln/>
        </p:spPr>
        <p:txBody>
          <a:bodyPr wrap="square" lIns="0" tIns="0" rIns="0" bIns="0" rtlCol="0" anchor="ctr">
            <a:normAutofit/>
          </a:bodyPr>
          <a:lstStyle/>
          <a:p>
            <a:pPr algn="l" indent="0" marL="0">
              <a:buNone/>
            </a:pPr>
            <a:r>
              <a:rPr lang="en-US" sz="1140" dirty="0">
                <a:solidFill>
                  <a:srgbClr val="18324F"/>
                </a:solidFill>
                <a:latin typeface="Aptos" pitchFamily="34" charset="0"/>
                <a:ea typeface="Aptos" pitchFamily="34" charset="-122"/>
                <a:cs typeface="Aptos" pitchFamily="34" charset="-120"/>
              </a:rPr>
              <a:t>./data/agent-runs  |  plans, state, per-activity ledger, reports</a:t>
            </a:r>
            <a:endParaRPr lang="en-US" sz="1140" dirty="0"/>
          </a:p>
        </p:txBody>
      </p:sp>
      <p:sp>
        <p:nvSpPr>
          <p:cNvPr id="19" name="Shape 17"/>
          <p:cNvSpPr/>
          <p:nvPr/>
        </p:nvSpPr>
        <p:spPr>
          <a:xfrm>
            <a:off x="603504" y="3300984"/>
            <a:ext cx="10927080" cy="795528"/>
          </a:xfrm>
          <a:prstGeom prst="roundRect">
            <a:avLst>
              <a:gd name="adj" fmla="val 12644"/>
            </a:avLst>
          </a:prstGeom>
          <a:solidFill>
            <a:srgbClr val="FFFFFF"/>
          </a:solidFill>
          <a:ln w="9525">
            <a:solidFill>
              <a:srgbClr val="D8E5F2"/>
            </a:solidFill>
            <a:prstDash val="solid"/>
          </a:ln>
        </p:spPr>
      </p:sp>
      <p:sp>
        <p:nvSpPr>
          <p:cNvPr id="20" name="Shape 18"/>
          <p:cNvSpPr/>
          <p:nvPr/>
        </p:nvSpPr>
        <p:spPr>
          <a:xfrm>
            <a:off x="777240" y="3474720"/>
            <a:ext cx="2286000" cy="420624"/>
          </a:xfrm>
          <a:prstGeom prst="roundRect">
            <a:avLst>
              <a:gd name="adj" fmla="val 23913"/>
            </a:avLst>
          </a:prstGeom>
          <a:solidFill>
            <a:srgbClr val="EDF5FD"/>
          </a:solidFill>
          <a:ln w="9525">
            <a:solidFill>
              <a:srgbClr val="EDF5FD"/>
            </a:solidFill>
            <a:prstDash val="solid"/>
          </a:ln>
        </p:spPr>
      </p:sp>
      <p:sp>
        <p:nvSpPr>
          <p:cNvPr id="21" name="Text 19"/>
          <p:cNvSpPr/>
          <p:nvPr/>
        </p:nvSpPr>
        <p:spPr>
          <a:xfrm>
            <a:off x="923544" y="3566160"/>
            <a:ext cx="2011680" cy="237744"/>
          </a:xfrm>
          <a:prstGeom prst="rect">
            <a:avLst/>
          </a:prstGeom>
          <a:noFill/>
          <a:ln/>
        </p:spPr>
        <p:txBody>
          <a:bodyPr wrap="square" lIns="0" tIns="0" rIns="0" bIns="0" rtlCol="0" anchor="ctr">
            <a:normAutofit/>
          </a:bodyPr>
          <a:lstStyle/>
          <a:p>
            <a:pPr algn="l" indent="0" marL="0">
              <a:buNone/>
            </a:pPr>
            <a:r>
              <a:rPr lang="en-US" sz="1230" b="1" dirty="0">
                <a:solidFill>
                  <a:srgbClr val="1767C7"/>
                </a:solidFill>
                <a:latin typeface="Aptos" pitchFamily="34" charset="0"/>
                <a:ea typeface="Aptos" pitchFamily="34" charset="-122"/>
                <a:cs typeface="Aptos" pitchFamily="34" charset="-120"/>
              </a:rPr>
              <a:t>Terminal store</a:t>
            </a:r>
            <a:endParaRPr lang="en-US" sz="1230" dirty="0"/>
          </a:p>
        </p:txBody>
      </p:sp>
      <p:sp>
        <p:nvSpPr>
          <p:cNvPr id="22" name="Text 20"/>
          <p:cNvSpPr/>
          <p:nvPr/>
        </p:nvSpPr>
        <p:spPr>
          <a:xfrm>
            <a:off x="3328416" y="3493008"/>
            <a:ext cx="7708392" cy="393192"/>
          </a:xfrm>
          <a:prstGeom prst="rect">
            <a:avLst/>
          </a:prstGeom>
          <a:noFill/>
          <a:ln/>
        </p:spPr>
        <p:txBody>
          <a:bodyPr wrap="square" lIns="0" tIns="0" rIns="0" bIns="0" rtlCol="0" anchor="ctr">
            <a:normAutofit/>
          </a:bodyPr>
          <a:lstStyle/>
          <a:p>
            <a:pPr algn="l" indent="0" marL="0">
              <a:buNone/>
            </a:pPr>
            <a:r>
              <a:rPr lang="en-US" sz="1140" dirty="0">
                <a:solidFill>
                  <a:srgbClr val="18324F"/>
                </a:solidFill>
                <a:latin typeface="Aptos" pitchFamily="34" charset="0"/>
                <a:ea typeface="Aptos" pitchFamily="34" charset="-122"/>
                <a:cs typeface="Aptos" pitchFamily="34" charset="-120"/>
              </a:rPr>
              <a:t>./data/terminal-sessions  |  transcript, queue, activity journal</a:t>
            </a:r>
            <a:endParaRPr lang="en-US" sz="1140" dirty="0"/>
          </a:p>
        </p:txBody>
      </p:sp>
      <p:sp>
        <p:nvSpPr>
          <p:cNvPr id="23" name="Shape 21"/>
          <p:cNvSpPr/>
          <p:nvPr/>
        </p:nvSpPr>
        <p:spPr>
          <a:xfrm>
            <a:off x="603504" y="4233672"/>
            <a:ext cx="10927080" cy="795528"/>
          </a:xfrm>
          <a:prstGeom prst="roundRect">
            <a:avLst>
              <a:gd name="adj" fmla="val 12644"/>
            </a:avLst>
          </a:prstGeom>
          <a:solidFill>
            <a:srgbClr val="F5F9FE"/>
          </a:solidFill>
          <a:ln w="9525">
            <a:solidFill>
              <a:srgbClr val="D8E5F2"/>
            </a:solidFill>
            <a:prstDash val="solid"/>
          </a:ln>
        </p:spPr>
      </p:sp>
      <p:sp>
        <p:nvSpPr>
          <p:cNvPr id="24" name="Shape 22"/>
          <p:cNvSpPr/>
          <p:nvPr/>
        </p:nvSpPr>
        <p:spPr>
          <a:xfrm>
            <a:off x="777240" y="4407408"/>
            <a:ext cx="2286000" cy="420624"/>
          </a:xfrm>
          <a:prstGeom prst="roundRect">
            <a:avLst>
              <a:gd name="adj" fmla="val 23913"/>
            </a:avLst>
          </a:prstGeom>
          <a:solidFill>
            <a:srgbClr val="EDF5FD"/>
          </a:solidFill>
          <a:ln w="9525">
            <a:solidFill>
              <a:srgbClr val="EDF5FD"/>
            </a:solidFill>
            <a:prstDash val="solid"/>
          </a:ln>
        </p:spPr>
      </p:sp>
      <p:sp>
        <p:nvSpPr>
          <p:cNvPr id="25" name="Text 23"/>
          <p:cNvSpPr/>
          <p:nvPr/>
        </p:nvSpPr>
        <p:spPr>
          <a:xfrm>
            <a:off x="923544" y="4498848"/>
            <a:ext cx="2011680" cy="237744"/>
          </a:xfrm>
          <a:prstGeom prst="rect">
            <a:avLst/>
          </a:prstGeom>
          <a:noFill/>
          <a:ln/>
        </p:spPr>
        <p:txBody>
          <a:bodyPr wrap="square" lIns="0" tIns="0" rIns="0" bIns="0" rtlCol="0" anchor="ctr">
            <a:normAutofit/>
          </a:bodyPr>
          <a:lstStyle/>
          <a:p>
            <a:pPr algn="l" indent="0" marL="0">
              <a:buNone/>
            </a:pPr>
            <a:r>
              <a:rPr lang="en-US" sz="1230" b="1" dirty="0">
                <a:solidFill>
                  <a:srgbClr val="1767C7"/>
                </a:solidFill>
                <a:latin typeface="Aptos" pitchFamily="34" charset="0"/>
                <a:ea typeface="Aptos" pitchFamily="34" charset="-122"/>
                <a:cs typeface="Aptos" pitchFamily="34" charset="-120"/>
              </a:rPr>
              <a:t>Index/cache store</a:t>
            </a:r>
            <a:endParaRPr lang="en-US" sz="1230" dirty="0"/>
          </a:p>
        </p:txBody>
      </p:sp>
      <p:sp>
        <p:nvSpPr>
          <p:cNvPr id="26" name="Text 24"/>
          <p:cNvSpPr/>
          <p:nvPr/>
        </p:nvSpPr>
        <p:spPr>
          <a:xfrm>
            <a:off x="3328416" y="4425696"/>
            <a:ext cx="7708392" cy="393192"/>
          </a:xfrm>
          <a:prstGeom prst="rect">
            <a:avLst/>
          </a:prstGeom>
          <a:noFill/>
          <a:ln/>
        </p:spPr>
        <p:txBody>
          <a:bodyPr wrap="square" lIns="0" tIns="0" rIns="0" bIns="0" rtlCol="0" anchor="ctr">
            <a:normAutofit/>
          </a:bodyPr>
          <a:lstStyle/>
          <a:p>
            <a:pPr algn="l" indent="0" marL="0">
              <a:buNone/>
            </a:pPr>
            <a:r>
              <a:rPr lang="en-US" sz="1140" dirty="0">
                <a:solidFill>
                  <a:srgbClr val="18324F"/>
                </a:solidFill>
                <a:latin typeface="Aptos" pitchFamily="34" charset="0"/>
                <a:ea typeface="Aptos" pitchFamily="34" charset="-122"/>
                <a:cs typeface="Aptos" pitchFamily="34" charset="-120"/>
              </a:rPr>
              <a:t>./data/indexes and agent-cache  |  lexical, vector, profile metadata</a:t>
            </a:r>
            <a:endParaRPr lang="en-US" sz="1140" dirty="0"/>
          </a:p>
        </p:txBody>
      </p:sp>
      <p:sp>
        <p:nvSpPr>
          <p:cNvPr id="27" name="Shape 25"/>
          <p:cNvSpPr/>
          <p:nvPr/>
        </p:nvSpPr>
        <p:spPr>
          <a:xfrm>
            <a:off x="603504" y="5166360"/>
            <a:ext cx="10927080" cy="795528"/>
          </a:xfrm>
          <a:prstGeom prst="roundRect">
            <a:avLst>
              <a:gd name="adj" fmla="val 12644"/>
            </a:avLst>
          </a:prstGeom>
          <a:solidFill>
            <a:srgbClr val="FFFFFF"/>
          </a:solidFill>
          <a:ln w="9525">
            <a:solidFill>
              <a:srgbClr val="D8E5F2"/>
            </a:solidFill>
            <a:prstDash val="solid"/>
          </a:ln>
        </p:spPr>
      </p:sp>
      <p:sp>
        <p:nvSpPr>
          <p:cNvPr id="28" name="Shape 26"/>
          <p:cNvSpPr/>
          <p:nvPr/>
        </p:nvSpPr>
        <p:spPr>
          <a:xfrm>
            <a:off x="777240" y="5340096"/>
            <a:ext cx="2286000" cy="420624"/>
          </a:xfrm>
          <a:prstGeom prst="roundRect">
            <a:avLst>
              <a:gd name="adj" fmla="val 23913"/>
            </a:avLst>
          </a:prstGeom>
          <a:solidFill>
            <a:srgbClr val="EDF5FD"/>
          </a:solidFill>
          <a:ln w="9525">
            <a:solidFill>
              <a:srgbClr val="EDF5FD"/>
            </a:solidFill>
            <a:prstDash val="solid"/>
          </a:ln>
        </p:spPr>
      </p:sp>
      <p:sp>
        <p:nvSpPr>
          <p:cNvPr id="29" name="Text 27"/>
          <p:cNvSpPr/>
          <p:nvPr/>
        </p:nvSpPr>
        <p:spPr>
          <a:xfrm>
            <a:off x="923544" y="5431536"/>
            <a:ext cx="2011680" cy="237744"/>
          </a:xfrm>
          <a:prstGeom prst="rect">
            <a:avLst/>
          </a:prstGeom>
          <a:noFill/>
          <a:ln/>
        </p:spPr>
        <p:txBody>
          <a:bodyPr wrap="square" lIns="0" tIns="0" rIns="0" bIns="0" rtlCol="0" anchor="ctr">
            <a:normAutofit/>
          </a:bodyPr>
          <a:lstStyle/>
          <a:p>
            <a:pPr algn="l" indent="0" marL="0">
              <a:buNone/>
            </a:pPr>
            <a:r>
              <a:rPr lang="en-US" sz="1230" b="1" dirty="0">
                <a:solidFill>
                  <a:srgbClr val="1767C7"/>
                </a:solidFill>
                <a:latin typeface="Aptos" pitchFamily="34" charset="0"/>
                <a:ea typeface="Aptos" pitchFamily="34" charset="-122"/>
                <a:cs typeface="Aptos" pitchFamily="34" charset="-120"/>
              </a:rPr>
              <a:t>Workspace and outputs</a:t>
            </a:r>
            <a:endParaRPr lang="en-US" sz="1230" dirty="0"/>
          </a:p>
        </p:txBody>
      </p:sp>
      <p:sp>
        <p:nvSpPr>
          <p:cNvPr id="30" name="Text 28"/>
          <p:cNvSpPr/>
          <p:nvPr/>
        </p:nvSpPr>
        <p:spPr>
          <a:xfrm>
            <a:off x="3328416" y="5358384"/>
            <a:ext cx="7708392" cy="393192"/>
          </a:xfrm>
          <a:prstGeom prst="rect">
            <a:avLst/>
          </a:prstGeom>
          <a:noFill/>
          <a:ln/>
        </p:spPr>
        <p:txBody>
          <a:bodyPr wrap="square" lIns="0" tIns="0" rIns="0" bIns="0" rtlCol="0" anchor="ctr">
            <a:normAutofit/>
          </a:bodyPr>
          <a:lstStyle/>
          <a:p>
            <a:pPr algn="l" indent="0" marL="0">
              <a:buNone/>
            </a:pPr>
            <a:r>
              <a:rPr lang="en-US" sz="1140" dirty="0">
                <a:solidFill>
                  <a:srgbClr val="18324F"/>
                </a:solidFill>
                <a:latin typeface="Aptos" pitchFamily="34" charset="0"/>
                <a:ea typeface="Aptos" pitchFamily="34" charset="-122"/>
                <a:cs typeface="Aptos" pitchFamily="34" charset="-120"/>
              </a:rPr>
              <a:t>Actual project roots; snapshots, uploads, artifact archive / rollback</a:t>
            </a:r>
            <a:endParaRPr lang="en-US" sz="11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PERFORMANCE CONTROL</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Context-window and token optimization pipeline</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Bound optional evidence and repetitive observations, preserving required instructions and latest state.</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PERFORMANCE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18</a:t>
            </a:r>
            <a:endParaRPr lang="en-US" sz="900" dirty="0"/>
          </a:p>
        </p:txBody>
      </p:sp>
      <p:sp>
        <p:nvSpPr>
          <p:cNvPr id="11" name="Shape 9"/>
          <p:cNvSpPr/>
          <p:nvPr/>
        </p:nvSpPr>
        <p:spPr>
          <a:xfrm>
            <a:off x="530352" y="1709928"/>
            <a:ext cx="2095805" cy="1280160"/>
          </a:xfrm>
          <a:prstGeom prst="roundRect">
            <a:avLst>
              <a:gd name="adj" fmla="val 7857"/>
            </a:avLst>
          </a:prstGeom>
          <a:solidFill>
            <a:srgbClr val="EDF5FD"/>
          </a:solidFill>
          <a:ln w="9525">
            <a:solidFill>
              <a:srgbClr val="D8E5F2"/>
            </a:solidFill>
            <a:prstDash val="solid"/>
          </a:ln>
        </p:spPr>
      </p:sp>
      <p:sp>
        <p:nvSpPr>
          <p:cNvPr id="12" name="Text 10"/>
          <p:cNvSpPr/>
          <p:nvPr/>
        </p:nvSpPr>
        <p:spPr>
          <a:xfrm>
            <a:off x="612648"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1 · Budget</a:t>
            </a:r>
            <a:endParaRPr lang="en-US" sz="1240" dirty="0"/>
          </a:p>
        </p:txBody>
      </p:sp>
      <p:sp>
        <p:nvSpPr>
          <p:cNvPr id="13" name="Text 11"/>
          <p:cNvSpPr/>
          <p:nvPr/>
        </p:nvSpPr>
        <p:spPr>
          <a:xfrm>
            <a:off x="630936" y="2157984"/>
            <a:ext cx="1894637" cy="758952"/>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FAST / BALANCED / DEEP</a:t>
            </a:r>
            <a:endParaRPr lang="en-US" sz="970" dirty="0"/>
          </a:p>
        </p:txBody>
      </p:sp>
      <p:sp>
        <p:nvSpPr>
          <p:cNvPr id="14" name="Shape 12"/>
          <p:cNvSpPr/>
          <p:nvPr/>
        </p:nvSpPr>
        <p:spPr>
          <a:xfrm>
            <a:off x="2635301" y="2350008"/>
            <a:ext cx="54864" cy="0"/>
          </a:xfrm>
          <a:prstGeom prst="line">
            <a:avLst/>
          </a:prstGeom>
          <a:noFill/>
          <a:ln w="19050">
            <a:solidFill>
              <a:srgbClr val="1767C7"/>
            </a:solidFill>
            <a:prstDash val="solid"/>
            <a:headEnd type="none"/>
            <a:tailEnd type="triangle"/>
          </a:ln>
        </p:spPr>
      </p:sp>
      <p:sp>
        <p:nvSpPr>
          <p:cNvPr id="15" name="Shape 13"/>
          <p:cNvSpPr/>
          <p:nvPr/>
        </p:nvSpPr>
        <p:spPr>
          <a:xfrm>
            <a:off x="2790749" y="1709928"/>
            <a:ext cx="2095805" cy="1280160"/>
          </a:xfrm>
          <a:prstGeom prst="roundRect">
            <a:avLst>
              <a:gd name="adj" fmla="val 7857"/>
            </a:avLst>
          </a:prstGeom>
          <a:solidFill>
            <a:srgbClr val="F5F9FE"/>
          </a:solidFill>
          <a:ln w="9525">
            <a:solidFill>
              <a:srgbClr val="D8E5F2"/>
            </a:solidFill>
            <a:prstDash val="solid"/>
          </a:ln>
        </p:spPr>
      </p:sp>
      <p:sp>
        <p:nvSpPr>
          <p:cNvPr id="16" name="Text 14"/>
          <p:cNvSpPr/>
          <p:nvPr/>
        </p:nvSpPr>
        <p:spPr>
          <a:xfrm>
            <a:off x="2873045"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2 · Retrieve</a:t>
            </a:r>
            <a:endParaRPr lang="en-US" sz="1240" dirty="0"/>
          </a:p>
        </p:txBody>
      </p:sp>
      <p:sp>
        <p:nvSpPr>
          <p:cNvPr id="17" name="Text 15"/>
          <p:cNvSpPr/>
          <p:nvPr/>
        </p:nvSpPr>
        <p:spPr>
          <a:xfrm>
            <a:off x="2891333" y="2157984"/>
            <a:ext cx="1894637" cy="758952"/>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Minimum relevant snippets</a:t>
            </a:r>
            <a:endParaRPr lang="en-US" sz="970" dirty="0"/>
          </a:p>
        </p:txBody>
      </p:sp>
      <p:sp>
        <p:nvSpPr>
          <p:cNvPr id="18" name="Shape 16"/>
          <p:cNvSpPr/>
          <p:nvPr/>
        </p:nvSpPr>
        <p:spPr>
          <a:xfrm>
            <a:off x="4895698" y="2350008"/>
            <a:ext cx="54864" cy="0"/>
          </a:xfrm>
          <a:prstGeom prst="line">
            <a:avLst/>
          </a:prstGeom>
          <a:noFill/>
          <a:ln w="19050">
            <a:solidFill>
              <a:srgbClr val="1767C7"/>
            </a:solidFill>
            <a:prstDash val="solid"/>
            <a:headEnd type="none"/>
            <a:tailEnd type="triangle"/>
          </a:ln>
        </p:spPr>
      </p:sp>
      <p:sp>
        <p:nvSpPr>
          <p:cNvPr id="19" name="Shape 17"/>
          <p:cNvSpPr/>
          <p:nvPr/>
        </p:nvSpPr>
        <p:spPr>
          <a:xfrm>
            <a:off x="5051146" y="1709928"/>
            <a:ext cx="2095805" cy="1280160"/>
          </a:xfrm>
          <a:prstGeom prst="roundRect">
            <a:avLst>
              <a:gd name="adj" fmla="val 7857"/>
            </a:avLst>
          </a:prstGeom>
          <a:solidFill>
            <a:srgbClr val="EDF5FD"/>
          </a:solidFill>
          <a:ln w="9525">
            <a:solidFill>
              <a:srgbClr val="D8E5F2"/>
            </a:solidFill>
            <a:prstDash val="solid"/>
          </a:ln>
        </p:spPr>
      </p:sp>
      <p:sp>
        <p:nvSpPr>
          <p:cNvPr id="20" name="Text 18"/>
          <p:cNvSpPr/>
          <p:nvPr/>
        </p:nvSpPr>
        <p:spPr>
          <a:xfrm>
            <a:off x="5133442"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3 · Prune</a:t>
            </a:r>
            <a:endParaRPr lang="en-US" sz="1240" dirty="0"/>
          </a:p>
        </p:txBody>
      </p:sp>
      <p:sp>
        <p:nvSpPr>
          <p:cNvPr id="21" name="Text 19"/>
          <p:cNvSpPr/>
          <p:nvPr/>
        </p:nvSpPr>
        <p:spPr>
          <a:xfrm>
            <a:off x="5151730" y="2157984"/>
            <a:ext cx="1894637" cy="758952"/>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Clip old / duplicate tool output</a:t>
            </a:r>
            <a:endParaRPr lang="en-US" sz="970" dirty="0"/>
          </a:p>
        </p:txBody>
      </p:sp>
      <p:sp>
        <p:nvSpPr>
          <p:cNvPr id="22" name="Shape 20"/>
          <p:cNvSpPr/>
          <p:nvPr/>
        </p:nvSpPr>
        <p:spPr>
          <a:xfrm>
            <a:off x="7156094" y="2350008"/>
            <a:ext cx="54864" cy="0"/>
          </a:xfrm>
          <a:prstGeom prst="line">
            <a:avLst/>
          </a:prstGeom>
          <a:noFill/>
          <a:ln w="19050">
            <a:solidFill>
              <a:srgbClr val="1767C7"/>
            </a:solidFill>
            <a:prstDash val="solid"/>
            <a:headEnd type="none"/>
            <a:tailEnd type="triangle"/>
          </a:ln>
        </p:spPr>
      </p:sp>
      <p:sp>
        <p:nvSpPr>
          <p:cNvPr id="23" name="Shape 21"/>
          <p:cNvSpPr/>
          <p:nvPr/>
        </p:nvSpPr>
        <p:spPr>
          <a:xfrm>
            <a:off x="7311542" y="1709928"/>
            <a:ext cx="2095805" cy="1280160"/>
          </a:xfrm>
          <a:prstGeom prst="roundRect">
            <a:avLst>
              <a:gd name="adj" fmla="val 7857"/>
            </a:avLst>
          </a:prstGeom>
          <a:solidFill>
            <a:srgbClr val="F5F9FE"/>
          </a:solidFill>
          <a:ln w="9525">
            <a:solidFill>
              <a:srgbClr val="D8E5F2"/>
            </a:solidFill>
            <a:prstDash val="solid"/>
          </a:ln>
        </p:spPr>
      </p:sp>
      <p:sp>
        <p:nvSpPr>
          <p:cNvPr id="24" name="Text 22"/>
          <p:cNvSpPr/>
          <p:nvPr/>
        </p:nvSpPr>
        <p:spPr>
          <a:xfrm>
            <a:off x="7393838"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4 · Checkpoint</a:t>
            </a:r>
            <a:endParaRPr lang="en-US" sz="1240" dirty="0"/>
          </a:p>
        </p:txBody>
      </p:sp>
      <p:sp>
        <p:nvSpPr>
          <p:cNvPr id="25" name="Text 23"/>
          <p:cNvSpPr/>
          <p:nvPr/>
        </p:nvSpPr>
        <p:spPr>
          <a:xfrm>
            <a:off x="7412126" y="2157984"/>
            <a:ext cx="1894637" cy="758952"/>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Summarize historical context</a:t>
            </a:r>
            <a:endParaRPr lang="en-US" sz="970" dirty="0"/>
          </a:p>
        </p:txBody>
      </p:sp>
      <p:sp>
        <p:nvSpPr>
          <p:cNvPr id="26" name="Shape 24"/>
          <p:cNvSpPr/>
          <p:nvPr/>
        </p:nvSpPr>
        <p:spPr>
          <a:xfrm>
            <a:off x="9416491" y="2350008"/>
            <a:ext cx="54864" cy="0"/>
          </a:xfrm>
          <a:prstGeom prst="line">
            <a:avLst/>
          </a:prstGeom>
          <a:noFill/>
          <a:ln w="19050">
            <a:solidFill>
              <a:srgbClr val="1767C7"/>
            </a:solidFill>
            <a:prstDash val="solid"/>
            <a:headEnd type="none"/>
            <a:tailEnd type="triangle"/>
          </a:ln>
        </p:spPr>
      </p:sp>
      <p:sp>
        <p:nvSpPr>
          <p:cNvPr id="27" name="Shape 25"/>
          <p:cNvSpPr/>
          <p:nvPr/>
        </p:nvSpPr>
        <p:spPr>
          <a:xfrm>
            <a:off x="9571939" y="1709928"/>
            <a:ext cx="2095805" cy="1280160"/>
          </a:xfrm>
          <a:prstGeom prst="roundRect">
            <a:avLst>
              <a:gd name="adj" fmla="val 7857"/>
            </a:avLst>
          </a:prstGeom>
          <a:solidFill>
            <a:srgbClr val="EDF5FD"/>
          </a:solidFill>
          <a:ln w="9525">
            <a:solidFill>
              <a:srgbClr val="D8E5F2"/>
            </a:solidFill>
            <a:prstDash val="solid"/>
          </a:ln>
        </p:spPr>
      </p:sp>
      <p:sp>
        <p:nvSpPr>
          <p:cNvPr id="28" name="Text 26"/>
          <p:cNvSpPr/>
          <p:nvPr/>
        </p:nvSpPr>
        <p:spPr>
          <a:xfrm>
            <a:off x="9654235" y="1819656"/>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5 · Request</a:t>
            </a:r>
            <a:endParaRPr lang="en-US" sz="1240" dirty="0"/>
          </a:p>
        </p:txBody>
      </p:sp>
      <p:sp>
        <p:nvSpPr>
          <p:cNvPr id="29" name="Text 27"/>
          <p:cNvSpPr/>
          <p:nvPr/>
        </p:nvSpPr>
        <p:spPr>
          <a:xfrm>
            <a:off x="9672523" y="2157984"/>
            <a:ext cx="1894637" cy="758952"/>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Send bounded active context</a:t>
            </a:r>
            <a:endParaRPr lang="en-US" sz="970" dirty="0"/>
          </a:p>
        </p:txBody>
      </p:sp>
      <p:sp>
        <p:nvSpPr>
          <p:cNvPr id="30" name="Shape 28"/>
          <p:cNvSpPr/>
          <p:nvPr/>
        </p:nvSpPr>
        <p:spPr>
          <a:xfrm>
            <a:off x="557784" y="3675888"/>
            <a:ext cx="5404104" cy="1545336"/>
          </a:xfrm>
          <a:prstGeom prst="roundRect">
            <a:avLst>
              <a:gd name="adj" fmla="val 6509"/>
            </a:avLst>
          </a:prstGeom>
          <a:solidFill>
            <a:srgbClr val="FFFFFF"/>
          </a:solidFill>
          <a:ln w="9525">
            <a:solidFill>
              <a:srgbClr val="D8E5F2"/>
            </a:solidFill>
            <a:prstDash val="solid"/>
          </a:ln>
        </p:spPr>
      </p:sp>
      <p:sp>
        <p:nvSpPr>
          <p:cNvPr id="31" name="Text 29"/>
          <p:cNvSpPr/>
          <p:nvPr/>
        </p:nvSpPr>
        <p:spPr>
          <a:xfrm>
            <a:off x="722376" y="3794760"/>
            <a:ext cx="5093208"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Preserved across compaction</a:t>
            </a:r>
            <a:endParaRPr lang="en-US" sz="1350" dirty="0"/>
          </a:p>
        </p:txBody>
      </p:sp>
      <p:sp>
        <p:nvSpPr>
          <p:cNvPr id="32" name="Text 30"/>
          <p:cNvSpPr/>
          <p:nvPr/>
        </p:nvSpPr>
        <p:spPr>
          <a:xfrm>
            <a:off x="740664" y="418795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3" name="Text 31"/>
          <p:cNvSpPr/>
          <p:nvPr/>
        </p:nvSpPr>
        <p:spPr>
          <a:xfrm>
            <a:off x="978408" y="4178808"/>
            <a:ext cx="4791456" cy="246888"/>
          </a:xfrm>
          <a:prstGeom prst="rect">
            <a:avLst/>
          </a:prstGeom>
          <a:noFill/>
          <a:ln/>
        </p:spPr>
        <p:txBody>
          <a:bodyPr wrap="square" lIns="0" tIns="0" rIns="0" bIns="0" rtlCol="0" anchor="ctr">
            <a:normAutofit/>
          </a:bodyPr>
          <a:lstStyle/>
          <a:p>
            <a:pPr algn="l" indent="0" marL="0">
              <a:buNone/>
            </a:pPr>
            <a:r>
              <a:rPr lang="en-US" sz="1075" dirty="0">
                <a:solidFill>
                  <a:srgbClr val="5B7190"/>
                </a:solidFill>
                <a:latin typeface="Aptos" pitchFamily="34" charset="0"/>
                <a:ea typeface="Aptos" pitchFamily="34" charset="-122"/>
                <a:cs typeface="Aptos" pitchFamily="34" charset="-120"/>
              </a:rPr>
              <a:t>User request and governing constraints</a:t>
            </a:r>
            <a:endParaRPr lang="en-US" sz="1075" dirty="0"/>
          </a:p>
        </p:txBody>
      </p:sp>
      <p:sp>
        <p:nvSpPr>
          <p:cNvPr id="34" name="Text 32"/>
          <p:cNvSpPr/>
          <p:nvPr/>
        </p:nvSpPr>
        <p:spPr>
          <a:xfrm>
            <a:off x="740664" y="450799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5" name="Text 33"/>
          <p:cNvSpPr/>
          <p:nvPr/>
        </p:nvSpPr>
        <p:spPr>
          <a:xfrm>
            <a:off x="978408" y="4498848"/>
            <a:ext cx="4791456" cy="246888"/>
          </a:xfrm>
          <a:prstGeom prst="rect">
            <a:avLst/>
          </a:prstGeom>
          <a:noFill/>
          <a:ln/>
        </p:spPr>
        <p:txBody>
          <a:bodyPr wrap="square" lIns="0" tIns="0" rIns="0" bIns="0" rtlCol="0" anchor="ctr">
            <a:normAutofit/>
          </a:bodyPr>
          <a:lstStyle/>
          <a:p>
            <a:pPr algn="l" indent="0" marL="0">
              <a:buNone/>
            </a:pPr>
            <a:r>
              <a:rPr lang="en-US" sz="1075" dirty="0">
                <a:solidFill>
                  <a:srgbClr val="5B7190"/>
                </a:solidFill>
                <a:latin typeface="Aptos" pitchFamily="34" charset="0"/>
                <a:ea typeface="Aptos" pitchFamily="34" charset="-122"/>
                <a:cs typeface="Aptos" pitchFamily="34" charset="-120"/>
              </a:rPr>
              <a:t>Approved plan + recent tool outcomes</a:t>
            </a:r>
            <a:endParaRPr lang="en-US" sz="1075" dirty="0"/>
          </a:p>
        </p:txBody>
      </p:sp>
      <p:sp>
        <p:nvSpPr>
          <p:cNvPr id="36" name="Text 34"/>
          <p:cNvSpPr/>
          <p:nvPr/>
        </p:nvSpPr>
        <p:spPr>
          <a:xfrm>
            <a:off x="740664" y="482803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7" name="Text 35"/>
          <p:cNvSpPr/>
          <p:nvPr/>
        </p:nvSpPr>
        <p:spPr>
          <a:xfrm>
            <a:off x="978408" y="4818888"/>
            <a:ext cx="4791456" cy="246888"/>
          </a:xfrm>
          <a:prstGeom prst="rect">
            <a:avLst/>
          </a:prstGeom>
          <a:noFill/>
          <a:ln/>
        </p:spPr>
        <p:txBody>
          <a:bodyPr wrap="square" lIns="0" tIns="0" rIns="0" bIns="0" rtlCol="0" anchor="ctr">
            <a:normAutofit/>
          </a:bodyPr>
          <a:lstStyle/>
          <a:p>
            <a:pPr algn="l" indent="0" marL="0">
              <a:buNone/>
            </a:pPr>
            <a:r>
              <a:rPr lang="en-US" sz="1075" dirty="0">
                <a:solidFill>
                  <a:srgbClr val="5B7190"/>
                </a:solidFill>
                <a:latin typeface="Aptos" pitchFamily="34" charset="0"/>
                <a:ea typeface="Aptos" pitchFamily="34" charset="-122"/>
                <a:cs typeface="Aptos" pitchFamily="34" charset="-120"/>
              </a:rPr>
              <a:t>Persisted run/session ledgers outside active context</a:t>
            </a:r>
            <a:endParaRPr lang="en-US" sz="1075" dirty="0"/>
          </a:p>
        </p:txBody>
      </p:sp>
      <p:sp>
        <p:nvSpPr>
          <p:cNvPr id="38" name="Shape 36"/>
          <p:cNvSpPr/>
          <p:nvPr/>
        </p:nvSpPr>
        <p:spPr>
          <a:xfrm>
            <a:off x="6163056" y="3675888"/>
            <a:ext cx="5477256" cy="1545336"/>
          </a:xfrm>
          <a:prstGeom prst="roundRect">
            <a:avLst>
              <a:gd name="adj" fmla="val 6509"/>
            </a:avLst>
          </a:prstGeom>
          <a:solidFill>
            <a:srgbClr val="FFFFFF"/>
          </a:solidFill>
          <a:ln w="9525">
            <a:solidFill>
              <a:srgbClr val="D8E5F2"/>
            </a:solidFill>
            <a:prstDash val="solid"/>
          </a:ln>
        </p:spPr>
      </p:sp>
      <p:sp>
        <p:nvSpPr>
          <p:cNvPr id="39" name="Text 37"/>
          <p:cNvSpPr/>
          <p:nvPr/>
        </p:nvSpPr>
        <p:spPr>
          <a:xfrm>
            <a:off x="6327648" y="3794760"/>
            <a:ext cx="5166360"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Potential savings mechanisms</a:t>
            </a:r>
            <a:endParaRPr lang="en-US" sz="1350" dirty="0"/>
          </a:p>
        </p:txBody>
      </p:sp>
      <p:sp>
        <p:nvSpPr>
          <p:cNvPr id="40" name="Text 38"/>
          <p:cNvSpPr/>
          <p:nvPr/>
        </p:nvSpPr>
        <p:spPr>
          <a:xfrm>
            <a:off x="6345936" y="418795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1" name="Text 39"/>
          <p:cNvSpPr/>
          <p:nvPr/>
        </p:nvSpPr>
        <p:spPr>
          <a:xfrm>
            <a:off x="6583680" y="4178808"/>
            <a:ext cx="4864608" cy="246888"/>
          </a:xfrm>
          <a:prstGeom prst="rect">
            <a:avLst/>
          </a:prstGeom>
          <a:noFill/>
          <a:ln/>
        </p:spPr>
        <p:txBody>
          <a:bodyPr wrap="square" lIns="0" tIns="0" rIns="0" bIns="0" rtlCol="0" anchor="ctr">
            <a:normAutofit/>
          </a:bodyPr>
          <a:lstStyle/>
          <a:p>
            <a:pPr algn="l" indent="0" marL="0">
              <a:buNone/>
            </a:pPr>
            <a:r>
              <a:rPr lang="en-US" sz="1075" dirty="0">
                <a:solidFill>
                  <a:srgbClr val="5B7190"/>
                </a:solidFill>
                <a:latin typeface="Aptos" pitchFamily="34" charset="0"/>
                <a:ea typeface="Aptos" pitchFamily="34" charset="-122"/>
                <a:cs typeface="Aptos" pitchFamily="34" charset="-120"/>
              </a:rPr>
              <a:t>Lexical retrieval prevents full-tree prompts</a:t>
            </a:r>
            <a:endParaRPr lang="en-US" sz="1075" dirty="0"/>
          </a:p>
        </p:txBody>
      </p:sp>
      <p:sp>
        <p:nvSpPr>
          <p:cNvPr id="42" name="Text 40"/>
          <p:cNvSpPr/>
          <p:nvPr/>
        </p:nvSpPr>
        <p:spPr>
          <a:xfrm>
            <a:off x="6345936" y="450799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3" name="Text 41"/>
          <p:cNvSpPr/>
          <p:nvPr/>
        </p:nvSpPr>
        <p:spPr>
          <a:xfrm>
            <a:off x="6583680" y="4498848"/>
            <a:ext cx="4864608" cy="246888"/>
          </a:xfrm>
          <a:prstGeom prst="rect">
            <a:avLst/>
          </a:prstGeom>
          <a:noFill/>
          <a:ln/>
        </p:spPr>
        <p:txBody>
          <a:bodyPr wrap="square" lIns="0" tIns="0" rIns="0" bIns="0" rtlCol="0" anchor="ctr">
            <a:normAutofit/>
          </a:bodyPr>
          <a:lstStyle/>
          <a:p>
            <a:pPr algn="l" indent="0" marL="0">
              <a:buNone/>
            </a:pPr>
            <a:r>
              <a:rPr lang="en-US" sz="1075" dirty="0">
                <a:solidFill>
                  <a:srgbClr val="5B7190"/>
                </a:solidFill>
                <a:latin typeface="Aptos" pitchFamily="34" charset="0"/>
                <a:ea typeface="Aptos" pitchFamily="34" charset="-122"/>
                <a:cs typeface="Aptos" pitchFamily="34" charset="-120"/>
              </a:rPr>
              <a:t>Prompt-cache affinity when provider supports it</a:t>
            </a:r>
            <a:endParaRPr lang="en-US" sz="1075" dirty="0"/>
          </a:p>
        </p:txBody>
      </p:sp>
      <p:sp>
        <p:nvSpPr>
          <p:cNvPr id="44" name="Text 42"/>
          <p:cNvSpPr/>
          <p:nvPr/>
        </p:nvSpPr>
        <p:spPr>
          <a:xfrm>
            <a:off x="6345936" y="4828032"/>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5" name="Text 43"/>
          <p:cNvSpPr/>
          <p:nvPr/>
        </p:nvSpPr>
        <p:spPr>
          <a:xfrm>
            <a:off x="6583680" y="4818888"/>
            <a:ext cx="4864608" cy="246888"/>
          </a:xfrm>
          <a:prstGeom prst="rect">
            <a:avLst/>
          </a:prstGeom>
          <a:noFill/>
          <a:ln/>
        </p:spPr>
        <p:txBody>
          <a:bodyPr wrap="square" lIns="0" tIns="0" rIns="0" bIns="0" rtlCol="0" anchor="ctr">
            <a:normAutofit/>
          </a:bodyPr>
          <a:lstStyle/>
          <a:p>
            <a:pPr algn="l" indent="0" marL="0">
              <a:buNone/>
            </a:pPr>
            <a:r>
              <a:rPr lang="en-US" sz="1075" dirty="0">
                <a:solidFill>
                  <a:srgbClr val="5B7190"/>
                </a:solidFill>
                <a:latin typeface="Aptos" pitchFamily="34" charset="0"/>
                <a:ea typeface="Aptos" pitchFamily="34" charset="-122"/>
                <a:cs typeface="Aptos" pitchFamily="34" charset="-120"/>
              </a:rPr>
              <a:t>Avoid repeated reviewer and corrective loops</a:t>
            </a:r>
            <a:endParaRPr lang="en-US" sz="1075" dirty="0"/>
          </a:p>
        </p:txBody>
      </p:sp>
      <p:sp>
        <p:nvSpPr>
          <p:cNvPr id="46" name="Shape 44"/>
          <p:cNvSpPr/>
          <p:nvPr/>
        </p:nvSpPr>
        <p:spPr>
          <a:xfrm>
            <a:off x="530352" y="5696712"/>
            <a:ext cx="11137392" cy="484632"/>
          </a:xfrm>
          <a:prstGeom prst="roundRect">
            <a:avLst>
              <a:gd name="adj" fmla="val 20755"/>
            </a:avLst>
          </a:prstGeom>
          <a:solidFill>
            <a:srgbClr val="EDF5FD"/>
          </a:solidFill>
          <a:ln w="9525">
            <a:solidFill>
              <a:srgbClr val="EDF5FD"/>
            </a:solidFill>
            <a:prstDash val="solid"/>
          </a:ln>
        </p:spPr>
      </p:sp>
      <p:sp>
        <p:nvSpPr>
          <p:cNvPr id="47" name="Text 45"/>
          <p:cNvSpPr/>
          <p:nvPr/>
        </p:nvSpPr>
        <p:spPr>
          <a:xfrm>
            <a:off x="713232" y="5783580"/>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MEASUREMENT</a:t>
            </a:r>
            <a:endParaRPr lang="en-US" sz="1110" dirty="0"/>
          </a:p>
        </p:txBody>
      </p:sp>
      <p:sp>
        <p:nvSpPr>
          <p:cNvPr id="48" name="Text 46"/>
          <p:cNvSpPr/>
          <p:nvPr/>
        </p:nvSpPr>
        <p:spPr>
          <a:xfrm>
            <a:off x="2423160" y="5747004"/>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Token estimates guide budgeting; provider-reported usage is the actual usage metric.</a:t>
            </a:r>
            <a:endParaRPr lang="en-US" sz="109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FIELD METRICS</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Observed token usage: two recorded runs</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Progress from user-visible reports; not yet a controlled cross-tool benchmark.</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PERFORMANCE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19</a:t>
            </a:r>
            <a:endParaRPr lang="en-US" sz="900" dirty="0"/>
          </a:p>
        </p:txBody>
      </p:sp>
      <p:sp>
        <p:nvSpPr>
          <p:cNvPr id="11" name="Shape 9"/>
          <p:cNvSpPr/>
          <p:nvPr/>
        </p:nvSpPr>
        <p:spPr>
          <a:xfrm>
            <a:off x="585216" y="1554480"/>
            <a:ext cx="5303520" cy="3090672"/>
          </a:xfrm>
          <a:prstGeom prst="roundRect">
            <a:avLst>
              <a:gd name="adj" fmla="val 3254"/>
            </a:avLst>
          </a:prstGeom>
          <a:solidFill>
            <a:srgbClr val="F5F9FE"/>
          </a:solidFill>
          <a:ln w="9525">
            <a:solidFill>
              <a:srgbClr val="D8E5F2"/>
            </a:solidFill>
            <a:prstDash val="solid"/>
          </a:ln>
        </p:spPr>
      </p:sp>
      <p:sp>
        <p:nvSpPr>
          <p:cNvPr id="12" name="Text 10"/>
          <p:cNvSpPr/>
          <p:nvPr/>
        </p:nvSpPr>
        <p:spPr>
          <a:xfrm>
            <a:off x="813816" y="1773936"/>
            <a:ext cx="4773168" cy="301752"/>
          </a:xfrm>
          <a:prstGeom prst="rect">
            <a:avLst/>
          </a:prstGeom>
          <a:noFill/>
          <a:ln/>
        </p:spPr>
        <p:txBody>
          <a:bodyPr wrap="square" lIns="0" tIns="0" rIns="0" bIns="0" rtlCol="0" anchor="ctr">
            <a:normAutofit/>
          </a:bodyPr>
          <a:lstStyle/>
          <a:p>
            <a:pPr algn="l" indent="0" marL="0">
              <a:buNone/>
            </a:pPr>
            <a:r>
              <a:rPr lang="en-US" sz="1450" b="1" dirty="0">
                <a:solidFill>
                  <a:srgbClr val="0C2B4E"/>
                </a:solidFill>
                <a:latin typeface="Aptos" pitchFamily="34" charset="0"/>
                <a:ea typeface="Aptos" pitchFamily="34" charset="-122"/>
                <a:cs typeface="Aptos" pitchFamily="34" charset="-120"/>
              </a:rPr>
              <a:t>Reported model tokens</a:t>
            </a:r>
            <a:endParaRPr lang="en-US" sz="1450" dirty="0"/>
          </a:p>
        </p:txBody>
      </p:sp>
      <p:sp>
        <p:nvSpPr>
          <p:cNvPr id="13" name="Text 11"/>
          <p:cNvSpPr/>
          <p:nvPr/>
        </p:nvSpPr>
        <p:spPr>
          <a:xfrm>
            <a:off x="850392" y="2368296"/>
            <a:ext cx="1828800" cy="219456"/>
          </a:xfrm>
          <a:prstGeom prst="rect">
            <a:avLst/>
          </a:prstGeom>
          <a:noFill/>
          <a:ln/>
        </p:spPr>
        <p:txBody>
          <a:bodyPr wrap="square" lIns="0" tIns="0" rIns="0" bIns="0" rtlCol="0" anchor="ctr">
            <a:normAutofit/>
          </a:bodyPr>
          <a:lstStyle/>
          <a:p>
            <a:pPr algn="l" indent="0" marL="0">
              <a:buNone/>
            </a:pPr>
            <a:r>
              <a:rPr lang="en-US" sz="1150" dirty="0">
                <a:solidFill>
                  <a:srgbClr val="5B7190"/>
                </a:solidFill>
                <a:latin typeface="Aptos" pitchFamily="34" charset="0"/>
                <a:ea typeface="Aptos" pitchFamily="34" charset="-122"/>
                <a:cs typeface="Aptos" pitchFamily="34" charset="-120"/>
              </a:rPr>
              <a:t>Earlier report</a:t>
            </a:r>
            <a:endParaRPr lang="en-US" sz="1150" dirty="0"/>
          </a:p>
        </p:txBody>
      </p:sp>
      <p:sp>
        <p:nvSpPr>
          <p:cNvPr id="14" name="Shape 12"/>
          <p:cNvSpPr/>
          <p:nvPr/>
        </p:nvSpPr>
        <p:spPr>
          <a:xfrm>
            <a:off x="2761488" y="2368296"/>
            <a:ext cx="2270754" cy="320040"/>
          </a:xfrm>
          <a:prstGeom prst="roundRect">
            <a:avLst>
              <a:gd name="adj" fmla="val 25714"/>
            </a:avLst>
          </a:prstGeom>
          <a:solidFill>
            <a:srgbClr val="7588A2"/>
          </a:solidFill>
          <a:ln w="9525">
            <a:solidFill>
              <a:srgbClr val="7588A2"/>
            </a:solidFill>
            <a:prstDash val="solid"/>
          </a:ln>
        </p:spPr>
      </p:sp>
      <p:sp>
        <p:nvSpPr>
          <p:cNvPr id="15" name="Text 13"/>
          <p:cNvSpPr/>
          <p:nvPr/>
        </p:nvSpPr>
        <p:spPr>
          <a:xfrm>
            <a:off x="4663440" y="2377440"/>
            <a:ext cx="923544" cy="256032"/>
          </a:xfrm>
          <a:prstGeom prst="rect">
            <a:avLst/>
          </a:prstGeom>
          <a:noFill/>
          <a:ln/>
        </p:spPr>
        <p:txBody>
          <a:bodyPr wrap="square" lIns="0" tIns="0" rIns="0" bIns="0" rtlCol="0" anchor="ctr">
            <a:normAutofit/>
          </a:bodyPr>
          <a:lstStyle/>
          <a:p>
            <a:pPr algn="r" indent="0" marL="0">
              <a:buNone/>
            </a:pPr>
            <a:r>
              <a:rPr lang="en-US" sz="1420" b="1" dirty="0">
                <a:solidFill>
                  <a:srgbClr val="0C2B4E"/>
                </a:solidFill>
                <a:latin typeface="Aptos" pitchFamily="34" charset="0"/>
                <a:ea typeface="Aptos" pitchFamily="34" charset="-122"/>
                <a:cs typeface="Aptos" pitchFamily="34" charset="-120"/>
              </a:rPr>
              <a:t>162,545</a:t>
            </a:r>
            <a:endParaRPr lang="en-US" sz="1420" dirty="0"/>
          </a:p>
        </p:txBody>
      </p:sp>
      <p:sp>
        <p:nvSpPr>
          <p:cNvPr id="16" name="Text 14"/>
          <p:cNvSpPr/>
          <p:nvPr/>
        </p:nvSpPr>
        <p:spPr>
          <a:xfrm>
            <a:off x="850392" y="3273552"/>
            <a:ext cx="1828800" cy="219456"/>
          </a:xfrm>
          <a:prstGeom prst="rect">
            <a:avLst/>
          </a:prstGeom>
          <a:noFill/>
          <a:ln/>
        </p:spPr>
        <p:txBody>
          <a:bodyPr wrap="square" lIns="0" tIns="0" rIns="0" bIns="0" rtlCol="0" anchor="ctr">
            <a:normAutofit/>
          </a:bodyPr>
          <a:lstStyle/>
          <a:p>
            <a:pPr algn="l" indent="0" marL="0">
              <a:buNone/>
            </a:pPr>
            <a:r>
              <a:rPr lang="en-US" sz="1150" dirty="0">
                <a:solidFill>
                  <a:srgbClr val="5B7190"/>
                </a:solidFill>
                <a:latin typeface="Aptos" pitchFamily="34" charset="0"/>
                <a:ea typeface="Aptos" pitchFamily="34" charset="-122"/>
                <a:cs typeface="Aptos" pitchFamily="34" charset="-120"/>
              </a:rPr>
              <a:t>Recent report</a:t>
            </a:r>
            <a:endParaRPr lang="en-US" sz="1150" dirty="0"/>
          </a:p>
        </p:txBody>
      </p:sp>
      <p:sp>
        <p:nvSpPr>
          <p:cNvPr id="17" name="Shape 15"/>
          <p:cNvSpPr/>
          <p:nvPr/>
        </p:nvSpPr>
        <p:spPr>
          <a:xfrm>
            <a:off x="2761488" y="3273552"/>
            <a:ext cx="1307662" cy="320040"/>
          </a:xfrm>
          <a:prstGeom prst="roundRect">
            <a:avLst>
              <a:gd name="adj" fmla="val 25714"/>
            </a:avLst>
          </a:prstGeom>
          <a:solidFill>
            <a:srgbClr val="1767C7"/>
          </a:solidFill>
          <a:ln w="9525">
            <a:solidFill>
              <a:srgbClr val="1767C7"/>
            </a:solidFill>
            <a:prstDash val="solid"/>
          </a:ln>
        </p:spPr>
      </p:sp>
      <p:sp>
        <p:nvSpPr>
          <p:cNvPr id="18" name="Text 16"/>
          <p:cNvSpPr/>
          <p:nvPr/>
        </p:nvSpPr>
        <p:spPr>
          <a:xfrm>
            <a:off x="4663440" y="3282696"/>
            <a:ext cx="923544" cy="256032"/>
          </a:xfrm>
          <a:prstGeom prst="rect">
            <a:avLst/>
          </a:prstGeom>
          <a:noFill/>
          <a:ln/>
        </p:spPr>
        <p:txBody>
          <a:bodyPr wrap="square" lIns="0" tIns="0" rIns="0" bIns="0" rtlCol="0" anchor="ctr">
            <a:normAutofit/>
          </a:bodyPr>
          <a:lstStyle/>
          <a:p>
            <a:pPr algn="r" indent="0" marL="0">
              <a:buNone/>
            </a:pPr>
            <a:r>
              <a:rPr lang="en-US" sz="1420" b="1" dirty="0">
                <a:solidFill>
                  <a:srgbClr val="0C2B4E"/>
                </a:solidFill>
                <a:latin typeface="Aptos" pitchFamily="34" charset="0"/>
                <a:ea typeface="Aptos" pitchFamily="34" charset="-122"/>
                <a:cs typeface="Aptos" pitchFamily="34" charset="-120"/>
              </a:rPr>
              <a:t>93,605</a:t>
            </a:r>
            <a:endParaRPr lang="en-US" sz="1420" dirty="0"/>
          </a:p>
        </p:txBody>
      </p:sp>
      <p:sp>
        <p:nvSpPr>
          <p:cNvPr id="19" name="Shape 17"/>
          <p:cNvSpPr/>
          <p:nvPr/>
        </p:nvSpPr>
        <p:spPr>
          <a:xfrm>
            <a:off x="6126480" y="1554480"/>
            <a:ext cx="5495544" cy="3090672"/>
          </a:xfrm>
          <a:prstGeom prst="roundRect">
            <a:avLst>
              <a:gd name="adj" fmla="val 3254"/>
            </a:avLst>
          </a:prstGeom>
          <a:solidFill>
            <a:srgbClr val="FFFFFF"/>
          </a:solidFill>
          <a:ln w="9525">
            <a:solidFill>
              <a:srgbClr val="D8E5F2"/>
            </a:solidFill>
            <a:prstDash val="solid"/>
          </a:ln>
        </p:spPr>
      </p:sp>
      <p:sp>
        <p:nvSpPr>
          <p:cNvPr id="20" name="Text 18"/>
          <p:cNvSpPr/>
          <p:nvPr/>
        </p:nvSpPr>
        <p:spPr>
          <a:xfrm>
            <a:off x="6382512" y="1792224"/>
            <a:ext cx="4873752" cy="283464"/>
          </a:xfrm>
          <a:prstGeom prst="rect">
            <a:avLst/>
          </a:prstGeom>
          <a:noFill/>
          <a:ln/>
        </p:spPr>
        <p:txBody>
          <a:bodyPr wrap="square" lIns="0" tIns="0" rIns="0" bIns="0" rtlCol="0" anchor="ctr">
            <a:normAutofit/>
          </a:bodyPr>
          <a:lstStyle/>
          <a:p>
            <a:pPr algn="l" indent="0" marL="0">
              <a:buNone/>
            </a:pPr>
            <a:r>
              <a:rPr lang="en-US" sz="1450" b="1" dirty="0">
                <a:solidFill>
                  <a:srgbClr val="0C2B4E"/>
                </a:solidFill>
                <a:latin typeface="Aptos" pitchFamily="34" charset="0"/>
                <a:ea typeface="Aptos" pitchFamily="34" charset="-122"/>
                <a:cs typeface="Aptos" pitchFamily="34" charset="-120"/>
              </a:rPr>
              <a:t>Recent run detail</a:t>
            </a:r>
            <a:endParaRPr lang="en-US" sz="1450" dirty="0"/>
          </a:p>
        </p:txBody>
      </p:sp>
      <p:sp>
        <p:nvSpPr>
          <p:cNvPr id="21" name="Text 19"/>
          <p:cNvSpPr/>
          <p:nvPr/>
        </p:nvSpPr>
        <p:spPr>
          <a:xfrm>
            <a:off x="6400800" y="2276856"/>
            <a:ext cx="3822192" cy="548640"/>
          </a:xfrm>
          <a:prstGeom prst="rect">
            <a:avLst/>
          </a:prstGeom>
          <a:noFill/>
          <a:ln/>
        </p:spPr>
        <p:txBody>
          <a:bodyPr wrap="square" lIns="0" tIns="0" rIns="0" bIns="0" rtlCol="0" anchor="ctr">
            <a:normAutofit/>
          </a:bodyPr>
          <a:lstStyle/>
          <a:p>
            <a:pPr algn="l" indent="0" marL="0">
              <a:buNone/>
            </a:pPr>
            <a:r>
              <a:rPr lang="en-US" sz="3400" b="1" dirty="0">
                <a:solidFill>
                  <a:srgbClr val="1767C7"/>
                </a:solidFill>
                <a:latin typeface="Aptos" pitchFamily="34" charset="0"/>
                <a:ea typeface="Aptos" pitchFamily="34" charset="-122"/>
                <a:cs typeface="Aptos" pitchFamily="34" charset="-120"/>
              </a:rPr>
              <a:t>93,605</a:t>
            </a:r>
            <a:endParaRPr lang="en-US" sz="3400" dirty="0"/>
          </a:p>
        </p:txBody>
      </p:sp>
      <p:sp>
        <p:nvSpPr>
          <p:cNvPr id="22" name="Text 20"/>
          <p:cNvSpPr/>
          <p:nvPr/>
        </p:nvSpPr>
        <p:spPr>
          <a:xfrm>
            <a:off x="6419088" y="2871216"/>
            <a:ext cx="4206240" cy="301752"/>
          </a:xfrm>
          <a:prstGeom prst="rect">
            <a:avLst/>
          </a:prstGeom>
          <a:noFill/>
          <a:ln/>
        </p:spPr>
        <p:txBody>
          <a:bodyPr wrap="square" lIns="0" tIns="0" rIns="0" bIns="0" rtlCol="0" anchor="ctr">
            <a:normAutofit/>
          </a:bodyPr>
          <a:lstStyle/>
          <a:p>
            <a:pPr algn="l" indent="0" marL="0">
              <a:buNone/>
            </a:pPr>
            <a:r>
              <a:rPr lang="en-US" sz="1400" dirty="0">
                <a:solidFill>
                  <a:srgbClr val="5B7190"/>
                </a:solidFill>
                <a:latin typeface="Aptos" pitchFamily="34" charset="0"/>
                <a:ea typeface="Aptos" pitchFamily="34" charset="-122"/>
                <a:cs typeface="Aptos" pitchFamily="34" charset="-120"/>
              </a:rPr>
              <a:t>tokens · 7 calls</a:t>
            </a:r>
            <a:endParaRPr lang="en-US" sz="1400" dirty="0"/>
          </a:p>
        </p:txBody>
      </p:sp>
      <p:sp>
        <p:nvSpPr>
          <p:cNvPr id="23" name="Text 21"/>
          <p:cNvSpPr/>
          <p:nvPr/>
        </p:nvSpPr>
        <p:spPr>
          <a:xfrm>
            <a:off x="6428232" y="3337560"/>
            <a:ext cx="4443984" cy="274320"/>
          </a:xfrm>
          <a:prstGeom prst="rect">
            <a:avLst/>
          </a:prstGeom>
          <a:noFill/>
          <a:ln/>
        </p:spPr>
        <p:txBody>
          <a:bodyPr wrap="square" lIns="0" tIns="0" rIns="0" bIns="0" rtlCol="0" anchor="ctr">
            <a:normAutofit/>
          </a:bodyPr>
          <a:lstStyle/>
          <a:p>
            <a:pPr algn="l" indent="0" marL="0">
              <a:buNone/>
            </a:pPr>
            <a:r>
              <a:rPr lang="en-US" sz="1300" dirty="0">
                <a:solidFill>
                  <a:srgbClr val="18324F"/>
                </a:solidFill>
                <a:latin typeface="Aptos" pitchFamily="34" charset="0"/>
                <a:ea typeface="Aptos" pitchFamily="34" charset="-122"/>
                <a:cs typeface="Aptos" pitchFamily="34" charset="-120"/>
              </a:rPr>
              <a:t>90,179 input  (96.3%)</a:t>
            </a:r>
            <a:endParaRPr lang="en-US" sz="1300" dirty="0"/>
          </a:p>
        </p:txBody>
      </p:sp>
      <p:sp>
        <p:nvSpPr>
          <p:cNvPr id="24" name="Text 22"/>
          <p:cNvSpPr/>
          <p:nvPr/>
        </p:nvSpPr>
        <p:spPr>
          <a:xfrm>
            <a:off x="6428232" y="3721608"/>
            <a:ext cx="4443984" cy="274320"/>
          </a:xfrm>
          <a:prstGeom prst="rect">
            <a:avLst/>
          </a:prstGeom>
          <a:noFill/>
          <a:ln/>
        </p:spPr>
        <p:txBody>
          <a:bodyPr wrap="square" lIns="0" tIns="0" rIns="0" bIns="0" rtlCol="0" anchor="ctr">
            <a:normAutofit/>
          </a:bodyPr>
          <a:lstStyle/>
          <a:p>
            <a:pPr algn="l" indent="0" marL="0">
              <a:buNone/>
            </a:pPr>
            <a:r>
              <a:rPr lang="en-US" sz="1300" dirty="0">
                <a:solidFill>
                  <a:srgbClr val="18324F"/>
                </a:solidFill>
                <a:latin typeface="Aptos" pitchFamily="34" charset="0"/>
                <a:ea typeface="Aptos" pitchFamily="34" charset="-122"/>
                <a:cs typeface="Aptos" pitchFamily="34" charset="-120"/>
              </a:rPr>
              <a:t>3,426 output  (3.7%)</a:t>
            </a:r>
            <a:endParaRPr lang="en-US" sz="1300" dirty="0"/>
          </a:p>
        </p:txBody>
      </p:sp>
      <p:sp>
        <p:nvSpPr>
          <p:cNvPr id="25" name="Shape 23"/>
          <p:cNvSpPr/>
          <p:nvPr/>
        </p:nvSpPr>
        <p:spPr>
          <a:xfrm>
            <a:off x="731520" y="4846320"/>
            <a:ext cx="3227832" cy="265176"/>
          </a:xfrm>
          <a:prstGeom prst="roundRect">
            <a:avLst>
              <a:gd name="adj" fmla="val 37931"/>
            </a:avLst>
          </a:prstGeom>
          <a:solidFill>
            <a:srgbClr val="E7F5F1"/>
          </a:solidFill>
          <a:ln w="9525">
            <a:solidFill>
              <a:srgbClr val="E7F5F1"/>
            </a:solidFill>
            <a:prstDash val="solid"/>
          </a:ln>
        </p:spPr>
      </p:sp>
      <p:sp>
        <p:nvSpPr>
          <p:cNvPr id="26" name="Text 24"/>
          <p:cNvSpPr/>
          <p:nvPr/>
        </p:nvSpPr>
        <p:spPr>
          <a:xfrm>
            <a:off x="804672" y="4855464"/>
            <a:ext cx="3081528" cy="228600"/>
          </a:xfrm>
          <a:prstGeom prst="rect">
            <a:avLst/>
          </a:prstGeom>
          <a:noFill/>
          <a:ln/>
        </p:spPr>
        <p:txBody>
          <a:bodyPr wrap="square" lIns="0" tIns="0" rIns="0" bIns="0" rtlCol="0" anchor="ctr">
            <a:normAutofit/>
          </a:bodyPr>
          <a:lstStyle/>
          <a:p>
            <a:pPr algn="ctr" indent="0" marL="0">
              <a:buNone/>
            </a:pPr>
            <a:r>
              <a:rPr lang="en-US" sz="860" b="1" dirty="0">
                <a:solidFill>
                  <a:srgbClr val="117A65"/>
                </a:solidFill>
                <a:latin typeface="Aptos" pitchFamily="34" charset="0"/>
                <a:ea typeface="Aptos" pitchFamily="34" charset="-122"/>
                <a:cs typeface="Aptos" pitchFamily="34" charset="-120"/>
              </a:rPr>
              <a:t>−42.4% REPORTED TOKENS</a:t>
            </a:r>
            <a:endParaRPr lang="en-US" sz="860" dirty="0"/>
          </a:p>
        </p:txBody>
      </p:sp>
      <p:sp>
        <p:nvSpPr>
          <p:cNvPr id="27" name="Text 25"/>
          <p:cNvSpPr/>
          <p:nvPr/>
        </p:nvSpPr>
        <p:spPr>
          <a:xfrm>
            <a:off x="4251960" y="4846320"/>
            <a:ext cx="7050024" cy="283464"/>
          </a:xfrm>
          <a:prstGeom prst="rect">
            <a:avLst/>
          </a:prstGeom>
          <a:noFill/>
          <a:ln/>
        </p:spPr>
        <p:txBody>
          <a:bodyPr wrap="square" lIns="0" tIns="0" rIns="0" bIns="0" rtlCol="0" anchor="ctr">
            <a:normAutofit/>
          </a:bodyPr>
          <a:lstStyle/>
          <a:p>
            <a:pPr algn="l" indent="0" marL="0">
              <a:buNone/>
            </a:pPr>
            <a:r>
              <a:rPr lang="en-US" sz="1300" dirty="0">
                <a:solidFill>
                  <a:srgbClr val="0C2B4E"/>
                </a:solidFill>
                <a:latin typeface="Aptos" pitchFamily="34" charset="0"/>
                <a:ea typeface="Aptos" pitchFamily="34" charset="-122"/>
                <a:cs typeface="Aptos" pitchFamily="34" charset="-120"/>
              </a:rPr>
              <a:t>68,940 fewer tokens; 11 → 7 calls (observed).</a:t>
            </a:r>
            <a:endParaRPr lang="en-US" sz="1300" dirty="0"/>
          </a:p>
        </p:txBody>
      </p:sp>
      <p:sp>
        <p:nvSpPr>
          <p:cNvPr id="28" name="Shape 26"/>
          <p:cNvSpPr/>
          <p:nvPr/>
        </p:nvSpPr>
        <p:spPr>
          <a:xfrm>
            <a:off x="530352" y="5632704"/>
            <a:ext cx="11137392" cy="484632"/>
          </a:xfrm>
          <a:prstGeom prst="roundRect">
            <a:avLst>
              <a:gd name="adj" fmla="val 20755"/>
            </a:avLst>
          </a:prstGeom>
          <a:solidFill>
            <a:srgbClr val="FFF6E7"/>
          </a:solidFill>
          <a:ln w="9525">
            <a:solidFill>
              <a:srgbClr val="FFF6E7"/>
            </a:solidFill>
            <a:prstDash val="solid"/>
          </a:ln>
        </p:spPr>
      </p:sp>
      <p:sp>
        <p:nvSpPr>
          <p:cNvPr id="29" name="Text 27"/>
          <p:cNvSpPr/>
          <p:nvPr/>
        </p:nvSpPr>
        <p:spPr>
          <a:xfrm>
            <a:off x="713232" y="5719572"/>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CAUTION</a:t>
            </a:r>
            <a:endParaRPr lang="en-US" sz="1110" dirty="0"/>
          </a:p>
        </p:txBody>
      </p:sp>
      <p:sp>
        <p:nvSpPr>
          <p:cNvPr id="30" name="Text 28"/>
          <p:cNvSpPr/>
          <p:nvPr/>
        </p:nvSpPr>
        <p:spPr>
          <a:xfrm>
            <a:off x="2423160" y="5682996"/>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Only comparable if provider, task, settings and acceptance criteria are equivalent.</a:t>
            </a:r>
            <a:endParaRPr lang="en-US" sz="109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RELIABILITY FLOW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Completion verification and failure classification</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Termination is evidence-gated, not solely driven by the model’s final message.</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RELIABILITY</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20</a:t>
            </a:r>
            <a:endParaRPr lang="en-US" sz="900" dirty="0"/>
          </a:p>
        </p:txBody>
      </p:sp>
      <p:sp>
        <p:nvSpPr>
          <p:cNvPr id="11" name="Shape 9"/>
          <p:cNvSpPr/>
          <p:nvPr/>
        </p:nvSpPr>
        <p:spPr>
          <a:xfrm>
            <a:off x="704088" y="1700784"/>
            <a:ext cx="2395728" cy="1033272"/>
          </a:xfrm>
          <a:prstGeom prst="roundRect">
            <a:avLst>
              <a:gd name="adj" fmla="val 9735"/>
            </a:avLst>
          </a:prstGeom>
          <a:solidFill>
            <a:srgbClr val="F5F9FE"/>
          </a:solidFill>
          <a:ln w="9525">
            <a:solidFill>
              <a:srgbClr val="D8E5F2"/>
            </a:solidFill>
            <a:prstDash val="solid"/>
          </a:ln>
        </p:spPr>
      </p:sp>
      <p:sp>
        <p:nvSpPr>
          <p:cNvPr id="12" name="Text 10"/>
          <p:cNvSpPr/>
          <p:nvPr/>
        </p:nvSpPr>
        <p:spPr>
          <a:xfrm>
            <a:off x="786384" y="1810512"/>
            <a:ext cx="2231136"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Requested outcome</a:t>
            </a:r>
            <a:endParaRPr lang="en-US" sz="1410" dirty="0"/>
          </a:p>
        </p:txBody>
      </p:sp>
      <p:sp>
        <p:nvSpPr>
          <p:cNvPr id="13" name="Text 11"/>
          <p:cNvSpPr/>
          <p:nvPr/>
        </p:nvSpPr>
        <p:spPr>
          <a:xfrm>
            <a:off x="804672" y="2148840"/>
            <a:ext cx="2194560" cy="512064"/>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Plan contract + target paths / files</a:t>
            </a:r>
            <a:endParaRPr lang="en-US" sz="1010" dirty="0"/>
          </a:p>
        </p:txBody>
      </p:sp>
      <p:sp>
        <p:nvSpPr>
          <p:cNvPr id="14" name="Shape 12"/>
          <p:cNvSpPr/>
          <p:nvPr/>
        </p:nvSpPr>
        <p:spPr>
          <a:xfrm>
            <a:off x="3584448" y="1700784"/>
            <a:ext cx="2496312" cy="1033272"/>
          </a:xfrm>
          <a:prstGeom prst="roundRect">
            <a:avLst>
              <a:gd name="adj" fmla="val 9735"/>
            </a:avLst>
          </a:prstGeom>
          <a:solidFill>
            <a:srgbClr val="EDF5FD"/>
          </a:solidFill>
          <a:ln w="9525">
            <a:solidFill>
              <a:srgbClr val="D8E5F2"/>
            </a:solidFill>
            <a:prstDash val="solid"/>
          </a:ln>
        </p:spPr>
      </p:sp>
      <p:sp>
        <p:nvSpPr>
          <p:cNvPr id="15" name="Text 13"/>
          <p:cNvSpPr/>
          <p:nvPr/>
        </p:nvSpPr>
        <p:spPr>
          <a:xfrm>
            <a:off x="3666744" y="1810512"/>
            <a:ext cx="2331720"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Workspace evidence</a:t>
            </a:r>
            <a:endParaRPr lang="en-US" sz="1410" dirty="0"/>
          </a:p>
        </p:txBody>
      </p:sp>
      <p:sp>
        <p:nvSpPr>
          <p:cNvPr id="16" name="Text 14"/>
          <p:cNvSpPr/>
          <p:nvPr/>
        </p:nvSpPr>
        <p:spPr>
          <a:xfrm>
            <a:off x="3685032" y="2148840"/>
            <a:ext cx="2295144" cy="512064"/>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Read files / diffs / tests / content</a:t>
            </a:r>
            <a:endParaRPr lang="en-US" sz="1010" dirty="0"/>
          </a:p>
        </p:txBody>
      </p:sp>
      <p:sp>
        <p:nvSpPr>
          <p:cNvPr id="17" name="Shape 15"/>
          <p:cNvSpPr/>
          <p:nvPr/>
        </p:nvSpPr>
        <p:spPr>
          <a:xfrm>
            <a:off x="6537960" y="1700784"/>
            <a:ext cx="2487168" cy="1033272"/>
          </a:xfrm>
          <a:prstGeom prst="roundRect">
            <a:avLst>
              <a:gd name="adj" fmla="val 9735"/>
            </a:avLst>
          </a:prstGeom>
          <a:solidFill>
            <a:srgbClr val="EDF5FD"/>
          </a:solidFill>
          <a:ln w="9525">
            <a:solidFill>
              <a:srgbClr val="D8E5F2"/>
            </a:solidFill>
            <a:prstDash val="solid"/>
          </a:ln>
        </p:spPr>
      </p:sp>
      <p:sp>
        <p:nvSpPr>
          <p:cNvPr id="18" name="Text 16"/>
          <p:cNvSpPr/>
          <p:nvPr/>
        </p:nvSpPr>
        <p:spPr>
          <a:xfrm>
            <a:off x="6620256" y="1810512"/>
            <a:ext cx="2322576" cy="283464"/>
          </a:xfrm>
          <a:prstGeom prst="rect">
            <a:avLst/>
          </a:prstGeom>
          <a:noFill/>
          <a:ln/>
        </p:spPr>
        <p:txBody>
          <a:bodyPr wrap="square" lIns="0" tIns="0" rIns="0" bIns="0" rtlCol="0" anchor="ctr">
            <a:normAutofit/>
          </a:bodyPr>
          <a:lstStyle/>
          <a:p>
            <a:pPr algn="ctr" indent="0" marL="0">
              <a:buNone/>
            </a:pPr>
            <a:r>
              <a:rPr lang="en-US" sz="1410" b="1" dirty="0">
                <a:solidFill>
                  <a:srgbClr val="0C2B4E"/>
                </a:solidFill>
                <a:latin typeface="Aptos" pitchFamily="34" charset="0"/>
                <a:ea typeface="Aptos" pitchFamily="34" charset="-122"/>
                <a:cs typeface="Aptos" pitchFamily="34" charset="-120"/>
              </a:rPr>
              <a:t>Outcome policy</a:t>
            </a:r>
            <a:endParaRPr lang="en-US" sz="1410" dirty="0"/>
          </a:p>
        </p:txBody>
      </p:sp>
      <p:sp>
        <p:nvSpPr>
          <p:cNvPr id="19" name="Text 17"/>
          <p:cNvSpPr/>
          <p:nvPr/>
        </p:nvSpPr>
        <p:spPr>
          <a:xfrm>
            <a:off x="6638544" y="2148840"/>
            <a:ext cx="2286000" cy="512064"/>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Compare actual state to requested result</a:t>
            </a:r>
            <a:endParaRPr lang="en-US" sz="1010" dirty="0"/>
          </a:p>
        </p:txBody>
      </p:sp>
      <p:sp>
        <p:nvSpPr>
          <p:cNvPr id="20" name="Shape 18"/>
          <p:cNvSpPr/>
          <p:nvPr/>
        </p:nvSpPr>
        <p:spPr>
          <a:xfrm>
            <a:off x="9473184" y="1700784"/>
            <a:ext cx="2002536" cy="1033272"/>
          </a:xfrm>
          <a:prstGeom prst="roundRect">
            <a:avLst>
              <a:gd name="adj" fmla="val 9735"/>
            </a:avLst>
          </a:prstGeom>
          <a:solidFill>
            <a:srgbClr val="F5F9FE"/>
          </a:solidFill>
          <a:ln w="9525">
            <a:solidFill>
              <a:srgbClr val="D8E5F2"/>
            </a:solidFill>
            <a:prstDash val="solid"/>
          </a:ln>
        </p:spPr>
      </p:sp>
      <p:sp>
        <p:nvSpPr>
          <p:cNvPr id="21" name="Text 19"/>
          <p:cNvSpPr/>
          <p:nvPr/>
        </p:nvSpPr>
        <p:spPr>
          <a:xfrm>
            <a:off x="9555480" y="1810512"/>
            <a:ext cx="1837944" cy="283464"/>
          </a:xfrm>
          <a:prstGeom prst="rect">
            <a:avLst/>
          </a:prstGeom>
          <a:noFill/>
          <a:ln/>
        </p:spPr>
        <p:txBody>
          <a:bodyPr wrap="square" lIns="0" tIns="0" rIns="0" bIns="0" rtlCol="0" anchor="ctr">
            <a:normAutofit/>
          </a:bodyPr>
          <a:lstStyle/>
          <a:p>
            <a:pPr algn="ctr" indent="0" marL="0">
              <a:buNone/>
            </a:pPr>
            <a:r>
              <a:rPr lang="en-US" sz="1260" b="1" dirty="0">
                <a:solidFill>
                  <a:srgbClr val="0C2B4E"/>
                </a:solidFill>
                <a:latin typeface="Aptos" pitchFamily="34" charset="0"/>
                <a:ea typeface="Aptos" pitchFamily="34" charset="-122"/>
                <a:cs typeface="Aptos" pitchFamily="34" charset="-120"/>
              </a:rPr>
              <a:t>Final report</a:t>
            </a:r>
            <a:endParaRPr lang="en-US" sz="1260" dirty="0"/>
          </a:p>
        </p:txBody>
      </p:sp>
      <p:sp>
        <p:nvSpPr>
          <p:cNvPr id="22" name="Text 20"/>
          <p:cNvSpPr/>
          <p:nvPr/>
        </p:nvSpPr>
        <p:spPr>
          <a:xfrm>
            <a:off x="9573768" y="2148840"/>
            <a:ext cx="1801368" cy="512064"/>
          </a:xfrm>
          <a:prstGeom prst="rect">
            <a:avLst/>
          </a:prstGeom>
          <a:noFill/>
          <a:ln/>
        </p:spPr>
        <p:txBody>
          <a:bodyPr wrap="square" lIns="0" tIns="0" rIns="0" bIns="0" rtlCol="0" anchor="ctr">
            <a:normAutofit/>
          </a:bodyPr>
          <a:lstStyle/>
          <a:p>
            <a:pPr algn="ctr" indent="0" marL="0">
              <a:buNone/>
            </a:pPr>
            <a:r>
              <a:rPr lang="en-US" sz="1010" dirty="0">
                <a:solidFill>
                  <a:srgbClr val="5B7190"/>
                </a:solidFill>
                <a:latin typeface="Aptos" pitchFamily="34" charset="0"/>
                <a:ea typeface="Aptos" pitchFamily="34" charset="-122"/>
                <a:cs typeface="Aptos" pitchFamily="34" charset="-120"/>
              </a:rPr>
              <a:t>Completed / failed / blocked</a:t>
            </a:r>
            <a:endParaRPr lang="en-US" sz="1010" dirty="0"/>
          </a:p>
        </p:txBody>
      </p:sp>
      <p:sp>
        <p:nvSpPr>
          <p:cNvPr id="23" name="Shape 21"/>
          <p:cNvSpPr/>
          <p:nvPr/>
        </p:nvSpPr>
        <p:spPr>
          <a:xfrm>
            <a:off x="3163824" y="2221992"/>
            <a:ext cx="347472" cy="0"/>
          </a:xfrm>
          <a:prstGeom prst="line">
            <a:avLst/>
          </a:prstGeom>
          <a:noFill/>
          <a:ln w="17780">
            <a:solidFill>
              <a:srgbClr val="1767C7"/>
            </a:solidFill>
            <a:prstDash val="solid"/>
            <a:headEnd type="none"/>
            <a:tailEnd type="triangle"/>
          </a:ln>
        </p:spPr>
      </p:sp>
      <p:sp>
        <p:nvSpPr>
          <p:cNvPr id="24" name="Shape 22"/>
          <p:cNvSpPr/>
          <p:nvPr/>
        </p:nvSpPr>
        <p:spPr>
          <a:xfrm>
            <a:off x="6135624" y="2221992"/>
            <a:ext cx="347472" cy="0"/>
          </a:xfrm>
          <a:prstGeom prst="line">
            <a:avLst/>
          </a:prstGeom>
          <a:noFill/>
          <a:ln w="17780">
            <a:solidFill>
              <a:srgbClr val="1767C7"/>
            </a:solidFill>
            <a:prstDash val="solid"/>
            <a:headEnd type="none"/>
            <a:tailEnd type="triangle"/>
          </a:ln>
        </p:spPr>
      </p:sp>
      <p:sp>
        <p:nvSpPr>
          <p:cNvPr id="25" name="Shape 23"/>
          <p:cNvSpPr/>
          <p:nvPr/>
        </p:nvSpPr>
        <p:spPr>
          <a:xfrm>
            <a:off x="9070848" y="2221992"/>
            <a:ext cx="347472" cy="0"/>
          </a:xfrm>
          <a:prstGeom prst="line">
            <a:avLst/>
          </a:prstGeom>
          <a:noFill/>
          <a:ln w="17780">
            <a:solidFill>
              <a:srgbClr val="1767C7"/>
            </a:solidFill>
            <a:prstDash val="solid"/>
            <a:headEnd type="none"/>
            <a:tailEnd type="triangle"/>
          </a:ln>
        </p:spPr>
      </p:sp>
      <p:sp>
        <p:nvSpPr>
          <p:cNvPr id="26" name="Shape 24"/>
          <p:cNvSpPr/>
          <p:nvPr/>
        </p:nvSpPr>
        <p:spPr>
          <a:xfrm>
            <a:off x="585216" y="3675888"/>
            <a:ext cx="3639312" cy="1325880"/>
          </a:xfrm>
          <a:prstGeom prst="roundRect">
            <a:avLst>
              <a:gd name="adj" fmla="val 7586"/>
            </a:avLst>
          </a:prstGeom>
          <a:solidFill>
            <a:srgbClr val="E7F5F1"/>
          </a:solidFill>
          <a:ln w="9525">
            <a:solidFill>
              <a:srgbClr val="D8E5F2"/>
            </a:solidFill>
            <a:prstDash val="solid"/>
          </a:ln>
        </p:spPr>
      </p:sp>
      <p:sp>
        <p:nvSpPr>
          <p:cNvPr id="27" name="Text 25"/>
          <p:cNvSpPr/>
          <p:nvPr/>
        </p:nvSpPr>
        <p:spPr>
          <a:xfrm>
            <a:off x="768096" y="3858768"/>
            <a:ext cx="3273552" cy="265176"/>
          </a:xfrm>
          <a:prstGeom prst="rect">
            <a:avLst/>
          </a:prstGeom>
          <a:noFill/>
          <a:ln/>
        </p:spPr>
        <p:txBody>
          <a:bodyPr wrap="square" lIns="0" tIns="0" rIns="0" bIns="0" rtlCol="0" anchor="ctr">
            <a:normAutofit/>
          </a:bodyPr>
          <a:lstStyle/>
          <a:p>
            <a:pPr algn="l" indent="0" marL="0">
              <a:buNone/>
            </a:pPr>
            <a:r>
              <a:rPr lang="en-US" sz="1360" b="1" dirty="0">
                <a:solidFill>
                  <a:srgbClr val="117A65"/>
                </a:solidFill>
                <a:latin typeface="Aptos" pitchFamily="34" charset="0"/>
                <a:ea typeface="Aptos" pitchFamily="34" charset="-122"/>
                <a:cs typeface="Aptos" pitchFamily="34" charset="-120"/>
              </a:rPr>
              <a:t>SUCCESS</a:t>
            </a:r>
            <a:endParaRPr lang="en-US" sz="1360" dirty="0"/>
          </a:p>
        </p:txBody>
      </p:sp>
      <p:sp>
        <p:nvSpPr>
          <p:cNvPr id="28" name="Text 26"/>
          <p:cNvSpPr/>
          <p:nvPr/>
        </p:nvSpPr>
        <p:spPr>
          <a:xfrm>
            <a:off x="768096" y="4233672"/>
            <a:ext cx="3273552" cy="237744"/>
          </a:xfrm>
          <a:prstGeom prst="rect">
            <a:avLst/>
          </a:prstGeom>
          <a:noFill/>
          <a:ln/>
        </p:spPr>
        <p:txBody>
          <a:bodyPr wrap="square" lIns="0" tIns="0" rIns="0" bIns="0" rtlCol="0" anchor="ctr">
            <a:normAutofit/>
          </a:bodyPr>
          <a:lstStyle/>
          <a:p>
            <a:pPr algn="l" indent="0" marL="0">
              <a:buNone/>
            </a:pPr>
            <a:r>
              <a:rPr lang="en-US" sz="1080" dirty="0">
                <a:solidFill>
                  <a:srgbClr val="18324F"/>
                </a:solidFill>
                <a:latin typeface="Aptos" pitchFamily="34" charset="0"/>
                <a:ea typeface="Aptos" pitchFamily="34" charset="-122"/>
                <a:cs typeface="Aptos" pitchFamily="34" charset="-120"/>
              </a:rPr>
              <a:t>Evidence demonstrates requested outcome</a:t>
            </a:r>
            <a:endParaRPr lang="en-US" sz="1080" dirty="0"/>
          </a:p>
        </p:txBody>
      </p:sp>
      <p:sp>
        <p:nvSpPr>
          <p:cNvPr id="29" name="Text 27"/>
          <p:cNvSpPr/>
          <p:nvPr/>
        </p:nvSpPr>
        <p:spPr>
          <a:xfrm>
            <a:off x="768096" y="4553712"/>
            <a:ext cx="3273552" cy="237744"/>
          </a:xfrm>
          <a:prstGeom prst="rect">
            <a:avLst/>
          </a:prstGeom>
          <a:noFill/>
          <a:ln/>
        </p:spPr>
        <p:txBody>
          <a:bodyPr wrap="square" lIns="0" tIns="0" rIns="0" bIns="0" rtlCol="0" anchor="ctr">
            <a:normAutofit/>
          </a:bodyPr>
          <a:lstStyle/>
          <a:p>
            <a:pPr algn="l" indent="0" marL="0">
              <a:buNone/>
            </a:pPr>
            <a:r>
              <a:rPr lang="en-US" sz="1000" dirty="0">
                <a:solidFill>
                  <a:srgbClr val="5B7190"/>
                </a:solidFill>
                <a:latin typeface="Aptos" pitchFamily="34" charset="0"/>
                <a:ea typeface="Aptos" pitchFamily="34" charset="-122"/>
                <a:cs typeface="Aptos" pitchFamily="34" charset="-120"/>
              </a:rPr>
              <a:t>Completion with activity/token report</a:t>
            </a:r>
            <a:endParaRPr lang="en-US" sz="1000" dirty="0"/>
          </a:p>
        </p:txBody>
      </p:sp>
      <p:sp>
        <p:nvSpPr>
          <p:cNvPr id="30" name="Shape 28"/>
          <p:cNvSpPr/>
          <p:nvPr/>
        </p:nvSpPr>
        <p:spPr>
          <a:xfrm>
            <a:off x="4407408" y="3675888"/>
            <a:ext cx="3639312" cy="1325880"/>
          </a:xfrm>
          <a:prstGeom prst="roundRect">
            <a:avLst>
              <a:gd name="adj" fmla="val 7586"/>
            </a:avLst>
          </a:prstGeom>
          <a:solidFill>
            <a:srgbClr val="FFF6E7"/>
          </a:solidFill>
          <a:ln w="9525">
            <a:solidFill>
              <a:srgbClr val="D8E5F2"/>
            </a:solidFill>
            <a:prstDash val="solid"/>
          </a:ln>
        </p:spPr>
      </p:sp>
      <p:sp>
        <p:nvSpPr>
          <p:cNvPr id="31" name="Text 29"/>
          <p:cNvSpPr/>
          <p:nvPr/>
        </p:nvSpPr>
        <p:spPr>
          <a:xfrm>
            <a:off x="4590288" y="3858768"/>
            <a:ext cx="3273552" cy="265176"/>
          </a:xfrm>
          <a:prstGeom prst="rect">
            <a:avLst/>
          </a:prstGeom>
          <a:noFill/>
          <a:ln/>
        </p:spPr>
        <p:txBody>
          <a:bodyPr wrap="square" lIns="0" tIns="0" rIns="0" bIns="0" rtlCol="0" anchor="ctr">
            <a:normAutofit/>
          </a:bodyPr>
          <a:lstStyle/>
          <a:p>
            <a:pPr algn="l" indent="0" marL="0">
              <a:buNone/>
            </a:pPr>
            <a:r>
              <a:rPr lang="en-US" sz="1360" b="1" dirty="0">
                <a:solidFill>
                  <a:srgbClr val="1767C7"/>
                </a:solidFill>
                <a:latin typeface="Aptos" pitchFamily="34" charset="0"/>
                <a:ea typeface="Aptos" pitchFamily="34" charset="-122"/>
                <a:cs typeface="Aptos" pitchFamily="34" charset="-120"/>
              </a:rPr>
              <a:t>INTERNAL FAILURE</a:t>
            </a:r>
            <a:endParaRPr lang="en-US" sz="1360" dirty="0"/>
          </a:p>
        </p:txBody>
      </p:sp>
      <p:sp>
        <p:nvSpPr>
          <p:cNvPr id="32" name="Text 30"/>
          <p:cNvSpPr/>
          <p:nvPr/>
        </p:nvSpPr>
        <p:spPr>
          <a:xfrm>
            <a:off x="4590288" y="4233672"/>
            <a:ext cx="3273552" cy="237744"/>
          </a:xfrm>
          <a:prstGeom prst="rect">
            <a:avLst/>
          </a:prstGeom>
          <a:noFill/>
          <a:ln/>
        </p:spPr>
        <p:txBody>
          <a:bodyPr wrap="square" lIns="0" tIns="0" rIns="0" bIns="0" rtlCol="0" anchor="ctr">
            <a:normAutofit/>
          </a:bodyPr>
          <a:lstStyle/>
          <a:p>
            <a:pPr algn="l" indent="0" marL="0">
              <a:buNone/>
            </a:pPr>
            <a:r>
              <a:rPr lang="en-US" sz="1080" dirty="0">
                <a:solidFill>
                  <a:srgbClr val="18324F"/>
                </a:solidFill>
                <a:latin typeface="Aptos" pitchFamily="34" charset="0"/>
                <a:ea typeface="Aptos" pitchFamily="34" charset="-122"/>
                <a:cs typeface="Aptos" pitchFamily="34" charset="-120"/>
              </a:rPr>
              <a:t>Missing verification or unsuccessful tool</a:t>
            </a:r>
            <a:endParaRPr lang="en-US" sz="1080" dirty="0"/>
          </a:p>
        </p:txBody>
      </p:sp>
      <p:sp>
        <p:nvSpPr>
          <p:cNvPr id="33" name="Text 31"/>
          <p:cNvSpPr/>
          <p:nvPr/>
        </p:nvSpPr>
        <p:spPr>
          <a:xfrm>
            <a:off x="4590288" y="4553712"/>
            <a:ext cx="3273552" cy="237744"/>
          </a:xfrm>
          <a:prstGeom prst="rect">
            <a:avLst/>
          </a:prstGeom>
          <a:noFill/>
          <a:ln/>
        </p:spPr>
        <p:txBody>
          <a:bodyPr wrap="square" lIns="0" tIns="0" rIns="0" bIns="0" rtlCol="0" anchor="ctr">
            <a:normAutofit/>
          </a:bodyPr>
          <a:lstStyle/>
          <a:p>
            <a:pPr algn="l" indent="0" marL="0">
              <a:buNone/>
            </a:pPr>
            <a:r>
              <a:rPr lang="en-US" sz="1000" dirty="0">
                <a:solidFill>
                  <a:srgbClr val="5B7190"/>
                </a:solidFill>
                <a:latin typeface="Aptos" pitchFamily="34" charset="0"/>
                <a:ea typeface="Aptos" pitchFamily="34" charset="-122"/>
                <a:cs typeface="Aptos" pitchFamily="34" charset="-120"/>
              </a:rPr>
              <a:t>Explicit failure + actionable reason</a:t>
            </a:r>
            <a:endParaRPr lang="en-US" sz="1000" dirty="0"/>
          </a:p>
        </p:txBody>
      </p:sp>
      <p:sp>
        <p:nvSpPr>
          <p:cNvPr id="34" name="Shape 32"/>
          <p:cNvSpPr/>
          <p:nvPr/>
        </p:nvSpPr>
        <p:spPr>
          <a:xfrm>
            <a:off x="8229600" y="3675888"/>
            <a:ext cx="3639312" cy="1325880"/>
          </a:xfrm>
          <a:prstGeom prst="roundRect">
            <a:avLst>
              <a:gd name="adj" fmla="val 7586"/>
            </a:avLst>
          </a:prstGeom>
          <a:solidFill>
            <a:srgbClr val="F5F9FE"/>
          </a:solidFill>
          <a:ln w="9525">
            <a:solidFill>
              <a:srgbClr val="D8E5F2"/>
            </a:solidFill>
            <a:prstDash val="solid"/>
          </a:ln>
        </p:spPr>
      </p:sp>
      <p:sp>
        <p:nvSpPr>
          <p:cNvPr id="35" name="Text 33"/>
          <p:cNvSpPr/>
          <p:nvPr/>
        </p:nvSpPr>
        <p:spPr>
          <a:xfrm>
            <a:off x="8412480" y="3858768"/>
            <a:ext cx="3273552" cy="265176"/>
          </a:xfrm>
          <a:prstGeom prst="rect">
            <a:avLst/>
          </a:prstGeom>
          <a:noFill/>
          <a:ln/>
        </p:spPr>
        <p:txBody>
          <a:bodyPr wrap="square" lIns="0" tIns="0" rIns="0" bIns="0" rtlCol="0" anchor="ctr">
            <a:normAutofit/>
          </a:bodyPr>
          <a:lstStyle/>
          <a:p>
            <a:pPr algn="l" indent="0" marL="0">
              <a:buNone/>
            </a:pPr>
            <a:r>
              <a:rPr lang="en-US" sz="1360" b="1" dirty="0">
                <a:solidFill>
                  <a:srgbClr val="1767C7"/>
                </a:solidFill>
                <a:latin typeface="Aptos" pitchFamily="34" charset="0"/>
                <a:ea typeface="Aptos" pitchFamily="34" charset="-122"/>
                <a:cs typeface="Aptos" pitchFamily="34" charset="-120"/>
              </a:rPr>
              <a:t>NEEDS INPUT</a:t>
            </a:r>
            <a:endParaRPr lang="en-US" sz="1360" dirty="0"/>
          </a:p>
        </p:txBody>
      </p:sp>
      <p:sp>
        <p:nvSpPr>
          <p:cNvPr id="36" name="Text 34"/>
          <p:cNvSpPr/>
          <p:nvPr/>
        </p:nvSpPr>
        <p:spPr>
          <a:xfrm>
            <a:off x="8412480" y="4233672"/>
            <a:ext cx="3273552" cy="237744"/>
          </a:xfrm>
          <a:prstGeom prst="rect">
            <a:avLst/>
          </a:prstGeom>
          <a:noFill/>
          <a:ln/>
        </p:spPr>
        <p:txBody>
          <a:bodyPr wrap="square" lIns="0" tIns="0" rIns="0" bIns="0" rtlCol="0" anchor="ctr">
            <a:normAutofit/>
          </a:bodyPr>
          <a:lstStyle/>
          <a:p>
            <a:pPr algn="l" indent="0" marL="0">
              <a:buNone/>
            </a:pPr>
            <a:r>
              <a:rPr lang="en-US" sz="1080" dirty="0">
                <a:solidFill>
                  <a:srgbClr val="18324F"/>
                </a:solidFill>
                <a:latin typeface="Aptos" pitchFamily="34" charset="0"/>
                <a:ea typeface="Aptos" pitchFamily="34" charset="-122"/>
                <a:cs typeface="Aptos" pitchFamily="34" charset="-120"/>
              </a:rPr>
              <a:t>Real ambiguity / protected operation</a:t>
            </a:r>
            <a:endParaRPr lang="en-US" sz="1080" dirty="0"/>
          </a:p>
        </p:txBody>
      </p:sp>
      <p:sp>
        <p:nvSpPr>
          <p:cNvPr id="37" name="Text 35"/>
          <p:cNvSpPr/>
          <p:nvPr/>
        </p:nvSpPr>
        <p:spPr>
          <a:xfrm>
            <a:off x="8412480" y="4553712"/>
            <a:ext cx="3273552" cy="237744"/>
          </a:xfrm>
          <a:prstGeom prst="rect">
            <a:avLst/>
          </a:prstGeom>
          <a:noFill/>
          <a:ln/>
        </p:spPr>
        <p:txBody>
          <a:bodyPr wrap="square" lIns="0" tIns="0" rIns="0" bIns="0" rtlCol="0" anchor="ctr">
            <a:normAutofit/>
          </a:bodyPr>
          <a:lstStyle/>
          <a:p>
            <a:pPr algn="l" indent="0" marL="0">
              <a:buNone/>
            </a:pPr>
            <a:r>
              <a:rPr lang="en-US" sz="1000" dirty="0">
                <a:solidFill>
                  <a:srgbClr val="5B7190"/>
                </a:solidFill>
                <a:latin typeface="Aptos" pitchFamily="34" charset="0"/>
                <a:ea typeface="Aptos" pitchFamily="34" charset="-122"/>
                <a:cs typeface="Aptos" pitchFamily="34" charset="-120"/>
              </a:rPr>
              <a:t>Ask user, or await permission</a:t>
            </a:r>
            <a:endParaRPr lang="en-US" sz="1000" dirty="0"/>
          </a:p>
        </p:txBody>
      </p:sp>
      <p:sp>
        <p:nvSpPr>
          <p:cNvPr id="38" name="Shape 36"/>
          <p:cNvSpPr/>
          <p:nvPr/>
        </p:nvSpPr>
        <p:spPr>
          <a:xfrm>
            <a:off x="530352" y="5687568"/>
            <a:ext cx="11137392" cy="484632"/>
          </a:xfrm>
          <a:prstGeom prst="roundRect">
            <a:avLst>
              <a:gd name="adj" fmla="val 20755"/>
            </a:avLst>
          </a:prstGeom>
          <a:solidFill>
            <a:srgbClr val="EDF5FD"/>
          </a:solidFill>
          <a:ln w="9525">
            <a:solidFill>
              <a:srgbClr val="EDF5FD"/>
            </a:solidFill>
            <a:prstDash val="solid"/>
          </a:ln>
        </p:spPr>
      </p:sp>
      <p:sp>
        <p:nvSpPr>
          <p:cNvPr id="39" name="Text 37"/>
          <p:cNvSpPr/>
          <p:nvPr/>
        </p:nvSpPr>
        <p:spPr>
          <a:xfrm>
            <a:off x="713232" y="5774436"/>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ELIYA70 CHANGE</a:t>
            </a:r>
            <a:endParaRPr lang="en-US" sz="1110" dirty="0"/>
          </a:p>
        </p:txBody>
      </p:sp>
      <p:sp>
        <p:nvSpPr>
          <p:cNvPr id="40" name="Text 38"/>
          <p:cNvSpPr/>
          <p:nvPr/>
        </p:nvSpPr>
        <p:spPr>
          <a:xfrm>
            <a:off x="2423160" y="5737860"/>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Internal verifier errors no longer automatically open an unnecessary guidance dialog.</a:t>
            </a:r>
            <a:endParaRPr lang="en-US" sz="109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RUNTIME TELEMETRY</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Observability and execution accountability</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User-visible progress backed by durable records, not invented execution claims.</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RELIABILITY</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21</a:t>
            </a:r>
            <a:endParaRPr lang="en-US" sz="900" dirty="0"/>
          </a:p>
        </p:txBody>
      </p:sp>
      <p:sp>
        <p:nvSpPr>
          <p:cNvPr id="11" name="Shape 9"/>
          <p:cNvSpPr/>
          <p:nvPr/>
        </p:nvSpPr>
        <p:spPr>
          <a:xfrm>
            <a:off x="530352" y="1618488"/>
            <a:ext cx="3590544" cy="1572768"/>
          </a:xfrm>
          <a:prstGeom prst="roundRect">
            <a:avLst>
              <a:gd name="adj" fmla="val 6395"/>
            </a:avLst>
          </a:prstGeom>
          <a:solidFill>
            <a:srgbClr val="FFFFFF"/>
          </a:solidFill>
          <a:ln w="9525">
            <a:solidFill>
              <a:srgbClr val="D8E5F2"/>
            </a:solidFill>
            <a:prstDash val="solid"/>
          </a:ln>
        </p:spPr>
      </p:sp>
      <p:sp>
        <p:nvSpPr>
          <p:cNvPr id="12" name="Shape 10"/>
          <p:cNvSpPr/>
          <p:nvPr/>
        </p:nvSpPr>
        <p:spPr>
          <a:xfrm>
            <a:off x="530352" y="1618488"/>
            <a:ext cx="50292" cy="1572768"/>
          </a:xfrm>
          <a:prstGeom prst="rect">
            <a:avLst>
              <a:gd name="adj" fmla="val 163636"/>
            </a:avLst>
          </a:prstGeom>
          <a:solidFill>
            <a:srgbClr val="1767C7"/>
          </a:solidFill>
          <a:ln w="9525">
            <a:solidFill>
              <a:srgbClr val="1767C7"/>
            </a:solidFill>
            <a:prstDash val="solid"/>
          </a:ln>
        </p:spPr>
      </p:sp>
      <p:sp>
        <p:nvSpPr>
          <p:cNvPr id="13" name="Text 11"/>
          <p:cNvSpPr/>
          <p:nvPr/>
        </p:nvSpPr>
        <p:spPr>
          <a:xfrm>
            <a:off x="685800" y="1728216"/>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Activity timeline</a:t>
            </a:r>
            <a:endParaRPr lang="en-US" sz="1410" dirty="0"/>
          </a:p>
        </p:txBody>
      </p:sp>
      <p:sp>
        <p:nvSpPr>
          <p:cNvPr id="14" name="Text 12"/>
          <p:cNvSpPr/>
          <p:nvPr/>
        </p:nvSpPr>
        <p:spPr>
          <a:xfrm>
            <a:off x="685800" y="2103120"/>
            <a:ext cx="3288792" cy="978408"/>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Plan phase, step status, tool activity and error/stop events.</a:t>
            </a:r>
            <a:endParaRPr lang="en-US" sz="1050" dirty="0"/>
          </a:p>
        </p:txBody>
      </p:sp>
      <p:sp>
        <p:nvSpPr>
          <p:cNvPr id="15" name="Shape 13"/>
          <p:cNvSpPr/>
          <p:nvPr/>
        </p:nvSpPr>
        <p:spPr>
          <a:xfrm>
            <a:off x="4303776" y="1618488"/>
            <a:ext cx="3590544" cy="1572768"/>
          </a:xfrm>
          <a:prstGeom prst="roundRect">
            <a:avLst>
              <a:gd name="adj" fmla="val 6395"/>
            </a:avLst>
          </a:prstGeom>
          <a:solidFill>
            <a:srgbClr val="FFFFFF"/>
          </a:solidFill>
          <a:ln w="9525">
            <a:solidFill>
              <a:srgbClr val="D8E5F2"/>
            </a:solidFill>
            <a:prstDash val="solid"/>
          </a:ln>
        </p:spPr>
      </p:sp>
      <p:sp>
        <p:nvSpPr>
          <p:cNvPr id="16" name="Shape 14"/>
          <p:cNvSpPr/>
          <p:nvPr/>
        </p:nvSpPr>
        <p:spPr>
          <a:xfrm>
            <a:off x="4303776" y="1618488"/>
            <a:ext cx="50292" cy="1572768"/>
          </a:xfrm>
          <a:prstGeom prst="rect">
            <a:avLst>
              <a:gd name="adj" fmla="val 163636"/>
            </a:avLst>
          </a:prstGeom>
          <a:solidFill>
            <a:srgbClr val="1767C7"/>
          </a:solidFill>
          <a:ln w="9525">
            <a:solidFill>
              <a:srgbClr val="1767C7"/>
            </a:solidFill>
            <a:prstDash val="solid"/>
          </a:ln>
        </p:spPr>
      </p:sp>
      <p:sp>
        <p:nvSpPr>
          <p:cNvPr id="17" name="Text 15"/>
          <p:cNvSpPr/>
          <p:nvPr/>
        </p:nvSpPr>
        <p:spPr>
          <a:xfrm>
            <a:off x="4459224" y="1728216"/>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Execution monitor</a:t>
            </a:r>
            <a:endParaRPr lang="en-US" sz="1410" dirty="0"/>
          </a:p>
        </p:txBody>
      </p:sp>
      <p:sp>
        <p:nvSpPr>
          <p:cNvPr id="18" name="Text 16"/>
          <p:cNvSpPr/>
          <p:nvPr/>
        </p:nvSpPr>
        <p:spPr>
          <a:xfrm>
            <a:off x="4459224" y="2103120"/>
            <a:ext cx="3288792" cy="978408"/>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Global monitor shows active tasks, waiting-input and verified progress.</a:t>
            </a:r>
            <a:endParaRPr lang="en-US" sz="1050" dirty="0"/>
          </a:p>
        </p:txBody>
      </p:sp>
      <p:sp>
        <p:nvSpPr>
          <p:cNvPr id="19" name="Shape 17"/>
          <p:cNvSpPr/>
          <p:nvPr/>
        </p:nvSpPr>
        <p:spPr>
          <a:xfrm>
            <a:off x="8077200" y="1618488"/>
            <a:ext cx="3590544" cy="1572768"/>
          </a:xfrm>
          <a:prstGeom prst="roundRect">
            <a:avLst>
              <a:gd name="adj" fmla="val 6395"/>
            </a:avLst>
          </a:prstGeom>
          <a:solidFill>
            <a:srgbClr val="FFFFFF"/>
          </a:solidFill>
          <a:ln w="9525">
            <a:solidFill>
              <a:srgbClr val="D8E5F2"/>
            </a:solidFill>
            <a:prstDash val="solid"/>
          </a:ln>
        </p:spPr>
      </p:sp>
      <p:sp>
        <p:nvSpPr>
          <p:cNvPr id="20" name="Shape 18"/>
          <p:cNvSpPr/>
          <p:nvPr/>
        </p:nvSpPr>
        <p:spPr>
          <a:xfrm>
            <a:off x="8077200" y="1618488"/>
            <a:ext cx="50292" cy="1572768"/>
          </a:xfrm>
          <a:prstGeom prst="rect">
            <a:avLst>
              <a:gd name="adj" fmla="val 163636"/>
            </a:avLst>
          </a:prstGeom>
          <a:solidFill>
            <a:srgbClr val="1767C7"/>
          </a:solidFill>
          <a:ln w="9525">
            <a:solidFill>
              <a:srgbClr val="1767C7"/>
            </a:solidFill>
            <a:prstDash val="solid"/>
          </a:ln>
        </p:spPr>
      </p:sp>
      <p:sp>
        <p:nvSpPr>
          <p:cNvPr id="21" name="Text 19"/>
          <p:cNvSpPr/>
          <p:nvPr/>
        </p:nvSpPr>
        <p:spPr>
          <a:xfrm>
            <a:off x="8232648" y="1728216"/>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Token activity ledger</a:t>
            </a:r>
            <a:endParaRPr lang="en-US" sz="1410" dirty="0"/>
          </a:p>
        </p:txBody>
      </p:sp>
      <p:sp>
        <p:nvSpPr>
          <p:cNvPr id="22" name="Text 20"/>
          <p:cNvSpPr/>
          <p:nvPr/>
        </p:nvSpPr>
        <p:spPr>
          <a:xfrm>
            <a:off x="8232648" y="2103120"/>
            <a:ext cx="3288792" cy="978408"/>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Calls and reported input/output grouped by planning, execution, review and compaction.</a:t>
            </a:r>
            <a:endParaRPr lang="en-US" sz="1050" dirty="0"/>
          </a:p>
        </p:txBody>
      </p:sp>
      <p:sp>
        <p:nvSpPr>
          <p:cNvPr id="23" name="Shape 21"/>
          <p:cNvSpPr/>
          <p:nvPr/>
        </p:nvSpPr>
        <p:spPr>
          <a:xfrm>
            <a:off x="530352" y="3364992"/>
            <a:ext cx="3590544" cy="1572768"/>
          </a:xfrm>
          <a:prstGeom prst="roundRect">
            <a:avLst>
              <a:gd name="adj" fmla="val 6395"/>
            </a:avLst>
          </a:prstGeom>
          <a:solidFill>
            <a:srgbClr val="FFFFFF"/>
          </a:solidFill>
          <a:ln w="9525">
            <a:solidFill>
              <a:srgbClr val="D8E5F2"/>
            </a:solidFill>
            <a:prstDash val="solid"/>
          </a:ln>
        </p:spPr>
      </p:sp>
      <p:sp>
        <p:nvSpPr>
          <p:cNvPr id="24" name="Shape 22"/>
          <p:cNvSpPr/>
          <p:nvPr/>
        </p:nvSpPr>
        <p:spPr>
          <a:xfrm>
            <a:off x="530352" y="3364992"/>
            <a:ext cx="50292" cy="1572768"/>
          </a:xfrm>
          <a:prstGeom prst="rect">
            <a:avLst>
              <a:gd name="adj" fmla="val 163636"/>
            </a:avLst>
          </a:prstGeom>
          <a:solidFill>
            <a:srgbClr val="1767C7"/>
          </a:solidFill>
          <a:ln w="9525">
            <a:solidFill>
              <a:srgbClr val="1767C7"/>
            </a:solidFill>
            <a:prstDash val="solid"/>
          </a:ln>
        </p:spPr>
      </p:sp>
      <p:sp>
        <p:nvSpPr>
          <p:cNvPr id="25" name="Text 23"/>
          <p:cNvSpPr/>
          <p:nvPr/>
        </p:nvSpPr>
        <p:spPr>
          <a:xfrm>
            <a:off x="685800" y="3474720"/>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Reconnection</a:t>
            </a:r>
            <a:endParaRPr lang="en-US" sz="1410" dirty="0"/>
          </a:p>
        </p:txBody>
      </p:sp>
      <p:sp>
        <p:nvSpPr>
          <p:cNvPr id="26" name="Text 24"/>
          <p:cNvSpPr/>
          <p:nvPr/>
        </p:nvSpPr>
        <p:spPr>
          <a:xfrm>
            <a:off x="685800" y="3849624"/>
            <a:ext cx="3288792" cy="978408"/>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Terminal event history can be read after UI tab close/reopen.</a:t>
            </a:r>
            <a:endParaRPr lang="en-US" sz="1050" dirty="0"/>
          </a:p>
        </p:txBody>
      </p:sp>
      <p:sp>
        <p:nvSpPr>
          <p:cNvPr id="27" name="Shape 25"/>
          <p:cNvSpPr/>
          <p:nvPr/>
        </p:nvSpPr>
        <p:spPr>
          <a:xfrm>
            <a:off x="4303776" y="3364992"/>
            <a:ext cx="3590544" cy="1572768"/>
          </a:xfrm>
          <a:prstGeom prst="roundRect">
            <a:avLst>
              <a:gd name="adj" fmla="val 6395"/>
            </a:avLst>
          </a:prstGeom>
          <a:solidFill>
            <a:srgbClr val="FFFFFF"/>
          </a:solidFill>
          <a:ln w="9525">
            <a:solidFill>
              <a:srgbClr val="D8E5F2"/>
            </a:solidFill>
            <a:prstDash val="solid"/>
          </a:ln>
        </p:spPr>
      </p:sp>
      <p:sp>
        <p:nvSpPr>
          <p:cNvPr id="28" name="Shape 26"/>
          <p:cNvSpPr/>
          <p:nvPr/>
        </p:nvSpPr>
        <p:spPr>
          <a:xfrm>
            <a:off x="4303776" y="3364992"/>
            <a:ext cx="50292" cy="1572768"/>
          </a:xfrm>
          <a:prstGeom prst="rect">
            <a:avLst>
              <a:gd name="adj" fmla="val 163636"/>
            </a:avLst>
          </a:prstGeom>
          <a:solidFill>
            <a:srgbClr val="1767C7"/>
          </a:solidFill>
          <a:ln w="9525">
            <a:solidFill>
              <a:srgbClr val="1767C7"/>
            </a:solidFill>
            <a:prstDash val="solid"/>
          </a:ln>
        </p:spPr>
      </p:sp>
      <p:sp>
        <p:nvSpPr>
          <p:cNvPr id="29" name="Text 27"/>
          <p:cNvSpPr/>
          <p:nvPr/>
        </p:nvSpPr>
        <p:spPr>
          <a:xfrm>
            <a:off x="4459224" y="3474720"/>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Artifacts &amp; review</a:t>
            </a:r>
            <a:endParaRPr lang="en-US" sz="1410" dirty="0"/>
          </a:p>
        </p:txBody>
      </p:sp>
      <p:sp>
        <p:nvSpPr>
          <p:cNvPr id="30" name="Text 28"/>
          <p:cNvSpPr/>
          <p:nvPr/>
        </p:nvSpPr>
        <p:spPr>
          <a:xfrm>
            <a:off x="4459224" y="3849624"/>
            <a:ext cx="3288792" cy="978408"/>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Markdown preview, saved files, task reports and changed file lists.</a:t>
            </a:r>
            <a:endParaRPr lang="en-US" sz="1050" dirty="0"/>
          </a:p>
        </p:txBody>
      </p:sp>
      <p:sp>
        <p:nvSpPr>
          <p:cNvPr id="31" name="Shape 29"/>
          <p:cNvSpPr/>
          <p:nvPr/>
        </p:nvSpPr>
        <p:spPr>
          <a:xfrm>
            <a:off x="8077200" y="3364992"/>
            <a:ext cx="3590544" cy="1572768"/>
          </a:xfrm>
          <a:prstGeom prst="roundRect">
            <a:avLst>
              <a:gd name="adj" fmla="val 6395"/>
            </a:avLst>
          </a:prstGeom>
          <a:solidFill>
            <a:srgbClr val="FFFFFF"/>
          </a:solidFill>
          <a:ln w="9525">
            <a:solidFill>
              <a:srgbClr val="D8E5F2"/>
            </a:solidFill>
            <a:prstDash val="solid"/>
          </a:ln>
        </p:spPr>
      </p:sp>
      <p:sp>
        <p:nvSpPr>
          <p:cNvPr id="32" name="Shape 30"/>
          <p:cNvSpPr/>
          <p:nvPr/>
        </p:nvSpPr>
        <p:spPr>
          <a:xfrm>
            <a:off x="8077200" y="3364992"/>
            <a:ext cx="50292" cy="1572768"/>
          </a:xfrm>
          <a:prstGeom prst="rect">
            <a:avLst>
              <a:gd name="adj" fmla="val 163636"/>
            </a:avLst>
          </a:prstGeom>
          <a:solidFill>
            <a:srgbClr val="1767C7"/>
          </a:solidFill>
          <a:ln w="9525">
            <a:solidFill>
              <a:srgbClr val="1767C7"/>
            </a:solidFill>
            <a:prstDash val="solid"/>
          </a:ln>
        </p:spPr>
      </p:sp>
      <p:sp>
        <p:nvSpPr>
          <p:cNvPr id="33" name="Text 31"/>
          <p:cNvSpPr/>
          <p:nvPr/>
        </p:nvSpPr>
        <p:spPr>
          <a:xfrm>
            <a:off x="8232648" y="3474720"/>
            <a:ext cx="3297936" cy="283464"/>
          </a:xfrm>
          <a:prstGeom prst="rect">
            <a:avLst/>
          </a:prstGeom>
          <a:noFill/>
          <a:ln/>
        </p:spPr>
        <p:txBody>
          <a:bodyPr wrap="square" lIns="0" tIns="0" rIns="0" bIns="0" rtlCol="0" anchor="ctr">
            <a:normAutofit/>
          </a:bodyPr>
          <a:lstStyle/>
          <a:p>
            <a:pPr algn="l" indent="0" marL="0">
              <a:buNone/>
            </a:pPr>
            <a:r>
              <a:rPr lang="en-US" sz="1410" b="1" dirty="0">
                <a:solidFill>
                  <a:srgbClr val="0C2B4E"/>
                </a:solidFill>
                <a:latin typeface="Aptos" pitchFamily="34" charset="0"/>
                <a:ea typeface="Aptos" pitchFamily="34" charset="-122"/>
                <a:cs typeface="Aptos" pitchFamily="34" charset="-120"/>
              </a:rPr>
              <a:t>Signal gaps</a:t>
            </a:r>
            <a:endParaRPr lang="en-US" sz="1410" dirty="0"/>
          </a:p>
        </p:txBody>
      </p:sp>
      <p:sp>
        <p:nvSpPr>
          <p:cNvPr id="34" name="Text 32"/>
          <p:cNvSpPr/>
          <p:nvPr/>
        </p:nvSpPr>
        <p:spPr>
          <a:xfrm>
            <a:off x="8232648" y="3849624"/>
            <a:ext cx="3288792" cy="978408"/>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Missing provider usage is marked; no claim of complete end-to-end tracing.</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RISK &amp; CONTROL MATRIX</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Security architecture and residual risks</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Controls are application-level guardrails; not a hostile-code sandbox.</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GOVERNANCE</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22</a:t>
            </a:r>
            <a:endParaRPr lang="en-US" sz="900" dirty="0"/>
          </a:p>
        </p:txBody>
      </p:sp>
      <p:sp>
        <p:nvSpPr>
          <p:cNvPr id="11" name="Shape 9"/>
          <p:cNvSpPr/>
          <p:nvPr/>
        </p:nvSpPr>
        <p:spPr>
          <a:xfrm>
            <a:off x="557784" y="1481328"/>
            <a:ext cx="11064240" cy="621792"/>
          </a:xfrm>
          <a:prstGeom prst="roundRect">
            <a:avLst>
              <a:gd name="adj" fmla="val 16176"/>
            </a:avLst>
          </a:prstGeom>
          <a:solidFill>
            <a:srgbClr val="FFFFFF"/>
          </a:solidFill>
          <a:ln w="9525">
            <a:solidFill>
              <a:srgbClr val="D8E5F2"/>
            </a:solidFill>
            <a:prstDash val="solid"/>
          </a:ln>
        </p:spPr>
      </p:sp>
      <p:sp>
        <p:nvSpPr>
          <p:cNvPr id="12" name="Text 10"/>
          <p:cNvSpPr/>
          <p:nvPr/>
        </p:nvSpPr>
        <p:spPr>
          <a:xfrm>
            <a:off x="749808" y="1636776"/>
            <a:ext cx="1609344" cy="283464"/>
          </a:xfrm>
          <a:prstGeom prst="rect">
            <a:avLst/>
          </a:prstGeom>
          <a:noFill/>
          <a:ln/>
        </p:spPr>
        <p:txBody>
          <a:bodyPr wrap="square" lIns="0" tIns="0" rIns="0" bIns="0" rtlCol="0" anchor="ctr">
            <a:normAutofit/>
          </a:bodyPr>
          <a:lstStyle/>
          <a:p>
            <a:pPr algn="l" indent="0" marL="0">
              <a:buNone/>
            </a:pPr>
            <a:r>
              <a:rPr lang="en-US" sz="1170" b="1" dirty="0">
                <a:solidFill>
                  <a:srgbClr val="0C2B4E"/>
                </a:solidFill>
                <a:latin typeface="Aptos" pitchFamily="34" charset="0"/>
                <a:ea typeface="Aptos" pitchFamily="34" charset="-122"/>
                <a:cs typeface="Aptos" pitchFamily="34" charset="-120"/>
              </a:rPr>
              <a:t>File scope</a:t>
            </a:r>
            <a:endParaRPr lang="en-US" sz="1170" dirty="0"/>
          </a:p>
        </p:txBody>
      </p:sp>
      <p:sp>
        <p:nvSpPr>
          <p:cNvPr id="13" name="Text 11"/>
          <p:cNvSpPr/>
          <p:nvPr/>
        </p:nvSpPr>
        <p:spPr>
          <a:xfrm>
            <a:off x="2450592" y="1618488"/>
            <a:ext cx="4306824" cy="310896"/>
          </a:xfrm>
          <a:prstGeom prst="rect">
            <a:avLst/>
          </a:prstGeom>
          <a:noFill/>
          <a:ln/>
        </p:spPr>
        <p:txBody>
          <a:bodyPr wrap="square" lIns="0" tIns="0" rIns="0" bIns="0" rtlCol="0" anchor="ctr">
            <a:normAutofit/>
          </a:bodyPr>
          <a:lstStyle/>
          <a:p>
            <a:pPr algn="l" indent="0" marL="0">
              <a:buNone/>
            </a:pPr>
            <a:r>
              <a:rPr lang="en-US" sz="1090" dirty="0">
                <a:solidFill>
                  <a:srgbClr val="1767C7"/>
                </a:solidFill>
                <a:latin typeface="Aptos" pitchFamily="34" charset="0"/>
                <a:ea typeface="Aptos" pitchFamily="34" charset="-122"/>
                <a:cs typeface="Aptos" pitchFamily="34" charset="-120"/>
              </a:rPr>
              <a:t>Canonical workspace roots / read-only refs</a:t>
            </a:r>
            <a:endParaRPr lang="en-US" sz="1090" dirty="0"/>
          </a:p>
        </p:txBody>
      </p:sp>
      <p:sp>
        <p:nvSpPr>
          <p:cNvPr id="14" name="Text 12"/>
          <p:cNvSpPr/>
          <p:nvPr/>
        </p:nvSpPr>
        <p:spPr>
          <a:xfrm>
            <a:off x="6867144" y="1600200"/>
            <a:ext cx="4462272" cy="347472"/>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OS user retains native filesystem permissions</a:t>
            </a:r>
            <a:endParaRPr lang="en-US" sz="1050" dirty="0"/>
          </a:p>
        </p:txBody>
      </p:sp>
      <p:sp>
        <p:nvSpPr>
          <p:cNvPr id="15" name="Shape 13"/>
          <p:cNvSpPr/>
          <p:nvPr/>
        </p:nvSpPr>
        <p:spPr>
          <a:xfrm>
            <a:off x="557784" y="2185416"/>
            <a:ext cx="11064240" cy="621792"/>
          </a:xfrm>
          <a:prstGeom prst="roundRect">
            <a:avLst>
              <a:gd name="adj" fmla="val 16176"/>
            </a:avLst>
          </a:prstGeom>
          <a:solidFill>
            <a:srgbClr val="F5F9FE"/>
          </a:solidFill>
          <a:ln w="9525">
            <a:solidFill>
              <a:srgbClr val="D8E5F2"/>
            </a:solidFill>
            <a:prstDash val="solid"/>
          </a:ln>
        </p:spPr>
      </p:sp>
      <p:sp>
        <p:nvSpPr>
          <p:cNvPr id="16" name="Text 14"/>
          <p:cNvSpPr/>
          <p:nvPr/>
        </p:nvSpPr>
        <p:spPr>
          <a:xfrm>
            <a:off x="749808" y="2340864"/>
            <a:ext cx="1609344" cy="283464"/>
          </a:xfrm>
          <a:prstGeom prst="rect">
            <a:avLst/>
          </a:prstGeom>
          <a:noFill/>
          <a:ln/>
        </p:spPr>
        <p:txBody>
          <a:bodyPr wrap="square" lIns="0" tIns="0" rIns="0" bIns="0" rtlCol="0" anchor="ctr">
            <a:normAutofit/>
          </a:bodyPr>
          <a:lstStyle/>
          <a:p>
            <a:pPr algn="l" indent="0" marL="0">
              <a:buNone/>
            </a:pPr>
            <a:r>
              <a:rPr lang="en-US" sz="1170" b="1" dirty="0">
                <a:solidFill>
                  <a:srgbClr val="0C2B4E"/>
                </a:solidFill>
                <a:latin typeface="Aptos" pitchFamily="34" charset="0"/>
                <a:ea typeface="Aptos" pitchFamily="34" charset="-122"/>
                <a:cs typeface="Aptos" pitchFamily="34" charset="-120"/>
              </a:rPr>
              <a:t>Destructive actions</a:t>
            </a:r>
            <a:endParaRPr lang="en-US" sz="1170" dirty="0"/>
          </a:p>
        </p:txBody>
      </p:sp>
      <p:sp>
        <p:nvSpPr>
          <p:cNvPr id="17" name="Text 15"/>
          <p:cNvSpPr/>
          <p:nvPr/>
        </p:nvSpPr>
        <p:spPr>
          <a:xfrm>
            <a:off x="2450592" y="2322576"/>
            <a:ext cx="4306824" cy="310896"/>
          </a:xfrm>
          <a:prstGeom prst="rect">
            <a:avLst/>
          </a:prstGeom>
          <a:noFill/>
          <a:ln/>
        </p:spPr>
        <p:txBody>
          <a:bodyPr wrap="square" lIns="0" tIns="0" rIns="0" bIns="0" rtlCol="0" anchor="ctr">
            <a:normAutofit/>
          </a:bodyPr>
          <a:lstStyle/>
          <a:p>
            <a:pPr algn="l" indent="0" marL="0">
              <a:buNone/>
            </a:pPr>
            <a:r>
              <a:rPr lang="en-US" sz="1090" dirty="0">
                <a:solidFill>
                  <a:srgbClr val="1767C7"/>
                </a:solidFill>
                <a:latin typeface="Aptos" pitchFamily="34" charset="0"/>
                <a:ea typeface="Aptos" pitchFamily="34" charset="-122"/>
                <a:cs typeface="Aptos" pitchFamily="34" charset="-120"/>
              </a:rPr>
              <a:t>Approval policy and timeout/reversal</a:t>
            </a:r>
            <a:endParaRPr lang="en-US" sz="1090" dirty="0"/>
          </a:p>
        </p:txBody>
      </p:sp>
      <p:sp>
        <p:nvSpPr>
          <p:cNvPr id="18" name="Text 16"/>
          <p:cNvSpPr/>
          <p:nvPr/>
        </p:nvSpPr>
        <p:spPr>
          <a:xfrm>
            <a:off x="6867144" y="2304288"/>
            <a:ext cx="4462272" cy="347472"/>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Approval paths need live testing</a:t>
            </a:r>
            <a:endParaRPr lang="en-US" sz="1050" dirty="0"/>
          </a:p>
        </p:txBody>
      </p:sp>
      <p:sp>
        <p:nvSpPr>
          <p:cNvPr id="19" name="Shape 17"/>
          <p:cNvSpPr/>
          <p:nvPr/>
        </p:nvSpPr>
        <p:spPr>
          <a:xfrm>
            <a:off x="557784" y="2889504"/>
            <a:ext cx="11064240" cy="621792"/>
          </a:xfrm>
          <a:prstGeom prst="roundRect">
            <a:avLst>
              <a:gd name="adj" fmla="val 16176"/>
            </a:avLst>
          </a:prstGeom>
          <a:solidFill>
            <a:srgbClr val="FFFFFF"/>
          </a:solidFill>
          <a:ln w="9525">
            <a:solidFill>
              <a:srgbClr val="D8E5F2"/>
            </a:solidFill>
            <a:prstDash val="solid"/>
          </a:ln>
        </p:spPr>
      </p:sp>
      <p:sp>
        <p:nvSpPr>
          <p:cNvPr id="20" name="Text 18"/>
          <p:cNvSpPr/>
          <p:nvPr/>
        </p:nvSpPr>
        <p:spPr>
          <a:xfrm>
            <a:off x="749808" y="3044952"/>
            <a:ext cx="1609344" cy="283464"/>
          </a:xfrm>
          <a:prstGeom prst="rect">
            <a:avLst/>
          </a:prstGeom>
          <a:noFill/>
          <a:ln/>
        </p:spPr>
        <p:txBody>
          <a:bodyPr wrap="square" lIns="0" tIns="0" rIns="0" bIns="0" rtlCol="0" anchor="ctr">
            <a:normAutofit/>
          </a:bodyPr>
          <a:lstStyle/>
          <a:p>
            <a:pPr algn="l" indent="0" marL="0">
              <a:buNone/>
            </a:pPr>
            <a:r>
              <a:rPr lang="en-US" sz="1170" b="1" dirty="0">
                <a:solidFill>
                  <a:srgbClr val="0C2B4E"/>
                </a:solidFill>
                <a:latin typeface="Aptos" pitchFamily="34" charset="0"/>
                <a:ea typeface="Aptos" pitchFamily="34" charset="-122"/>
                <a:cs typeface="Aptos" pitchFamily="34" charset="-120"/>
              </a:rPr>
              <a:t>MCP egress</a:t>
            </a:r>
            <a:endParaRPr lang="en-US" sz="1170" dirty="0"/>
          </a:p>
        </p:txBody>
      </p:sp>
      <p:sp>
        <p:nvSpPr>
          <p:cNvPr id="21" name="Text 19"/>
          <p:cNvSpPr/>
          <p:nvPr/>
        </p:nvSpPr>
        <p:spPr>
          <a:xfrm>
            <a:off x="2450592" y="3026664"/>
            <a:ext cx="4306824" cy="310896"/>
          </a:xfrm>
          <a:prstGeom prst="rect">
            <a:avLst/>
          </a:prstGeom>
          <a:noFill/>
          <a:ln/>
        </p:spPr>
        <p:txBody>
          <a:bodyPr wrap="square" lIns="0" tIns="0" rIns="0" bIns="0" rtlCol="0" anchor="ctr">
            <a:normAutofit/>
          </a:bodyPr>
          <a:lstStyle/>
          <a:p>
            <a:pPr algn="l" indent="0" marL="0">
              <a:buNone/>
            </a:pPr>
            <a:r>
              <a:rPr lang="en-US" sz="1090" dirty="0">
                <a:solidFill>
                  <a:srgbClr val="1767C7"/>
                </a:solidFill>
                <a:latin typeface="Aptos" pitchFamily="34" charset="0"/>
                <a:ea typeface="Aptos" pitchFamily="34" charset="-122"/>
                <a:cs typeface="Aptos" pitchFamily="34" charset="-120"/>
              </a:rPr>
              <a:t>Opt-in setting + current-prompt gate</a:t>
            </a:r>
            <a:endParaRPr lang="en-US" sz="1090" dirty="0"/>
          </a:p>
        </p:txBody>
      </p:sp>
      <p:sp>
        <p:nvSpPr>
          <p:cNvPr id="22" name="Text 20"/>
          <p:cNvSpPr/>
          <p:nvPr/>
        </p:nvSpPr>
        <p:spPr>
          <a:xfrm>
            <a:off x="6867144" y="3008376"/>
            <a:ext cx="4462272" cy="347472"/>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Configured servers are external trust domains</a:t>
            </a:r>
            <a:endParaRPr lang="en-US" sz="1050" dirty="0"/>
          </a:p>
        </p:txBody>
      </p:sp>
      <p:sp>
        <p:nvSpPr>
          <p:cNvPr id="23" name="Shape 21"/>
          <p:cNvSpPr/>
          <p:nvPr/>
        </p:nvSpPr>
        <p:spPr>
          <a:xfrm>
            <a:off x="557784" y="3593592"/>
            <a:ext cx="11064240" cy="621792"/>
          </a:xfrm>
          <a:prstGeom prst="roundRect">
            <a:avLst>
              <a:gd name="adj" fmla="val 16176"/>
            </a:avLst>
          </a:prstGeom>
          <a:solidFill>
            <a:srgbClr val="F5F9FE"/>
          </a:solidFill>
          <a:ln w="9525">
            <a:solidFill>
              <a:srgbClr val="D8E5F2"/>
            </a:solidFill>
            <a:prstDash val="solid"/>
          </a:ln>
        </p:spPr>
      </p:sp>
      <p:sp>
        <p:nvSpPr>
          <p:cNvPr id="24" name="Text 22"/>
          <p:cNvSpPr/>
          <p:nvPr/>
        </p:nvSpPr>
        <p:spPr>
          <a:xfrm>
            <a:off x="749808" y="3749040"/>
            <a:ext cx="1609344" cy="283464"/>
          </a:xfrm>
          <a:prstGeom prst="rect">
            <a:avLst/>
          </a:prstGeom>
          <a:noFill/>
          <a:ln/>
        </p:spPr>
        <p:txBody>
          <a:bodyPr wrap="square" lIns="0" tIns="0" rIns="0" bIns="0" rtlCol="0" anchor="ctr">
            <a:normAutofit/>
          </a:bodyPr>
          <a:lstStyle/>
          <a:p>
            <a:pPr algn="l" indent="0" marL="0">
              <a:buNone/>
            </a:pPr>
            <a:r>
              <a:rPr lang="en-US" sz="1170" b="1" dirty="0">
                <a:solidFill>
                  <a:srgbClr val="0C2B4E"/>
                </a:solidFill>
                <a:latin typeface="Aptos" pitchFamily="34" charset="0"/>
                <a:ea typeface="Aptos" pitchFamily="34" charset="-122"/>
                <a:cs typeface="Aptos" pitchFamily="34" charset="-120"/>
              </a:rPr>
              <a:t>Secrets</a:t>
            </a:r>
            <a:endParaRPr lang="en-US" sz="1170" dirty="0"/>
          </a:p>
        </p:txBody>
      </p:sp>
      <p:sp>
        <p:nvSpPr>
          <p:cNvPr id="25" name="Text 23"/>
          <p:cNvSpPr/>
          <p:nvPr/>
        </p:nvSpPr>
        <p:spPr>
          <a:xfrm>
            <a:off x="2450592" y="3730752"/>
            <a:ext cx="4306824" cy="310896"/>
          </a:xfrm>
          <a:prstGeom prst="rect">
            <a:avLst/>
          </a:prstGeom>
          <a:noFill/>
          <a:ln/>
        </p:spPr>
        <p:txBody>
          <a:bodyPr wrap="square" lIns="0" tIns="0" rIns="0" bIns="0" rtlCol="0" anchor="ctr">
            <a:normAutofit/>
          </a:bodyPr>
          <a:lstStyle/>
          <a:p>
            <a:pPr algn="l" indent="0" marL="0">
              <a:buNone/>
            </a:pPr>
            <a:r>
              <a:rPr lang="en-US" sz="1090" dirty="0">
                <a:solidFill>
                  <a:srgbClr val="1767C7"/>
                </a:solidFill>
                <a:latin typeface="Aptos" pitchFamily="34" charset="0"/>
                <a:ea typeface="Aptos" pitchFamily="34" charset="-122"/>
                <a:cs typeface="Aptos" pitchFamily="34" charset="-120"/>
              </a:rPr>
              <a:t>Do not persist provider key in session snapshot</a:t>
            </a:r>
            <a:endParaRPr lang="en-US" sz="1090" dirty="0"/>
          </a:p>
        </p:txBody>
      </p:sp>
      <p:sp>
        <p:nvSpPr>
          <p:cNvPr id="26" name="Text 24"/>
          <p:cNvSpPr/>
          <p:nvPr/>
        </p:nvSpPr>
        <p:spPr>
          <a:xfrm>
            <a:off x="6867144" y="3712464"/>
            <a:ext cx="4462272" cy="347472"/>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Prompts/tool logs may contain sensitive values</a:t>
            </a:r>
            <a:endParaRPr lang="en-US" sz="1050" dirty="0"/>
          </a:p>
        </p:txBody>
      </p:sp>
      <p:sp>
        <p:nvSpPr>
          <p:cNvPr id="27" name="Shape 25"/>
          <p:cNvSpPr/>
          <p:nvPr/>
        </p:nvSpPr>
        <p:spPr>
          <a:xfrm>
            <a:off x="557784" y="4297680"/>
            <a:ext cx="11064240" cy="621792"/>
          </a:xfrm>
          <a:prstGeom prst="roundRect">
            <a:avLst>
              <a:gd name="adj" fmla="val 16176"/>
            </a:avLst>
          </a:prstGeom>
          <a:solidFill>
            <a:srgbClr val="FFFFFF"/>
          </a:solidFill>
          <a:ln w="9525">
            <a:solidFill>
              <a:srgbClr val="D8E5F2"/>
            </a:solidFill>
            <a:prstDash val="solid"/>
          </a:ln>
        </p:spPr>
      </p:sp>
      <p:sp>
        <p:nvSpPr>
          <p:cNvPr id="28" name="Text 26"/>
          <p:cNvSpPr/>
          <p:nvPr/>
        </p:nvSpPr>
        <p:spPr>
          <a:xfrm>
            <a:off x="749808" y="4453128"/>
            <a:ext cx="1609344" cy="283464"/>
          </a:xfrm>
          <a:prstGeom prst="rect">
            <a:avLst/>
          </a:prstGeom>
          <a:noFill/>
          <a:ln/>
        </p:spPr>
        <p:txBody>
          <a:bodyPr wrap="square" lIns="0" tIns="0" rIns="0" bIns="0" rtlCol="0" anchor="ctr">
            <a:normAutofit/>
          </a:bodyPr>
          <a:lstStyle/>
          <a:p>
            <a:pPr algn="l" indent="0" marL="0">
              <a:buNone/>
            </a:pPr>
            <a:r>
              <a:rPr lang="en-US" sz="1170" b="1" dirty="0">
                <a:solidFill>
                  <a:srgbClr val="0C2B4E"/>
                </a:solidFill>
                <a:latin typeface="Aptos" pitchFamily="34" charset="0"/>
                <a:ea typeface="Aptos" pitchFamily="34" charset="-122"/>
                <a:cs typeface="Aptos" pitchFamily="34" charset="-120"/>
              </a:rPr>
              <a:t>Concurrent writes</a:t>
            </a:r>
            <a:endParaRPr lang="en-US" sz="1170" dirty="0"/>
          </a:p>
        </p:txBody>
      </p:sp>
      <p:sp>
        <p:nvSpPr>
          <p:cNvPr id="29" name="Text 27"/>
          <p:cNvSpPr/>
          <p:nvPr/>
        </p:nvSpPr>
        <p:spPr>
          <a:xfrm>
            <a:off x="2450592" y="4434840"/>
            <a:ext cx="4306824" cy="310896"/>
          </a:xfrm>
          <a:prstGeom prst="rect">
            <a:avLst/>
          </a:prstGeom>
          <a:noFill/>
          <a:ln/>
        </p:spPr>
        <p:txBody>
          <a:bodyPr wrap="square" lIns="0" tIns="0" rIns="0" bIns="0" rtlCol="0" anchor="ctr">
            <a:normAutofit/>
          </a:bodyPr>
          <a:lstStyle/>
          <a:p>
            <a:pPr algn="l" indent="0" marL="0">
              <a:buNone/>
            </a:pPr>
            <a:r>
              <a:rPr lang="en-US" sz="1090" dirty="0">
                <a:solidFill>
                  <a:srgbClr val="1767C7"/>
                </a:solidFill>
                <a:latin typeface="Aptos" pitchFamily="34" charset="0"/>
                <a:ea typeface="Aptos" pitchFamily="34" charset="-122"/>
                <a:cs typeface="Aptos" pitchFamily="34" charset="-120"/>
              </a:rPr>
              <a:t>Single-JVM overlapping-root scheduler</a:t>
            </a:r>
            <a:endParaRPr lang="en-US" sz="1090" dirty="0"/>
          </a:p>
        </p:txBody>
      </p:sp>
      <p:sp>
        <p:nvSpPr>
          <p:cNvPr id="30" name="Text 28"/>
          <p:cNvSpPr/>
          <p:nvPr/>
        </p:nvSpPr>
        <p:spPr>
          <a:xfrm>
            <a:off x="6867144" y="4416552"/>
            <a:ext cx="4462272" cy="347472"/>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No cross-process global filesystem lock</a:t>
            </a:r>
            <a:endParaRPr lang="en-US" sz="1050" dirty="0"/>
          </a:p>
        </p:txBody>
      </p:sp>
      <p:sp>
        <p:nvSpPr>
          <p:cNvPr id="31" name="Shape 29"/>
          <p:cNvSpPr/>
          <p:nvPr/>
        </p:nvSpPr>
        <p:spPr>
          <a:xfrm>
            <a:off x="557784" y="5001768"/>
            <a:ext cx="11064240" cy="621792"/>
          </a:xfrm>
          <a:prstGeom prst="roundRect">
            <a:avLst>
              <a:gd name="adj" fmla="val 16176"/>
            </a:avLst>
          </a:prstGeom>
          <a:solidFill>
            <a:srgbClr val="F5F9FE"/>
          </a:solidFill>
          <a:ln w="9525">
            <a:solidFill>
              <a:srgbClr val="D8E5F2"/>
            </a:solidFill>
            <a:prstDash val="solid"/>
          </a:ln>
        </p:spPr>
      </p:sp>
      <p:sp>
        <p:nvSpPr>
          <p:cNvPr id="32" name="Text 30"/>
          <p:cNvSpPr/>
          <p:nvPr/>
        </p:nvSpPr>
        <p:spPr>
          <a:xfrm>
            <a:off x="749808" y="5157216"/>
            <a:ext cx="1609344" cy="283464"/>
          </a:xfrm>
          <a:prstGeom prst="rect">
            <a:avLst/>
          </a:prstGeom>
          <a:noFill/>
          <a:ln/>
        </p:spPr>
        <p:txBody>
          <a:bodyPr wrap="square" lIns="0" tIns="0" rIns="0" bIns="0" rtlCol="0" anchor="ctr">
            <a:normAutofit/>
          </a:bodyPr>
          <a:lstStyle/>
          <a:p>
            <a:pPr algn="l" indent="0" marL="0">
              <a:buNone/>
            </a:pPr>
            <a:r>
              <a:rPr lang="en-US" sz="1170" b="1" dirty="0">
                <a:solidFill>
                  <a:srgbClr val="0C2B4E"/>
                </a:solidFill>
                <a:latin typeface="Aptos" pitchFamily="34" charset="0"/>
                <a:ea typeface="Aptos" pitchFamily="34" charset="-122"/>
                <a:cs typeface="Aptos" pitchFamily="34" charset="-120"/>
              </a:rPr>
              <a:t>HTML preview</a:t>
            </a:r>
            <a:endParaRPr lang="en-US" sz="1170" dirty="0"/>
          </a:p>
        </p:txBody>
      </p:sp>
      <p:sp>
        <p:nvSpPr>
          <p:cNvPr id="33" name="Text 31"/>
          <p:cNvSpPr/>
          <p:nvPr/>
        </p:nvSpPr>
        <p:spPr>
          <a:xfrm>
            <a:off x="2450592" y="5138928"/>
            <a:ext cx="4306824" cy="310896"/>
          </a:xfrm>
          <a:prstGeom prst="rect">
            <a:avLst/>
          </a:prstGeom>
          <a:noFill/>
          <a:ln/>
        </p:spPr>
        <p:txBody>
          <a:bodyPr wrap="square" lIns="0" tIns="0" rIns="0" bIns="0" rtlCol="0" anchor="ctr">
            <a:normAutofit/>
          </a:bodyPr>
          <a:lstStyle/>
          <a:p>
            <a:pPr algn="l" indent="0" marL="0">
              <a:buNone/>
            </a:pPr>
            <a:r>
              <a:rPr lang="en-US" sz="1090" dirty="0">
                <a:solidFill>
                  <a:srgbClr val="1767C7"/>
                </a:solidFill>
                <a:latin typeface="Aptos" pitchFamily="34" charset="0"/>
                <a:ea typeface="Aptos" pitchFamily="34" charset="-122"/>
                <a:cs typeface="Aptos" pitchFamily="34" charset="-120"/>
              </a:rPr>
              <a:t>Script-disabled sandboxed iframe</a:t>
            </a:r>
            <a:endParaRPr lang="en-US" sz="1090" dirty="0"/>
          </a:p>
        </p:txBody>
      </p:sp>
      <p:sp>
        <p:nvSpPr>
          <p:cNvPr id="34" name="Text 32"/>
          <p:cNvSpPr/>
          <p:nvPr/>
        </p:nvSpPr>
        <p:spPr>
          <a:xfrm>
            <a:off x="6867144" y="5120640"/>
            <a:ext cx="4462272" cy="347472"/>
          </a:xfrm>
          <a:prstGeom prst="rect">
            <a:avLst/>
          </a:prstGeom>
          <a:noFill/>
          <a:ln/>
        </p:spPr>
        <p:txBody>
          <a:bodyPr wrap="square" lIns="0" tIns="0" rIns="0" bIns="0" rtlCol="0" anchor="ctr">
            <a:normAutofit/>
          </a:bodyPr>
          <a:lstStyle/>
          <a:p>
            <a:pPr algn="l" indent="0" marL="0">
              <a:buNone/>
            </a:pPr>
            <a:r>
              <a:rPr lang="en-US" sz="1050" dirty="0">
                <a:solidFill>
                  <a:srgbClr val="5B7190"/>
                </a:solidFill>
                <a:latin typeface="Aptos" pitchFamily="34" charset="0"/>
                <a:ea typeface="Aptos" pitchFamily="34" charset="-122"/>
                <a:cs typeface="Aptos" pitchFamily="34" charset="-120"/>
              </a:rPr>
              <a:t>Other file formats need separate hardening</a:t>
            </a:r>
            <a:endParaRPr lang="en-US" sz="1050" dirty="0"/>
          </a:p>
        </p:txBody>
      </p:sp>
      <p:sp>
        <p:nvSpPr>
          <p:cNvPr id="35" name="Shape 33"/>
          <p:cNvSpPr/>
          <p:nvPr/>
        </p:nvSpPr>
        <p:spPr>
          <a:xfrm>
            <a:off x="530352" y="5879592"/>
            <a:ext cx="11137392" cy="484632"/>
          </a:xfrm>
          <a:prstGeom prst="roundRect">
            <a:avLst>
              <a:gd name="adj" fmla="val 20755"/>
            </a:avLst>
          </a:prstGeom>
          <a:solidFill>
            <a:srgbClr val="FFF6E7"/>
          </a:solidFill>
          <a:ln w="9525">
            <a:solidFill>
              <a:srgbClr val="FFF6E7"/>
            </a:solidFill>
            <a:prstDash val="solid"/>
          </a:ln>
        </p:spPr>
      </p:sp>
      <p:sp>
        <p:nvSpPr>
          <p:cNvPr id="36" name="Text 34"/>
          <p:cNvSpPr/>
          <p:nvPr/>
        </p:nvSpPr>
        <p:spPr>
          <a:xfrm>
            <a:off x="713232" y="5966460"/>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SECURITY POSTURE</a:t>
            </a:r>
            <a:endParaRPr lang="en-US" sz="1110" dirty="0"/>
          </a:p>
        </p:txBody>
      </p:sp>
      <p:sp>
        <p:nvSpPr>
          <p:cNvPr id="37" name="Text 35"/>
          <p:cNvSpPr/>
          <p:nvPr/>
        </p:nvSpPr>
        <p:spPr>
          <a:xfrm>
            <a:off x="2423160" y="5929884"/>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Use approved local privilege, network and data policies; penetration tests remain pending.</a:t>
            </a:r>
            <a:endParaRPr lang="en-US" sz="109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LOCAL DELIVERY PIPELINE</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Build, deploy and operate</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Cross-platform intent with an explicit dependency-resolved release gate.</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OPERATIONS</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23</a:t>
            </a:r>
            <a:endParaRPr lang="en-US" sz="900" dirty="0"/>
          </a:p>
        </p:txBody>
      </p:sp>
      <p:sp>
        <p:nvSpPr>
          <p:cNvPr id="11" name="Shape 9"/>
          <p:cNvSpPr/>
          <p:nvPr/>
        </p:nvSpPr>
        <p:spPr>
          <a:xfrm>
            <a:off x="530352" y="1837944"/>
            <a:ext cx="2095805" cy="1380744"/>
          </a:xfrm>
          <a:prstGeom prst="roundRect">
            <a:avLst>
              <a:gd name="adj" fmla="val 7285"/>
            </a:avLst>
          </a:prstGeom>
          <a:solidFill>
            <a:srgbClr val="EDF5FD"/>
          </a:solidFill>
          <a:ln w="9525">
            <a:solidFill>
              <a:srgbClr val="D8E5F2"/>
            </a:solidFill>
            <a:prstDash val="solid"/>
          </a:ln>
        </p:spPr>
      </p:sp>
      <p:sp>
        <p:nvSpPr>
          <p:cNvPr id="12" name="Text 10"/>
          <p:cNvSpPr/>
          <p:nvPr/>
        </p:nvSpPr>
        <p:spPr>
          <a:xfrm>
            <a:off x="612648" y="1947672"/>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SOURCE</a:t>
            </a:r>
            <a:endParaRPr lang="en-US" sz="1240" dirty="0"/>
          </a:p>
        </p:txBody>
      </p:sp>
      <p:sp>
        <p:nvSpPr>
          <p:cNvPr id="13" name="Text 11"/>
          <p:cNvSpPr/>
          <p:nvPr/>
        </p:nvSpPr>
        <p:spPr>
          <a:xfrm>
            <a:off x="630936" y="2286000"/>
            <a:ext cx="1894637" cy="85953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Java + static UI</a:t>
            </a:r>
            <a:endParaRPr lang="en-US" sz="970" dirty="0"/>
          </a:p>
          <a:p>
            <a:pPr algn="ctr" indent="0" marL="0">
              <a:buNone/>
            </a:pPr>
            <a:r>
              <a:rPr lang="en-US" sz="970" dirty="0">
                <a:solidFill>
                  <a:srgbClr val="5B7190"/>
                </a:solidFill>
                <a:latin typeface="Aptos" pitchFamily="34" charset="0"/>
                <a:ea typeface="Aptos" pitchFamily="34" charset="-122"/>
                <a:cs typeface="Aptos" pitchFamily="34" charset="-120"/>
              </a:rPr>
              <a:t>Maven project</a:t>
            </a:r>
            <a:endParaRPr lang="en-US" sz="970" dirty="0"/>
          </a:p>
        </p:txBody>
      </p:sp>
      <p:sp>
        <p:nvSpPr>
          <p:cNvPr id="14" name="Shape 12"/>
          <p:cNvSpPr/>
          <p:nvPr/>
        </p:nvSpPr>
        <p:spPr>
          <a:xfrm>
            <a:off x="2635301" y="2528316"/>
            <a:ext cx="54864" cy="0"/>
          </a:xfrm>
          <a:prstGeom prst="line">
            <a:avLst/>
          </a:prstGeom>
          <a:noFill/>
          <a:ln w="19050">
            <a:solidFill>
              <a:srgbClr val="1767C7"/>
            </a:solidFill>
            <a:prstDash val="solid"/>
            <a:headEnd type="none"/>
            <a:tailEnd type="triangle"/>
          </a:ln>
        </p:spPr>
      </p:sp>
      <p:sp>
        <p:nvSpPr>
          <p:cNvPr id="15" name="Shape 13"/>
          <p:cNvSpPr/>
          <p:nvPr/>
        </p:nvSpPr>
        <p:spPr>
          <a:xfrm>
            <a:off x="2790749" y="1837944"/>
            <a:ext cx="2095805" cy="1380744"/>
          </a:xfrm>
          <a:prstGeom prst="roundRect">
            <a:avLst>
              <a:gd name="adj" fmla="val 7285"/>
            </a:avLst>
          </a:prstGeom>
          <a:solidFill>
            <a:srgbClr val="F5F9FE"/>
          </a:solidFill>
          <a:ln w="9525">
            <a:solidFill>
              <a:srgbClr val="D8E5F2"/>
            </a:solidFill>
            <a:prstDash val="solid"/>
          </a:ln>
        </p:spPr>
      </p:sp>
      <p:sp>
        <p:nvSpPr>
          <p:cNvPr id="16" name="Text 14"/>
          <p:cNvSpPr/>
          <p:nvPr/>
        </p:nvSpPr>
        <p:spPr>
          <a:xfrm>
            <a:off x="2873045" y="1947672"/>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BUILD</a:t>
            </a:r>
            <a:endParaRPr lang="en-US" sz="1240" dirty="0"/>
          </a:p>
        </p:txBody>
      </p:sp>
      <p:sp>
        <p:nvSpPr>
          <p:cNvPr id="17" name="Text 15"/>
          <p:cNvSpPr/>
          <p:nvPr/>
        </p:nvSpPr>
        <p:spPr>
          <a:xfrm>
            <a:off x="2891333" y="2286000"/>
            <a:ext cx="1894637" cy="85953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mvnw clean verify</a:t>
            </a:r>
            <a:endParaRPr lang="en-US" sz="970" dirty="0"/>
          </a:p>
          <a:p>
            <a:pPr algn="ctr" indent="0" marL="0">
              <a:buNone/>
            </a:pPr>
            <a:r>
              <a:rPr lang="en-US" sz="970" dirty="0">
                <a:solidFill>
                  <a:srgbClr val="5B7190"/>
                </a:solidFill>
                <a:latin typeface="Aptos" pitchFamily="34" charset="0"/>
                <a:ea typeface="Aptos" pitchFamily="34" charset="-122"/>
                <a:cs typeface="Aptos" pitchFamily="34" charset="-120"/>
              </a:rPr>
              <a:t>Java 17</a:t>
            </a:r>
            <a:endParaRPr lang="en-US" sz="970" dirty="0"/>
          </a:p>
        </p:txBody>
      </p:sp>
      <p:sp>
        <p:nvSpPr>
          <p:cNvPr id="18" name="Shape 16"/>
          <p:cNvSpPr/>
          <p:nvPr/>
        </p:nvSpPr>
        <p:spPr>
          <a:xfrm>
            <a:off x="4895698" y="2528316"/>
            <a:ext cx="54864" cy="0"/>
          </a:xfrm>
          <a:prstGeom prst="line">
            <a:avLst/>
          </a:prstGeom>
          <a:noFill/>
          <a:ln w="19050">
            <a:solidFill>
              <a:srgbClr val="1767C7"/>
            </a:solidFill>
            <a:prstDash val="solid"/>
            <a:headEnd type="none"/>
            <a:tailEnd type="triangle"/>
          </a:ln>
        </p:spPr>
      </p:sp>
      <p:sp>
        <p:nvSpPr>
          <p:cNvPr id="19" name="Shape 17"/>
          <p:cNvSpPr/>
          <p:nvPr/>
        </p:nvSpPr>
        <p:spPr>
          <a:xfrm>
            <a:off x="5051146" y="1837944"/>
            <a:ext cx="2095805" cy="1380744"/>
          </a:xfrm>
          <a:prstGeom prst="roundRect">
            <a:avLst>
              <a:gd name="adj" fmla="val 7285"/>
            </a:avLst>
          </a:prstGeom>
          <a:solidFill>
            <a:srgbClr val="EDF5FD"/>
          </a:solidFill>
          <a:ln w="9525">
            <a:solidFill>
              <a:srgbClr val="D8E5F2"/>
            </a:solidFill>
            <a:prstDash val="solid"/>
          </a:ln>
        </p:spPr>
      </p:sp>
      <p:sp>
        <p:nvSpPr>
          <p:cNvPr id="20" name="Text 18"/>
          <p:cNvSpPr/>
          <p:nvPr/>
        </p:nvSpPr>
        <p:spPr>
          <a:xfrm>
            <a:off x="5133442" y="1947672"/>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PACKAGE</a:t>
            </a:r>
            <a:endParaRPr lang="en-US" sz="1240" dirty="0"/>
          </a:p>
        </p:txBody>
      </p:sp>
      <p:sp>
        <p:nvSpPr>
          <p:cNvPr id="21" name="Text 19"/>
          <p:cNvSpPr/>
          <p:nvPr/>
        </p:nvSpPr>
        <p:spPr>
          <a:xfrm>
            <a:off x="5151730" y="2286000"/>
            <a:ext cx="1894637" cy="85953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Spring Boot fat JAR</a:t>
            </a:r>
            <a:endParaRPr lang="en-US" sz="970" dirty="0"/>
          </a:p>
          <a:p>
            <a:pPr algn="ctr" indent="0" marL="0">
              <a:buNone/>
            </a:pPr>
            <a:r>
              <a:rPr lang="en-US" sz="970" dirty="0">
                <a:solidFill>
                  <a:srgbClr val="5B7190"/>
                </a:solidFill>
                <a:latin typeface="Aptos" pitchFamily="34" charset="0"/>
                <a:ea typeface="Aptos" pitchFamily="34" charset="-122"/>
                <a:cs typeface="Aptos" pitchFamily="34" charset="-120"/>
              </a:rPr>
              <a:t>target/eliya.jar</a:t>
            </a:r>
            <a:endParaRPr lang="en-US" sz="970" dirty="0"/>
          </a:p>
        </p:txBody>
      </p:sp>
      <p:sp>
        <p:nvSpPr>
          <p:cNvPr id="22" name="Shape 20"/>
          <p:cNvSpPr/>
          <p:nvPr/>
        </p:nvSpPr>
        <p:spPr>
          <a:xfrm>
            <a:off x="7156094" y="2528316"/>
            <a:ext cx="54864" cy="0"/>
          </a:xfrm>
          <a:prstGeom prst="line">
            <a:avLst/>
          </a:prstGeom>
          <a:noFill/>
          <a:ln w="19050">
            <a:solidFill>
              <a:srgbClr val="1767C7"/>
            </a:solidFill>
            <a:prstDash val="solid"/>
            <a:headEnd type="none"/>
            <a:tailEnd type="triangle"/>
          </a:ln>
        </p:spPr>
      </p:sp>
      <p:sp>
        <p:nvSpPr>
          <p:cNvPr id="23" name="Shape 21"/>
          <p:cNvSpPr/>
          <p:nvPr/>
        </p:nvSpPr>
        <p:spPr>
          <a:xfrm>
            <a:off x="7311542" y="1837944"/>
            <a:ext cx="2095805" cy="1380744"/>
          </a:xfrm>
          <a:prstGeom prst="roundRect">
            <a:avLst>
              <a:gd name="adj" fmla="val 7285"/>
            </a:avLst>
          </a:prstGeom>
          <a:solidFill>
            <a:srgbClr val="F5F9FE"/>
          </a:solidFill>
          <a:ln w="9525">
            <a:solidFill>
              <a:srgbClr val="D8E5F2"/>
            </a:solidFill>
            <a:prstDash val="solid"/>
          </a:ln>
        </p:spPr>
      </p:sp>
      <p:sp>
        <p:nvSpPr>
          <p:cNvPr id="24" name="Text 22"/>
          <p:cNvSpPr/>
          <p:nvPr/>
        </p:nvSpPr>
        <p:spPr>
          <a:xfrm>
            <a:off x="7393838" y="1947672"/>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START</a:t>
            </a:r>
            <a:endParaRPr lang="en-US" sz="1240" dirty="0"/>
          </a:p>
        </p:txBody>
      </p:sp>
      <p:sp>
        <p:nvSpPr>
          <p:cNvPr id="25" name="Text 23"/>
          <p:cNvSpPr/>
          <p:nvPr/>
        </p:nvSpPr>
        <p:spPr>
          <a:xfrm>
            <a:off x="7412126" y="2286000"/>
            <a:ext cx="1894637" cy="85953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java -jar ...</a:t>
            </a:r>
            <a:endParaRPr lang="en-US" sz="970" dirty="0"/>
          </a:p>
          <a:p>
            <a:pPr algn="ctr" indent="0" marL="0">
              <a:buNone/>
            </a:pPr>
            <a:r>
              <a:rPr lang="en-US" sz="970" dirty="0">
                <a:solidFill>
                  <a:srgbClr val="5B7190"/>
                </a:solidFill>
                <a:latin typeface="Aptos" pitchFamily="34" charset="0"/>
                <a:ea typeface="Aptos" pitchFamily="34" charset="-122"/>
                <a:cs typeface="Aptos" pitchFamily="34" charset="-120"/>
              </a:rPr>
              <a:t>localhost:8090</a:t>
            </a:r>
            <a:endParaRPr lang="en-US" sz="970" dirty="0"/>
          </a:p>
        </p:txBody>
      </p:sp>
      <p:sp>
        <p:nvSpPr>
          <p:cNvPr id="26" name="Shape 24"/>
          <p:cNvSpPr/>
          <p:nvPr/>
        </p:nvSpPr>
        <p:spPr>
          <a:xfrm>
            <a:off x="9416491" y="2528316"/>
            <a:ext cx="54864" cy="0"/>
          </a:xfrm>
          <a:prstGeom prst="line">
            <a:avLst/>
          </a:prstGeom>
          <a:noFill/>
          <a:ln w="19050">
            <a:solidFill>
              <a:srgbClr val="1767C7"/>
            </a:solidFill>
            <a:prstDash val="solid"/>
            <a:headEnd type="none"/>
            <a:tailEnd type="triangle"/>
          </a:ln>
        </p:spPr>
      </p:sp>
      <p:sp>
        <p:nvSpPr>
          <p:cNvPr id="27" name="Shape 25"/>
          <p:cNvSpPr/>
          <p:nvPr/>
        </p:nvSpPr>
        <p:spPr>
          <a:xfrm>
            <a:off x="9571939" y="1837944"/>
            <a:ext cx="2095805" cy="1380744"/>
          </a:xfrm>
          <a:prstGeom prst="roundRect">
            <a:avLst>
              <a:gd name="adj" fmla="val 7285"/>
            </a:avLst>
          </a:prstGeom>
          <a:solidFill>
            <a:srgbClr val="EDF5FD"/>
          </a:solidFill>
          <a:ln w="9525">
            <a:solidFill>
              <a:srgbClr val="D8E5F2"/>
            </a:solidFill>
            <a:prstDash val="solid"/>
          </a:ln>
        </p:spPr>
      </p:sp>
      <p:sp>
        <p:nvSpPr>
          <p:cNvPr id="28" name="Text 26"/>
          <p:cNvSpPr/>
          <p:nvPr/>
        </p:nvSpPr>
        <p:spPr>
          <a:xfrm>
            <a:off x="9654235" y="1947672"/>
            <a:ext cx="1931213" cy="283464"/>
          </a:xfrm>
          <a:prstGeom prst="rect">
            <a:avLst/>
          </a:prstGeom>
          <a:noFill/>
          <a:ln/>
        </p:spPr>
        <p:txBody>
          <a:bodyPr wrap="square" lIns="0" tIns="0" rIns="0" bIns="0" rtlCol="0" anchor="ctr">
            <a:normAutofit/>
          </a:bodyPr>
          <a:lstStyle/>
          <a:p>
            <a:pPr algn="ctr" indent="0" marL="0">
              <a:buNone/>
            </a:pPr>
            <a:r>
              <a:rPr lang="en-US" sz="1240" b="1" dirty="0">
                <a:solidFill>
                  <a:srgbClr val="0C2B4E"/>
                </a:solidFill>
                <a:latin typeface="Aptos" pitchFamily="34" charset="0"/>
                <a:ea typeface="Aptos" pitchFamily="34" charset="-122"/>
                <a:cs typeface="Aptos" pitchFamily="34" charset="-120"/>
              </a:rPr>
              <a:t>RUN</a:t>
            </a:r>
            <a:endParaRPr lang="en-US" sz="1240" dirty="0"/>
          </a:p>
        </p:txBody>
      </p:sp>
      <p:sp>
        <p:nvSpPr>
          <p:cNvPr id="29" name="Text 27"/>
          <p:cNvSpPr/>
          <p:nvPr/>
        </p:nvSpPr>
        <p:spPr>
          <a:xfrm>
            <a:off x="9672523" y="2286000"/>
            <a:ext cx="1894637" cy="859536"/>
          </a:xfrm>
          <a:prstGeom prst="rect">
            <a:avLst/>
          </a:prstGeom>
          <a:noFill/>
          <a:ln/>
        </p:spPr>
        <p:txBody>
          <a:bodyPr wrap="square" lIns="0" tIns="0" rIns="0" bIns="0" rtlCol="0" anchor="ctr">
            <a:normAutofit/>
          </a:bodyPr>
          <a:lstStyle/>
          <a:p>
            <a:pPr algn="ctr" indent="0" marL="0">
              <a:buNone/>
            </a:pPr>
            <a:r>
              <a:rPr lang="en-US" sz="970" dirty="0">
                <a:solidFill>
                  <a:srgbClr val="5B7190"/>
                </a:solidFill>
                <a:latin typeface="Aptos" pitchFamily="34" charset="0"/>
                <a:ea typeface="Aptos" pitchFamily="34" charset="-122"/>
                <a:cs typeface="Aptos" pitchFamily="34" charset="-120"/>
              </a:rPr>
              <a:t>Map workspace</a:t>
            </a:r>
            <a:endParaRPr lang="en-US" sz="970" dirty="0"/>
          </a:p>
          <a:p>
            <a:pPr algn="ctr" indent="0" marL="0">
              <a:buNone/>
            </a:pPr>
            <a:r>
              <a:rPr lang="en-US" sz="970" dirty="0">
                <a:solidFill>
                  <a:srgbClr val="5B7190"/>
                </a:solidFill>
                <a:latin typeface="Aptos" pitchFamily="34" charset="0"/>
                <a:ea typeface="Aptos" pitchFamily="34" charset="-122"/>
                <a:cs typeface="Aptos" pitchFamily="34" charset="-120"/>
              </a:rPr>
              <a:t>configure provider</a:t>
            </a:r>
            <a:endParaRPr lang="en-US" sz="970" dirty="0"/>
          </a:p>
        </p:txBody>
      </p:sp>
      <p:sp>
        <p:nvSpPr>
          <p:cNvPr id="30" name="Shape 28"/>
          <p:cNvSpPr/>
          <p:nvPr/>
        </p:nvSpPr>
        <p:spPr>
          <a:xfrm>
            <a:off x="566928" y="3703320"/>
            <a:ext cx="5385816" cy="1481328"/>
          </a:xfrm>
          <a:prstGeom prst="roundRect">
            <a:avLst>
              <a:gd name="adj" fmla="val 6790"/>
            </a:avLst>
          </a:prstGeom>
          <a:solidFill>
            <a:srgbClr val="FFFFFF"/>
          </a:solidFill>
          <a:ln w="9525">
            <a:solidFill>
              <a:srgbClr val="D8E5F2"/>
            </a:solidFill>
            <a:prstDash val="solid"/>
          </a:ln>
        </p:spPr>
      </p:sp>
      <p:sp>
        <p:nvSpPr>
          <p:cNvPr id="31" name="Text 29"/>
          <p:cNvSpPr/>
          <p:nvPr/>
        </p:nvSpPr>
        <p:spPr>
          <a:xfrm>
            <a:off x="731520" y="3822192"/>
            <a:ext cx="5074920"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Operator prerequisites</a:t>
            </a:r>
            <a:endParaRPr lang="en-US" sz="1350" dirty="0"/>
          </a:p>
        </p:txBody>
      </p:sp>
      <p:sp>
        <p:nvSpPr>
          <p:cNvPr id="32" name="Text 30"/>
          <p:cNvSpPr/>
          <p:nvPr/>
        </p:nvSpPr>
        <p:spPr>
          <a:xfrm>
            <a:off x="749808" y="421538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3" name="Text 31"/>
          <p:cNvSpPr/>
          <p:nvPr/>
        </p:nvSpPr>
        <p:spPr>
          <a:xfrm>
            <a:off x="987552" y="4206240"/>
            <a:ext cx="4773168"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Java 17 and approved Maven dependencies</a:t>
            </a:r>
            <a:endParaRPr lang="en-US" sz="1080" dirty="0"/>
          </a:p>
        </p:txBody>
      </p:sp>
      <p:sp>
        <p:nvSpPr>
          <p:cNvPr id="34" name="Text 32"/>
          <p:cNvSpPr/>
          <p:nvPr/>
        </p:nvSpPr>
        <p:spPr>
          <a:xfrm>
            <a:off x="749808" y="453542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5" name="Text 33"/>
          <p:cNvSpPr/>
          <p:nvPr/>
        </p:nvSpPr>
        <p:spPr>
          <a:xfrm>
            <a:off x="987552" y="4526280"/>
            <a:ext cx="4773168"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Model endpoint reachable through corporate network</a:t>
            </a:r>
            <a:endParaRPr lang="en-US" sz="1080" dirty="0"/>
          </a:p>
        </p:txBody>
      </p:sp>
      <p:sp>
        <p:nvSpPr>
          <p:cNvPr id="36" name="Text 34"/>
          <p:cNvSpPr/>
          <p:nvPr/>
        </p:nvSpPr>
        <p:spPr>
          <a:xfrm>
            <a:off x="749808" y="485546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7" name="Text 35"/>
          <p:cNvSpPr/>
          <p:nvPr/>
        </p:nvSpPr>
        <p:spPr>
          <a:xfrm>
            <a:off x="987552" y="4846320"/>
            <a:ext cx="4773168"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Filesystem Git, build tools, Chrome (for browser workflows)</a:t>
            </a:r>
            <a:endParaRPr lang="en-US" sz="1080" dirty="0"/>
          </a:p>
        </p:txBody>
      </p:sp>
      <p:sp>
        <p:nvSpPr>
          <p:cNvPr id="38" name="Shape 36"/>
          <p:cNvSpPr/>
          <p:nvPr/>
        </p:nvSpPr>
        <p:spPr>
          <a:xfrm>
            <a:off x="6144768" y="3703320"/>
            <a:ext cx="5440680" cy="1481328"/>
          </a:xfrm>
          <a:prstGeom prst="roundRect">
            <a:avLst>
              <a:gd name="adj" fmla="val 6790"/>
            </a:avLst>
          </a:prstGeom>
          <a:solidFill>
            <a:srgbClr val="FFFFFF"/>
          </a:solidFill>
          <a:ln w="9525">
            <a:solidFill>
              <a:srgbClr val="D8E5F2"/>
            </a:solidFill>
            <a:prstDash val="solid"/>
          </a:ln>
        </p:spPr>
      </p:sp>
      <p:sp>
        <p:nvSpPr>
          <p:cNvPr id="39" name="Text 37"/>
          <p:cNvSpPr/>
          <p:nvPr/>
        </p:nvSpPr>
        <p:spPr>
          <a:xfrm>
            <a:off x="6309360" y="3822192"/>
            <a:ext cx="5129784"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Platform notes</a:t>
            </a:r>
            <a:endParaRPr lang="en-US" sz="1350" dirty="0"/>
          </a:p>
        </p:txBody>
      </p:sp>
      <p:sp>
        <p:nvSpPr>
          <p:cNvPr id="40" name="Text 38"/>
          <p:cNvSpPr/>
          <p:nvPr/>
        </p:nvSpPr>
        <p:spPr>
          <a:xfrm>
            <a:off x="6327648" y="421538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1" name="Text 39"/>
          <p:cNvSpPr/>
          <p:nvPr/>
        </p:nvSpPr>
        <p:spPr>
          <a:xfrm>
            <a:off x="6565392" y="4206240"/>
            <a:ext cx="4828032"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Scripts provided for Windows + Unix</a:t>
            </a:r>
            <a:endParaRPr lang="en-US" sz="1080" dirty="0"/>
          </a:p>
        </p:txBody>
      </p:sp>
      <p:sp>
        <p:nvSpPr>
          <p:cNvPr id="42" name="Text 40"/>
          <p:cNvSpPr/>
          <p:nvPr/>
        </p:nvSpPr>
        <p:spPr>
          <a:xfrm>
            <a:off x="6327648" y="453542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3" name="Text 41"/>
          <p:cNvSpPr/>
          <p:nvPr/>
        </p:nvSpPr>
        <p:spPr>
          <a:xfrm>
            <a:off x="6565392" y="4526280"/>
            <a:ext cx="4828032"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Local application data requires access controls / backup</a:t>
            </a:r>
            <a:endParaRPr lang="en-US" sz="1080" dirty="0"/>
          </a:p>
        </p:txBody>
      </p:sp>
      <p:sp>
        <p:nvSpPr>
          <p:cNvPr id="44" name="Text 42"/>
          <p:cNvSpPr/>
          <p:nvPr/>
        </p:nvSpPr>
        <p:spPr>
          <a:xfrm>
            <a:off x="6327648" y="4855464"/>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45" name="Text 43"/>
          <p:cNvSpPr/>
          <p:nvPr/>
        </p:nvSpPr>
        <p:spPr>
          <a:xfrm>
            <a:off x="6565392" y="4846320"/>
            <a:ext cx="4828032" cy="246888"/>
          </a:xfrm>
          <a:prstGeom prst="rect">
            <a:avLst/>
          </a:prstGeom>
          <a:noFill/>
          <a:ln/>
        </p:spPr>
        <p:txBody>
          <a:bodyPr wrap="square" lIns="0" tIns="0" rIns="0" bIns="0" rtlCol="0" anchor="ctr">
            <a:normAutofit/>
          </a:bodyPr>
          <a:lstStyle/>
          <a:p>
            <a:pPr algn="l" indent="0" marL="0">
              <a:buNone/>
            </a:pPr>
            <a:r>
              <a:rPr lang="en-US" sz="1080" dirty="0">
                <a:solidFill>
                  <a:srgbClr val="5B7190"/>
                </a:solidFill>
                <a:latin typeface="Aptos" pitchFamily="34" charset="0"/>
                <a:ea typeface="Aptos" pitchFamily="34" charset="-122"/>
                <a:cs typeface="Aptos" pitchFamily="34" charset="-120"/>
              </a:rPr>
              <a:t>Offline enterprise PC needs dependency cache / built JAR</a:t>
            </a:r>
            <a:endParaRPr lang="en-US" sz="1080" dirty="0"/>
          </a:p>
        </p:txBody>
      </p:sp>
      <p:sp>
        <p:nvSpPr>
          <p:cNvPr id="46" name="Shape 44"/>
          <p:cNvSpPr/>
          <p:nvPr/>
        </p:nvSpPr>
        <p:spPr>
          <a:xfrm>
            <a:off x="530352" y="5641848"/>
            <a:ext cx="11137392" cy="484632"/>
          </a:xfrm>
          <a:prstGeom prst="roundRect">
            <a:avLst>
              <a:gd name="adj" fmla="val 20755"/>
            </a:avLst>
          </a:prstGeom>
          <a:solidFill>
            <a:srgbClr val="FFF6E7"/>
          </a:solidFill>
          <a:ln w="9525">
            <a:solidFill>
              <a:srgbClr val="FFF6E7"/>
            </a:solidFill>
            <a:prstDash val="solid"/>
          </a:ln>
        </p:spPr>
      </p:sp>
      <p:sp>
        <p:nvSpPr>
          <p:cNvPr id="47" name="Text 45"/>
          <p:cNvSpPr/>
          <p:nvPr/>
        </p:nvSpPr>
        <p:spPr>
          <a:xfrm>
            <a:off x="713232" y="5728716"/>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RELEASE GATE</a:t>
            </a:r>
            <a:endParaRPr lang="en-US" sz="1110" dirty="0"/>
          </a:p>
        </p:txBody>
      </p:sp>
      <p:sp>
        <p:nvSpPr>
          <p:cNvPr id="48" name="Text 46"/>
          <p:cNvSpPr/>
          <p:nvPr/>
        </p:nvSpPr>
        <p:spPr>
          <a:xfrm>
            <a:off x="2423160" y="5692140"/>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The source ZIP is not a verified production JAR; execute full build and live smoke first.</a:t>
            </a:r>
            <a:endParaRPr lang="en-US" sz="109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QUALITY / ASSURANCE</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What is verified vs. still unproven</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Source features, mocked acceptance checks and live runtime certification are different levels of evidence.</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OPERATIONS</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24</a:t>
            </a:r>
            <a:endParaRPr lang="en-US" sz="900" dirty="0"/>
          </a:p>
        </p:txBody>
      </p:sp>
      <p:sp>
        <p:nvSpPr>
          <p:cNvPr id="11" name="Shape 9"/>
          <p:cNvSpPr/>
          <p:nvPr/>
        </p:nvSpPr>
        <p:spPr>
          <a:xfrm>
            <a:off x="585216" y="1627632"/>
            <a:ext cx="5413248" cy="3209544"/>
          </a:xfrm>
          <a:prstGeom prst="roundRect">
            <a:avLst>
              <a:gd name="adj" fmla="val 3134"/>
            </a:avLst>
          </a:prstGeom>
          <a:solidFill>
            <a:srgbClr val="E7F5F1"/>
          </a:solidFill>
          <a:ln w="9525">
            <a:solidFill>
              <a:srgbClr val="D8E5F2"/>
            </a:solidFill>
            <a:prstDash val="solid"/>
          </a:ln>
        </p:spPr>
      </p:sp>
      <p:sp>
        <p:nvSpPr>
          <p:cNvPr id="12" name="Text 10"/>
          <p:cNvSpPr/>
          <p:nvPr/>
        </p:nvSpPr>
        <p:spPr>
          <a:xfrm>
            <a:off x="749808" y="1746504"/>
            <a:ext cx="5102352"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Source-verified / offline-tested</a:t>
            </a:r>
            <a:endParaRPr lang="en-US" sz="1350" dirty="0"/>
          </a:p>
        </p:txBody>
      </p:sp>
      <p:sp>
        <p:nvSpPr>
          <p:cNvPr id="13" name="Text 11"/>
          <p:cNvSpPr/>
          <p:nvPr/>
        </p:nvSpPr>
        <p:spPr>
          <a:xfrm>
            <a:off x="768096" y="213969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14" name="Text 12"/>
          <p:cNvSpPr/>
          <p:nvPr/>
        </p:nvSpPr>
        <p:spPr>
          <a:xfrm>
            <a:off x="1005840" y="2130552"/>
            <a:ext cx="4800600" cy="246888"/>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Java 17 syntax and focused typecheck smoke suites</a:t>
            </a:r>
            <a:endParaRPr lang="en-US" sz="1170" dirty="0"/>
          </a:p>
        </p:txBody>
      </p:sp>
      <p:sp>
        <p:nvSpPr>
          <p:cNvPr id="15" name="Text 13"/>
          <p:cNvSpPr/>
          <p:nvPr/>
        </p:nvSpPr>
        <p:spPr>
          <a:xfrm>
            <a:off x="768096" y="245973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16" name="Text 14"/>
          <p:cNvSpPr/>
          <p:nvPr/>
        </p:nvSpPr>
        <p:spPr>
          <a:xfrm>
            <a:off x="1005840" y="2450592"/>
            <a:ext cx="4800600" cy="246888"/>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Frontend JavaScript tests and mocked browser flows</a:t>
            </a:r>
            <a:endParaRPr lang="en-US" sz="1170" dirty="0"/>
          </a:p>
        </p:txBody>
      </p:sp>
      <p:sp>
        <p:nvSpPr>
          <p:cNvPr id="17" name="Text 15"/>
          <p:cNvSpPr/>
          <p:nvPr/>
        </p:nvSpPr>
        <p:spPr>
          <a:xfrm>
            <a:off x="768096" y="277977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18" name="Text 16"/>
          <p:cNvSpPr/>
          <p:nvPr/>
        </p:nvSpPr>
        <p:spPr>
          <a:xfrm>
            <a:off x="1005840" y="2770632"/>
            <a:ext cx="4800600" cy="246888"/>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Workspace boundary, token and completion policies</a:t>
            </a:r>
            <a:endParaRPr lang="en-US" sz="1170" dirty="0"/>
          </a:p>
        </p:txBody>
      </p:sp>
      <p:sp>
        <p:nvSpPr>
          <p:cNvPr id="19" name="Text 17"/>
          <p:cNvSpPr/>
          <p:nvPr/>
        </p:nvSpPr>
        <p:spPr>
          <a:xfrm>
            <a:off x="768096" y="309981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20" name="Text 18"/>
          <p:cNvSpPr/>
          <p:nvPr/>
        </p:nvSpPr>
        <p:spPr>
          <a:xfrm>
            <a:off x="1005840" y="3090672"/>
            <a:ext cx="4800600" cy="246888"/>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Git disposable-repository integration smoke</a:t>
            </a:r>
            <a:endParaRPr lang="en-US" sz="1170" dirty="0"/>
          </a:p>
        </p:txBody>
      </p:sp>
      <p:sp>
        <p:nvSpPr>
          <p:cNvPr id="21" name="Shape 19"/>
          <p:cNvSpPr/>
          <p:nvPr/>
        </p:nvSpPr>
        <p:spPr>
          <a:xfrm>
            <a:off x="6208776" y="1627632"/>
            <a:ext cx="5394960" cy="3209544"/>
          </a:xfrm>
          <a:prstGeom prst="roundRect">
            <a:avLst>
              <a:gd name="adj" fmla="val 3134"/>
            </a:avLst>
          </a:prstGeom>
          <a:solidFill>
            <a:srgbClr val="FFF6E7"/>
          </a:solidFill>
          <a:ln w="9525">
            <a:solidFill>
              <a:srgbClr val="D8E5F2"/>
            </a:solidFill>
            <a:prstDash val="solid"/>
          </a:ln>
        </p:spPr>
      </p:sp>
      <p:sp>
        <p:nvSpPr>
          <p:cNvPr id="22" name="Text 20"/>
          <p:cNvSpPr/>
          <p:nvPr/>
        </p:nvSpPr>
        <p:spPr>
          <a:xfrm>
            <a:off x="6373368" y="1746504"/>
            <a:ext cx="5084064" cy="301752"/>
          </a:xfrm>
          <a:prstGeom prst="rect">
            <a:avLst/>
          </a:prstGeom>
          <a:noFill/>
          <a:ln/>
        </p:spPr>
        <p:txBody>
          <a:bodyPr wrap="square" lIns="0" tIns="0" rIns="0" bIns="0" rtlCol="0" anchor="ctr">
            <a:normAutofit/>
          </a:bodyPr>
          <a:lstStyle/>
          <a:p>
            <a:pPr algn="l" indent="0" marL="0">
              <a:buNone/>
            </a:pPr>
            <a:r>
              <a:rPr lang="en-US" sz="1350" b="1" dirty="0">
                <a:solidFill>
                  <a:srgbClr val="0C2B4E"/>
                </a:solidFill>
                <a:latin typeface="Aptos" pitchFamily="34" charset="0"/>
                <a:ea typeface="Aptos" pitchFamily="34" charset="-122"/>
                <a:cs typeface="Aptos" pitchFamily="34" charset="-120"/>
              </a:rPr>
              <a:t>Required live certification</a:t>
            </a:r>
            <a:endParaRPr lang="en-US" sz="1350" dirty="0"/>
          </a:p>
        </p:txBody>
      </p:sp>
      <p:sp>
        <p:nvSpPr>
          <p:cNvPr id="23" name="Text 21"/>
          <p:cNvSpPr/>
          <p:nvPr/>
        </p:nvSpPr>
        <p:spPr>
          <a:xfrm>
            <a:off x="6391656" y="213969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24" name="Text 22"/>
          <p:cNvSpPr/>
          <p:nvPr/>
        </p:nvSpPr>
        <p:spPr>
          <a:xfrm>
            <a:off x="6629400" y="2130552"/>
            <a:ext cx="4782312"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Full dependency-resolved Maven / JUnit build</a:t>
            </a:r>
            <a:endParaRPr lang="en-US" sz="1100" dirty="0"/>
          </a:p>
        </p:txBody>
      </p:sp>
      <p:sp>
        <p:nvSpPr>
          <p:cNvPr id="25" name="Text 23"/>
          <p:cNvSpPr/>
          <p:nvPr/>
        </p:nvSpPr>
        <p:spPr>
          <a:xfrm>
            <a:off x="6391656" y="245973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26" name="Text 24"/>
          <p:cNvSpPr/>
          <p:nvPr/>
        </p:nvSpPr>
        <p:spPr>
          <a:xfrm>
            <a:off x="6629400" y="2450592"/>
            <a:ext cx="4782312"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Provider/model tool-call + SSE E2E flows</a:t>
            </a:r>
            <a:endParaRPr lang="en-US" sz="1100" dirty="0"/>
          </a:p>
        </p:txBody>
      </p:sp>
      <p:sp>
        <p:nvSpPr>
          <p:cNvPr id="27" name="Text 25"/>
          <p:cNvSpPr/>
          <p:nvPr/>
        </p:nvSpPr>
        <p:spPr>
          <a:xfrm>
            <a:off x="6391656" y="277977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28" name="Text 26"/>
          <p:cNvSpPr/>
          <p:nvPr/>
        </p:nvSpPr>
        <p:spPr>
          <a:xfrm>
            <a:off x="6629400" y="2770632"/>
            <a:ext cx="4782312"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Windows/macOS OS-process and Chrome behavior</a:t>
            </a:r>
            <a:endParaRPr lang="en-US" sz="1100" dirty="0"/>
          </a:p>
        </p:txBody>
      </p:sp>
      <p:sp>
        <p:nvSpPr>
          <p:cNvPr id="29" name="Text 27"/>
          <p:cNvSpPr/>
          <p:nvPr/>
        </p:nvSpPr>
        <p:spPr>
          <a:xfrm>
            <a:off x="6391656" y="309981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0" name="Text 28"/>
          <p:cNvSpPr/>
          <p:nvPr/>
        </p:nvSpPr>
        <p:spPr>
          <a:xfrm>
            <a:off x="6629400" y="3090672"/>
            <a:ext cx="4782312"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Long-running / cancellation / deletion approvals</a:t>
            </a:r>
            <a:endParaRPr lang="en-US" sz="1100" dirty="0"/>
          </a:p>
        </p:txBody>
      </p:sp>
      <p:sp>
        <p:nvSpPr>
          <p:cNvPr id="31" name="Text 29"/>
          <p:cNvSpPr/>
          <p:nvPr/>
        </p:nvSpPr>
        <p:spPr>
          <a:xfrm>
            <a:off x="6391656" y="3419856"/>
            <a:ext cx="164592" cy="219456"/>
          </a:xfrm>
          <a:prstGeom prst="rect">
            <a:avLst/>
          </a:prstGeom>
          <a:noFill/>
          <a:ln/>
        </p:spPr>
        <p:txBody>
          <a:bodyPr wrap="square" lIns="0" tIns="0" rIns="0" bIns="0" rtlCol="0" anchor="ctr">
            <a:normAutofit/>
          </a:bodyPr>
          <a:lstStyle/>
          <a:p>
            <a:pPr algn="l" indent="0" marL="0">
              <a:buNone/>
            </a:pPr>
            <a:r>
              <a:rPr lang="en-US" sz="1300" b="1" dirty="0">
                <a:solidFill>
                  <a:srgbClr val="1767C7"/>
                </a:solidFill>
                <a:latin typeface="Aptos" pitchFamily="34" charset="0"/>
                <a:ea typeface="Aptos" pitchFamily="34" charset="-122"/>
                <a:cs typeface="Aptos" pitchFamily="34" charset="-120"/>
              </a:rPr>
              <a:t>•</a:t>
            </a:r>
            <a:endParaRPr lang="en-US" sz="1300" dirty="0"/>
          </a:p>
        </p:txBody>
      </p:sp>
      <p:sp>
        <p:nvSpPr>
          <p:cNvPr id="32" name="Text 30"/>
          <p:cNvSpPr/>
          <p:nvPr/>
        </p:nvSpPr>
        <p:spPr>
          <a:xfrm>
            <a:off x="6629400" y="3410712"/>
            <a:ext cx="4782312" cy="246888"/>
          </a:xfrm>
          <a:prstGeom prst="rect">
            <a:avLst/>
          </a:prstGeom>
          <a:noFill/>
          <a:ln/>
        </p:spPr>
        <p:txBody>
          <a:bodyPr wrap="square" lIns="0" tIns="0" rIns="0" bIns="0" rtlCol="0" anchor="ctr">
            <a:normAutofit/>
          </a:bodyPr>
          <a:lstStyle/>
          <a:p>
            <a:pPr algn="l" indent="0" marL="0">
              <a:buNone/>
            </a:pPr>
            <a:r>
              <a:rPr lang="en-US" sz="1100" dirty="0">
                <a:solidFill>
                  <a:srgbClr val="5B7190"/>
                </a:solidFill>
                <a:latin typeface="Aptos" pitchFamily="34" charset="0"/>
                <a:ea typeface="Aptos" pitchFamily="34" charset="-122"/>
                <a:cs typeface="Aptos" pitchFamily="34" charset="-120"/>
              </a:rPr>
              <a:t>Pen-test, load tests and production hardening</a:t>
            </a:r>
            <a:endParaRPr lang="en-US" sz="1100" dirty="0"/>
          </a:p>
        </p:txBody>
      </p:sp>
      <p:sp>
        <p:nvSpPr>
          <p:cNvPr id="33" name="Shape 31"/>
          <p:cNvSpPr/>
          <p:nvPr/>
        </p:nvSpPr>
        <p:spPr>
          <a:xfrm>
            <a:off x="530352" y="5605272"/>
            <a:ext cx="11137392" cy="484632"/>
          </a:xfrm>
          <a:prstGeom prst="roundRect">
            <a:avLst>
              <a:gd name="adj" fmla="val 20755"/>
            </a:avLst>
          </a:prstGeom>
          <a:solidFill>
            <a:srgbClr val="EDF5FD"/>
          </a:solidFill>
          <a:ln w="9525">
            <a:solidFill>
              <a:srgbClr val="EDF5FD"/>
            </a:solidFill>
            <a:prstDash val="solid"/>
          </a:ln>
        </p:spPr>
      </p:sp>
      <p:sp>
        <p:nvSpPr>
          <p:cNvPr id="34" name="Text 32"/>
          <p:cNvSpPr/>
          <p:nvPr/>
        </p:nvSpPr>
        <p:spPr>
          <a:xfrm>
            <a:off x="713232" y="5692140"/>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ARCHITECTURAL HONESTY</a:t>
            </a:r>
            <a:endParaRPr lang="en-US" sz="1110" dirty="0"/>
          </a:p>
        </p:txBody>
      </p:sp>
      <p:sp>
        <p:nvSpPr>
          <p:cNvPr id="35" name="Text 33"/>
          <p:cNvSpPr/>
          <p:nvPr/>
        </p:nvSpPr>
        <p:spPr>
          <a:xfrm>
            <a:off x="2423160" y="5655564"/>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Successful offline tests support confidence but do not certify the entire deployed system.</a:t>
            </a:r>
            <a:endParaRPr lang="en-US" sz="109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DESIGN REVIEW</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Key trade-offs and architecture decisions</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Design is optimized for local-first engineering workflows, not centrally hosted scale-out.</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DECISIONS</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25</a:t>
            </a:r>
            <a:endParaRPr lang="en-US" sz="900" dirty="0"/>
          </a:p>
        </p:txBody>
      </p:sp>
      <p:sp>
        <p:nvSpPr>
          <p:cNvPr id="11" name="Shape 9"/>
          <p:cNvSpPr/>
          <p:nvPr/>
        </p:nvSpPr>
        <p:spPr>
          <a:xfrm>
            <a:off x="557784" y="1472184"/>
            <a:ext cx="11082528" cy="630936"/>
          </a:xfrm>
          <a:prstGeom prst="roundRect">
            <a:avLst>
              <a:gd name="adj" fmla="val 15942"/>
            </a:avLst>
          </a:prstGeom>
          <a:solidFill>
            <a:srgbClr val="FFFFFF"/>
          </a:solidFill>
          <a:ln w="9525">
            <a:solidFill>
              <a:srgbClr val="D8E5F2"/>
            </a:solidFill>
            <a:prstDash val="solid"/>
          </a:ln>
        </p:spPr>
      </p:sp>
      <p:sp>
        <p:nvSpPr>
          <p:cNvPr id="12" name="Text 10"/>
          <p:cNvSpPr/>
          <p:nvPr/>
        </p:nvSpPr>
        <p:spPr>
          <a:xfrm>
            <a:off x="758952" y="1609344"/>
            <a:ext cx="2542032" cy="329184"/>
          </a:xfrm>
          <a:prstGeom prst="rect">
            <a:avLst/>
          </a:prstGeom>
          <a:noFill/>
          <a:ln/>
        </p:spPr>
        <p:txBody>
          <a:bodyPr wrap="square" lIns="0" tIns="0" rIns="0" bIns="0" rtlCol="0" anchor="ctr">
            <a:normAutofit/>
          </a:bodyPr>
          <a:lstStyle/>
          <a:p>
            <a:pPr algn="l" indent="0" marL="0">
              <a:buNone/>
            </a:pPr>
            <a:r>
              <a:rPr lang="en-US" sz="1120" b="1" dirty="0">
                <a:solidFill>
                  <a:srgbClr val="1767C7"/>
                </a:solidFill>
                <a:latin typeface="Aptos" pitchFamily="34" charset="0"/>
                <a:ea typeface="Aptos" pitchFamily="34" charset="-122"/>
                <a:cs typeface="Aptos" pitchFamily="34" charset="-120"/>
              </a:rPr>
              <a:t>Single JVM / local-first</a:t>
            </a:r>
            <a:endParaRPr lang="en-US" sz="1120" dirty="0"/>
          </a:p>
        </p:txBody>
      </p:sp>
      <p:sp>
        <p:nvSpPr>
          <p:cNvPr id="13" name="Text 11"/>
          <p:cNvSpPr/>
          <p:nvPr/>
        </p:nvSpPr>
        <p:spPr>
          <a:xfrm>
            <a:off x="3410712" y="1600200"/>
            <a:ext cx="4096512" cy="338328"/>
          </a:xfrm>
          <a:prstGeom prst="rect">
            <a:avLst/>
          </a:prstGeom>
          <a:noFill/>
          <a:ln/>
        </p:spPr>
        <p:txBody>
          <a:bodyPr wrap="square" lIns="0" tIns="0" rIns="0" bIns="0" rtlCol="0" anchor="ctr">
            <a:normAutofit/>
          </a:bodyPr>
          <a:lstStyle/>
          <a:p>
            <a:pPr algn="l" indent="0" marL="0">
              <a:buNone/>
            </a:pPr>
            <a:r>
              <a:rPr lang="en-US" sz="1080" dirty="0">
                <a:solidFill>
                  <a:srgbClr val="18324F"/>
                </a:solidFill>
                <a:latin typeface="Aptos" pitchFamily="34" charset="0"/>
                <a:ea typeface="Aptos" pitchFamily="34" charset="-122"/>
                <a:cs typeface="Aptos" pitchFamily="34" charset="-120"/>
              </a:rPr>
              <a:t>Low integration overhead and workspace proximity</a:t>
            </a:r>
            <a:endParaRPr lang="en-US" sz="1080" dirty="0"/>
          </a:p>
        </p:txBody>
      </p:sp>
      <p:sp>
        <p:nvSpPr>
          <p:cNvPr id="14" name="Text 12"/>
          <p:cNvSpPr/>
          <p:nvPr/>
        </p:nvSpPr>
        <p:spPr>
          <a:xfrm>
            <a:off x="7680960" y="1581912"/>
            <a:ext cx="3584448" cy="384048"/>
          </a:xfrm>
          <a:prstGeom prst="rect">
            <a:avLst/>
          </a:prstGeom>
          <a:noFill/>
          <a:ln/>
        </p:spPr>
        <p:txBody>
          <a:bodyPr wrap="square" lIns="0" tIns="0" rIns="0" bIns="0" rtlCol="0" anchor="ctr">
            <a:normAutofit/>
          </a:bodyPr>
          <a:lstStyle/>
          <a:p>
            <a:pPr algn="l" indent="0" marL="0">
              <a:buNone/>
            </a:pPr>
            <a:r>
              <a:rPr lang="en-US" sz="1030" dirty="0">
                <a:solidFill>
                  <a:srgbClr val="5B7190"/>
                </a:solidFill>
                <a:latin typeface="Aptos" pitchFamily="34" charset="0"/>
                <a:ea typeface="Aptos" pitchFamily="34" charset="-122"/>
                <a:cs typeface="Aptos" pitchFamily="34" charset="-120"/>
              </a:rPr>
              <a:t>No process HA or horizontal scaling</a:t>
            </a:r>
            <a:endParaRPr lang="en-US" sz="1030" dirty="0"/>
          </a:p>
        </p:txBody>
      </p:sp>
      <p:sp>
        <p:nvSpPr>
          <p:cNvPr id="15" name="Shape 13"/>
          <p:cNvSpPr/>
          <p:nvPr/>
        </p:nvSpPr>
        <p:spPr>
          <a:xfrm>
            <a:off x="557784" y="2203704"/>
            <a:ext cx="11082528" cy="630936"/>
          </a:xfrm>
          <a:prstGeom prst="roundRect">
            <a:avLst>
              <a:gd name="adj" fmla="val 15942"/>
            </a:avLst>
          </a:prstGeom>
          <a:solidFill>
            <a:srgbClr val="F5F9FE"/>
          </a:solidFill>
          <a:ln w="9525">
            <a:solidFill>
              <a:srgbClr val="D8E5F2"/>
            </a:solidFill>
            <a:prstDash val="solid"/>
          </a:ln>
        </p:spPr>
      </p:sp>
      <p:sp>
        <p:nvSpPr>
          <p:cNvPr id="16" name="Text 14"/>
          <p:cNvSpPr/>
          <p:nvPr/>
        </p:nvSpPr>
        <p:spPr>
          <a:xfrm>
            <a:off x="758952" y="2340864"/>
            <a:ext cx="2542032" cy="329184"/>
          </a:xfrm>
          <a:prstGeom prst="rect">
            <a:avLst/>
          </a:prstGeom>
          <a:noFill/>
          <a:ln/>
        </p:spPr>
        <p:txBody>
          <a:bodyPr wrap="square" lIns="0" tIns="0" rIns="0" bIns="0" rtlCol="0" anchor="ctr">
            <a:normAutofit/>
          </a:bodyPr>
          <a:lstStyle/>
          <a:p>
            <a:pPr algn="l" indent="0" marL="0">
              <a:buNone/>
            </a:pPr>
            <a:r>
              <a:rPr lang="en-US" sz="1120" b="1" dirty="0">
                <a:solidFill>
                  <a:srgbClr val="1767C7"/>
                </a:solidFill>
                <a:latin typeface="Aptos" pitchFamily="34" charset="0"/>
                <a:ea typeface="Aptos" pitchFamily="34" charset="-122"/>
                <a:cs typeface="Aptos" pitchFamily="34" charset="-120"/>
              </a:rPr>
              <a:t>Two change contracts</a:t>
            </a:r>
            <a:endParaRPr lang="en-US" sz="1120" dirty="0"/>
          </a:p>
        </p:txBody>
      </p:sp>
      <p:sp>
        <p:nvSpPr>
          <p:cNvPr id="17" name="Text 15"/>
          <p:cNvSpPr/>
          <p:nvPr/>
        </p:nvSpPr>
        <p:spPr>
          <a:xfrm>
            <a:off x="3410712" y="2331720"/>
            <a:ext cx="4096512" cy="338328"/>
          </a:xfrm>
          <a:prstGeom prst="rect">
            <a:avLst/>
          </a:prstGeom>
          <a:noFill/>
          <a:ln/>
        </p:spPr>
        <p:txBody>
          <a:bodyPr wrap="square" lIns="0" tIns="0" rIns="0" bIns="0" rtlCol="0" anchor="ctr">
            <a:normAutofit/>
          </a:bodyPr>
          <a:lstStyle/>
          <a:p>
            <a:pPr algn="l" indent="0" marL="0">
              <a:buNone/>
            </a:pPr>
            <a:r>
              <a:rPr lang="en-US" sz="1080" dirty="0">
                <a:solidFill>
                  <a:srgbClr val="18324F"/>
                </a:solidFill>
                <a:latin typeface="Aptos" pitchFamily="34" charset="0"/>
                <a:ea typeface="Aptos" pitchFamily="34" charset="-122"/>
                <a:cs typeface="Aptos" pitchFamily="34" charset="-120"/>
              </a:rPr>
              <a:t>Agent approval vs Terminal direct task flow</a:t>
            </a:r>
            <a:endParaRPr lang="en-US" sz="1080" dirty="0"/>
          </a:p>
        </p:txBody>
      </p:sp>
      <p:sp>
        <p:nvSpPr>
          <p:cNvPr id="18" name="Text 16"/>
          <p:cNvSpPr/>
          <p:nvPr/>
        </p:nvSpPr>
        <p:spPr>
          <a:xfrm>
            <a:off x="7680960" y="2313432"/>
            <a:ext cx="3584448" cy="384048"/>
          </a:xfrm>
          <a:prstGeom prst="rect">
            <a:avLst/>
          </a:prstGeom>
          <a:noFill/>
          <a:ln/>
        </p:spPr>
        <p:txBody>
          <a:bodyPr wrap="square" lIns="0" tIns="0" rIns="0" bIns="0" rtlCol="0" anchor="ctr">
            <a:normAutofit/>
          </a:bodyPr>
          <a:lstStyle/>
          <a:p>
            <a:pPr algn="l" indent="0" marL="0">
              <a:buNone/>
            </a:pPr>
            <a:r>
              <a:rPr lang="en-US" sz="1030" dirty="0">
                <a:solidFill>
                  <a:srgbClr val="5B7190"/>
                </a:solidFill>
                <a:latin typeface="Aptos" pitchFamily="34" charset="0"/>
                <a:ea typeface="Aptos" pitchFamily="34" charset="-122"/>
                <a:cs typeface="Aptos" pitchFamily="34" charset="-120"/>
              </a:rPr>
              <a:t>Terminal demands strong runtime safety checks</a:t>
            </a:r>
            <a:endParaRPr lang="en-US" sz="1030" dirty="0"/>
          </a:p>
        </p:txBody>
      </p:sp>
      <p:sp>
        <p:nvSpPr>
          <p:cNvPr id="19" name="Shape 17"/>
          <p:cNvSpPr/>
          <p:nvPr/>
        </p:nvSpPr>
        <p:spPr>
          <a:xfrm>
            <a:off x="557784" y="2935224"/>
            <a:ext cx="11082528" cy="630936"/>
          </a:xfrm>
          <a:prstGeom prst="roundRect">
            <a:avLst>
              <a:gd name="adj" fmla="val 15942"/>
            </a:avLst>
          </a:prstGeom>
          <a:solidFill>
            <a:srgbClr val="FFFFFF"/>
          </a:solidFill>
          <a:ln w="9525">
            <a:solidFill>
              <a:srgbClr val="D8E5F2"/>
            </a:solidFill>
            <a:prstDash val="solid"/>
          </a:ln>
        </p:spPr>
      </p:sp>
      <p:sp>
        <p:nvSpPr>
          <p:cNvPr id="20" name="Text 18"/>
          <p:cNvSpPr/>
          <p:nvPr/>
        </p:nvSpPr>
        <p:spPr>
          <a:xfrm>
            <a:off x="758952" y="3072384"/>
            <a:ext cx="2542032" cy="329184"/>
          </a:xfrm>
          <a:prstGeom prst="rect">
            <a:avLst/>
          </a:prstGeom>
          <a:noFill/>
          <a:ln/>
        </p:spPr>
        <p:txBody>
          <a:bodyPr wrap="square" lIns="0" tIns="0" rIns="0" bIns="0" rtlCol="0" anchor="ctr">
            <a:normAutofit/>
          </a:bodyPr>
          <a:lstStyle/>
          <a:p>
            <a:pPr algn="l" indent="0" marL="0">
              <a:buNone/>
            </a:pPr>
            <a:r>
              <a:rPr lang="en-US" sz="1120" b="1" dirty="0">
                <a:solidFill>
                  <a:srgbClr val="1767C7"/>
                </a:solidFill>
                <a:latin typeface="Aptos" pitchFamily="34" charset="0"/>
                <a:ea typeface="Aptos" pitchFamily="34" charset="-122"/>
                <a:cs typeface="Aptos" pitchFamily="34" charset="-120"/>
              </a:rPr>
              <a:t>Hybrid retrieval</a:t>
            </a:r>
            <a:endParaRPr lang="en-US" sz="1120" dirty="0"/>
          </a:p>
        </p:txBody>
      </p:sp>
      <p:sp>
        <p:nvSpPr>
          <p:cNvPr id="21" name="Text 19"/>
          <p:cNvSpPr/>
          <p:nvPr/>
        </p:nvSpPr>
        <p:spPr>
          <a:xfrm>
            <a:off x="3410712" y="3063240"/>
            <a:ext cx="4096512" cy="338328"/>
          </a:xfrm>
          <a:prstGeom prst="rect">
            <a:avLst/>
          </a:prstGeom>
          <a:noFill/>
          <a:ln/>
        </p:spPr>
        <p:txBody>
          <a:bodyPr wrap="square" lIns="0" tIns="0" rIns="0" bIns="0" rtlCol="0" anchor="ctr">
            <a:normAutofit/>
          </a:bodyPr>
          <a:lstStyle/>
          <a:p>
            <a:pPr algn="l" indent="0" marL="0">
              <a:buNone/>
            </a:pPr>
            <a:r>
              <a:rPr lang="en-US" sz="1080" dirty="0">
                <a:solidFill>
                  <a:srgbClr val="18324F"/>
                </a:solidFill>
                <a:latin typeface="Aptos" pitchFamily="34" charset="0"/>
                <a:ea typeface="Aptos" pitchFamily="34" charset="-122"/>
                <a:cs typeface="Aptos" pitchFamily="34" charset="-120"/>
              </a:rPr>
              <a:t>Lexical is reliable; embeddings improve relevance</a:t>
            </a:r>
            <a:endParaRPr lang="en-US" sz="1080" dirty="0"/>
          </a:p>
        </p:txBody>
      </p:sp>
      <p:sp>
        <p:nvSpPr>
          <p:cNvPr id="22" name="Text 20"/>
          <p:cNvSpPr/>
          <p:nvPr/>
        </p:nvSpPr>
        <p:spPr>
          <a:xfrm>
            <a:off x="7680960" y="3044952"/>
            <a:ext cx="3584448" cy="384048"/>
          </a:xfrm>
          <a:prstGeom prst="rect">
            <a:avLst/>
          </a:prstGeom>
          <a:noFill/>
          <a:ln/>
        </p:spPr>
        <p:txBody>
          <a:bodyPr wrap="square" lIns="0" tIns="0" rIns="0" bIns="0" rtlCol="0" anchor="ctr">
            <a:normAutofit/>
          </a:bodyPr>
          <a:lstStyle/>
          <a:p>
            <a:pPr algn="l" indent="0" marL="0">
              <a:buNone/>
            </a:pPr>
            <a:r>
              <a:rPr lang="en-US" sz="1030" dirty="0">
                <a:solidFill>
                  <a:srgbClr val="5B7190"/>
                </a:solidFill>
                <a:latin typeface="Aptos" pitchFamily="34" charset="0"/>
                <a:ea typeface="Aptos" pitchFamily="34" charset="-122"/>
                <a:cs typeface="Aptos" pitchFamily="34" charset="-120"/>
              </a:rPr>
              <a:t>Index may be stale until refresh</a:t>
            </a:r>
            <a:endParaRPr lang="en-US" sz="1030" dirty="0"/>
          </a:p>
        </p:txBody>
      </p:sp>
      <p:sp>
        <p:nvSpPr>
          <p:cNvPr id="23" name="Shape 21"/>
          <p:cNvSpPr/>
          <p:nvPr/>
        </p:nvSpPr>
        <p:spPr>
          <a:xfrm>
            <a:off x="557784" y="3666744"/>
            <a:ext cx="11082528" cy="630936"/>
          </a:xfrm>
          <a:prstGeom prst="roundRect">
            <a:avLst>
              <a:gd name="adj" fmla="val 15942"/>
            </a:avLst>
          </a:prstGeom>
          <a:solidFill>
            <a:srgbClr val="F5F9FE"/>
          </a:solidFill>
          <a:ln w="9525">
            <a:solidFill>
              <a:srgbClr val="D8E5F2"/>
            </a:solidFill>
            <a:prstDash val="solid"/>
          </a:ln>
        </p:spPr>
      </p:sp>
      <p:sp>
        <p:nvSpPr>
          <p:cNvPr id="24" name="Text 22"/>
          <p:cNvSpPr/>
          <p:nvPr/>
        </p:nvSpPr>
        <p:spPr>
          <a:xfrm>
            <a:off x="758952" y="3803904"/>
            <a:ext cx="2542032" cy="329184"/>
          </a:xfrm>
          <a:prstGeom prst="rect">
            <a:avLst/>
          </a:prstGeom>
          <a:noFill/>
          <a:ln/>
        </p:spPr>
        <p:txBody>
          <a:bodyPr wrap="square" lIns="0" tIns="0" rIns="0" bIns="0" rtlCol="0" anchor="ctr">
            <a:normAutofit/>
          </a:bodyPr>
          <a:lstStyle/>
          <a:p>
            <a:pPr algn="l" indent="0" marL="0">
              <a:buNone/>
            </a:pPr>
            <a:r>
              <a:rPr lang="en-US" sz="1120" b="1" dirty="0">
                <a:solidFill>
                  <a:srgbClr val="1767C7"/>
                </a:solidFill>
                <a:latin typeface="Aptos" pitchFamily="34" charset="0"/>
                <a:ea typeface="Aptos" pitchFamily="34" charset="-122"/>
                <a:cs typeface="Aptos" pitchFamily="34" charset="-120"/>
              </a:rPr>
              <a:t>Provider adapter</a:t>
            </a:r>
            <a:endParaRPr lang="en-US" sz="1120" dirty="0"/>
          </a:p>
        </p:txBody>
      </p:sp>
      <p:sp>
        <p:nvSpPr>
          <p:cNvPr id="25" name="Text 23"/>
          <p:cNvSpPr/>
          <p:nvPr/>
        </p:nvSpPr>
        <p:spPr>
          <a:xfrm>
            <a:off x="3410712" y="3794760"/>
            <a:ext cx="4096512" cy="338328"/>
          </a:xfrm>
          <a:prstGeom prst="rect">
            <a:avLst/>
          </a:prstGeom>
          <a:noFill/>
          <a:ln/>
        </p:spPr>
        <p:txBody>
          <a:bodyPr wrap="square" lIns="0" tIns="0" rIns="0" bIns="0" rtlCol="0" anchor="ctr">
            <a:normAutofit/>
          </a:bodyPr>
          <a:lstStyle/>
          <a:p>
            <a:pPr algn="l" indent="0" marL="0">
              <a:buNone/>
            </a:pPr>
            <a:r>
              <a:rPr lang="en-US" sz="1080" dirty="0">
                <a:solidFill>
                  <a:srgbClr val="18324F"/>
                </a:solidFill>
                <a:latin typeface="Aptos" pitchFamily="34" charset="0"/>
                <a:ea typeface="Aptos" pitchFamily="34" charset="-122"/>
                <a:cs typeface="Aptos" pitchFamily="34" charset="-120"/>
              </a:rPr>
              <a:t>Switch model gateways without rewriting UX</a:t>
            </a:r>
            <a:endParaRPr lang="en-US" sz="1080" dirty="0"/>
          </a:p>
        </p:txBody>
      </p:sp>
      <p:sp>
        <p:nvSpPr>
          <p:cNvPr id="26" name="Text 24"/>
          <p:cNvSpPr/>
          <p:nvPr/>
        </p:nvSpPr>
        <p:spPr>
          <a:xfrm>
            <a:off x="7680960" y="3776472"/>
            <a:ext cx="3584448" cy="384048"/>
          </a:xfrm>
          <a:prstGeom prst="rect">
            <a:avLst/>
          </a:prstGeom>
          <a:noFill/>
          <a:ln/>
        </p:spPr>
        <p:txBody>
          <a:bodyPr wrap="square" lIns="0" tIns="0" rIns="0" bIns="0" rtlCol="0" anchor="ctr">
            <a:normAutofit/>
          </a:bodyPr>
          <a:lstStyle/>
          <a:p>
            <a:pPr algn="l" indent="0" marL="0">
              <a:buNone/>
            </a:pPr>
            <a:r>
              <a:rPr lang="en-US" sz="1030" dirty="0">
                <a:solidFill>
                  <a:srgbClr val="5B7190"/>
                </a:solidFill>
                <a:latin typeface="Aptos" pitchFamily="34" charset="0"/>
                <a:ea typeface="Aptos" pitchFamily="34" charset="-122"/>
                <a:cs typeface="Aptos" pitchFamily="34" charset="-120"/>
              </a:rPr>
              <a:t>Capabilities and token accounting vary</a:t>
            </a:r>
            <a:endParaRPr lang="en-US" sz="1030" dirty="0"/>
          </a:p>
        </p:txBody>
      </p:sp>
      <p:sp>
        <p:nvSpPr>
          <p:cNvPr id="27" name="Shape 25"/>
          <p:cNvSpPr/>
          <p:nvPr/>
        </p:nvSpPr>
        <p:spPr>
          <a:xfrm>
            <a:off x="557784" y="4398264"/>
            <a:ext cx="11082528" cy="630936"/>
          </a:xfrm>
          <a:prstGeom prst="roundRect">
            <a:avLst>
              <a:gd name="adj" fmla="val 15942"/>
            </a:avLst>
          </a:prstGeom>
          <a:solidFill>
            <a:srgbClr val="FFFFFF"/>
          </a:solidFill>
          <a:ln w="9525">
            <a:solidFill>
              <a:srgbClr val="D8E5F2"/>
            </a:solidFill>
            <a:prstDash val="solid"/>
          </a:ln>
        </p:spPr>
      </p:sp>
      <p:sp>
        <p:nvSpPr>
          <p:cNvPr id="28" name="Text 26"/>
          <p:cNvSpPr/>
          <p:nvPr/>
        </p:nvSpPr>
        <p:spPr>
          <a:xfrm>
            <a:off x="758952" y="4535424"/>
            <a:ext cx="2542032" cy="329184"/>
          </a:xfrm>
          <a:prstGeom prst="rect">
            <a:avLst/>
          </a:prstGeom>
          <a:noFill/>
          <a:ln/>
        </p:spPr>
        <p:txBody>
          <a:bodyPr wrap="square" lIns="0" tIns="0" rIns="0" bIns="0" rtlCol="0" anchor="ctr">
            <a:normAutofit/>
          </a:bodyPr>
          <a:lstStyle/>
          <a:p>
            <a:pPr algn="l" indent="0" marL="0">
              <a:buNone/>
            </a:pPr>
            <a:r>
              <a:rPr lang="en-US" sz="1120" b="1" dirty="0">
                <a:solidFill>
                  <a:srgbClr val="1767C7"/>
                </a:solidFill>
                <a:latin typeface="Aptos" pitchFamily="34" charset="0"/>
                <a:ea typeface="Aptos" pitchFamily="34" charset="-122"/>
                <a:cs typeface="Aptos" pitchFamily="34" charset="-120"/>
              </a:rPr>
              <a:t>In-process workspace lanes</a:t>
            </a:r>
            <a:endParaRPr lang="en-US" sz="1120" dirty="0"/>
          </a:p>
        </p:txBody>
      </p:sp>
      <p:sp>
        <p:nvSpPr>
          <p:cNvPr id="29" name="Text 27"/>
          <p:cNvSpPr/>
          <p:nvPr/>
        </p:nvSpPr>
        <p:spPr>
          <a:xfrm>
            <a:off x="3410712" y="4526280"/>
            <a:ext cx="4096512" cy="338328"/>
          </a:xfrm>
          <a:prstGeom prst="rect">
            <a:avLst/>
          </a:prstGeom>
          <a:noFill/>
          <a:ln/>
        </p:spPr>
        <p:txBody>
          <a:bodyPr wrap="square" lIns="0" tIns="0" rIns="0" bIns="0" rtlCol="0" anchor="ctr">
            <a:normAutofit/>
          </a:bodyPr>
          <a:lstStyle/>
          <a:p>
            <a:pPr algn="l" indent="0" marL="0">
              <a:buNone/>
            </a:pPr>
            <a:r>
              <a:rPr lang="en-US" sz="1080" dirty="0">
                <a:solidFill>
                  <a:srgbClr val="18324F"/>
                </a:solidFill>
                <a:latin typeface="Aptos" pitchFamily="34" charset="0"/>
                <a:ea typeface="Aptos" pitchFamily="34" charset="-122"/>
                <a:cs typeface="Aptos" pitchFamily="34" charset="-120"/>
              </a:rPr>
              <a:t>Avoid many same-root Terminal races</a:t>
            </a:r>
            <a:endParaRPr lang="en-US" sz="1080" dirty="0"/>
          </a:p>
        </p:txBody>
      </p:sp>
      <p:sp>
        <p:nvSpPr>
          <p:cNvPr id="30" name="Text 28"/>
          <p:cNvSpPr/>
          <p:nvPr/>
        </p:nvSpPr>
        <p:spPr>
          <a:xfrm>
            <a:off x="7680960" y="4507992"/>
            <a:ext cx="3584448" cy="384048"/>
          </a:xfrm>
          <a:prstGeom prst="rect">
            <a:avLst/>
          </a:prstGeom>
          <a:noFill/>
          <a:ln/>
        </p:spPr>
        <p:txBody>
          <a:bodyPr wrap="square" lIns="0" tIns="0" rIns="0" bIns="0" rtlCol="0" anchor="ctr">
            <a:normAutofit/>
          </a:bodyPr>
          <a:lstStyle/>
          <a:p>
            <a:pPr algn="l" indent="0" marL="0">
              <a:buNone/>
            </a:pPr>
            <a:r>
              <a:rPr lang="en-US" sz="1030" dirty="0">
                <a:solidFill>
                  <a:srgbClr val="5B7190"/>
                </a:solidFill>
                <a:latin typeface="Aptos" pitchFamily="34" charset="0"/>
                <a:ea typeface="Aptos" pitchFamily="34" charset="-122"/>
                <a:cs typeface="Aptos" pitchFamily="34" charset="-120"/>
              </a:rPr>
              <a:t>External writes are not serialized</a:t>
            </a:r>
            <a:endParaRPr lang="en-US" sz="1030" dirty="0"/>
          </a:p>
        </p:txBody>
      </p:sp>
      <p:sp>
        <p:nvSpPr>
          <p:cNvPr id="31" name="Shape 29"/>
          <p:cNvSpPr/>
          <p:nvPr/>
        </p:nvSpPr>
        <p:spPr>
          <a:xfrm>
            <a:off x="557784" y="5129784"/>
            <a:ext cx="11082528" cy="630936"/>
          </a:xfrm>
          <a:prstGeom prst="roundRect">
            <a:avLst>
              <a:gd name="adj" fmla="val 15942"/>
            </a:avLst>
          </a:prstGeom>
          <a:solidFill>
            <a:srgbClr val="F5F9FE"/>
          </a:solidFill>
          <a:ln w="9525">
            <a:solidFill>
              <a:srgbClr val="D8E5F2"/>
            </a:solidFill>
            <a:prstDash val="solid"/>
          </a:ln>
        </p:spPr>
      </p:sp>
      <p:sp>
        <p:nvSpPr>
          <p:cNvPr id="32" name="Text 30"/>
          <p:cNvSpPr/>
          <p:nvPr/>
        </p:nvSpPr>
        <p:spPr>
          <a:xfrm>
            <a:off x="758952" y="5266944"/>
            <a:ext cx="2542032" cy="329184"/>
          </a:xfrm>
          <a:prstGeom prst="rect">
            <a:avLst/>
          </a:prstGeom>
          <a:noFill/>
          <a:ln/>
        </p:spPr>
        <p:txBody>
          <a:bodyPr wrap="square" lIns="0" tIns="0" rIns="0" bIns="0" rtlCol="0" anchor="ctr">
            <a:normAutofit/>
          </a:bodyPr>
          <a:lstStyle/>
          <a:p>
            <a:pPr algn="l" indent="0" marL="0">
              <a:buNone/>
            </a:pPr>
            <a:r>
              <a:rPr lang="en-US" sz="1120" b="1" dirty="0">
                <a:solidFill>
                  <a:srgbClr val="1767C7"/>
                </a:solidFill>
                <a:latin typeface="Aptos" pitchFamily="34" charset="0"/>
                <a:ea typeface="Aptos" pitchFamily="34" charset="-122"/>
                <a:cs typeface="Aptos" pitchFamily="34" charset="-120"/>
              </a:rPr>
              <a:t>File + H2 persistence</a:t>
            </a:r>
            <a:endParaRPr lang="en-US" sz="1120" dirty="0"/>
          </a:p>
        </p:txBody>
      </p:sp>
      <p:sp>
        <p:nvSpPr>
          <p:cNvPr id="33" name="Text 31"/>
          <p:cNvSpPr/>
          <p:nvPr/>
        </p:nvSpPr>
        <p:spPr>
          <a:xfrm>
            <a:off x="3410712" y="5257800"/>
            <a:ext cx="4096512" cy="338328"/>
          </a:xfrm>
          <a:prstGeom prst="rect">
            <a:avLst/>
          </a:prstGeom>
          <a:noFill/>
          <a:ln/>
        </p:spPr>
        <p:txBody>
          <a:bodyPr wrap="square" lIns="0" tIns="0" rIns="0" bIns="0" rtlCol="0" anchor="ctr">
            <a:normAutofit/>
          </a:bodyPr>
          <a:lstStyle/>
          <a:p>
            <a:pPr algn="l" indent="0" marL="0">
              <a:buNone/>
            </a:pPr>
            <a:r>
              <a:rPr lang="en-US" sz="1080" dirty="0">
                <a:solidFill>
                  <a:srgbClr val="18324F"/>
                </a:solidFill>
                <a:latin typeface="Aptos" pitchFamily="34" charset="0"/>
                <a:ea typeface="Aptos" pitchFamily="34" charset="-122"/>
                <a:cs typeface="Aptos" pitchFamily="34" charset="-120"/>
              </a:rPr>
              <a:t>Simple local recovery/history</a:t>
            </a:r>
            <a:endParaRPr lang="en-US" sz="1080" dirty="0"/>
          </a:p>
        </p:txBody>
      </p:sp>
      <p:sp>
        <p:nvSpPr>
          <p:cNvPr id="34" name="Text 32"/>
          <p:cNvSpPr/>
          <p:nvPr/>
        </p:nvSpPr>
        <p:spPr>
          <a:xfrm>
            <a:off x="7680960" y="5239512"/>
            <a:ext cx="3584448" cy="384048"/>
          </a:xfrm>
          <a:prstGeom prst="rect">
            <a:avLst/>
          </a:prstGeom>
          <a:noFill/>
          <a:ln/>
        </p:spPr>
        <p:txBody>
          <a:bodyPr wrap="square" lIns="0" tIns="0" rIns="0" bIns="0" rtlCol="0" anchor="ctr">
            <a:normAutofit/>
          </a:bodyPr>
          <a:lstStyle/>
          <a:p>
            <a:pPr algn="l" indent="0" marL="0">
              <a:buNone/>
            </a:pPr>
            <a:r>
              <a:rPr lang="en-US" sz="1030" dirty="0">
                <a:solidFill>
                  <a:srgbClr val="5B7190"/>
                </a:solidFill>
                <a:latin typeface="Aptos" pitchFamily="34" charset="0"/>
                <a:ea typeface="Aptos" pitchFamily="34" charset="-122"/>
                <a:cs typeface="Aptos" pitchFamily="34" charset="-120"/>
              </a:rPr>
              <a:t>Requires careful backups and data hygiene</a:t>
            </a:r>
            <a:endParaRPr lang="en-US" sz="103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ENGINEERING ROADMAP</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Recommended hardening and next design gates</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Prioritize demonstrable quality per token rather than chasing a smaller token number alone.</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DECISIONS</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26</a:t>
            </a:r>
            <a:endParaRPr lang="en-US" sz="900" dirty="0"/>
          </a:p>
        </p:txBody>
      </p:sp>
      <p:sp>
        <p:nvSpPr>
          <p:cNvPr id="11" name="Shape 9"/>
          <p:cNvSpPr/>
          <p:nvPr/>
        </p:nvSpPr>
        <p:spPr>
          <a:xfrm>
            <a:off x="585216" y="1499616"/>
            <a:ext cx="11000232" cy="914400"/>
          </a:xfrm>
          <a:prstGeom prst="roundRect">
            <a:avLst>
              <a:gd name="adj" fmla="val 11000"/>
            </a:avLst>
          </a:prstGeom>
          <a:solidFill>
            <a:srgbClr val="FFFFFF"/>
          </a:solidFill>
          <a:ln w="9525">
            <a:solidFill>
              <a:srgbClr val="D8E5F2"/>
            </a:solidFill>
            <a:prstDash val="solid"/>
          </a:ln>
        </p:spPr>
      </p:sp>
      <p:sp>
        <p:nvSpPr>
          <p:cNvPr id="12" name="Shape 10"/>
          <p:cNvSpPr/>
          <p:nvPr/>
        </p:nvSpPr>
        <p:spPr>
          <a:xfrm>
            <a:off x="832104" y="1737360"/>
            <a:ext cx="566928" cy="265176"/>
          </a:xfrm>
          <a:prstGeom prst="roundRect">
            <a:avLst>
              <a:gd name="adj" fmla="val 37931"/>
            </a:avLst>
          </a:prstGeom>
          <a:solidFill>
            <a:srgbClr val="1767C7"/>
          </a:solidFill>
          <a:ln w="9525">
            <a:solidFill>
              <a:srgbClr val="1767C7"/>
            </a:solidFill>
            <a:prstDash val="solid"/>
          </a:ln>
        </p:spPr>
      </p:sp>
      <p:sp>
        <p:nvSpPr>
          <p:cNvPr id="13" name="Text 11"/>
          <p:cNvSpPr/>
          <p:nvPr/>
        </p:nvSpPr>
        <p:spPr>
          <a:xfrm>
            <a:off x="905256" y="1746504"/>
            <a:ext cx="420624" cy="22860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01</a:t>
            </a:r>
            <a:endParaRPr lang="en-US" sz="860" dirty="0"/>
          </a:p>
        </p:txBody>
      </p:sp>
      <p:sp>
        <p:nvSpPr>
          <p:cNvPr id="14" name="Text 12"/>
          <p:cNvSpPr/>
          <p:nvPr/>
        </p:nvSpPr>
        <p:spPr>
          <a:xfrm>
            <a:off x="1627632" y="1655064"/>
            <a:ext cx="3712464" cy="329184"/>
          </a:xfrm>
          <a:prstGeom prst="rect">
            <a:avLst/>
          </a:prstGeom>
          <a:noFill/>
          <a:ln/>
        </p:spPr>
        <p:txBody>
          <a:bodyPr wrap="square" lIns="0" tIns="0" rIns="0" bIns="0" rtlCol="0" anchor="ctr">
            <a:normAutofit/>
          </a:bodyPr>
          <a:lstStyle/>
          <a:p>
            <a:pPr algn="l" indent="0" marL="0">
              <a:buNone/>
            </a:pPr>
            <a:r>
              <a:rPr lang="en-US" sz="1470" b="1" dirty="0">
                <a:solidFill>
                  <a:srgbClr val="0C2B4E"/>
                </a:solidFill>
                <a:latin typeface="Aptos" pitchFamily="34" charset="0"/>
                <a:ea typeface="Aptos" pitchFamily="34" charset="-122"/>
                <a:cs typeface="Aptos" pitchFamily="34" charset="-120"/>
              </a:rPr>
              <a:t>Prove functional correctness</a:t>
            </a:r>
            <a:endParaRPr lang="en-US" sz="1470" dirty="0"/>
          </a:p>
        </p:txBody>
      </p:sp>
      <p:sp>
        <p:nvSpPr>
          <p:cNvPr id="15" name="Text 13"/>
          <p:cNvSpPr/>
          <p:nvPr/>
        </p:nvSpPr>
        <p:spPr>
          <a:xfrm>
            <a:off x="5285232" y="1645920"/>
            <a:ext cx="5870448" cy="484632"/>
          </a:xfrm>
          <a:prstGeom prst="rect">
            <a:avLst/>
          </a:prstGeom>
          <a:noFill/>
          <a:ln/>
        </p:spPr>
        <p:txBody>
          <a:bodyPr wrap="square" lIns="0" tIns="0" rIns="0" bIns="0" rtlCol="0" anchor="ctr">
            <a:normAutofit/>
          </a:bodyPr>
          <a:lstStyle/>
          <a:p>
            <a:pPr algn="l" indent="0" marL="0">
              <a:buNone/>
            </a:pPr>
            <a:r>
              <a:rPr lang="en-US" sz="1140" dirty="0">
                <a:solidFill>
                  <a:srgbClr val="5B7190"/>
                </a:solidFill>
                <a:latin typeface="Aptos" pitchFamily="34" charset="0"/>
                <a:ea typeface="Aptos" pitchFamily="34" charset="-122"/>
                <a:cs typeface="Aptos" pitchFamily="34" charset="-120"/>
              </a:rPr>
              <a:t>Full Maven build; complete Chat/Agent/Terminal acceptance matrix on target OS.</a:t>
            </a:r>
            <a:endParaRPr lang="en-US" sz="1140" dirty="0"/>
          </a:p>
        </p:txBody>
      </p:sp>
      <p:sp>
        <p:nvSpPr>
          <p:cNvPr id="16" name="Shape 14"/>
          <p:cNvSpPr/>
          <p:nvPr/>
        </p:nvSpPr>
        <p:spPr>
          <a:xfrm>
            <a:off x="585216" y="2551176"/>
            <a:ext cx="11000232" cy="914400"/>
          </a:xfrm>
          <a:prstGeom prst="roundRect">
            <a:avLst>
              <a:gd name="adj" fmla="val 11000"/>
            </a:avLst>
          </a:prstGeom>
          <a:solidFill>
            <a:srgbClr val="F5F9FE"/>
          </a:solidFill>
          <a:ln w="9525">
            <a:solidFill>
              <a:srgbClr val="D8E5F2"/>
            </a:solidFill>
            <a:prstDash val="solid"/>
          </a:ln>
        </p:spPr>
      </p:sp>
      <p:sp>
        <p:nvSpPr>
          <p:cNvPr id="17" name="Shape 15"/>
          <p:cNvSpPr/>
          <p:nvPr/>
        </p:nvSpPr>
        <p:spPr>
          <a:xfrm>
            <a:off x="832104" y="2788920"/>
            <a:ext cx="566928" cy="265176"/>
          </a:xfrm>
          <a:prstGeom prst="roundRect">
            <a:avLst>
              <a:gd name="adj" fmla="val 37931"/>
            </a:avLst>
          </a:prstGeom>
          <a:solidFill>
            <a:srgbClr val="1767C7"/>
          </a:solidFill>
          <a:ln w="9525">
            <a:solidFill>
              <a:srgbClr val="1767C7"/>
            </a:solidFill>
            <a:prstDash val="solid"/>
          </a:ln>
        </p:spPr>
      </p:sp>
      <p:sp>
        <p:nvSpPr>
          <p:cNvPr id="18" name="Text 16"/>
          <p:cNvSpPr/>
          <p:nvPr/>
        </p:nvSpPr>
        <p:spPr>
          <a:xfrm>
            <a:off x="905256" y="2798064"/>
            <a:ext cx="420624" cy="22860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02</a:t>
            </a:r>
            <a:endParaRPr lang="en-US" sz="860" dirty="0"/>
          </a:p>
        </p:txBody>
      </p:sp>
      <p:sp>
        <p:nvSpPr>
          <p:cNvPr id="19" name="Text 17"/>
          <p:cNvSpPr/>
          <p:nvPr/>
        </p:nvSpPr>
        <p:spPr>
          <a:xfrm>
            <a:off x="1627632" y="2706624"/>
            <a:ext cx="3712464" cy="329184"/>
          </a:xfrm>
          <a:prstGeom prst="rect">
            <a:avLst/>
          </a:prstGeom>
          <a:noFill/>
          <a:ln/>
        </p:spPr>
        <p:txBody>
          <a:bodyPr wrap="square" lIns="0" tIns="0" rIns="0" bIns="0" rtlCol="0" anchor="ctr">
            <a:normAutofit/>
          </a:bodyPr>
          <a:lstStyle/>
          <a:p>
            <a:pPr algn="l" indent="0" marL="0">
              <a:buNone/>
            </a:pPr>
            <a:r>
              <a:rPr lang="en-US" sz="1470" b="1" dirty="0">
                <a:solidFill>
                  <a:srgbClr val="0C2B4E"/>
                </a:solidFill>
                <a:latin typeface="Aptos" pitchFamily="34" charset="0"/>
                <a:ea typeface="Aptos" pitchFamily="34" charset="-122"/>
                <a:cs typeface="Aptos" pitchFamily="34" charset="-120"/>
              </a:rPr>
              <a:t>Benchmark quality-per-token</a:t>
            </a:r>
            <a:endParaRPr lang="en-US" sz="1470" dirty="0"/>
          </a:p>
        </p:txBody>
      </p:sp>
      <p:sp>
        <p:nvSpPr>
          <p:cNvPr id="20" name="Text 18"/>
          <p:cNvSpPr/>
          <p:nvPr/>
        </p:nvSpPr>
        <p:spPr>
          <a:xfrm>
            <a:off x="5285232" y="2697480"/>
            <a:ext cx="5870448" cy="484632"/>
          </a:xfrm>
          <a:prstGeom prst="rect">
            <a:avLst/>
          </a:prstGeom>
          <a:noFill/>
          <a:ln/>
        </p:spPr>
        <p:txBody>
          <a:bodyPr wrap="square" lIns="0" tIns="0" rIns="0" bIns="0" rtlCol="0" anchor="ctr">
            <a:normAutofit/>
          </a:bodyPr>
          <a:lstStyle/>
          <a:p>
            <a:pPr algn="l" indent="0" marL="0">
              <a:buNone/>
            </a:pPr>
            <a:r>
              <a:rPr lang="en-US" sz="1140" dirty="0">
                <a:solidFill>
                  <a:srgbClr val="5B7190"/>
                </a:solidFill>
                <a:latin typeface="Aptos" pitchFamily="34" charset="0"/>
                <a:ea typeface="Aptos" pitchFamily="34" charset="-122"/>
                <a:cs typeface="Aptos" pitchFamily="34" charset="-120"/>
              </a:rPr>
              <a:t>Same repository, prompt, provider and acceptance criteria vs alternative tools.</a:t>
            </a:r>
            <a:endParaRPr lang="en-US" sz="1140" dirty="0"/>
          </a:p>
        </p:txBody>
      </p:sp>
      <p:sp>
        <p:nvSpPr>
          <p:cNvPr id="21" name="Shape 19"/>
          <p:cNvSpPr/>
          <p:nvPr/>
        </p:nvSpPr>
        <p:spPr>
          <a:xfrm>
            <a:off x="585216" y="3602736"/>
            <a:ext cx="11000232" cy="914400"/>
          </a:xfrm>
          <a:prstGeom prst="roundRect">
            <a:avLst>
              <a:gd name="adj" fmla="val 11000"/>
            </a:avLst>
          </a:prstGeom>
          <a:solidFill>
            <a:srgbClr val="FFFFFF"/>
          </a:solidFill>
          <a:ln w="9525">
            <a:solidFill>
              <a:srgbClr val="D8E5F2"/>
            </a:solidFill>
            <a:prstDash val="solid"/>
          </a:ln>
        </p:spPr>
      </p:sp>
      <p:sp>
        <p:nvSpPr>
          <p:cNvPr id="22" name="Shape 20"/>
          <p:cNvSpPr/>
          <p:nvPr/>
        </p:nvSpPr>
        <p:spPr>
          <a:xfrm>
            <a:off x="832104" y="3840480"/>
            <a:ext cx="566928" cy="265176"/>
          </a:xfrm>
          <a:prstGeom prst="roundRect">
            <a:avLst>
              <a:gd name="adj" fmla="val 37931"/>
            </a:avLst>
          </a:prstGeom>
          <a:solidFill>
            <a:srgbClr val="1767C7"/>
          </a:solidFill>
          <a:ln w="9525">
            <a:solidFill>
              <a:srgbClr val="1767C7"/>
            </a:solidFill>
            <a:prstDash val="solid"/>
          </a:ln>
        </p:spPr>
      </p:sp>
      <p:sp>
        <p:nvSpPr>
          <p:cNvPr id="23" name="Text 21"/>
          <p:cNvSpPr/>
          <p:nvPr/>
        </p:nvSpPr>
        <p:spPr>
          <a:xfrm>
            <a:off x="905256" y="3849624"/>
            <a:ext cx="420624" cy="22860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03</a:t>
            </a:r>
            <a:endParaRPr lang="en-US" sz="860" dirty="0"/>
          </a:p>
        </p:txBody>
      </p:sp>
      <p:sp>
        <p:nvSpPr>
          <p:cNvPr id="24" name="Text 22"/>
          <p:cNvSpPr/>
          <p:nvPr/>
        </p:nvSpPr>
        <p:spPr>
          <a:xfrm>
            <a:off x="1627632" y="3758184"/>
            <a:ext cx="3712464" cy="329184"/>
          </a:xfrm>
          <a:prstGeom prst="rect">
            <a:avLst/>
          </a:prstGeom>
          <a:noFill/>
          <a:ln/>
        </p:spPr>
        <p:txBody>
          <a:bodyPr wrap="square" lIns="0" tIns="0" rIns="0" bIns="0" rtlCol="0" anchor="ctr">
            <a:normAutofit/>
          </a:bodyPr>
          <a:lstStyle/>
          <a:p>
            <a:pPr algn="l" indent="0" marL="0">
              <a:buNone/>
            </a:pPr>
            <a:r>
              <a:rPr lang="en-US" sz="1470" b="1" dirty="0">
                <a:solidFill>
                  <a:srgbClr val="0C2B4E"/>
                </a:solidFill>
                <a:latin typeface="Aptos" pitchFamily="34" charset="0"/>
                <a:ea typeface="Aptos" pitchFamily="34" charset="-122"/>
                <a:cs typeface="Aptos" pitchFamily="34" charset="-120"/>
              </a:rPr>
              <a:t>Tighten security posture</a:t>
            </a:r>
            <a:endParaRPr lang="en-US" sz="1470" dirty="0"/>
          </a:p>
        </p:txBody>
      </p:sp>
      <p:sp>
        <p:nvSpPr>
          <p:cNvPr id="25" name="Text 23"/>
          <p:cNvSpPr/>
          <p:nvPr/>
        </p:nvSpPr>
        <p:spPr>
          <a:xfrm>
            <a:off x="5285232" y="3749040"/>
            <a:ext cx="5870448" cy="484632"/>
          </a:xfrm>
          <a:prstGeom prst="rect">
            <a:avLst/>
          </a:prstGeom>
          <a:noFill/>
          <a:ln/>
        </p:spPr>
        <p:txBody>
          <a:bodyPr wrap="square" lIns="0" tIns="0" rIns="0" bIns="0" rtlCol="0" anchor="ctr">
            <a:normAutofit/>
          </a:bodyPr>
          <a:lstStyle/>
          <a:p>
            <a:pPr algn="l" indent="0" marL="0">
              <a:buNone/>
            </a:pPr>
            <a:r>
              <a:rPr lang="en-US" sz="1140" dirty="0">
                <a:solidFill>
                  <a:srgbClr val="5B7190"/>
                </a:solidFill>
                <a:latin typeface="Aptos" pitchFamily="34" charset="0"/>
                <a:ea typeface="Aptos" pitchFamily="34" charset="-122"/>
                <a:cs typeface="Aptos" pitchFamily="34" charset="-120"/>
              </a:rPr>
              <a:t>Permission abuse testing, secrets/log review and destructive-action timeouts.</a:t>
            </a:r>
            <a:endParaRPr lang="en-US" sz="1140" dirty="0"/>
          </a:p>
        </p:txBody>
      </p:sp>
      <p:sp>
        <p:nvSpPr>
          <p:cNvPr id="26" name="Shape 24"/>
          <p:cNvSpPr/>
          <p:nvPr/>
        </p:nvSpPr>
        <p:spPr>
          <a:xfrm>
            <a:off x="585216" y="4654296"/>
            <a:ext cx="11000232" cy="914400"/>
          </a:xfrm>
          <a:prstGeom prst="roundRect">
            <a:avLst>
              <a:gd name="adj" fmla="val 11000"/>
            </a:avLst>
          </a:prstGeom>
          <a:solidFill>
            <a:srgbClr val="F5F9FE"/>
          </a:solidFill>
          <a:ln w="9525">
            <a:solidFill>
              <a:srgbClr val="D8E5F2"/>
            </a:solidFill>
            <a:prstDash val="solid"/>
          </a:ln>
        </p:spPr>
      </p:sp>
      <p:sp>
        <p:nvSpPr>
          <p:cNvPr id="27" name="Shape 25"/>
          <p:cNvSpPr/>
          <p:nvPr/>
        </p:nvSpPr>
        <p:spPr>
          <a:xfrm>
            <a:off x="832104" y="4892040"/>
            <a:ext cx="566928" cy="265176"/>
          </a:xfrm>
          <a:prstGeom prst="roundRect">
            <a:avLst>
              <a:gd name="adj" fmla="val 37931"/>
            </a:avLst>
          </a:prstGeom>
          <a:solidFill>
            <a:srgbClr val="1767C7"/>
          </a:solidFill>
          <a:ln w="9525">
            <a:solidFill>
              <a:srgbClr val="1767C7"/>
            </a:solidFill>
            <a:prstDash val="solid"/>
          </a:ln>
        </p:spPr>
      </p:sp>
      <p:sp>
        <p:nvSpPr>
          <p:cNvPr id="28" name="Text 26"/>
          <p:cNvSpPr/>
          <p:nvPr/>
        </p:nvSpPr>
        <p:spPr>
          <a:xfrm>
            <a:off x="905256" y="4901184"/>
            <a:ext cx="420624" cy="228600"/>
          </a:xfrm>
          <a:prstGeom prst="rect">
            <a:avLst/>
          </a:prstGeom>
          <a:noFill/>
          <a:ln/>
        </p:spPr>
        <p:txBody>
          <a:bodyPr wrap="square" lIns="0" tIns="0" rIns="0" bIns="0" rtlCol="0" anchor="ctr">
            <a:normAutofit/>
          </a:bodyPr>
          <a:lstStyle/>
          <a:p>
            <a:pPr algn="ctr" indent="0" marL="0">
              <a:buNone/>
            </a:pPr>
            <a:r>
              <a:rPr lang="en-US" sz="860" b="1" dirty="0">
                <a:solidFill>
                  <a:srgbClr val="FFFFFF"/>
                </a:solidFill>
                <a:latin typeface="Aptos" pitchFamily="34" charset="0"/>
                <a:ea typeface="Aptos" pitchFamily="34" charset="-122"/>
                <a:cs typeface="Aptos" pitchFamily="34" charset="-120"/>
              </a:rPr>
              <a:t>04</a:t>
            </a:r>
            <a:endParaRPr lang="en-US" sz="860" dirty="0"/>
          </a:p>
        </p:txBody>
      </p:sp>
      <p:sp>
        <p:nvSpPr>
          <p:cNvPr id="29" name="Text 27"/>
          <p:cNvSpPr/>
          <p:nvPr/>
        </p:nvSpPr>
        <p:spPr>
          <a:xfrm>
            <a:off x="1627632" y="4809744"/>
            <a:ext cx="3712464" cy="329184"/>
          </a:xfrm>
          <a:prstGeom prst="rect">
            <a:avLst/>
          </a:prstGeom>
          <a:noFill/>
          <a:ln/>
        </p:spPr>
        <p:txBody>
          <a:bodyPr wrap="square" lIns="0" tIns="0" rIns="0" bIns="0" rtlCol="0" anchor="ctr">
            <a:normAutofit/>
          </a:bodyPr>
          <a:lstStyle/>
          <a:p>
            <a:pPr algn="l" indent="0" marL="0">
              <a:buNone/>
            </a:pPr>
            <a:r>
              <a:rPr lang="en-US" sz="1470" b="1" dirty="0">
                <a:solidFill>
                  <a:srgbClr val="0C2B4E"/>
                </a:solidFill>
                <a:latin typeface="Aptos" pitchFamily="34" charset="0"/>
                <a:ea typeface="Aptos" pitchFamily="34" charset="-122"/>
                <a:cs typeface="Aptos" pitchFamily="34" charset="-120"/>
              </a:rPr>
              <a:t>Close operational gaps</a:t>
            </a:r>
            <a:endParaRPr lang="en-US" sz="1470" dirty="0"/>
          </a:p>
        </p:txBody>
      </p:sp>
      <p:sp>
        <p:nvSpPr>
          <p:cNvPr id="30" name="Text 28"/>
          <p:cNvSpPr/>
          <p:nvPr/>
        </p:nvSpPr>
        <p:spPr>
          <a:xfrm>
            <a:off x="5285232" y="4800600"/>
            <a:ext cx="5870448" cy="484632"/>
          </a:xfrm>
          <a:prstGeom prst="rect">
            <a:avLst/>
          </a:prstGeom>
          <a:noFill/>
          <a:ln/>
        </p:spPr>
        <p:txBody>
          <a:bodyPr wrap="square" lIns="0" tIns="0" rIns="0" bIns="0" rtlCol="0" anchor="ctr">
            <a:normAutofit/>
          </a:bodyPr>
          <a:lstStyle/>
          <a:p>
            <a:pPr algn="l" indent="0" marL="0">
              <a:buNone/>
            </a:pPr>
            <a:r>
              <a:rPr lang="en-US" sz="1140" dirty="0">
                <a:solidFill>
                  <a:srgbClr val="5B7190"/>
                </a:solidFill>
                <a:latin typeface="Aptos" pitchFamily="34" charset="0"/>
                <a:ea typeface="Aptos" pitchFamily="34" charset="-122"/>
                <a:cs typeface="Aptos" pitchFamily="34" charset="-120"/>
              </a:rPr>
              <a:t>OS restart recovery, full PTY, cross-process coordination, Git merge workflow.</a:t>
            </a:r>
            <a:endParaRPr lang="en-US" sz="1140" dirty="0"/>
          </a:p>
        </p:txBody>
      </p:sp>
      <p:sp>
        <p:nvSpPr>
          <p:cNvPr id="31" name="Shape 29"/>
          <p:cNvSpPr/>
          <p:nvPr/>
        </p:nvSpPr>
        <p:spPr>
          <a:xfrm>
            <a:off x="530352" y="5897880"/>
            <a:ext cx="11137392" cy="484632"/>
          </a:xfrm>
          <a:prstGeom prst="roundRect">
            <a:avLst>
              <a:gd name="adj" fmla="val 20755"/>
            </a:avLst>
          </a:prstGeom>
          <a:solidFill>
            <a:srgbClr val="EDF5FD"/>
          </a:solidFill>
          <a:ln w="9525">
            <a:solidFill>
              <a:srgbClr val="EDF5FD"/>
            </a:solidFill>
            <a:prstDash val="solid"/>
          </a:ln>
        </p:spPr>
      </p:sp>
      <p:sp>
        <p:nvSpPr>
          <p:cNvPr id="32" name="Text 30"/>
          <p:cNvSpPr/>
          <p:nvPr/>
        </p:nvSpPr>
        <p:spPr>
          <a:xfrm>
            <a:off x="713232" y="5984748"/>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DECISION</a:t>
            </a:r>
            <a:endParaRPr lang="en-US" sz="1110" dirty="0"/>
          </a:p>
        </p:txBody>
      </p:sp>
      <p:sp>
        <p:nvSpPr>
          <p:cNvPr id="33" name="Text 31"/>
          <p:cNvSpPr/>
          <p:nvPr/>
        </p:nvSpPr>
        <p:spPr>
          <a:xfrm>
            <a:off x="2423160" y="5948172"/>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Gate wider rollout on verified success rate, safety, latency, token cost and repeatability.</a:t>
            </a:r>
            <a:endParaRPr lang="en-US" sz="109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IMPLEMENTATION REFERENCE</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Appendix A · Representative API surface</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Selected Spring REST and SSE entry points; not an exhaustive OpenAPI specification.</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APPENDIX</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27</a:t>
            </a:r>
            <a:endParaRPr lang="en-US" sz="900" dirty="0"/>
          </a:p>
        </p:txBody>
      </p:sp>
      <p:sp>
        <p:nvSpPr>
          <p:cNvPr id="11" name="Shape 9"/>
          <p:cNvSpPr/>
          <p:nvPr/>
        </p:nvSpPr>
        <p:spPr>
          <a:xfrm>
            <a:off x="539496" y="1435608"/>
            <a:ext cx="11109960" cy="466344"/>
          </a:xfrm>
          <a:prstGeom prst="roundRect">
            <a:avLst>
              <a:gd name="adj" fmla="val 21569"/>
            </a:avLst>
          </a:prstGeom>
          <a:solidFill>
            <a:srgbClr val="FFFFFF"/>
          </a:solidFill>
          <a:ln w="9525">
            <a:solidFill>
              <a:srgbClr val="D8E5F2"/>
            </a:solidFill>
            <a:prstDash val="solid"/>
          </a:ln>
        </p:spPr>
      </p:sp>
      <p:sp>
        <p:nvSpPr>
          <p:cNvPr id="12" name="Text 10"/>
          <p:cNvSpPr/>
          <p:nvPr/>
        </p:nvSpPr>
        <p:spPr>
          <a:xfrm>
            <a:off x="731520" y="1527048"/>
            <a:ext cx="1124712" cy="237744"/>
          </a:xfrm>
          <a:prstGeom prst="rect">
            <a:avLst/>
          </a:prstGeom>
          <a:noFill/>
          <a:ln/>
        </p:spPr>
        <p:txBody>
          <a:bodyPr wrap="square" lIns="0" tIns="0" rIns="0" bIns="0" rtlCol="0" anchor="ctr">
            <a:normAutofit/>
          </a:bodyPr>
          <a:lstStyle/>
          <a:p>
            <a:pPr algn="l" indent="0" marL="0">
              <a:buNone/>
            </a:pPr>
            <a:r>
              <a:rPr lang="en-US" sz="1080" b="1" dirty="0">
                <a:solidFill>
                  <a:srgbClr val="1767C7"/>
                </a:solidFill>
                <a:latin typeface="Aptos" pitchFamily="34" charset="0"/>
                <a:ea typeface="Aptos" pitchFamily="34" charset="-122"/>
                <a:cs typeface="Aptos" pitchFamily="34" charset="-120"/>
              </a:rPr>
              <a:t>Chat</a:t>
            </a:r>
            <a:endParaRPr lang="en-US" sz="1080" dirty="0"/>
          </a:p>
        </p:txBody>
      </p:sp>
      <p:sp>
        <p:nvSpPr>
          <p:cNvPr id="13" name="Text 11"/>
          <p:cNvSpPr/>
          <p:nvPr/>
        </p:nvSpPr>
        <p:spPr>
          <a:xfrm>
            <a:off x="1965960" y="1527048"/>
            <a:ext cx="4636008" cy="237744"/>
          </a:xfrm>
          <a:prstGeom prst="rect">
            <a:avLst/>
          </a:prstGeom>
          <a:noFill/>
          <a:ln/>
        </p:spPr>
        <p:txBody>
          <a:bodyPr wrap="square" lIns="0" tIns="0" rIns="0" bIns="0" rtlCol="0" anchor="ctr">
            <a:normAutofit/>
          </a:bodyPr>
          <a:lstStyle/>
          <a:p>
            <a:pPr algn="l" indent="0" marL="0">
              <a:buNone/>
            </a:pPr>
            <a:r>
              <a:rPr lang="en-US" sz="1010" b="1" dirty="0">
                <a:solidFill>
                  <a:srgbClr val="0C2B4E"/>
                </a:solidFill>
                <a:latin typeface="Aptos" pitchFamily="34" charset="0"/>
                <a:ea typeface="Aptos" pitchFamily="34" charset="-122"/>
                <a:cs typeface="Aptos" pitchFamily="34" charset="-120"/>
              </a:rPr>
              <a:t>ChatController</a:t>
            </a:r>
            <a:endParaRPr lang="en-US" sz="1010" dirty="0"/>
          </a:p>
        </p:txBody>
      </p:sp>
      <p:sp>
        <p:nvSpPr>
          <p:cNvPr id="14" name="Text 12"/>
          <p:cNvSpPr/>
          <p:nvPr/>
        </p:nvSpPr>
        <p:spPr>
          <a:xfrm>
            <a:off x="6656832" y="1508760"/>
            <a:ext cx="4681728" cy="274320"/>
          </a:xfrm>
          <a:prstGeom prst="rect">
            <a:avLst/>
          </a:prstGeom>
          <a:noFill/>
          <a:ln/>
        </p:spPr>
        <p:txBody>
          <a:bodyPr wrap="square" lIns="0" tIns="0" rIns="0" bIns="0" rtlCol="0" anchor="ctr">
            <a:normAutofit/>
          </a:bodyPr>
          <a:lstStyle/>
          <a:p>
            <a:pPr algn="l" indent="0" marL="0">
              <a:buNone/>
            </a:pPr>
            <a:r>
              <a:rPr lang="en-US" sz="1010" dirty="0">
                <a:solidFill>
                  <a:srgbClr val="5B7190"/>
                </a:solidFill>
                <a:latin typeface="Aptos" pitchFamily="34" charset="0"/>
                <a:ea typeface="Aptos" pitchFamily="34" charset="-122"/>
                <a:cs typeface="Aptos" pitchFamily="34" charset="-120"/>
              </a:rPr>
              <a:t>Streaming chat request / history flow</a:t>
            </a:r>
            <a:endParaRPr lang="en-US" sz="1010" dirty="0"/>
          </a:p>
        </p:txBody>
      </p:sp>
      <p:sp>
        <p:nvSpPr>
          <p:cNvPr id="15" name="Shape 13"/>
          <p:cNvSpPr/>
          <p:nvPr/>
        </p:nvSpPr>
        <p:spPr>
          <a:xfrm>
            <a:off x="539496" y="1965960"/>
            <a:ext cx="11109960" cy="466344"/>
          </a:xfrm>
          <a:prstGeom prst="roundRect">
            <a:avLst>
              <a:gd name="adj" fmla="val 21569"/>
            </a:avLst>
          </a:prstGeom>
          <a:solidFill>
            <a:srgbClr val="F5F9FE"/>
          </a:solidFill>
          <a:ln w="9525">
            <a:solidFill>
              <a:srgbClr val="F5F9FE"/>
            </a:solidFill>
            <a:prstDash val="solid"/>
          </a:ln>
        </p:spPr>
      </p:sp>
      <p:sp>
        <p:nvSpPr>
          <p:cNvPr id="16" name="Text 14"/>
          <p:cNvSpPr/>
          <p:nvPr/>
        </p:nvSpPr>
        <p:spPr>
          <a:xfrm>
            <a:off x="731520" y="2057400"/>
            <a:ext cx="1124712" cy="237744"/>
          </a:xfrm>
          <a:prstGeom prst="rect">
            <a:avLst/>
          </a:prstGeom>
          <a:noFill/>
          <a:ln/>
        </p:spPr>
        <p:txBody>
          <a:bodyPr wrap="square" lIns="0" tIns="0" rIns="0" bIns="0" rtlCol="0" anchor="ctr">
            <a:normAutofit/>
          </a:bodyPr>
          <a:lstStyle/>
          <a:p>
            <a:pPr algn="l" indent="0" marL="0">
              <a:buNone/>
            </a:pPr>
            <a:r>
              <a:rPr lang="en-US" sz="1080" b="1" dirty="0">
                <a:solidFill>
                  <a:srgbClr val="1767C7"/>
                </a:solidFill>
                <a:latin typeface="Aptos" pitchFamily="34" charset="0"/>
                <a:ea typeface="Aptos" pitchFamily="34" charset="-122"/>
                <a:cs typeface="Aptos" pitchFamily="34" charset="-120"/>
              </a:rPr>
              <a:t>Agent</a:t>
            </a:r>
            <a:endParaRPr lang="en-US" sz="1080" dirty="0"/>
          </a:p>
        </p:txBody>
      </p:sp>
      <p:sp>
        <p:nvSpPr>
          <p:cNvPr id="17" name="Text 15"/>
          <p:cNvSpPr/>
          <p:nvPr/>
        </p:nvSpPr>
        <p:spPr>
          <a:xfrm>
            <a:off x="1965960" y="2057400"/>
            <a:ext cx="4636008" cy="237744"/>
          </a:xfrm>
          <a:prstGeom prst="rect">
            <a:avLst/>
          </a:prstGeom>
          <a:noFill/>
          <a:ln/>
        </p:spPr>
        <p:txBody>
          <a:bodyPr wrap="square" lIns="0" tIns="0" rIns="0" bIns="0" rtlCol="0" anchor="ctr">
            <a:normAutofit/>
          </a:bodyPr>
          <a:lstStyle/>
          <a:p>
            <a:pPr algn="l" indent="0" marL="0">
              <a:buNone/>
            </a:pPr>
            <a:r>
              <a:rPr lang="en-US" sz="1010" b="1" dirty="0">
                <a:solidFill>
                  <a:srgbClr val="0C2B4E"/>
                </a:solidFill>
                <a:latin typeface="Aptos" pitchFamily="34" charset="0"/>
                <a:ea typeface="Aptos" pitchFamily="34" charset="-122"/>
                <a:cs typeface="Aptos" pitchFamily="34" charset="-120"/>
              </a:rPr>
              <a:t>/api/agent/runs/{id}</a:t>
            </a:r>
            <a:endParaRPr lang="en-US" sz="1010" dirty="0"/>
          </a:p>
        </p:txBody>
      </p:sp>
      <p:sp>
        <p:nvSpPr>
          <p:cNvPr id="18" name="Text 16"/>
          <p:cNvSpPr/>
          <p:nvPr/>
        </p:nvSpPr>
        <p:spPr>
          <a:xfrm>
            <a:off x="6656832" y="2039112"/>
            <a:ext cx="4681728" cy="274320"/>
          </a:xfrm>
          <a:prstGeom prst="rect">
            <a:avLst/>
          </a:prstGeom>
          <a:noFill/>
          <a:ln/>
        </p:spPr>
        <p:txBody>
          <a:bodyPr wrap="square" lIns="0" tIns="0" rIns="0" bIns="0" rtlCol="0" anchor="ctr">
            <a:normAutofit/>
          </a:bodyPr>
          <a:lstStyle/>
          <a:p>
            <a:pPr algn="l" indent="0" marL="0">
              <a:buNone/>
            </a:pPr>
            <a:r>
              <a:rPr lang="en-US" sz="1010" dirty="0">
                <a:solidFill>
                  <a:srgbClr val="5B7190"/>
                </a:solidFill>
                <a:latin typeface="Aptos" pitchFamily="34" charset="0"/>
                <a:ea typeface="Aptos" pitchFamily="34" charset="-122"/>
                <a:cs typeface="Aptos" pitchFamily="34" charset="-120"/>
              </a:rPr>
              <a:t>Status, cancellation, plan edit, completion report</a:t>
            </a:r>
            <a:endParaRPr lang="en-US" sz="1010" dirty="0"/>
          </a:p>
        </p:txBody>
      </p:sp>
      <p:sp>
        <p:nvSpPr>
          <p:cNvPr id="19" name="Shape 17"/>
          <p:cNvSpPr/>
          <p:nvPr/>
        </p:nvSpPr>
        <p:spPr>
          <a:xfrm>
            <a:off x="539496" y="2496312"/>
            <a:ext cx="11109960" cy="466344"/>
          </a:xfrm>
          <a:prstGeom prst="roundRect">
            <a:avLst>
              <a:gd name="adj" fmla="val 21569"/>
            </a:avLst>
          </a:prstGeom>
          <a:solidFill>
            <a:srgbClr val="FFFFFF"/>
          </a:solidFill>
          <a:ln w="9525">
            <a:solidFill>
              <a:srgbClr val="D8E5F2"/>
            </a:solidFill>
            <a:prstDash val="solid"/>
          </a:ln>
        </p:spPr>
      </p:sp>
      <p:sp>
        <p:nvSpPr>
          <p:cNvPr id="20" name="Text 18"/>
          <p:cNvSpPr/>
          <p:nvPr/>
        </p:nvSpPr>
        <p:spPr>
          <a:xfrm>
            <a:off x="731520" y="2587752"/>
            <a:ext cx="1124712" cy="237744"/>
          </a:xfrm>
          <a:prstGeom prst="rect">
            <a:avLst/>
          </a:prstGeom>
          <a:noFill/>
          <a:ln/>
        </p:spPr>
        <p:txBody>
          <a:bodyPr wrap="square" lIns="0" tIns="0" rIns="0" bIns="0" rtlCol="0" anchor="ctr">
            <a:normAutofit/>
          </a:bodyPr>
          <a:lstStyle/>
          <a:p>
            <a:pPr algn="l" indent="0" marL="0">
              <a:buNone/>
            </a:pPr>
            <a:r>
              <a:rPr lang="en-US" sz="1080" b="1" dirty="0">
                <a:solidFill>
                  <a:srgbClr val="1767C7"/>
                </a:solidFill>
                <a:latin typeface="Aptos" pitchFamily="34" charset="0"/>
                <a:ea typeface="Aptos" pitchFamily="34" charset="-122"/>
                <a:cs typeface="Aptos" pitchFamily="34" charset="-120"/>
              </a:rPr>
              <a:t>Terminal</a:t>
            </a:r>
            <a:endParaRPr lang="en-US" sz="1080" dirty="0"/>
          </a:p>
        </p:txBody>
      </p:sp>
      <p:sp>
        <p:nvSpPr>
          <p:cNvPr id="21" name="Text 19"/>
          <p:cNvSpPr/>
          <p:nvPr/>
        </p:nvSpPr>
        <p:spPr>
          <a:xfrm>
            <a:off x="1965960" y="2587752"/>
            <a:ext cx="4636008" cy="237744"/>
          </a:xfrm>
          <a:prstGeom prst="rect">
            <a:avLst/>
          </a:prstGeom>
          <a:noFill/>
          <a:ln/>
        </p:spPr>
        <p:txBody>
          <a:bodyPr wrap="square" lIns="0" tIns="0" rIns="0" bIns="0" rtlCol="0" anchor="ctr">
            <a:normAutofit/>
          </a:bodyPr>
          <a:lstStyle/>
          <a:p>
            <a:pPr algn="l" indent="0" marL="0">
              <a:buNone/>
            </a:pPr>
            <a:r>
              <a:rPr lang="en-US" sz="1010" b="1" dirty="0">
                <a:solidFill>
                  <a:srgbClr val="0C2B4E"/>
                </a:solidFill>
                <a:latin typeface="Aptos" pitchFamily="34" charset="0"/>
                <a:ea typeface="Aptos" pitchFamily="34" charset="-122"/>
                <a:cs typeface="Aptos" pitchFamily="34" charset="-120"/>
              </a:rPr>
              <a:t>POST /api/terminal/sessions</a:t>
            </a:r>
            <a:endParaRPr lang="en-US" sz="1010" dirty="0"/>
          </a:p>
        </p:txBody>
      </p:sp>
      <p:sp>
        <p:nvSpPr>
          <p:cNvPr id="22" name="Text 20"/>
          <p:cNvSpPr/>
          <p:nvPr/>
        </p:nvSpPr>
        <p:spPr>
          <a:xfrm>
            <a:off x="6656832" y="2569464"/>
            <a:ext cx="4681728" cy="274320"/>
          </a:xfrm>
          <a:prstGeom prst="rect">
            <a:avLst/>
          </a:prstGeom>
          <a:noFill/>
          <a:ln/>
        </p:spPr>
        <p:txBody>
          <a:bodyPr wrap="square" lIns="0" tIns="0" rIns="0" bIns="0" rtlCol="0" anchor="ctr">
            <a:normAutofit/>
          </a:bodyPr>
          <a:lstStyle/>
          <a:p>
            <a:pPr algn="l" indent="0" marL="0">
              <a:buNone/>
            </a:pPr>
            <a:r>
              <a:rPr lang="en-US" sz="1010" dirty="0">
                <a:solidFill>
                  <a:srgbClr val="5B7190"/>
                </a:solidFill>
                <a:latin typeface="Aptos" pitchFamily="34" charset="0"/>
                <a:ea typeface="Aptos" pitchFamily="34" charset="-122"/>
                <a:cs typeface="Aptos" pitchFamily="34" charset="-120"/>
              </a:rPr>
              <a:t>Create independent conversation / run</a:t>
            </a:r>
            <a:endParaRPr lang="en-US" sz="1010" dirty="0"/>
          </a:p>
        </p:txBody>
      </p:sp>
      <p:sp>
        <p:nvSpPr>
          <p:cNvPr id="23" name="Shape 21"/>
          <p:cNvSpPr/>
          <p:nvPr/>
        </p:nvSpPr>
        <p:spPr>
          <a:xfrm>
            <a:off x="539496" y="3026664"/>
            <a:ext cx="11109960" cy="466344"/>
          </a:xfrm>
          <a:prstGeom prst="roundRect">
            <a:avLst>
              <a:gd name="adj" fmla="val 21569"/>
            </a:avLst>
          </a:prstGeom>
          <a:solidFill>
            <a:srgbClr val="F5F9FE"/>
          </a:solidFill>
          <a:ln w="9525">
            <a:solidFill>
              <a:srgbClr val="F5F9FE"/>
            </a:solidFill>
            <a:prstDash val="solid"/>
          </a:ln>
        </p:spPr>
      </p:sp>
      <p:sp>
        <p:nvSpPr>
          <p:cNvPr id="24" name="Text 22"/>
          <p:cNvSpPr/>
          <p:nvPr/>
        </p:nvSpPr>
        <p:spPr>
          <a:xfrm>
            <a:off x="731520" y="3118104"/>
            <a:ext cx="1124712" cy="237744"/>
          </a:xfrm>
          <a:prstGeom prst="rect">
            <a:avLst/>
          </a:prstGeom>
          <a:noFill/>
          <a:ln/>
        </p:spPr>
        <p:txBody>
          <a:bodyPr wrap="square" lIns="0" tIns="0" rIns="0" bIns="0" rtlCol="0" anchor="ctr">
            <a:normAutofit/>
          </a:bodyPr>
          <a:lstStyle/>
          <a:p>
            <a:pPr algn="l" indent="0" marL="0">
              <a:buNone/>
            </a:pPr>
            <a:r>
              <a:rPr lang="en-US" sz="1080" b="1" dirty="0">
                <a:solidFill>
                  <a:srgbClr val="1767C7"/>
                </a:solidFill>
                <a:latin typeface="Aptos" pitchFamily="34" charset="0"/>
                <a:ea typeface="Aptos" pitchFamily="34" charset="-122"/>
                <a:cs typeface="Aptos" pitchFamily="34" charset="-120"/>
              </a:rPr>
              <a:t>Terminal</a:t>
            </a:r>
            <a:endParaRPr lang="en-US" sz="1080" dirty="0"/>
          </a:p>
        </p:txBody>
      </p:sp>
      <p:sp>
        <p:nvSpPr>
          <p:cNvPr id="25" name="Text 23"/>
          <p:cNvSpPr/>
          <p:nvPr/>
        </p:nvSpPr>
        <p:spPr>
          <a:xfrm>
            <a:off x="1965960" y="3118104"/>
            <a:ext cx="4636008" cy="237744"/>
          </a:xfrm>
          <a:prstGeom prst="rect">
            <a:avLst/>
          </a:prstGeom>
          <a:noFill/>
          <a:ln/>
        </p:spPr>
        <p:txBody>
          <a:bodyPr wrap="square" lIns="0" tIns="0" rIns="0" bIns="0" rtlCol="0" anchor="ctr">
            <a:normAutofit/>
          </a:bodyPr>
          <a:lstStyle/>
          <a:p>
            <a:pPr algn="l" indent="0" marL="0">
              <a:buNone/>
            </a:pPr>
            <a:r>
              <a:rPr lang="en-US" sz="1010" b="1" dirty="0">
                <a:solidFill>
                  <a:srgbClr val="0C2B4E"/>
                </a:solidFill>
                <a:latin typeface="Aptos" pitchFamily="34" charset="0"/>
                <a:ea typeface="Aptos" pitchFamily="34" charset="-122"/>
                <a:cs typeface="Aptos" pitchFamily="34" charset="-120"/>
              </a:rPr>
              <a:t>GET /api/terminal/sessions/{id}/events</a:t>
            </a:r>
            <a:endParaRPr lang="en-US" sz="1010" dirty="0"/>
          </a:p>
        </p:txBody>
      </p:sp>
      <p:sp>
        <p:nvSpPr>
          <p:cNvPr id="26" name="Text 24"/>
          <p:cNvSpPr/>
          <p:nvPr/>
        </p:nvSpPr>
        <p:spPr>
          <a:xfrm>
            <a:off x="6656832" y="3099816"/>
            <a:ext cx="4681728" cy="274320"/>
          </a:xfrm>
          <a:prstGeom prst="rect">
            <a:avLst/>
          </a:prstGeom>
          <a:noFill/>
          <a:ln/>
        </p:spPr>
        <p:txBody>
          <a:bodyPr wrap="square" lIns="0" tIns="0" rIns="0" bIns="0" rtlCol="0" anchor="ctr">
            <a:normAutofit/>
          </a:bodyPr>
          <a:lstStyle/>
          <a:p>
            <a:pPr algn="l" indent="0" marL="0">
              <a:buNone/>
            </a:pPr>
            <a:r>
              <a:rPr lang="en-US" sz="1010" dirty="0">
                <a:solidFill>
                  <a:srgbClr val="5B7190"/>
                </a:solidFill>
                <a:latin typeface="Aptos" pitchFamily="34" charset="0"/>
                <a:ea typeface="Aptos" pitchFamily="34" charset="-122"/>
                <a:cs typeface="Aptos" pitchFamily="34" charset="-120"/>
              </a:rPr>
              <a:t>SSE event stream</a:t>
            </a:r>
            <a:endParaRPr lang="en-US" sz="1010" dirty="0"/>
          </a:p>
        </p:txBody>
      </p:sp>
      <p:sp>
        <p:nvSpPr>
          <p:cNvPr id="27" name="Shape 25"/>
          <p:cNvSpPr/>
          <p:nvPr/>
        </p:nvSpPr>
        <p:spPr>
          <a:xfrm>
            <a:off x="539496" y="3557016"/>
            <a:ext cx="11109960" cy="466344"/>
          </a:xfrm>
          <a:prstGeom prst="roundRect">
            <a:avLst>
              <a:gd name="adj" fmla="val 21569"/>
            </a:avLst>
          </a:prstGeom>
          <a:solidFill>
            <a:srgbClr val="FFFFFF"/>
          </a:solidFill>
          <a:ln w="9525">
            <a:solidFill>
              <a:srgbClr val="D8E5F2"/>
            </a:solidFill>
            <a:prstDash val="solid"/>
          </a:ln>
        </p:spPr>
      </p:sp>
      <p:sp>
        <p:nvSpPr>
          <p:cNvPr id="28" name="Text 26"/>
          <p:cNvSpPr/>
          <p:nvPr/>
        </p:nvSpPr>
        <p:spPr>
          <a:xfrm>
            <a:off x="731520" y="3648456"/>
            <a:ext cx="1124712" cy="237744"/>
          </a:xfrm>
          <a:prstGeom prst="rect">
            <a:avLst/>
          </a:prstGeom>
          <a:noFill/>
          <a:ln/>
        </p:spPr>
        <p:txBody>
          <a:bodyPr wrap="square" lIns="0" tIns="0" rIns="0" bIns="0" rtlCol="0" anchor="ctr">
            <a:normAutofit/>
          </a:bodyPr>
          <a:lstStyle/>
          <a:p>
            <a:pPr algn="l" indent="0" marL="0">
              <a:buNone/>
            </a:pPr>
            <a:r>
              <a:rPr lang="en-US" sz="1080" b="1" dirty="0">
                <a:solidFill>
                  <a:srgbClr val="1767C7"/>
                </a:solidFill>
                <a:latin typeface="Aptos" pitchFamily="34" charset="0"/>
                <a:ea typeface="Aptos" pitchFamily="34" charset="-122"/>
                <a:cs typeface="Aptos" pitchFamily="34" charset="-120"/>
              </a:rPr>
              <a:t>Terminal</a:t>
            </a:r>
            <a:endParaRPr lang="en-US" sz="1080" dirty="0"/>
          </a:p>
        </p:txBody>
      </p:sp>
      <p:sp>
        <p:nvSpPr>
          <p:cNvPr id="29" name="Text 27"/>
          <p:cNvSpPr/>
          <p:nvPr/>
        </p:nvSpPr>
        <p:spPr>
          <a:xfrm>
            <a:off x="1965960" y="3648456"/>
            <a:ext cx="4636008" cy="237744"/>
          </a:xfrm>
          <a:prstGeom prst="rect">
            <a:avLst/>
          </a:prstGeom>
          <a:noFill/>
          <a:ln/>
        </p:spPr>
        <p:txBody>
          <a:bodyPr wrap="square" lIns="0" tIns="0" rIns="0" bIns="0" rtlCol="0" anchor="ctr">
            <a:normAutofit/>
          </a:bodyPr>
          <a:lstStyle/>
          <a:p>
            <a:pPr algn="l" indent="0" marL="0">
              <a:buNone/>
            </a:pPr>
            <a:r>
              <a:rPr lang="en-US" sz="1010" b="1" dirty="0">
                <a:solidFill>
                  <a:srgbClr val="0C2B4E"/>
                </a:solidFill>
                <a:latin typeface="Aptos" pitchFamily="34" charset="0"/>
                <a:ea typeface="Aptos" pitchFamily="34" charset="-122"/>
                <a:cs typeface="Aptos" pitchFamily="34" charset="-120"/>
              </a:rPr>
              <a:t>…/sessions/{id}/message, /answer</a:t>
            </a:r>
            <a:endParaRPr lang="en-US" sz="1010" dirty="0"/>
          </a:p>
        </p:txBody>
      </p:sp>
      <p:sp>
        <p:nvSpPr>
          <p:cNvPr id="30" name="Text 28"/>
          <p:cNvSpPr/>
          <p:nvPr/>
        </p:nvSpPr>
        <p:spPr>
          <a:xfrm>
            <a:off x="6656832" y="3630168"/>
            <a:ext cx="4681728" cy="274320"/>
          </a:xfrm>
          <a:prstGeom prst="rect">
            <a:avLst/>
          </a:prstGeom>
          <a:noFill/>
          <a:ln/>
        </p:spPr>
        <p:txBody>
          <a:bodyPr wrap="square" lIns="0" tIns="0" rIns="0" bIns="0" rtlCol="0" anchor="ctr">
            <a:normAutofit/>
          </a:bodyPr>
          <a:lstStyle/>
          <a:p>
            <a:pPr algn="l" indent="0" marL="0">
              <a:buNone/>
            </a:pPr>
            <a:r>
              <a:rPr lang="en-US" sz="1010" dirty="0">
                <a:solidFill>
                  <a:srgbClr val="5B7190"/>
                </a:solidFill>
                <a:latin typeface="Aptos" pitchFamily="34" charset="0"/>
                <a:ea typeface="Aptos" pitchFamily="34" charset="-122"/>
                <a:cs typeface="Aptos" pitchFamily="34" charset="-120"/>
              </a:rPr>
              <a:t>Follow-up / clarification</a:t>
            </a:r>
            <a:endParaRPr lang="en-US" sz="1010" dirty="0"/>
          </a:p>
        </p:txBody>
      </p:sp>
      <p:sp>
        <p:nvSpPr>
          <p:cNvPr id="31" name="Shape 29"/>
          <p:cNvSpPr/>
          <p:nvPr/>
        </p:nvSpPr>
        <p:spPr>
          <a:xfrm>
            <a:off x="539496" y="4087368"/>
            <a:ext cx="11109960" cy="466344"/>
          </a:xfrm>
          <a:prstGeom prst="roundRect">
            <a:avLst>
              <a:gd name="adj" fmla="val 21569"/>
            </a:avLst>
          </a:prstGeom>
          <a:solidFill>
            <a:srgbClr val="F5F9FE"/>
          </a:solidFill>
          <a:ln w="9525">
            <a:solidFill>
              <a:srgbClr val="F5F9FE"/>
            </a:solidFill>
            <a:prstDash val="solid"/>
          </a:ln>
        </p:spPr>
      </p:sp>
      <p:sp>
        <p:nvSpPr>
          <p:cNvPr id="32" name="Text 30"/>
          <p:cNvSpPr/>
          <p:nvPr/>
        </p:nvSpPr>
        <p:spPr>
          <a:xfrm>
            <a:off x="731520" y="4178808"/>
            <a:ext cx="1124712" cy="237744"/>
          </a:xfrm>
          <a:prstGeom prst="rect">
            <a:avLst/>
          </a:prstGeom>
          <a:noFill/>
          <a:ln/>
        </p:spPr>
        <p:txBody>
          <a:bodyPr wrap="square" lIns="0" tIns="0" rIns="0" bIns="0" rtlCol="0" anchor="ctr">
            <a:normAutofit/>
          </a:bodyPr>
          <a:lstStyle/>
          <a:p>
            <a:pPr algn="l" indent="0" marL="0">
              <a:buNone/>
            </a:pPr>
            <a:r>
              <a:rPr lang="en-US" sz="1080" b="1" dirty="0">
                <a:solidFill>
                  <a:srgbClr val="1767C7"/>
                </a:solidFill>
                <a:latin typeface="Aptos" pitchFamily="34" charset="0"/>
                <a:ea typeface="Aptos" pitchFamily="34" charset="-122"/>
                <a:cs typeface="Aptos" pitchFamily="34" charset="-120"/>
              </a:rPr>
              <a:t>Git</a:t>
            </a:r>
            <a:endParaRPr lang="en-US" sz="1080" dirty="0"/>
          </a:p>
        </p:txBody>
      </p:sp>
      <p:sp>
        <p:nvSpPr>
          <p:cNvPr id="33" name="Text 31"/>
          <p:cNvSpPr/>
          <p:nvPr/>
        </p:nvSpPr>
        <p:spPr>
          <a:xfrm>
            <a:off x="1965960" y="4178808"/>
            <a:ext cx="4636008" cy="237744"/>
          </a:xfrm>
          <a:prstGeom prst="rect">
            <a:avLst/>
          </a:prstGeom>
          <a:noFill/>
          <a:ln/>
        </p:spPr>
        <p:txBody>
          <a:bodyPr wrap="square" lIns="0" tIns="0" rIns="0" bIns="0" rtlCol="0" anchor="ctr">
            <a:normAutofit/>
          </a:bodyPr>
          <a:lstStyle/>
          <a:p>
            <a:pPr algn="l" indent="0" marL="0">
              <a:buNone/>
            </a:pPr>
            <a:r>
              <a:rPr lang="en-US" sz="1010" b="1" dirty="0">
                <a:solidFill>
                  <a:srgbClr val="0C2B4E"/>
                </a:solidFill>
                <a:latin typeface="Aptos" pitchFamily="34" charset="0"/>
                <a:ea typeface="Aptos" pitchFamily="34" charset="-122"/>
                <a:cs typeface="Aptos" pitchFamily="34" charset="-120"/>
              </a:rPr>
              <a:t>/api/terminal/repositories, /git/branch, /git/worktree</a:t>
            </a:r>
            <a:endParaRPr lang="en-US" sz="1010" dirty="0"/>
          </a:p>
        </p:txBody>
      </p:sp>
      <p:sp>
        <p:nvSpPr>
          <p:cNvPr id="34" name="Text 32"/>
          <p:cNvSpPr/>
          <p:nvPr/>
        </p:nvSpPr>
        <p:spPr>
          <a:xfrm>
            <a:off x="6656832" y="4160520"/>
            <a:ext cx="4681728" cy="274320"/>
          </a:xfrm>
          <a:prstGeom prst="rect">
            <a:avLst/>
          </a:prstGeom>
          <a:noFill/>
          <a:ln/>
        </p:spPr>
        <p:txBody>
          <a:bodyPr wrap="square" lIns="0" tIns="0" rIns="0" bIns="0" rtlCol="0" anchor="ctr">
            <a:normAutofit/>
          </a:bodyPr>
          <a:lstStyle/>
          <a:p>
            <a:pPr algn="l" indent="0" marL="0">
              <a:buNone/>
            </a:pPr>
            <a:r>
              <a:rPr lang="en-US" sz="1010" dirty="0">
                <a:solidFill>
                  <a:srgbClr val="5B7190"/>
                </a:solidFill>
                <a:latin typeface="Aptos" pitchFamily="34" charset="0"/>
                <a:ea typeface="Aptos" pitchFamily="34" charset="-122"/>
                <a:cs typeface="Aptos" pitchFamily="34" charset="-120"/>
              </a:rPr>
              <a:t>Exact-repository operations</a:t>
            </a:r>
            <a:endParaRPr lang="en-US" sz="1010" dirty="0"/>
          </a:p>
        </p:txBody>
      </p:sp>
      <p:sp>
        <p:nvSpPr>
          <p:cNvPr id="35" name="Shape 33"/>
          <p:cNvSpPr/>
          <p:nvPr/>
        </p:nvSpPr>
        <p:spPr>
          <a:xfrm>
            <a:off x="539496" y="4617720"/>
            <a:ext cx="11109960" cy="466344"/>
          </a:xfrm>
          <a:prstGeom prst="roundRect">
            <a:avLst>
              <a:gd name="adj" fmla="val 21569"/>
            </a:avLst>
          </a:prstGeom>
          <a:solidFill>
            <a:srgbClr val="FFFFFF"/>
          </a:solidFill>
          <a:ln w="9525">
            <a:solidFill>
              <a:srgbClr val="D8E5F2"/>
            </a:solidFill>
            <a:prstDash val="solid"/>
          </a:ln>
        </p:spPr>
      </p:sp>
      <p:sp>
        <p:nvSpPr>
          <p:cNvPr id="36" name="Text 34"/>
          <p:cNvSpPr/>
          <p:nvPr/>
        </p:nvSpPr>
        <p:spPr>
          <a:xfrm>
            <a:off x="731520" y="4709160"/>
            <a:ext cx="1124712" cy="237744"/>
          </a:xfrm>
          <a:prstGeom prst="rect">
            <a:avLst/>
          </a:prstGeom>
          <a:noFill/>
          <a:ln/>
        </p:spPr>
        <p:txBody>
          <a:bodyPr wrap="square" lIns="0" tIns="0" rIns="0" bIns="0" rtlCol="0" anchor="ctr">
            <a:normAutofit/>
          </a:bodyPr>
          <a:lstStyle/>
          <a:p>
            <a:pPr algn="l" indent="0" marL="0">
              <a:buNone/>
            </a:pPr>
            <a:r>
              <a:rPr lang="en-US" sz="1080" b="1" dirty="0">
                <a:solidFill>
                  <a:srgbClr val="1767C7"/>
                </a:solidFill>
                <a:latin typeface="Aptos" pitchFamily="34" charset="0"/>
                <a:ea typeface="Aptos" pitchFamily="34" charset="-122"/>
                <a:cs typeface="Aptos" pitchFamily="34" charset="-120"/>
              </a:rPr>
              <a:t>Knowledge</a:t>
            </a:r>
            <a:endParaRPr lang="en-US" sz="1080" dirty="0"/>
          </a:p>
        </p:txBody>
      </p:sp>
      <p:sp>
        <p:nvSpPr>
          <p:cNvPr id="37" name="Text 35"/>
          <p:cNvSpPr/>
          <p:nvPr/>
        </p:nvSpPr>
        <p:spPr>
          <a:xfrm>
            <a:off x="1965960" y="4709160"/>
            <a:ext cx="4636008" cy="237744"/>
          </a:xfrm>
          <a:prstGeom prst="rect">
            <a:avLst/>
          </a:prstGeom>
          <a:noFill/>
          <a:ln/>
        </p:spPr>
        <p:txBody>
          <a:bodyPr wrap="square" lIns="0" tIns="0" rIns="0" bIns="0" rtlCol="0" anchor="ctr">
            <a:normAutofit/>
          </a:bodyPr>
          <a:lstStyle/>
          <a:p>
            <a:pPr algn="l" indent="0" marL="0">
              <a:buNone/>
            </a:pPr>
            <a:r>
              <a:rPr lang="en-US" sz="1010" b="1" dirty="0">
                <a:solidFill>
                  <a:srgbClr val="0C2B4E"/>
                </a:solidFill>
                <a:latin typeface="Aptos" pitchFamily="34" charset="0"/>
                <a:ea typeface="Aptos" pitchFamily="34" charset="-122"/>
                <a:cs typeface="Aptos" pitchFamily="34" charset="-120"/>
              </a:rPr>
              <a:t>KnowledgeController</a:t>
            </a:r>
            <a:endParaRPr lang="en-US" sz="1010" dirty="0"/>
          </a:p>
        </p:txBody>
      </p:sp>
      <p:sp>
        <p:nvSpPr>
          <p:cNvPr id="38" name="Text 36"/>
          <p:cNvSpPr/>
          <p:nvPr/>
        </p:nvSpPr>
        <p:spPr>
          <a:xfrm>
            <a:off x="6656832" y="4690872"/>
            <a:ext cx="4681728" cy="274320"/>
          </a:xfrm>
          <a:prstGeom prst="rect">
            <a:avLst/>
          </a:prstGeom>
          <a:noFill/>
          <a:ln/>
        </p:spPr>
        <p:txBody>
          <a:bodyPr wrap="square" lIns="0" tIns="0" rIns="0" bIns="0" rtlCol="0" anchor="ctr">
            <a:normAutofit/>
          </a:bodyPr>
          <a:lstStyle/>
          <a:p>
            <a:pPr algn="l" indent="0" marL="0">
              <a:buNone/>
            </a:pPr>
            <a:r>
              <a:rPr lang="en-US" sz="1010" dirty="0">
                <a:solidFill>
                  <a:srgbClr val="5B7190"/>
                </a:solidFill>
                <a:latin typeface="Aptos" pitchFamily="34" charset="0"/>
                <a:ea typeface="Aptos" pitchFamily="34" charset="-122"/>
                <a:cs typeface="Aptos" pitchFamily="34" charset="-120"/>
              </a:rPr>
              <a:t>Retrieval and workspace knowledge APIs</a:t>
            </a:r>
            <a:endParaRPr lang="en-US" sz="1010" dirty="0"/>
          </a:p>
        </p:txBody>
      </p:sp>
      <p:sp>
        <p:nvSpPr>
          <p:cNvPr id="39" name="Shape 37"/>
          <p:cNvSpPr/>
          <p:nvPr/>
        </p:nvSpPr>
        <p:spPr>
          <a:xfrm>
            <a:off x="539496" y="5148072"/>
            <a:ext cx="11109960" cy="466344"/>
          </a:xfrm>
          <a:prstGeom prst="roundRect">
            <a:avLst>
              <a:gd name="adj" fmla="val 21569"/>
            </a:avLst>
          </a:prstGeom>
          <a:solidFill>
            <a:srgbClr val="F5F9FE"/>
          </a:solidFill>
          <a:ln w="9525">
            <a:solidFill>
              <a:srgbClr val="F5F9FE"/>
            </a:solidFill>
            <a:prstDash val="solid"/>
          </a:ln>
        </p:spPr>
      </p:sp>
      <p:sp>
        <p:nvSpPr>
          <p:cNvPr id="40" name="Text 38"/>
          <p:cNvSpPr/>
          <p:nvPr/>
        </p:nvSpPr>
        <p:spPr>
          <a:xfrm>
            <a:off x="731520" y="5239512"/>
            <a:ext cx="1124712" cy="237744"/>
          </a:xfrm>
          <a:prstGeom prst="rect">
            <a:avLst/>
          </a:prstGeom>
          <a:noFill/>
          <a:ln/>
        </p:spPr>
        <p:txBody>
          <a:bodyPr wrap="square" lIns="0" tIns="0" rIns="0" bIns="0" rtlCol="0" anchor="ctr">
            <a:normAutofit/>
          </a:bodyPr>
          <a:lstStyle/>
          <a:p>
            <a:pPr algn="l" indent="0" marL="0">
              <a:buNone/>
            </a:pPr>
            <a:r>
              <a:rPr lang="en-US" sz="1080" b="1" dirty="0">
                <a:solidFill>
                  <a:srgbClr val="1767C7"/>
                </a:solidFill>
                <a:latin typeface="Aptos" pitchFamily="34" charset="0"/>
                <a:ea typeface="Aptos" pitchFamily="34" charset="-122"/>
                <a:cs typeface="Aptos" pitchFamily="34" charset="-120"/>
              </a:rPr>
              <a:t>Artifacts</a:t>
            </a:r>
            <a:endParaRPr lang="en-US" sz="1080" dirty="0"/>
          </a:p>
        </p:txBody>
      </p:sp>
      <p:sp>
        <p:nvSpPr>
          <p:cNvPr id="41" name="Text 39"/>
          <p:cNvSpPr/>
          <p:nvPr/>
        </p:nvSpPr>
        <p:spPr>
          <a:xfrm>
            <a:off x="1965960" y="5239512"/>
            <a:ext cx="4636008" cy="237744"/>
          </a:xfrm>
          <a:prstGeom prst="rect">
            <a:avLst/>
          </a:prstGeom>
          <a:noFill/>
          <a:ln/>
        </p:spPr>
        <p:txBody>
          <a:bodyPr wrap="square" lIns="0" tIns="0" rIns="0" bIns="0" rtlCol="0" anchor="ctr">
            <a:normAutofit/>
          </a:bodyPr>
          <a:lstStyle/>
          <a:p>
            <a:pPr algn="l" indent="0" marL="0">
              <a:buNone/>
            </a:pPr>
            <a:r>
              <a:rPr lang="en-US" sz="1010" b="1" dirty="0">
                <a:solidFill>
                  <a:srgbClr val="0C2B4E"/>
                </a:solidFill>
                <a:latin typeface="Aptos" pitchFamily="34" charset="0"/>
                <a:ea typeface="Aptos" pitchFamily="34" charset="-122"/>
                <a:cs typeface="Aptos" pitchFamily="34" charset="-120"/>
              </a:rPr>
              <a:t>ArtifactController</a:t>
            </a:r>
            <a:endParaRPr lang="en-US" sz="1010" dirty="0"/>
          </a:p>
        </p:txBody>
      </p:sp>
      <p:sp>
        <p:nvSpPr>
          <p:cNvPr id="42" name="Text 40"/>
          <p:cNvSpPr/>
          <p:nvPr/>
        </p:nvSpPr>
        <p:spPr>
          <a:xfrm>
            <a:off x="6656832" y="5221224"/>
            <a:ext cx="4681728" cy="274320"/>
          </a:xfrm>
          <a:prstGeom prst="rect">
            <a:avLst/>
          </a:prstGeom>
          <a:noFill/>
          <a:ln/>
        </p:spPr>
        <p:txBody>
          <a:bodyPr wrap="square" lIns="0" tIns="0" rIns="0" bIns="0" rtlCol="0" anchor="ctr">
            <a:normAutofit/>
          </a:bodyPr>
          <a:lstStyle/>
          <a:p>
            <a:pPr algn="l" indent="0" marL="0">
              <a:buNone/>
            </a:pPr>
            <a:r>
              <a:rPr lang="en-US" sz="1010" dirty="0">
                <a:solidFill>
                  <a:srgbClr val="5B7190"/>
                </a:solidFill>
                <a:latin typeface="Aptos" pitchFamily="34" charset="0"/>
                <a:ea typeface="Aptos" pitchFamily="34" charset="-122"/>
                <a:cs typeface="Aptos" pitchFamily="34" charset="-120"/>
              </a:rPr>
              <a:t>Saved and previewable generated content</a:t>
            </a:r>
            <a:endParaRPr lang="en-US" sz="1010" dirty="0"/>
          </a:p>
        </p:txBody>
      </p:sp>
      <p:sp>
        <p:nvSpPr>
          <p:cNvPr id="43" name="Shape 41"/>
          <p:cNvSpPr/>
          <p:nvPr/>
        </p:nvSpPr>
        <p:spPr>
          <a:xfrm>
            <a:off x="530352" y="5833872"/>
            <a:ext cx="11137392" cy="484632"/>
          </a:xfrm>
          <a:prstGeom prst="roundRect">
            <a:avLst>
              <a:gd name="adj" fmla="val 20755"/>
            </a:avLst>
          </a:prstGeom>
          <a:solidFill>
            <a:srgbClr val="EDF5FD"/>
          </a:solidFill>
          <a:ln w="9525">
            <a:solidFill>
              <a:srgbClr val="EDF5FD"/>
            </a:solidFill>
            <a:prstDash val="solid"/>
          </a:ln>
        </p:spPr>
      </p:sp>
      <p:sp>
        <p:nvSpPr>
          <p:cNvPr id="44" name="Text 42"/>
          <p:cNvSpPr/>
          <p:nvPr/>
        </p:nvSpPr>
        <p:spPr>
          <a:xfrm>
            <a:off x="713232" y="5920740"/>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REFERENCE</a:t>
            </a:r>
            <a:endParaRPr lang="en-US" sz="1110" dirty="0"/>
          </a:p>
        </p:txBody>
      </p:sp>
      <p:sp>
        <p:nvSpPr>
          <p:cNvPr id="45" name="Text 43"/>
          <p:cNvSpPr/>
          <p:nvPr/>
        </p:nvSpPr>
        <p:spPr>
          <a:xfrm>
            <a:off x="2423160" y="5884164"/>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Detailed source paths: src/main/java/com/llmart/llm/controller/</a:t>
            </a:r>
            <a:endParaRPr lang="en-US" sz="109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77724"/>
          </a:xfrm>
          <a:prstGeom prst="rect">
            <a:avLst>
              <a:gd name="adj" fmla="val 105882"/>
            </a:avLst>
          </a:prstGeom>
          <a:solidFill>
            <a:srgbClr val="1767C7"/>
          </a:solidFill>
          <a:ln w="9525">
            <a:solidFill>
              <a:srgbClr val="1767C7"/>
            </a:solidFill>
            <a:prstDash val="solid"/>
          </a:ln>
        </p:spPr>
      </p:sp>
      <p:sp>
        <p:nvSpPr>
          <p:cNvPr id="3" name="Text 1"/>
          <p:cNvSpPr/>
          <p:nvPr/>
        </p:nvSpPr>
        <p:spPr>
          <a:xfrm>
            <a:off x="502920" y="265176"/>
            <a:ext cx="7315200" cy="228600"/>
          </a:xfrm>
          <a:prstGeom prst="rect">
            <a:avLst/>
          </a:prstGeom>
          <a:noFill/>
          <a:ln/>
        </p:spPr>
        <p:txBody>
          <a:bodyPr wrap="square" lIns="0" tIns="0" rIns="0" bIns="0" rtlCol="0" anchor="ctr">
            <a:normAutofit/>
          </a:bodyPr>
          <a:lstStyle/>
          <a:p>
            <a:pPr algn="l" indent="0" marL="0">
              <a:buNone/>
            </a:pPr>
            <a:r>
              <a:rPr lang="en-US" sz="960" b="1" spc="165" kern="0" dirty="0">
                <a:solidFill>
                  <a:srgbClr val="1767C7"/>
                </a:solidFill>
                <a:latin typeface="Aptos" pitchFamily="34" charset="0"/>
                <a:ea typeface="Aptos" pitchFamily="34" charset="-122"/>
                <a:cs typeface="Aptos" pitchFamily="34" charset="-120"/>
              </a:rPr>
              <a:t>IMPLEMENTATION REFERENCE</a:t>
            </a:r>
            <a:endParaRPr lang="en-US" sz="960" dirty="0"/>
          </a:p>
        </p:txBody>
      </p:sp>
      <p:sp>
        <p:nvSpPr>
          <p:cNvPr id="4" name="Text 2"/>
          <p:cNvSpPr/>
          <p:nvPr/>
        </p:nvSpPr>
        <p:spPr>
          <a:xfrm>
            <a:off x="502920" y="630936"/>
            <a:ext cx="11082528" cy="402336"/>
          </a:xfrm>
          <a:prstGeom prst="rect">
            <a:avLst/>
          </a:prstGeom>
          <a:noFill/>
          <a:ln/>
        </p:spPr>
        <p:txBody>
          <a:bodyPr wrap="square" lIns="0" tIns="0" rIns="0" bIns="0" rtlCol="0" anchor="ctr">
            <a:normAutofit/>
          </a:bodyPr>
          <a:lstStyle/>
          <a:p>
            <a:pPr algn="l" indent="0" marL="0">
              <a:buNone/>
            </a:pPr>
            <a:r>
              <a:rPr lang="en-US" sz="2550" b="1" dirty="0">
                <a:solidFill>
                  <a:srgbClr val="0C2B4E"/>
                </a:solidFill>
                <a:latin typeface="Aptos" pitchFamily="34" charset="0"/>
                <a:ea typeface="Aptos" pitchFamily="34" charset="-122"/>
                <a:cs typeface="Aptos" pitchFamily="34" charset="-120"/>
              </a:rPr>
              <a:t>Appendix B · Primary source code map</a:t>
            </a:r>
            <a:endParaRPr lang="en-US" sz="2550" dirty="0"/>
          </a:p>
        </p:txBody>
      </p:sp>
      <p:sp>
        <p:nvSpPr>
          <p:cNvPr id="5" name="Text 3"/>
          <p:cNvSpPr/>
          <p:nvPr/>
        </p:nvSpPr>
        <p:spPr>
          <a:xfrm>
            <a:off x="521208" y="1078992"/>
            <a:ext cx="11064240" cy="274320"/>
          </a:xfrm>
          <a:prstGeom prst="rect">
            <a:avLst/>
          </a:prstGeom>
          <a:noFill/>
          <a:ln/>
        </p:spPr>
        <p:txBody>
          <a:bodyPr wrap="square" lIns="0" tIns="0" rIns="0" bIns="0" rtlCol="0" anchor="ctr">
            <a:normAutofit/>
          </a:bodyPr>
          <a:lstStyle/>
          <a:p>
            <a:pPr algn="l" indent="0" marL="0">
              <a:buNone/>
            </a:pPr>
            <a:r>
              <a:rPr lang="en-US" sz="1170" dirty="0">
                <a:solidFill>
                  <a:srgbClr val="5B7190"/>
                </a:solidFill>
                <a:latin typeface="Aptos" pitchFamily="34" charset="0"/>
                <a:ea typeface="Aptos" pitchFamily="34" charset="-122"/>
                <a:cs typeface="Aptos" pitchFamily="34" charset="-120"/>
              </a:rPr>
              <a:t>Fast navigation for deep-dive walkthroughs and architecture review.</a:t>
            </a:r>
            <a:endParaRPr lang="en-US" sz="1170" dirty="0"/>
          </a:p>
        </p:txBody>
      </p:sp>
      <p:sp>
        <p:nvSpPr>
          <p:cNvPr id="6" name="Shape 4"/>
          <p:cNvSpPr/>
          <p:nvPr/>
        </p:nvSpPr>
        <p:spPr>
          <a:xfrm>
            <a:off x="10177272" y="402336"/>
            <a:ext cx="1417320" cy="265176"/>
          </a:xfrm>
          <a:prstGeom prst="roundRect">
            <a:avLst>
              <a:gd name="adj" fmla="val 37931"/>
            </a:avLst>
          </a:prstGeom>
          <a:solidFill>
            <a:srgbClr val="EDF5FD"/>
          </a:solidFill>
          <a:ln w="9525">
            <a:solidFill>
              <a:srgbClr val="EDF5FD"/>
            </a:solidFill>
            <a:prstDash val="solid"/>
          </a:ln>
        </p:spPr>
      </p:sp>
      <p:sp>
        <p:nvSpPr>
          <p:cNvPr id="7" name="Text 5"/>
          <p:cNvSpPr/>
          <p:nvPr/>
        </p:nvSpPr>
        <p:spPr>
          <a:xfrm>
            <a:off x="10250424" y="411480"/>
            <a:ext cx="1271016" cy="228600"/>
          </a:xfrm>
          <a:prstGeom prst="rect">
            <a:avLst/>
          </a:prstGeom>
          <a:noFill/>
          <a:ln/>
        </p:spPr>
        <p:txBody>
          <a:bodyPr wrap="square" lIns="0" tIns="0" rIns="0" bIns="0" rtlCol="0" anchor="ctr">
            <a:normAutofit/>
          </a:bodyPr>
          <a:lstStyle/>
          <a:p>
            <a:pPr algn="ctr" indent="0" marL="0">
              <a:buNone/>
            </a:pPr>
            <a:r>
              <a:rPr lang="en-US" sz="860" b="1" dirty="0">
                <a:solidFill>
                  <a:srgbClr val="1767C7"/>
                </a:solidFill>
                <a:latin typeface="Aptos" pitchFamily="34" charset="0"/>
                <a:ea typeface="Aptos" pitchFamily="34" charset="-122"/>
                <a:cs typeface="Aptos" pitchFamily="34" charset="-120"/>
              </a:rPr>
              <a:t>APPENDIX</a:t>
            </a:r>
            <a:endParaRPr lang="en-US" sz="860" dirty="0"/>
          </a:p>
        </p:txBody>
      </p:sp>
      <p:sp>
        <p:nvSpPr>
          <p:cNvPr id="8" name="Shape 6"/>
          <p:cNvSpPr/>
          <p:nvPr/>
        </p:nvSpPr>
        <p:spPr>
          <a:xfrm>
            <a:off x="502920" y="6483096"/>
            <a:ext cx="11137392" cy="0"/>
          </a:xfrm>
          <a:prstGeom prst="line">
            <a:avLst>
              <a:gd name="adj" fmla="val Infinity"/>
            </a:avLst>
          </a:prstGeom>
          <a:solidFill>
            <a:srgbClr val="D8E5F2"/>
          </a:solidFill>
          <a:ln w="9525">
            <a:solidFill>
              <a:srgbClr val="D8E5F2"/>
            </a:solidFill>
            <a:prstDash val="solid"/>
          </a:ln>
        </p:spPr>
      </p:sp>
      <p:sp>
        <p:nvSpPr>
          <p:cNvPr id="9" name="Text 7"/>
          <p:cNvSpPr/>
          <p:nvPr/>
        </p:nvSpPr>
        <p:spPr>
          <a:xfrm>
            <a:off x="512064" y="6537960"/>
            <a:ext cx="9144000" cy="164592"/>
          </a:xfrm>
          <a:prstGeom prst="rect">
            <a:avLst/>
          </a:prstGeom>
          <a:noFill/>
          <a:ln/>
        </p:spPr>
        <p:txBody>
          <a:bodyPr wrap="square" lIns="0" tIns="0" rIns="0" bIns="0" rtlCol="0" anchor="ctr">
            <a:normAutofit/>
          </a:bodyPr>
          <a:lstStyle/>
          <a:p>
            <a:pPr algn="l" indent="0" marL="0">
              <a:buNone/>
            </a:pPr>
            <a:r>
              <a:rPr lang="en-US" sz="820" dirty="0">
                <a:solidFill>
                  <a:srgbClr val="7588A2"/>
                </a:solidFill>
                <a:latin typeface="Aptos" pitchFamily="34" charset="0"/>
                <a:ea typeface="Aptos" pitchFamily="34" charset="-122"/>
                <a:cs typeface="Aptos" pitchFamily="34" charset="-120"/>
              </a:rPr>
              <a:t>ELIYA70  |  SOURCE-BASED ARCHITECTURE  |  26 OCT 2026</a:t>
            </a:r>
            <a:endParaRPr lang="en-US" sz="820" dirty="0"/>
          </a:p>
        </p:txBody>
      </p:sp>
      <p:sp>
        <p:nvSpPr>
          <p:cNvPr id="10" name="Text 8"/>
          <p:cNvSpPr/>
          <p:nvPr/>
        </p:nvSpPr>
        <p:spPr>
          <a:xfrm>
            <a:off x="11109960" y="6528816"/>
            <a:ext cx="502920" cy="164592"/>
          </a:xfrm>
          <a:prstGeom prst="rect">
            <a:avLst/>
          </a:prstGeom>
          <a:noFill/>
          <a:ln/>
        </p:spPr>
        <p:txBody>
          <a:bodyPr wrap="square" lIns="0" tIns="0" rIns="0" bIns="0" rtlCol="0" anchor="ctr">
            <a:normAutofit/>
          </a:bodyPr>
          <a:lstStyle/>
          <a:p>
            <a:pPr algn="r" indent="0" marL="0">
              <a:buNone/>
            </a:pPr>
            <a:r>
              <a:rPr lang="en-US" sz="900" b="1" dirty="0">
                <a:solidFill>
                  <a:srgbClr val="1767C7"/>
                </a:solidFill>
                <a:latin typeface="Aptos" pitchFamily="34" charset="0"/>
                <a:ea typeface="Aptos" pitchFamily="34" charset="-122"/>
                <a:cs typeface="Aptos" pitchFamily="34" charset="-120"/>
              </a:rPr>
              <a:t>28</a:t>
            </a:r>
            <a:endParaRPr lang="en-US" sz="900" dirty="0"/>
          </a:p>
        </p:txBody>
      </p:sp>
      <p:sp>
        <p:nvSpPr>
          <p:cNvPr id="11" name="Shape 9"/>
          <p:cNvSpPr/>
          <p:nvPr/>
        </p:nvSpPr>
        <p:spPr>
          <a:xfrm>
            <a:off x="539496" y="1408176"/>
            <a:ext cx="11128248" cy="521208"/>
          </a:xfrm>
          <a:prstGeom prst="roundRect">
            <a:avLst>
              <a:gd name="adj" fmla="val 19298"/>
            </a:avLst>
          </a:prstGeom>
          <a:solidFill>
            <a:srgbClr val="FFFFFF"/>
          </a:solidFill>
          <a:ln w="9525">
            <a:solidFill>
              <a:srgbClr val="D8E5F2"/>
            </a:solidFill>
            <a:prstDash val="solid"/>
          </a:ln>
        </p:spPr>
      </p:sp>
      <p:sp>
        <p:nvSpPr>
          <p:cNvPr id="12" name="Text 10"/>
          <p:cNvSpPr/>
          <p:nvPr/>
        </p:nvSpPr>
        <p:spPr>
          <a:xfrm>
            <a:off x="722376" y="1545336"/>
            <a:ext cx="2331720" cy="246888"/>
          </a:xfrm>
          <a:prstGeom prst="rect">
            <a:avLst/>
          </a:prstGeom>
          <a:noFill/>
          <a:ln/>
        </p:spPr>
        <p:txBody>
          <a:bodyPr wrap="square" lIns="0" tIns="0" rIns="0" bIns="0" rtlCol="0" anchor="ctr">
            <a:normAutofit/>
          </a:bodyPr>
          <a:lstStyle/>
          <a:p>
            <a:pPr algn="l" indent="0" marL="0">
              <a:buNone/>
            </a:pPr>
            <a:r>
              <a:rPr lang="en-US" sz="1090" b="1" dirty="0">
                <a:solidFill>
                  <a:srgbClr val="1767C7"/>
                </a:solidFill>
                <a:latin typeface="Aptos" pitchFamily="34" charset="0"/>
                <a:ea typeface="Aptos" pitchFamily="34" charset="-122"/>
                <a:cs typeface="Aptos" pitchFamily="34" charset="-120"/>
              </a:rPr>
              <a:t>ORCHESTRATION</a:t>
            </a:r>
            <a:endParaRPr lang="en-US" sz="1090" dirty="0"/>
          </a:p>
        </p:txBody>
      </p:sp>
      <p:sp>
        <p:nvSpPr>
          <p:cNvPr id="13" name="Text 11"/>
          <p:cNvSpPr/>
          <p:nvPr/>
        </p:nvSpPr>
        <p:spPr>
          <a:xfrm>
            <a:off x="2926080" y="1508760"/>
            <a:ext cx="8302752" cy="310896"/>
          </a:xfrm>
          <a:prstGeom prst="rect">
            <a:avLst/>
          </a:prstGeom>
          <a:noFill/>
          <a:ln/>
        </p:spPr>
        <p:txBody>
          <a:bodyPr wrap="square" lIns="0" tIns="0" rIns="0" bIns="0" rtlCol="0" anchor="ctr">
            <a:normAutofit/>
          </a:bodyPr>
          <a:lstStyle/>
          <a:p>
            <a:pPr algn="l" indent="0" marL="0">
              <a:buNone/>
            </a:pPr>
            <a:r>
              <a:rPr lang="en-US" sz="1070" dirty="0">
                <a:solidFill>
                  <a:srgbClr val="18324F"/>
                </a:solidFill>
                <a:latin typeface="Aptos" pitchFamily="34" charset="0"/>
                <a:ea typeface="Aptos" pitchFamily="34" charset="-122"/>
                <a:cs typeface="Aptos" pitchFamily="34" charset="-120"/>
              </a:rPr>
              <a:t>ChatService · AgentService · AgentRunService · TerminalSessionService</a:t>
            </a:r>
            <a:endParaRPr lang="en-US" sz="1070" dirty="0"/>
          </a:p>
        </p:txBody>
      </p:sp>
      <p:sp>
        <p:nvSpPr>
          <p:cNvPr id="14" name="Shape 12"/>
          <p:cNvSpPr/>
          <p:nvPr/>
        </p:nvSpPr>
        <p:spPr>
          <a:xfrm>
            <a:off x="539496" y="2020824"/>
            <a:ext cx="11128248" cy="521208"/>
          </a:xfrm>
          <a:prstGeom prst="roundRect">
            <a:avLst>
              <a:gd name="adj" fmla="val 19298"/>
            </a:avLst>
          </a:prstGeom>
          <a:solidFill>
            <a:srgbClr val="F5F9FE"/>
          </a:solidFill>
          <a:ln w="9525">
            <a:solidFill>
              <a:srgbClr val="D8E5F2"/>
            </a:solidFill>
            <a:prstDash val="solid"/>
          </a:ln>
        </p:spPr>
      </p:sp>
      <p:sp>
        <p:nvSpPr>
          <p:cNvPr id="15" name="Text 13"/>
          <p:cNvSpPr/>
          <p:nvPr/>
        </p:nvSpPr>
        <p:spPr>
          <a:xfrm>
            <a:off x="722376" y="2157984"/>
            <a:ext cx="2331720" cy="246888"/>
          </a:xfrm>
          <a:prstGeom prst="rect">
            <a:avLst/>
          </a:prstGeom>
          <a:noFill/>
          <a:ln/>
        </p:spPr>
        <p:txBody>
          <a:bodyPr wrap="square" lIns="0" tIns="0" rIns="0" bIns="0" rtlCol="0" anchor="ctr">
            <a:normAutofit/>
          </a:bodyPr>
          <a:lstStyle/>
          <a:p>
            <a:pPr algn="l" indent="0" marL="0">
              <a:buNone/>
            </a:pPr>
            <a:r>
              <a:rPr lang="en-US" sz="1090" b="1" dirty="0">
                <a:solidFill>
                  <a:srgbClr val="1767C7"/>
                </a:solidFill>
                <a:latin typeface="Aptos" pitchFamily="34" charset="0"/>
                <a:ea typeface="Aptos" pitchFamily="34" charset="-122"/>
                <a:cs typeface="Aptos" pitchFamily="34" charset="-120"/>
              </a:rPr>
              <a:t>RETRIEVAL</a:t>
            </a:r>
            <a:endParaRPr lang="en-US" sz="1090" dirty="0"/>
          </a:p>
        </p:txBody>
      </p:sp>
      <p:sp>
        <p:nvSpPr>
          <p:cNvPr id="16" name="Text 14"/>
          <p:cNvSpPr/>
          <p:nvPr/>
        </p:nvSpPr>
        <p:spPr>
          <a:xfrm>
            <a:off x="2926080" y="2121408"/>
            <a:ext cx="8302752" cy="310896"/>
          </a:xfrm>
          <a:prstGeom prst="rect">
            <a:avLst/>
          </a:prstGeom>
          <a:noFill/>
          <a:ln/>
        </p:spPr>
        <p:txBody>
          <a:bodyPr wrap="square" lIns="0" tIns="0" rIns="0" bIns="0" rtlCol="0" anchor="ctr">
            <a:normAutofit/>
          </a:bodyPr>
          <a:lstStyle/>
          <a:p>
            <a:pPr algn="l" indent="0" marL="0">
              <a:buNone/>
            </a:pPr>
            <a:r>
              <a:rPr lang="en-US" sz="1070" dirty="0">
                <a:solidFill>
                  <a:srgbClr val="18324F"/>
                </a:solidFill>
                <a:latin typeface="Aptos" pitchFamily="34" charset="0"/>
                <a:ea typeface="Aptos" pitchFamily="34" charset="-122"/>
                <a:cs typeface="Aptos" pitchFamily="34" charset="-120"/>
              </a:rPr>
              <a:t>WorkspaceRetrievalIndexService · WorkspaceSymbolIndexService · WorkspaceFlowIntelligence</a:t>
            </a:r>
            <a:endParaRPr lang="en-US" sz="1070" dirty="0"/>
          </a:p>
        </p:txBody>
      </p:sp>
      <p:sp>
        <p:nvSpPr>
          <p:cNvPr id="17" name="Shape 15"/>
          <p:cNvSpPr/>
          <p:nvPr/>
        </p:nvSpPr>
        <p:spPr>
          <a:xfrm>
            <a:off x="539496" y="2633472"/>
            <a:ext cx="11128248" cy="521208"/>
          </a:xfrm>
          <a:prstGeom prst="roundRect">
            <a:avLst>
              <a:gd name="adj" fmla="val 19298"/>
            </a:avLst>
          </a:prstGeom>
          <a:solidFill>
            <a:srgbClr val="FFFFFF"/>
          </a:solidFill>
          <a:ln w="9525">
            <a:solidFill>
              <a:srgbClr val="D8E5F2"/>
            </a:solidFill>
            <a:prstDash val="solid"/>
          </a:ln>
        </p:spPr>
      </p:sp>
      <p:sp>
        <p:nvSpPr>
          <p:cNvPr id="18" name="Text 16"/>
          <p:cNvSpPr/>
          <p:nvPr/>
        </p:nvSpPr>
        <p:spPr>
          <a:xfrm>
            <a:off x="722376" y="2770632"/>
            <a:ext cx="2331720" cy="246888"/>
          </a:xfrm>
          <a:prstGeom prst="rect">
            <a:avLst/>
          </a:prstGeom>
          <a:noFill/>
          <a:ln/>
        </p:spPr>
        <p:txBody>
          <a:bodyPr wrap="square" lIns="0" tIns="0" rIns="0" bIns="0" rtlCol="0" anchor="ctr">
            <a:normAutofit/>
          </a:bodyPr>
          <a:lstStyle/>
          <a:p>
            <a:pPr algn="l" indent="0" marL="0">
              <a:buNone/>
            </a:pPr>
            <a:r>
              <a:rPr lang="en-US" sz="1090" b="1" dirty="0">
                <a:solidFill>
                  <a:srgbClr val="1767C7"/>
                </a:solidFill>
                <a:latin typeface="Aptos" pitchFamily="34" charset="0"/>
                <a:ea typeface="Aptos" pitchFamily="34" charset="-122"/>
                <a:cs typeface="Aptos" pitchFamily="34" charset="-120"/>
              </a:rPr>
              <a:t>CONTEXT &amp; TOKENS</a:t>
            </a:r>
            <a:endParaRPr lang="en-US" sz="1090" dirty="0"/>
          </a:p>
        </p:txBody>
      </p:sp>
      <p:sp>
        <p:nvSpPr>
          <p:cNvPr id="19" name="Text 17"/>
          <p:cNvSpPr/>
          <p:nvPr/>
        </p:nvSpPr>
        <p:spPr>
          <a:xfrm>
            <a:off x="2926080" y="2734056"/>
            <a:ext cx="8302752" cy="310896"/>
          </a:xfrm>
          <a:prstGeom prst="rect">
            <a:avLst/>
          </a:prstGeom>
          <a:noFill/>
          <a:ln/>
        </p:spPr>
        <p:txBody>
          <a:bodyPr wrap="square" lIns="0" tIns="0" rIns="0" bIns="0" rtlCol="0" anchor="ctr">
            <a:normAutofit/>
          </a:bodyPr>
          <a:lstStyle/>
          <a:p>
            <a:pPr algn="l" indent="0" marL="0">
              <a:buNone/>
            </a:pPr>
            <a:r>
              <a:rPr lang="en-US" sz="1070" dirty="0">
                <a:solidFill>
                  <a:srgbClr val="18324F"/>
                </a:solidFill>
                <a:latin typeface="Aptos" pitchFamily="34" charset="0"/>
                <a:ea typeface="Aptos" pitchFamily="34" charset="-122"/>
                <a:cs typeface="Aptos" pitchFamily="34" charset="-120"/>
              </a:rPr>
              <a:t>ContextBudgetPolicy · ContextWindowManager · TokenActivityLedger · AgentPromptCachePolicy</a:t>
            </a:r>
            <a:endParaRPr lang="en-US" sz="1070" dirty="0"/>
          </a:p>
        </p:txBody>
      </p:sp>
      <p:sp>
        <p:nvSpPr>
          <p:cNvPr id="20" name="Shape 18"/>
          <p:cNvSpPr/>
          <p:nvPr/>
        </p:nvSpPr>
        <p:spPr>
          <a:xfrm>
            <a:off x="539496" y="3246120"/>
            <a:ext cx="11128248" cy="521208"/>
          </a:xfrm>
          <a:prstGeom prst="roundRect">
            <a:avLst>
              <a:gd name="adj" fmla="val 19298"/>
            </a:avLst>
          </a:prstGeom>
          <a:solidFill>
            <a:srgbClr val="F5F9FE"/>
          </a:solidFill>
          <a:ln w="9525">
            <a:solidFill>
              <a:srgbClr val="D8E5F2"/>
            </a:solidFill>
            <a:prstDash val="solid"/>
          </a:ln>
        </p:spPr>
      </p:sp>
      <p:sp>
        <p:nvSpPr>
          <p:cNvPr id="21" name="Text 19"/>
          <p:cNvSpPr/>
          <p:nvPr/>
        </p:nvSpPr>
        <p:spPr>
          <a:xfrm>
            <a:off x="722376" y="3383280"/>
            <a:ext cx="2331720" cy="246888"/>
          </a:xfrm>
          <a:prstGeom prst="rect">
            <a:avLst/>
          </a:prstGeom>
          <a:noFill/>
          <a:ln/>
        </p:spPr>
        <p:txBody>
          <a:bodyPr wrap="square" lIns="0" tIns="0" rIns="0" bIns="0" rtlCol="0" anchor="ctr">
            <a:normAutofit/>
          </a:bodyPr>
          <a:lstStyle/>
          <a:p>
            <a:pPr algn="l" indent="0" marL="0">
              <a:buNone/>
            </a:pPr>
            <a:r>
              <a:rPr lang="en-US" sz="1090" b="1" dirty="0">
                <a:solidFill>
                  <a:srgbClr val="1767C7"/>
                </a:solidFill>
                <a:latin typeface="Aptos" pitchFamily="34" charset="0"/>
                <a:ea typeface="Aptos" pitchFamily="34" charset="-122"/>
                <a:cs typeface="Aptos" pitchFamily="34" charset="-120"/>
              </a:rPr>
              <a:t>TOOLS &amp; GUARDRAILS</a:t>
            </a:r>
            <a:endParaRPr lang="en-US" sz="1090" dirty="0"/>
          </a:p>
        </p:txBody>
      </p:sp>
      <p:sp>
        <p:nvSpPr>
          <p:cNvPr id="22" name="Text 20"/>
          <p:cNvSpPr/>
          <p:nvPr/>
        </p:nvSpPr>
        <p:spPr>
          <a:xfrm>
            <a:off x="2926080" y="3346704"/>
            <a:ext cx="8302752" cy="310896"/>
          </a:xfrm>
          <a:prstGeom prst="rect">
            <a:avLst/>
          </a:prstGeom>
          <a:noFill/>
          <a:ln/>
        </p:spPr>
        <p:txBody>
          <a:bodyPr wrap="square" lIns="0" tIns="0" rIns="0" bIns="0" rtlCol="0" anchor="ctr">
            <a:normAutofit/>
          </a:bodyPr>
          <a:lstStyle/>
          <a:p>
            <a:pPr algn="l" indent="0" marL="0">
              <a:buNone/>
            </a:pPr>
            <a:r>
              <a:rPr lang="en-US" sz="1070" dirty="0">
                <a:solidFill>
                  <a:srgbClr val="18324F"/>
                </a:solidFill>
                <a:latin typeface="Aptos" pitchFamily="34" charset="0"/>
                <a:ea typeface="Aptos" pitchFamily="34" charset="-122"/>
                <a:cs typeface="Aptos" pitchFamily="34" charset="-120"/>
              </a:rPr>
              <a:t>AgentToolRegistry · AgentApprovalService · WorkspaceRootGuard · AgentTaskRollbackService</a:t>
            </a:r>
            <a:endParaRPr lang="en-US" sz="1070" dirty="0"/>
          </a:p>
        </p:txBody>
      </p:sp>
      <p:sp>
        <p:nvSpPr>
          <p:cNvPr id="23" name="Shape 21"/>
          <p:cNvSpPr/>
          <p:nvPr/>
        </p:nvSpPr>
        <p:spPr>
          <a:xfrm>
            <a:off x="539496" y="3858768"/>
            <a:ext cx="11128248" cy="521208"/>
          </a:xfrm>
          <a:prstGeom prst="roundRect">
            <a:avLst>
              <a:gd name="adj" fmla="val 19298"/>
            </a:avLst>
          </a:prstGeom>
          <a:solidFill>
            <a:srgbClr val="FFFFFF"/>
          </a:solidFill>
          <a:ln w="9525">
            <a:solidFill>
              <a:srgbClr val="D8E5F2"/>
            </a:solidFill>
            <a:prstDash val="solid"/>
          </a:ln>
        </p:spPr>
      </p:sp>
      <p:sp>
        <p:nvSpPr>
          <p:cNvPr id="24" name="Text 22"/>
          <p:cNvSpPr/>
          <p:nvPr/>
        </p:nvSpPr>
        <p:spPr>
          <a:xfrm>
            <a:off x="722376" y="3995928"/>
            <a:ext cx="2331720" cy="246888"/>
          </a:xfrm>
          <a:prstGeom prst="rect">
            <a:avLst/>
          </a:prstGeom>
          <a:noFill/>
          <a:ln/>
        </p:spPr>
        <p:txBody>
          <a:bodyPr wrap="square" lIns="0" tIns="0" rIns="0" bIns="0" rtlCol="0" anchor="ctr">
            <a:normAutofit/>
          </a:bodyPr>
          <a:lstStyle/>
          <a:p>
            <a:pPr algn="l" indent="0" marL="0">
              <a:buNone/>
            </a:pPr>
            <a:r>
              <a:rPr lang="en-US" sz="1090" b="1" dirty="0">
                <a:solidFill>
                  <a:srgbClr val="1767C7"/>
                </a:solidFill>
                <a:latin typeface="Aptos" pitchFamily="34" charset="0"/>
                <a:ea typeface="Aptos" pitchFamily="34" charset="-122"/>
                <a:cs typeface="Aptos" pitchFamily="34" charset="-120"/>
              </a:rPr>
              <a:t>INTEGRATIONS</a:t>
            </a:r>
            <a:endParaRPr lang="en-US" sz="1090" dirty="0"/>
          </a:p>
        </p:txBody>
      </p:sp>
      <p:sp>
        <p:nvSpPr>
          <p:cNvPr id="25" name="Text 23"/>
          <p:cNvSpPr/>
          <p:nvPr/>
        </p:nvSpPr>
        <p:spPr>
          <a:xfrm>
            <a:off x="2926080" y="3959352"/>
            <a:ext cx="8302752" cy="310896"/>
          </a:xfrm>
          <a:prstGeom prst="rect">
            <a:avLst/>
          </a:prstGeom>
          <a:noFill/>
          <a:ln/>
        </p:spPr>
        <p:txBody>
          <a:bodyPr wrap="square" lIns="0" tIns="0" rIns="0" bIns="0" rtlCol="0" anchor="ctr">
            <a:normAutofit/>
          </a:bodyPr>
          <a:lstStyle/>
          <a:p>
            <a:pPr algn="l" indent="0" marL="0">
              <a:buNone/>
            </a:pPr>
            <a:r>
              <a:rPr lang="en-US" sz="1070" dirty="0">
                <a:solidFill>
                  <a:srgbClr val="18324F"/>
                </a:solidFill>
                <a:latin typeface="Aptos" pitchFamily="34" charset="0"/>
                <a:ea typeface="Aptos" pitchFamily="34" charset="-122"/>
                <a:cs typeface="Aptos" pitchFamily="34" charset="-120"/>
              </a:rPr>
              <a:t>OpenAiCompatibleClient · McpManager · ChatMcpService · McpPromptGate</a:t>
            </a:r>
            <a:endParaRPr lang="en-US" sz="1070" dirty="0"/>
          </a:p>
        </p:txBody>
      </p:sp>
      <p:sp>
        <p:nvSpPr>
          <p:cNvPr id="26" name="Shape 24"/>
          <p:cNvSpPr/>
          <p:nvPr/>
        </p:nvSpPr>
        <p:spPr>
          <a:xfrm>
            <a:off x="539496" y="4471416"/>
            <a:ext cx="11128248" cy="521208"/>
          </a:xfrm>
          <a:prstGeom prst="roundRect">
            <a:avLst>
              <a:gd name="adj" fmla="val 19298"/>
            </a:avLst>
          </a:prstGeom>
          <a:solidFill>
            <a:srgbClr val="F5F9FE"/>
          </a:solidFill>
          <a:ln w="9525">
            <a:solidFill>
              <a:srgbClr val="D8E5F2"/>
            </a:solidFill>
            <a:prstDash val="solid"/>
          </a:ln>
        </p:spPr>
      </p:sp>
      <p:sp>
        <p:nvSpPr>
          <p:cNvPr id="27" name="Text 25"/>
          <p:cNvSpPr/>
          <p:nvPr/>
        </p:nvSpPr>
        <p:spPr>
          <a:xfrm>
            <a:off x="722376" y="4608576"/>
            <a:ext cx="2331720" cy="246888"/>
          </a:xfrm>
          <a:prstGeom prst="rect">
            <a:avLst/>
          </a:prstGeom>
          <a:noFill/>
          <a:ln/>
        </p:spPr>
        <p:txBody>
          <a:bodyPr wrap="square" lIns="0" tIns="0" rIns="0" bIns="0" rtlCol="0" anchor="ctr">
            <a:normAutofit/>
          </a:bodyPr>
          <a:lstStyle/>
          <a:p>
            <a:pPr algn="l" indent="0" marL="0">
              <a:buNone/>
            </a:pPr>
            <a:r>
              <a:rPr lang="en-US" sz="1090" b="1" dirty="0">
                <a:solidFill>
                  <a:srgbClr val="1767C7"/>
                </a:solidFill>
                <a:latin typeface="Aptos" pitchFamily="34" charset="0"/>
                <a:ea typeface="Aptos" pitchFamily="34" charset="-122"/>
                <a:cs typeface="Aptos" pitchFamily="34" charset="-120"/>
              </a:rPr>
              <a:t>PERSISTENCE</a:t>
            </a:r>
            <a:endParaRPr lang="en-US" sz="1090" dirty="0"/>
          </a:p>
        </p:txBody>
      </p:sp>
      <p:sp>
        <p:nvSpPr>
          <p:cNvPr id="28" name="Text 26"/>
          <p:cNvSpPr/>
          <p:nvPr/>
        </p:nvSpPr>
        <p:spPr>
          <a:xfrm>
            <a:off x="2926080" y="4572000"/>
            <a:ext cx="8302752" cy="310896"/>
          </a:xfrm>
          <a:prstGeom prst="rect">
            <a:avLst/>
          </a:prstGeom>
          <a:noFill/>
          <a:ln/>
        </p:spPr>
        <p:txBody>
          <a:bodyPr wrap="square" lIns="0" tIns="0" rIns="0" bIns="0" rtlCol="0" anchor="ctr">
            <a:normAutofit/>
          </a:bodyPr>
          <a:lstStyle/>
          <a:p>
            <a:pPr algn="l" indent="0" marL="0">
              <a:buNone/>
            </a:pPr>
            <a:r>
              <a:rPr lang="en-US" sz="1070" dirty="0">
                <a:solidFill>
                  <a:srgbClr val="18324F"/>
                </a:solidFill>
                <a:latin typeface="Aptos" pitchFamily="34" charset="0"/>
                <a:ea typeface="Aptos" pitchFamily="34" charset="-122"/>
                <a:cs typeface="Aptos" pitchFamily="34" charset="-120"/>
              </a:rPr>
              <a:t>PortableDatabaseConfiguration · entity/ · repository/ · app data paths</a:t>
            </a:r>
            <a:endParaRPr lang="en-US" sz="1070" dirty="0"/>
          </a:p>
        </p:txBody>
      </p:sp>
      <p:sp>
        <p:nvSpPr>
          <p:cNvPr id="29" name="Shape 27"/>
          <p:cNvSpPr/>
          <p:nvPr/>
        </p:nvSpPr>
        <p:spPr>
          <a:xfrm>
            <a:off x="539496" y="5084064"/>
            <a:ext cx="11128248" cy="521208"/>
          </a:xfrm>
          <a:prstGeom prst="roundRect">
            <a:avLst>
              <a:gd name="adj" fmla="val 19298"/>
            </a:avLst>
          </a:prstGeom>
          <a:solidFill>
            <a:srgbClr val="FFFFFF"/>
          </a:solidFill>
          <a:ln w="9525">
            <a:solidFill>
              <a:srgbClr val="D8E5F2"/>
            </a:solidFill>
            <a:prstDash val="solid"/>
          </a:ln>
        </p:spPr>
      </p:sp>
      <p:sp>
        <p:nvSpPr>
          <p:cNvPr id="30" name="Text 28"/>
          <p:cNvSpPr/>
          <p:nvPr/>
        </p:nvSpPr>
        <p:spPr>
          <a:xfrm>
            <a:off x="722376" y="5221224"/>
            <a:ext cx="2331720" cy="246888"/>
          </a:xfrm>
          <a:prstGeom prst="rect">
            <a:avLst/>
          </a:prstGeom>
          <a:noFill/>
          <a:ln/>
        </p:spPr>
        <p:txBody>
          <a:bodyPr wrap="square" lIns="0" tIns="0" rIns="0" bIns="0" rtlCol="0" anchor="ctr">
            <a:normAutofit/>
          </a:bodyPr>
          <a:lstStyle/>
          <a:p>
            <a:pPr algn="l" indent="0" marL="0">
              <a:buNone/>
            </a:pPr>
            <a:r>
              <a:rPr lang="en-US" sz="1090" b="1" dirty="0">
                <a:solidFill>
                  <a:srgbClr val="1767C7"/>
                </a:solidFill>
                <a:latin typeface="Aptos" pitchFamily="34" charset="0"/>
                <a:ea typeface="Aptos" pitchFamily="34" charset="-122"/>
                <a:cs typeface="Aptos" pitchFamily="34" charset="-120"/>
              </a:rPr>
              <a:t>UI</a:t>
            </a:r>
            <a:endParaRPr lang="en-US" sz="1090" dirty="0"/>
          </a:p>
        </p:txBody>
      </p:sp>
      <p:sp>
        <p:nvSpPr>
          <p:cNvPr id="31" name="Text 29"/>
          <p:cNvSpPr/>
          <p:nvPr/>
        </p:nvSpPr>
        <p:spPr>
          <a:xfrm>
            <a:off x="2926080" y="5184648"/>
            <a:ext cx="8302752" cy="310896"/>
          </a:xfrm>
          <a:prstGeom prst="rect">
            <a:avLst/>
          </a:prstGeom>
          <a:noFill/>
          <a:ln/>
        </p:spPr>
        <p:txBody>
          <a:bodyPr wrap="square" lIns="0" tIns="0" rIns="0" bIns="0" rtlCol="0" anchor="ctr">
            <a:normAutofit/>
          </a:bodyPr>
          <a:lstStyle/>
          <a:p>
            <a:pPr algn="l" indent="0" marL="0">
              <a:buNone/>
            </a:pPr>
            <a:r>
              <a:rPr lang="en-US" sz="1070" dirty="0">
                <a:solidFill>
                  <a:srgbClr val="18324F"/>
                </a:solidFill>
                <a:latin typeface="Aptos" pitchFamily="34" charset="0"/>
                <a:ea typeface="Aptos" pitchFamily="34" charset="-122"/>
                <a:cs typeface="Aptos" pitchFamily="34" charset="-120"/>
              </a:rPr>
              <a:t>static/index.html · app.js · app.css · prompt-catalog.js</a:t>
            </a:r>
            <a:endParaRPr lang="en-US" sz="1070" dirty="0"/>
          </a:p>
        </p:txBody>
      </p:sp>
      <p:sp>
        <p:nvSpPr>
          <p:cNvPr id="32" name="Shape 30"/>
          <p:cNvSpPr/>
          <p:nvPr/>
        </p:nvSpPr>
        <p:spPr>
          <a:xfrm>
            <a:off x="530352" y="5916168"/>
            <a:ext cx="11137392" cy="484632"/>
          </a:xfrm>
          <a:prstGeom prst="roundRect">
            <a:avLst>
              <a:gd name="adj" fmla="val 20755"/>
            </a:avLst>
          </a:prstGeom>
          <a:solidFill>
            <a:srgbClr val="F5F9FE"/>
          </a:solidFill>
          <a:ln w="9525">
            <a:solidFill>
              <a:srgbClr val="F5F9FE"/>
            </a:solidFill>
            <a:prstDash val="solid"/>
          </a:ln>
        </p:spPr>
      </p:sp>
      <p:sp>
        <p:nvSpPr>
          <p:cNvPr id="33" name="Text 31"/>
          <p:cNvSpPr/>
          <p:nvPr/>
        </p:nvSpPr>
        <p:spPr>
          <a:xfrm>
            <a:off x="713232" y="6003036"/>
            <a:ext cx="1856232" cy="237744"/>
          </a:xfrm>
          <a:prstGeom prst="rect">
            <a:avLst/>
          </a:prstGeom>
          <a:noFill/>
          <a:ln/>
        </p:spPr>
        <p:txBody>
          <a:bodyPr wrap="square" lIns="0" tIns="0" rIns="0" bIns="0" rtlCol="0" anchor="ctr">
            <a:normAutofit/>
          </a:bodyPr>
          <a:lstStyle/>
          <a:p>
            <a:pPr algn="l" indent="0" marL="0">
              <a:buNone/>
            </a:pPr>
            <a:r>
              <a:rPr lang="en-US" sz="1110" b="1" dirty="0">
                <a:solidFill>
                  <a:srgbClr val="1767C7"/>
                </a:solidFill>
                <a:latin typeface="Aptos" pitchFamily="34" charset="0"/>
                <a:ea typeface="Aptos" pitchFamily="34" charset="-122"/>
                <a:cs typeface="Aptos" pitchFamily="34" charset="-120"/>
              </a:rPr>
              <a:t>SOURCE</a:t>
            </a:r>
            <a:endParaRPr lang="en-US" sz="1110" dirty="0"/>
          </a:p>
        </p:txBody>
      </p:sp>
      <p:sp>
        <p:nvSpPr>
          <p:cNvPr id="34" name="Text 32"/>
          <p:cNvSpPr/>
          <p:nvPr/>
        </p:nvSpPr>
        <p:spPr>
          <a:xfrm>
            <a:off x="2423160" y="5966460"/>
            <a:ext cx="8942832" cy="310896"/>
          </a:xfrm>
          <a:prstGeom prst="rect">
            <a:avLst/>
          </a:prstGeom>
          <a:noFill/>
          <a:ln/>
        </p:spPr>
        <p:txBody>
          <a:bodyPr wrap="square" lIns="0" tIns="0" rIns="0" bIns="0" rtlCol="0" anchor="ctr">
            <a:normAutofit/>
          </a:bodyPr>
          <a:lstStyle/>
          <a:p>
            <a:pPr algn="l" indent="0" marL="0">
              <a:buNone/>
            </a:pPr>
            <a:r>
              <a:rPr lang="en-US" sz="1090" dirty="0">
                <a:solidFill>
                  <a:srgbClr val="18324F"/>
                </a:solidFill>
                <a:latin typeface="Aptos" pitchFamily="34" charset="0"/>
                <a:ea typeface="Aptos" pitchFamily="34" charset="-122"/>
                <a:cs typeface="Aptos" pitchFamily="34" charset="-120"/>
              </a:rPr>
              <a:t>Architecture review based on ELIYA70.zip; code controls and run-time testing status may evolve.</a:t>
            </a:r>
            <a:endParaRPr lang="en-US" sz="10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Technical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ELIYA70 | Technical Architecture &amp; Engineering Controls</dc:title>
  <dc:subject>ELIYA70 source-backed technical architecture for technical leads and engineering managers</dc:subject>
  <dc:creator>Technical Architecture</dc:creator>
  <cp:lastModifiedBy>Technical Architecture</cp:lastModifiedBy>
  <cp:revision>1</cp:revision>
  <dcterms:created xsi:type="dcterms:W3CDTF">2026-10-25T18:57:37Z</dcterms:created>
  <dcterms:modified xsi:type="dcterms:W3CDTF">2026-10-25T18:57:37Z</dcterms:modified>
</cp:coreProperties>
</file>