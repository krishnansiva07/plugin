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" y="0"/>
            <a:ext cx="73152" cy="685800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5212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007A4D"/>
                </a:solidFill>
                <a:latin typeface="Lato"/>
              </a:rPr>
              <a:t>ELIYA09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74519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2A25"/>
                </a:solidFill>
                <a:latin typeface="Lato"/>
              </a:rPr>
              <a:t>Complete Product, Agent Architecture, Workflow &amp;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94436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E6B65"/>
                </a:solidFill>
                <a:latin typeface="Lato"/>
              </a:rPr>
              <a:t>Chat + Agent  •  MCP  •  Live Workspace  •  Large Task Manager  •  68 Built-in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3822191"/>
            <a:ext cx="4754880" cy="1005840"/>
          </a:xfrm>
          <a:prstGeom prst="roundRect">
            <a:avLst/>
          </a:prstGeom>
          <a:solidFill>
            <a:srgbClr val="EAF6F0"/>
          </a:solidFill>
          <a:ln>
            <a:solidFill>
              <a:srgbClr val="E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78224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A4D"/>
                </a:solidFill>
                <a:latin typeface="Lato"/>
              </a:rPr>
              <a:t>BNP green corporate theme
As-built from ELIYA09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080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B65"/>
                </a:solidFill>
                <a:latin typeface="Lato"/>
              </a:rPr>
              <a:t>25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Lat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ELIYA09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A local Java 17 AI workbench with a conversational path and a controlled execution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30540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Streaming Q&amp;A, documents, images, project context, read-only MCP, PDF/Markdown/JSON and Excel exports.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0540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Plan → approval → one active step → tools → live workspace → final verification. Durable status and optional fallback models.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LARGE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039112"/>
            <a:ext cx="30540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Durable work-item ledger, bounded batches, checkpoints, failure clustering, failed-only recovery and completion gates.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7A4D"/>
                </a:solidFill>
                <a:latin typeface="Lato"/>
              </a:rPr>
              <a:t>Core idea: evidence and runtime state are authoritative; model text alone cannot satisfy completion gates.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Chat vs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Use the mode whose safety and execution boundary matches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Chat is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48828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Conversation • local document understanding • images • read-only MCP • project explanation • exports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5819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Agent is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039112"/>
            <a:ext cx="48828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Planned code work • migrations • tests • shell/build/test • external writes • live project changes • long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73152" cy="150876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867911"/>
            <a:ext cx="10561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Agent workspace can be optional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325112"/>
            <a:ext cx="1055217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Jira + Confluence + attached requirement analysis can run without a project. Add a workspace when the request needs project inspection or mutation.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Feature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Everything visible to the user plus the execution machinery behind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23444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Independent Chat/Agent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2344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23444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Prompt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709928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Attachments + local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70992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709928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Vision in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85416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185416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Local project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185416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185416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Plan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60904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66090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Live Agent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660904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66090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68 built-in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3639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13639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Dynamic MCP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313639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13639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Jira/Confluence read &amp; write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1188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61188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LSP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361188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361188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AGENTS.md / 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0873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087368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Subagent profiles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0873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087368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Large-task ledger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62856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4562856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Checkpoints / rollback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4562856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4562856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Revision-aware verification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038344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03834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Optional Agent fallbacks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59" y="5038344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1968" y="503834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Conversation history / rewind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513831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513831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Clear history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59" y="5513831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8A5B"/>
                </a:solidFill>
                <a:latin typeface="Lato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8" y="5513831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A25"/>
                </a:solidFill>
                <a:latin typeface="Lato"/>
              </a:rPr>
              <a:t>PDF / MD / JSON / XLSX / patch ZIP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Separation of UI, Chat, Agent, tools, workspace, external evidence and durable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98480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Request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The runtime deliberately chooses different paths instead of treating every prompt as an autonomous code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6002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Ordinary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05409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ChatService → ContextService → provider streaming → persist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32588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325880"/>
            <a:ext cx="73152" cy="16002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4904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MCP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947672"/>
            <a:ext cx="305409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ChatMcpService detects external evidence intent → read-only MCP loop → grounded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32588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325880"/>
            <a:ext cx="73152" cy="16002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4904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Workspace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1947672"/>
            <a:ext cx="305409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Project + resources + instructions + retrieval + MCP/LSP → plan → tools →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3703320"/>
            <a:ext cx="3886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20240" y="3703320"/>
            <a:ext cx="73152" cy="160020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21408" y="3867911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No-workspace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4325112"/>
            <a:ext cx="355701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MCP + uploaded documents → plan/approval → analysis/report. Local mutation tools are not invented.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703320"/>
            <a:ext cx="3886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3703320"/>
            <a:ext cx="73152" cy="160020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867911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Remembered workspace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4325112"/>
            <a:ext cx="355701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External-only Jira/Confluence/document prompts can detach a remembered workspace; project/code intent keeps it active.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Agent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Plan-first sequential execution with deterministic verification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pic>
        <p:nvPicPr>
          <p:cNvPr id="6" name="Picture 5" descr="ag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170432"/>
            <a:ext cx="731520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Planning &amp;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Human control is a runtime boundary, not just a prompt instruction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Plan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300837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Model receives bounded evidence and creates a structured sequential plan with validation and a final verification phase.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Plan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039112"/>
            <a:ext cx="300837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Enabled by default. User can review/edit before lock. Denial cancels without local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Plan 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039112"/>
            <a:ext cx="300837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After approval only one step becomes active; later steps remain gated. Model prose cannot skip locked steps.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07A4D"/>
                </a:solidFill>
                <a:latin typeface="Lato"/>
              </a:rPr>
              <a:t>The plan is execution state stored by AgentRunService—not merely text in the chat transcript.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Live workspace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Agent works on the user-selected project directly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20574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AgentWorkspaceService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4928616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Read/search/edit/write/copy/move/delete • build/test/check/bash • process • HTTP • checkpoints • final delta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73152" cy="20574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49047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PromptResourceResolver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47672"/>
            <a:ext cx="4928616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Explicit paths become role-aware aliases: primary/secondary workspace, reference, input, diagnostic.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86200"/>
            <a:ext cx="10835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886200"/>
            <a:ext cx="73152" cy="141732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050791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Why this design helps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507992"/>
            <a:ext cx="105064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No staging mirror • fewer path ambiguities • reference projects stay read-only • mutations feed revision tracking • final state is hash/binary safe.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Core Agent components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Orchestration, durable state, tools and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6187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73152" cy="173736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26463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AgentService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8366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Coordinates planning, approval, tool loop, recovery, verification and completion.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6187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61872"/>
            <a:ext cx="73152" cy="173736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26463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AgentRunService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8366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Durable plan/progress/model/work-item/revision/activity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26187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261872"/>
            <a:ext cx="73152" cy="173736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426463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AgentWorkspaceService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88366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Real local filesystem/process/build/test/HTTP/checkpoint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0215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02152"/>
            <a:ext cx="73152" cy="173736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66674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AgentToolRegistry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2394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68 allowlisted tool schemas + aliases + parallel-read classification + MCP merge.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0215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502152"/>
            <a:ext cx="73152" cy="173736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66674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AgentApprovalService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12394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Plan/permission approval lifecycle.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50215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502152"/>
            <a:ext cx="73152" cy="173736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66674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PromptResourceResolver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12394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Safe multi-path role and alias resolution.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Core Agent components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Evidence, context and external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6187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73152" cy="173736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26463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WorkspaceProfileService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8366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Caches reusable repository basics.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6187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61872"/>
            <a:ext cx="73152" cy="173736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26463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WorkspaceRetrievalIndexService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8366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Local lexical index + incremental changed-path refresh.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26187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261872"/>
            <a:ext cx="73152" cy="173736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426463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ContextWindowManager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88366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Token estimation, pruning, compaction and durable-state reinjection.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0215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02152"/>
            <a:ext cx="73152" cy="173736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66674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McpManager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2394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Generic stdio/HTTP MCP discovery, calls, config, secrets and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0215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502152"/>
            <a:ext cx="73152" cy="173736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66674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LspManager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12394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Language-server diagnostics/reference evidence against live files.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502152"/>
            <a:ext cx="3566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502152"/>
            <a:ext cx="73152" cy="173736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66674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AgentProfileService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123944"/>
            <a:ext cx="323697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Reusable subagent profile discovery and focused task delegation.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Shared components used by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Provider, files, projects, models and exports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24712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24712"/>
            <a:ext cx="73152" cy="1024128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89304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OpenAiCompatibleClient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46504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OpenAI-compatible provider + tool protocol compatibility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124712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124712"/>
            <a:ext cx="73152" cy="1024128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89304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ContextService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46504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Conversation/document/image context assembly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1124712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38744" y="1124712"/>
            <a:ext cx="73152" cy="1024128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1289304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FileService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1746504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Tika/POI local extraction + attachment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432304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432304"/>
            <a:ext cx="73152" cy="102412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596896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ProjectService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054096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Workspace/project metadata and Chat project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2432304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2432304"/>
            <a:ext cx="73152" cy="102412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596896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ModelCapabilityRegistry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054096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Model type/context/vision metadata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38744" y="2432304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38744" y="2432304"/>
            <a:ext cx="73152" cy="102412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2" y="2596896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ModelProbeService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3054096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User-defined model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739896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739896"/>
            <a:ext cx="73152" cy="1024128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904487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BoundedCommandOutput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4361688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Command transcript limits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5112" y="3739896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25112" y="3739896"/>
            <a:ext cx="73152" cy="1024128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3904487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Hashing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361688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Binary-safe baseline/delta identity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38744" y="3739896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38744" y="3739896"/>
            <a:ext cx="73152" cy="1024128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9912" y="3904487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ConversationService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2" y="4361688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History/rewind/delete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5047488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5047488"/>
            <a:ext cx="73152" cy="102412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" y="5212079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FileContextSelector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5669279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Relevant prior attachment selection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25112" y="5047488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25112" y="5047488"/>
            <a:ext cx="73152" cy="102412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5212079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ProjectContextService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669279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Bounded Chat project context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38744" y="5047488"/>
            <a:ext cx="3657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38744" y="5047488"/>
            <a:ext cx="73152" cy="102412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9912" y="5212079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Pdf/Excel/ProjectPatch services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9912" y="5669279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User-facing exports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Complete Java component inventory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Every main-source class is represented; detailed Agent responsibilities are on the preceding component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LlmApplication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2344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Spring Boot application entry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AppConfig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642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Spring configuration and application beans.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93976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AppPathResolver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09397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Resolves per-user application data/cache/log paths.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23744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AgentController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52374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Agent run/plan/approval/cancel/status REST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1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ApiExceptionHandler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53511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Global API exception mapping.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8327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ArtifactController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383279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Excel/PDF/project-patch export API.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23444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ChatController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2344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Chat SSE, cancellation and model-probe API.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66420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ConversationController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6642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Conversation/history/export API.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093976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FileController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09397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Attachment upload/read/view/download/re-extract API.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523744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McpController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52374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Remote MCP config/test/clear API.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953511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953511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Project/workspace mapping, rescan, files and patch apply API.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Complete Java component inventory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Every main-source class is represented; detailed Agent responsibilities are on the preceding component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ChatMode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2344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Chat-vs-Agent mode enum.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ChatRequest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642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Request payload carrying conversation, prompt, mode, settings, attachments and project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93976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ChatSettings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09397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Normalized provider/model/context/agent permission/fallback settings.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23744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ConversationDto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52374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Conversation API 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1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ExcelExportRequest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53511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Excel export request.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8327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FileDto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383279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Attachment metadata/extraction status 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13047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MessageDto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813047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Message API 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42815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ProjectDto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242815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Project/workspace API 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72583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ProjectFileUpload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672583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Project file upload item.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02351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ProjectPatchRequest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5102351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Project patch/export request.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3211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ProjectUploadBatch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532119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Batch project upload request.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23444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ConversationEntity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2344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H2/JPA conversation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66420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FileEntity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16642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H2/JPA attachment record.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093976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MessageEntity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09397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H2/JPA message record.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523744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ProjectFileEntity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252374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H2/JPA project-file metadata 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953511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ProjectWorkspaceEntity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953511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H2/JPA project/workspace record.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38327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ConversationRepository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3383279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Spring Data repository for conversations.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813047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FileRepository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3813047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Spring Data repository for attachments.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242815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MessageRepository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4242815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Spring Data repository for messages.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672583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ProjectFileRepository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672583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Spring Data repository for project-file records.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102351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ProjectWorkspaceRepository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5102351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Spring Data repository for workspaces.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Complete Java component inventory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Every main-source class is represented; detailed Agent responsibilities are on the preceding component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AgentApprovalService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2344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Approval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AgentCancelledException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642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Explicit cancellation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93976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AgentProfileService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09397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Reusable agent-profile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23744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AgentRunService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52374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Durable state 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1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AgentService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53511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Agent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8327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AgentToolRegistry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383279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Tool contract &amp;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13047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AgentWorkspaceService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813047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Live workspace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42815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BoundedCommandOutput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242815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Output limiter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23444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ChatMcpService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2344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Read-only Chat MCP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6420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ChatService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6642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Supporting runtime component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093976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ContextService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09397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Conversation context assembler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523744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ContextWindowManager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52374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Context budget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953511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ConversationService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2953511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Conversation 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38327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ExcelExportService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383279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Markdown-table to XLSX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813047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FileContextSelector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813047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Relevant prior-file selector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242815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FileService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242815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Local document extraction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Complete Java component inventory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Every main-source class is represented; detailed Agent responsibilities are on the preceding component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2344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Content identity helper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ImageUnderstandingService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642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Supporting runtime 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93976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LspManager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09397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Language-server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23744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McpManager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52374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Generic MCP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1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ModelCapabilityRegistry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53511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Model capability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8327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ModelProbeService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383279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Custom model probe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13047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OpenAiCompatibleClient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813047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Provider 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42815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PatchConflictException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242815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Patch conflict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23444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PdfExportService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2344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Local PDF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6420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ProjectContextService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66420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Chat project evidence selector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093976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ProjectPatchService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09397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Patch ZIP builder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523744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ProjectService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52374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Conversation project/workspace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953511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PromptResourceResolver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2953511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Multi-path resource resolver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38327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WorkspaceProfileService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383279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Durable project 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813047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007A4D"/>
                </a:solidFill>
                <a:latin typeface="Lato"/>
              </a:rPr>
              <a:t>WorkspaceRetrievalIndexService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813047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1F2A25"/>
                </a:solidFill>
                <a:latin typeface="Lato"/>
              </a:rPr>
              <a:t>Local retrieval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Tool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Compact stable built-ins + dynamically discovered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Stable allowlist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56232"/>
            <a:ext cx="291693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68 built-in tools with JSON schemas and canonical 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73152" cy="132588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39903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Deferred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856232"/>
            <a:ext cx="291693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tool_search can expose relevant deferred/dynamic schemas only when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132588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9903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Parallel reads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856232"/>
            <a:ext cx="291693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Independent read/search/status calls can run together; mutations stay ordered.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880360"/>
            <a:ext cx="5303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880360"/>
            <a:ext cx="73152" cy="65836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04495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Workspace discovery &amp; local evidence (13)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80360"/>
            <a:ext cx="5303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880360"/>
            <a:ext cx="73152" cy="65836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04495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Prompt-resolved resources (16)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03320"/>
            <a:ext cx="5303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703320"/>
            <a:ext cx="73152" cy="65836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867911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Conversation attachments (3)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703320"/>
            <a:ext cx="5303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703320"/>
            <a:ext cx="73152" cy="65836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867911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Reusable guidance / delegation / deferred capability (8)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526280"/>
            <a:ext cx="5303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4526280"/>
            <a:ext cx="73152" cy="65836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69087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Direct workspace mutations (6)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526280"/>
            <a:ext cx="5303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526280"/>
            <a:ext cx="73152" cy="65836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469087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Execution, process &amp; network (9)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349240"/>
            <a:ext cx="5303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" y="5349240"/>
            <a:ext cx="73152" cy="65836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513831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Review, checkpoint &amp; plan state (7)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349240"/>
            <a:ext cx="5303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5349240"/>
            <a:ext cx="73152" cy="658368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5513831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Large-task work-item management (6)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All built-in tools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Every fixed AgentToolRegistry component is listed; dynamic MCP tools are discovered at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A4D"/>
                </a:solidFill>
                <a:latin typeface="Lato"/>
              </a:rPr>
              <a:t>Workspace discovery &amp; local evidence  (13)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inspect_workspace  •  workspace_profile  •  workspace_profile_refresh  •  list  •  glob  •  grep  •  file_info  •  file_index  •  read  •  read_chunk  •  read_many  •  instruction_catalog  •  instructions_for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760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A4D"/>
                </a:solidFill>
                <a:latin typeface="Lato"/>
              </a:rPr>
              <a:t>Prompt-resolved resources  (16)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resource_catalog  •  resource_list  •  resource_info  •  resource_index  •  resource_read  •  resource_chunk  •  resource_grep  •  resource_edit  •  resource_write  •  resource_delete  •  resource_copy  •  resource_move  •  resource_build  •  resource_test  •  resource_check  •  resource_bash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All built-in tools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Every fixed AgentToolRegistry component is listed; dynamic MCP tools are discovered at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A4D"/>
                </a:solidFill>
                <a:latin typeface="Lato"/>
              </a:rPr>
              <a:t>Conversation attachments 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attachment_list  •  attachment_read  •  attachment_search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0896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A4D"/>
                </a:solidFill>
                <a:latin typeface="Lato"/>
              </a:rPr>
              <a:t>Reusable guidance / delegation / deferred capability  (8)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skill_catalog  •  skill  •  agent_catalog  •  task  •  tool_search  •  mcp_status  •  lsp_status  •  lsp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All built-in tools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Every fixed AgentToolRegistry component is listed; dynamic MCP tools are discovered at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A4D"/>
                </a:solidFill>
                <a:latin typeface="Lato"/>
              </a:rPr>
              <a:t>Direct workspace mutations  (6)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edit  •  write  •  copy  •  move  •  delete  •  apply_patch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0896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A4D"/>
                </a:solidFill>
                <a:latin typeface="Lato"/>
              </a:rPr>
              <a:t>Execution, process &amp; network  (9)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build  •  test  •  check  •  bash  •  process_start  •  process_status  •  process_output  •  process_stop  •  http_request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All built-in tools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Every fixed AgentToolRegistry component is listed; dynamic MCP tools are discovered at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A4D"/>
                </a:solidFill>
                <a:latin typeface="Lato"/>
              </a:rPr>
              <a:t>Review, checkpoint &amp; plan state  (7)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workspace_status  •  workspace_diff  •  workspace_checkpoint  •  workspace_rollback  •  todowrite  •  todoread  •  todo_update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0896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A4D"/>
                </a:solidFill>
                <a:latin typeface="Lato"/>
              </a:rPr>
              <a:t>Large-task work-item management  (6)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work_items_discover  •  work_items_init  •  work_items_add  •  work_items_read  •  work_items_update  •  verification_failures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Large-task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Normal tasks stay fast; broad migrations gain durable batching only when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pic>
        <p:nvPicPr>
          <p:cNvPr id="6" name="Picture 5" descr="large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07A4D"/>
                </a:solidFill>
                <a:latin typeface="Lato"/>
              </a:rPr>
              <a:t>Completion is blocked while work items or verifier failures remain unresolved.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Revision-aware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The latest changed workspace must be the revision that passed real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55448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Mutation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300837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Meaningful writes advance the revision requiring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55448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Verifier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039112"/>
            <a:ext cx="300837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build / test / check / run / HTTP verification is recorded against a revision.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73152" cy="155448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Completion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039112"/>
            <a:ext cx="300837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Stale verifier success cannot prove later edits. Latest required revision must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794760"/>
            <a:ext cx="8138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3794760"/>
            <a:ext cx="73152" cy="132588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12848" y="3959352"/>
            <a:ext cx="7818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Large-task extra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4416552"/>
            <a:ext cx="78089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Unresolved pending/failed/blocked work items or captured verifier failures also prevent success.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Context &amp; token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Durable runtime facts stay outside the transcript; only bounded evidence enters each model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pic>
        <p:nvPicPr>
          <p:cNvPr id="6" name="Picture 5" descr="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143000"/>
            <a:ext cx="59893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557784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A4D"/>
                </a:solidFill>
                <a:latin typeface="Lato"/>
              </a:rPr>
              <a:t>Incremental retrieval refresh + active-step cache + pruned tool outputs reduce repeated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Models, retries &amp; optional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Current ELIYA09 source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46304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904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Independent selectors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309981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One Chat model and one primary Agent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146304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904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Fallbacks are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47672"/>
            <a:ext cx="309981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UI supports up to two fallback Agent models; disabled by default.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258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25880"/>
            <a:ext cx="73152" cy="146304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4904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Run state is preserved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47672"/>
            <a:ext cx="3099816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Model switching does not reset approved plan/workspace/work-item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3429000"/>
            <a:ext cx="4160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37360" y="3429000"/>
            <a:ext cx="73152" cy="141732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38528" y="3593592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Provider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4050791"/>
            <a:ext cx="3831335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Source defines three retries per model activation and bounded cyclic model switching when enabled.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429000"/>
            <a:ext cx="4160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429000"/>
            <a:ext cx="73152" cy="1417320"/>
          </a:xfrm>
          <a:prstGeom prst="rect">
            <a:avLst/>
          </a:prstGeom>
          <a:solidFill>
            <a:srgbClr val="FFF4DE"/>
          </a:solidFill>
          <a:ln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593592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4DE"/>
                </a:solidFill>
                <a:latin typeface="Lato"/>
              </a:rPr>
              <a:t>Documentation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050791"/>
            <a:ext cx="3831335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README still contains older “no fallback chain” text. Executable source/UI is the as-built truth for this package.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Remote MCP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Generic integration—no Jira/Confluence logic in AgentService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56232"/>
            <a:ext cx="309981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Settings → Remote MCP: URL, connection name, timeout, user-id and product tokens. Test performs initialize + tools/list.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56232"/>
            <a:ext cx="309981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MCP activates for relevant external prompts and exposes read/search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856232"/>
            <a:ext cx="309981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Uses full discovered tools subject to permission policy; can combine MCP + workspace + attachments.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886200"/>
            <a:ext cx="4663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886200"/>
            <a:ext cx="73152" cy="132588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4050791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Secrets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507992"/>
            <a:ext cx="4334255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Managed file lives outside project; values are not returned by config API or inserted into model prompts.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886200"/>
            <a:ext cx="4663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886200"/>
            <a:ext cx="73152" cy="132588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7" y="4050791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Precedence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7" y="4507992"/>
            <a:ext cx="4334255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User-level config + workspace .agents/.opencode MCP config; workspace server name overrides user-level.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Agent without a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Designed for Jira / Confluence / MCP / document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7A4D"/>
                </a:solidFill>
                <a:latin typeface="Lato"/>
              </a:rPr>
              <a:t>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35640" cy="1371600"/>
          </a:xfrm>
          <a:prstGeom prst="roundRect">
            <a:avLst/>
          </a:prstGeom>
          <a:solidFill>
            <a:srgbClr val="F2F6F4"/>
          </a:solidFill>
          <a:ln>
            <a:solidFill>
              <a:srgbClr val="D9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A25"/>
                </a:solidFill>
                <a:latin typeface="Lato"/>
              </a:rPr>
              <a:t>Read Jira ABC-1234 and the linked Confluence pages, then compare them with the attached requirement document. Produce risks, dependencies, missing requirements and test coverage. No workspace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66160"/>
            <a:ext cx="10241280" cy="2011680"/>
          </a:xfrm>
          <a:prstGeom prst="roundRect">
            <a:avLst/>
          </a:prstGeom>
          <a:solidFill>
            <a:srgbClr val="EAF6F0"/>
          </a:solidFill>
          <a:ln>
            <a:solidFill>
              <a:srgbClr val="E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675887"/>
            <a:ext cx="1002182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A25"/>
                </a:solidFill>
                <a:latin typeface="Lato"/>
              </a:defRPr>
            </a:pPr>
            <a:r>
              <a:t>• Still uses plan approval and durable progress</a:t>
            </a:r>
          </a:p>
          <a:p>
            <a:pPr>
              <a:spcAft>
                <a:spcPts val="500"/>
              </a:spcAft>
              <a:defRPr sz="1400">
                <a:solidFill>
                  <a:srgbClr val="1F2A25"/>
                </a:solidFill>
                <a:latin typeface="Lato"/>
              </a:defRPr>
            </a:pPr>
            <a:r>
              <a:t>• Can read/search uploaded documents progressively</a:t>
            </a:r>
          </a:p>
          <a:p>
            <a:pPr>
              <a:spcAft>
                <a:spcPts val="500"/>
              </a:spcAft>
              <a:defRPr sz="1400">
                <a:solidFill>
                  <a:srgbClr val="1F2A25"/>
                </a:solidFill>
                <a:latin typeface="Lato"/>
              </a:defRPr>
            </a:pPr>
            <a:r>
              <a:t>• Can call configured MCP tools</a:t>
            </a:r>
          </a:p>
          <a:p>
            <a:pPr>
              <a:spcAft>
                <a:spcPts val="500"/>
              </a:spcAft>
              <a:defRPr sz="1400">
                <a:solidFill>
                  <a:srgbClr val="1F2A25"/>
                </a:solidFill>
                <a:latin typeface="Lato"/>
              </a:defRPr>
            </a:pPr>
            <a:r>
              <a:t>• Does not invent local workspace operations</a:t>
            </a:r>
          </a:p>
          <a:p>
            <a:pPr>
              <a:spcAft>
                <a:spcPts val="500"/>
              </a:spcAft>
              <a:defRPr sz="1400">
                <a:solidFill>
                  <a:srgbClr val="1F2A25"/>
                </a:solidFill>
                <a:latin typeface="Lato"/>
              </a:defRPr>
            </a:pPr>
            <a:r>
              <a:t>• Failed/cancelled runs do not mark remaining steps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LSP, AGENTS.md, skills &amp; subagents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Reusable project intelligence without bloating every model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73152" cy="150876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447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309981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instruction_catalog / instructions_for load root + nested AGENTS.md and CLAUDE.md.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73152" cy="150876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447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01952"/>
            <a:ext cx="309981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skill_catalog / skill load focused .agents/skills/.../SKILL.md guidance.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801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80160"/>
            <a:ext cx="73152" cy="150876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4447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Subagents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01952"/>
            <a:ext cx="309981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agent_catalog / task run focused fresh-context delegated analysis while main plan remains authoritative.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657600"/>
            <a:ext cx="37490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3657600"/>
            <a:ext cx="73152" cy="141732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12848" y="3822191"/>
            <a:ext cx="34289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LSP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4279392"/>
            <a:ext cx="34198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Generic language-server status/diagnostics/reference evidence synchronized to current live files.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57600"/>
            <a:ext cx="37490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657600"/>
            <a:ext cx="73152" cy="141732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3822191"/>
            <a:ext cx="34289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Deferred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279392"/>
            <a:ext cx="34198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tool_search loads relevant tool schemas only when needed, reducing baseline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Documents, images &amp; attachments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Local extraction avoids provider-native file upload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6459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Office +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56232"/>
            <a:ext cx="309981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DOC/XLS/PPT families via Tika/POI; PDF embedded text; old uploads can be re-extracted.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16459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56232"/>
            <a:ext cx="309981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Parsed as document content, so scripts/styles/raw tags are not treated as user-visible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16459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856232"/>
            <a:ext cx="309981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Chat only; vision-capable model required; Agent intentionally rejects image understanding.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703320"/>
            <a:ext cx="374903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3703320"/>
            <a:ext cx="73152" cy="132588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12848" y="3867911"/>
            <a:ext cx="34289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Agent attachment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4325112"/>
            <a:ext cx="341985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attachment_list • attachment_read • attachment_search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03320"/>
            <a:ext cx="374903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703320"/>
            <a:ext cx="73152" cy="1325880"/>
          </a:xfrm>
          <a:prstGeom prst="rect">
            <a:avLst/>
          </a:prstGeom>
          <a:solidFill>
            <a:srgbClr val="FFF4DE"/>
          </a:solidFill>
          <a:ln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3867911"/>
            <a:ext cx="34289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4DE"/>
                </a:solidFill>
                <a:latin typeface="Lato"/>
              </a:rPr>
              <a:t>Known limitation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325112"/>
            <a:ext cx="341985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Image-only/scanned PDF requires OCR outside the current extraction path.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How to use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Fast path for conversation, documents, images, external read evidence and exports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34440"/>
            <a:ext cx="10378440" cy="4434840"/>
          </a:xfrm>
          <a:prstGeom prst="roundRect">
            <a:avLst/>
          </a:prstGeom>
          <a:solidFill>
            <a:srgbClr val="EAF6F0"/>
          </a:solidFill>
          <a:ln>
            <a:solidFill>
              <a:srgbClr val="E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344168"/>
            <a:ext cx="10158984" cy="4215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F2A25"/>
                </a:solidFill>
                <a:latin typeface="Lato"/>
              </a:defRPr>
            </a:pPr>
            <a:r>
              <a:t>• 1  Configure endpoint/key + Chat model</a:t>
            </a:r>
          </a:p>
          <a:p>
            <a:pPr>
              <a:spcAft>
                <a:spcPts val="500"/>
              </a:spcAft>
              <a:defRPr sz="1600">
                <a:solidFill>
                  <a:srgbClr val="1F2A25"/>
                </a:solidFill>
                <a:latin typeface="Lato"/>
              </a:defRPr>
            </a:pPr>
            <a:r>
              <a:t>• 2  Select Chat</a:t>
            </a:r>
          </a:p>
          <a:p>
            <a:pPr>
              <a:spcAft>
                <a:spcPts val="500"/>
              </a:spcAft>
              <a:defRPr sz="1600">
                <a:solidFill>
                  <a:srgbClr val="1F2A25"/>
                </a:solidFill>
                <a:latin typeface="Lato"/>
              </a:defRPr>
            </a:pPr>
            <a:r>
              <a:t>• 3  Attach document/image/project if needed</a:t>
            </a:r>
          </a:p>
          <a:p>
            <a:pPr>
              <a:spcAft>
                <a:spcPts val="500"/>
              </a:spcAft>
              <a:defRPr sz="1600">
                <a:solidFill>
                  <a:srgbClr val="1F2A25"/>
                </a:solidFill>
                <a:latin typeface="Lato"/>
              </a:defRPr>
            </a:pPr>
            <a:r>
              <a:t>• 4  Ask question; MCP detector activates only for relevant external prompts</a:t>
            </a:r>
          </a:p>
          <a:p>
            <a:pPr>
              <a:spcAft>
                <a:spcPts val="500"/>
              </a:spcAft>
              <a:defRPr sz="1600">
                <a:solidFill>
                  <a:srgbClr val="1F2A25"/>
                </a:solidFill>
                <a:latin typeface="Lato"/>
              </a:defRPr>
            </a:pPr>
            <a:r>
              <a:t>• 5  Stream response; Stop is explicit cancellation</a:t>
            </a:r>
          </a:p>
          <a:p>
            <a:pPr>
              <a:spcAft>
                <a:spcPts val="500"/>
              </a:spcAft>
              <a:defRPr sz="1600">
                <a:solidFill>
                  <a:srgbClr val="1F2A25"/>
                </a:solidFill>
                <a:latin typeface="Lato"/>
              </a:defRPr>
            </a:pPr>
            <a:r>
              <a:t>• 6  Export PDF / Markdown / JSON / XLSX as needed</a:t>
            </a:r>
          </a:p>
          <a:p>
            <a:pPr>
              <a:spcAft>
                <a:spcPts val="500"/>
              </a:spcAft>
              <a:defRPr sz="1600">
                <a:solidFill>
                  <a:srgbClr val="1F2A25"/>
                </a:solidFill>
                <a:latin typeface="Lato"/>
              </a:defRPr>
            </a:pPr>
            <a:r>
              <a:t>• 7  Switch to Agent for mutations/execution/external writes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How to use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A practical operating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88720"/>
            <a:ext cx="10561320" cy="4754880"/>
          </a:xfrm>
          <a:prstGeom prst="roundRect">
            <a:avLst/>
          </a:prstGeom>
          <a:solidFill>
            <a:srgbClr val="EAF6F0"/>
          </a:solidFill>
          <a:ln>
            <a:solidFill>
              <a:srgbClr val="E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298448"/>
            <a:ext cx="10341864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1  Select Agent + primary model (+ optional fallbacks)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2  Select/mention project for code work; omit for external-only analysis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3  Attach requirements/logs; configure MCP if required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4  State objective, constraints, expected verification and non-goals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5  Review/edit/approve generated plan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6  Watch current step, backend status and live activity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7  Let large tasks use ledger + batches instead of one monolith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8  Require final verification of the latest revision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9  Review workspace diff/status and final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Settings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Main controls that change runtime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07008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3152" cy="9601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716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28800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API key • Base URL • Chat model • Agent model • temperature • max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07008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07008"/>
            <a:ext cx="73152" cy="9601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716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28800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enabled • name • URL • timeout • user-id • Jira/Confluence/GitLab/Sonar tokens • test • clear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414016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414016"/>
            <a:ext cx="73152" cy="96012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5786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Agent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035808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system prompt • earlier file context • shell • plan approval • granular permissions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14016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414016"/>
            <a:ext cx="73152" cy="96012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5786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035808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parallel reads • context/compaction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21024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621024"/>
            <a:ext cx="73152" cy="9601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78561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242816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optional fallbacks up to 2 • recovery attempts • auto-approve Ask when configured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21024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621024"/>
            <a:ext cx="73152" cy="9601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78561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242816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editable model library: id • type • context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828032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4828032"/>
            <a:ext cx="73152" cy="96012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99262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5449824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theme • remembered key • history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Persistence &amp; safety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Durable local state with explicit external/write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73152" cy="14173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447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H2 + uploads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309981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Conversations, messages, attachments and project metadata.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73152" cy="14173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447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Agent journals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01952"/>
            <a:ext cx="309981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Durable run snapshots/activity/work items allow polling and restart continuity.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80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80160"/>
            <a:ext cx="73152" cy="14173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4447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Local 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01952"/>
            <a:ext cx="309981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Default server bind 127.0.0.1:8090.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52044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3520440"/>
            <a:ext cx="73152" cy="132588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3685032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Secrets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142232"/>
            <a:ext cx="4059935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MCP secrets are not returned to UI API/model prompts; config lives outside project.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52044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3520440"/>
            <a:ext cx="73152" cy="132588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3685032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Resource permissions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4142232"/>
            <a:ext cx="4059935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Read-only reference/input/diagnostic roles + granular Agent allow/ask/deny controls.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REST/SSE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Controllers expose the product without merging UI concerns into runtime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07008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3152" cy="9601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716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28800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/api/chat/stream • /cancel • /model-probe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07008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07008"/>
            <a:ext cx="73152" cy="9601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716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28800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approvals • plan edit • cancel • run status • conversation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414016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414016"/>
            <a:ext cx="73152" cy="96012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5786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035808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config GET/POST/DELETE •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14016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414016"/>
            <a:ext cx="73152" cy="96012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57860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035808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upload • list • re-extract • text • view • download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21024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621024"/>
            <a:ext cx="73152" cy="9601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78561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242816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create/local • rescan • apply • files • delete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21024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621024"/>
            <a:ext cx="73152" cy="9601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78561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Conversations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242816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list/create/messages/rename/rewind/delete/export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828032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4828032"/>
            <a:ext cx="73152" cy="96012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99262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Artifacts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5449824"/>
            <a:ext cx="4928616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excel • pdf • project-patch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Sample Chat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Coverage across documents, images, project context and read-only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652760" cy="4526280"/>
          </a:xfrm>
          <a:prstGeom prst="roundRect">
            <a:avLst/>
          </a:prstGeom>
          <a:solidFill>
            <a:srgbClr val="EAF6F0"/>
          </a:solidFill>
          <a:ln>
            <a:solidFill>
              <a:srgbClr val="E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44168"/>
            <a:ext cx="10433304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“Summarize the attached requirement into acceptance criteria, risks, dependencies and questions. Do not invent missing details.”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“Analyze this screenshot and identify visible UI state/errors and an evidence-based troubleshooting checklist.”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“Read Jira ABC-1234 and linked Confluence pages through MCP; produce an alignment/gap table. Read-only.”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“Compare the two attached documents and show common, conflicting, A-only and B-only requirements.”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“Produce one clean Markdown table so I can export the findings to Excel.”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Sample Agent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Coverage across implementation, migration, MCP and large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652760" cy="4526280"/>
          </a:xfrm>
          <a:prstGeom prst="roundRect">
            <a:avLst/>
          </a:prstGeom>
          <a:solidFill>
            <a:srgbClr val="EAF6F0"/>
          </a:solidFill>
          <a:ln>
            <a:solidFill>
              <a:srgbClr val="E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44168"/>
            <a:ext cx="10433304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F2A25"/>
                </a:solidFill>
                <a:latin typeface="Lato"/>
              </a:defRPr>
            </a:pPr>
            <a:r>
              <a:t>• “Project path: … Implement &lt;requirement&gt;. Read instructions/tests, propose plan, then implement and verify the smallest high-signal scope.”</a:t>
            </a:r>
          </a:p>
          <a:p>
            <a:pPr>
              <a:spcAft>
                <a:spcPts val="500"/>
              </a:spcAft>
              <a:defRPr sz="1450">
                <a:solidFill>
                  <a:srgbClr val="1F2A25"/>
                </a:solidFill>
                <a:latin typeface="Lato"/>
              </a:defRPr>
            </a:pPr>
            <a:r>
              <a:t>• “Target Playwright / Source Selenium. Migrate &lt;feature&gt;. Keep source read-only, map test data/auth/assertions, and use a work-item ledger for large scope.”</a:t>
            </a:r>
          </a:p>
          <a:p>
            <a:pPr>
              <a:spcAft>
                <a:spcPts val="500"/>
              </a:spcAft>
              <a:defRPr sz="1450">
                <a:solidFill>
                  <a:srgbClr val="1F2A25"/>
                </a:solidFill>
                <a:latin typeface="Lato"/>
              </a:defRPr>
            </a:pPr>
            <a:r>
              <a:t>• “Read Jira + Confluence + attached requirement and compare to workspace. Plan, implement missing automation coverage, verify latest revision.”</a:t>
            </a:r>
          </a:p>
          <a:p>
            <a:pPr>
              <a:spcAft>
                <a:spcPts val="500"/>
              </a:spcAft>
              <a:defRPr sz="1450">
                <a:solidFill>
                  <a:srgbClr val="1F2A25"/>
                </a:solidFill>
                <a:latin typeface="Lato"/>
              </a:defRPr>
            </a:pPr>
            <a:r>
              <a:t>• “No workspace: read Jira + Confluence + attachments and produce risks/dependencies/gaps. Do not invent local project actions.”</a:t>
            </a:r>
          </a:p>
          <a:p>
            <a:pPr>
              <a:spcAft>
                <a:spcPts val="500"/>
              </a:spcAft>
              <a:defRPr sz="1450">
                <a:solidFill>
                  <a:srgbClr val="1F2A25"/>
                </a:solidFill>
                <a:latin typeface="Lato"/>
              </a:defRPr>
            </a:pPr>
            <a:r>
              <a:t>• “Start service with process_start, verify endpoint with http_request, then stop process and use real response as verification evidence.”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Built-in Prompt Library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17 templates shipped in app.js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1. Write JUnit 5 Tests for Existing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05156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Java / JUnit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18488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2. Generate JUnit Tests from 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61848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Java / JUnit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85415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3. Fix an Issue from Error or Stack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85415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Debugging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52344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4. Fix Using a Reference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75234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Reference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19272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5. Migrate Feature from Reference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31927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6. Implement or Modify a 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88620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53127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7. Refactor Without Changing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453127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Refactoring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20056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8. Summarise a Project or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02005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86983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9. Review Code and Find Improvement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586983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Code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Built-in Prompt Library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Testing, migration, development and reusable agent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10. Playwright MCP + Java Selenium/TestNG/Cucumber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188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Browser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11. Playwright Framework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10512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12. Migrate Java Selenium to Playwright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43230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5409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13. Add Tests to Existing Java Automation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05409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75888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14. Implement a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67588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9768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15. Diagnose and Fix a 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297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19472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16. Stabilize a Flaky Regression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919472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41264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5"/>
                </a:solidFill>
                <a:latin typeface="Lato"/>
              </a:rPr>
              <a:t>17. Create AGENTS.md and Reusable 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554126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7A4D"/>
                </a:solidFill>
                <a:latin typeface="Lato"/>
              </a:rPr>
              <a:t>Agent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Use case: Java Selenium / TestNG / Cucumber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Keep the current framework; let Agent use existing conventions and verify the smallest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73152" cy="16459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447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01952"/>
            <a:ext cx="305409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AGENTS.md • skills • pom.xml • runner/tag expression • hooks • pages • steps • Excel data •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280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280160"/>
            <a:ext cx="73152" cy="16459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4447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Implement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901952"/>
            <a:ext cx="305409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Reuse current abstractions and stable locators. Avoid a parallel framework.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280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280160"/>
            <a:ext cx="73152" cy="164592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4447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1901952"/>
            <a:ext cx="305409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Compile and run the smallest relevant tag/module; inspect failures and latest revision.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7A4D"/>
                </a:solidFill>
                <a:latin typeface="Lato"/>
              </a:rPr>
              <a:t>Optional Playwright MCP can be used as browser evidence without adding Playwright as the Java test runner.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Use case: Selenium Java → Playwright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Large migration combines source reference, target workspace, work ledger and final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88720"/>
            <a:ext cx="10652760" cy="4754880"/>
          </a:xfrm>
          <a:prstGeom prst="roundRect">
            <a:avLst/>
          </a:prstGeom>
          <a:solidFill>
            <a:srgbClr val="EAF6F0"/>
          </a:solidFill>
          <a:ln>
            <a:solidFill>
              <a:srgbClr val="E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298448"/>
            <a:ext cx="10433304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Map source runner/tags/scenarios/pages/waits/data/auth/assertions/reporting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Create source→target coverage mapping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Initialize work-item ledger for requested migration units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Migrate bounded batches using Playwright-native fixtures/auto-wait/locators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Checkpoint risky batches + cheap structural checks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Record failed units; recover failed-only</a:t>
            </a:r>
          </a:p>
          <a:p>
            <a:pPr>
              <a:spcAft>
                <a:spcPts val="500"/>
              </a:spcAft>
              <a:defRPr sz="1500">
                <a:solidFill>
                  <a:srgbClr val="1F2A25"/>
                </a:solidFill>
                <a:latin typeface="Lato"/>
              </a:defRPr>
            </a:pPr>
            <a:r>
              <a:t>• Run final typecheck/test scope against latest revision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Use case: Jira + Confluence + requirement +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One Agent run can combine external evidence and local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7A4D"/>
                </a:solidFill>
                <a:latin typeface="Lato"/>
              </a:rPr>
              <a:t>Jira / Confluence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325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7A4D"/>
                </a:solidFill>
                <a:latin typeface="Lato"/>
              </a:rPr>
              <a:t>Requirement attachment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325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7A4D"/>
                </a:solidFill>
                <a:latin typeface="Lato"/>
              </a:rPr>
              <a:t>Live project workspace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2926080" cy="1005840"/>
          </a:xfrm>
          <a:prstGeom prst="roundRect">
            <a:avLst/>
          </a:prstGeom>
          <a:solidFill>
            <a:srgbClr val="EAF6F0"/>
          </a:solidFill>
          <a:ln>
            <a:solidFill>
              <a:srgbClr val="E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A25"/>
                </a:solidFill>
                <a:latin typeface="Lato"/>
              </a:rPr>
              <a:t>Acceptance criteria
design decisions
external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2926080" cy="1005840"/>
          </a:xfrm>
          <a:prstGeom prst="roundRect">
            <a:avLst/>
          </a:prstGeom>
          <a:solidFill>
            <a:srgbClr val="EAF6F0"/>
          </a:solidFill>
          <a:ln>
            <a:solidFill>
              <a:srgbClr val="E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05740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A25"/>
                </a:solidFill>
                <a:latin typeface="Lato"/>
              </a:rPr>
              <a:t>Formal requirements
examples
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828800"/>
            <a:ext cx="2926080" cy="1005840"/>
          </a:xfrm>
          <a:prstGeom prst="roundRect">
            <a:avLst/>
          </a:prstGeom>
          <a:solidFill>
            <a:srgbClr val="EAF6F0"/>
          </a:solidFill>
          <a:ln>
            <a:solidFill>
              <a:srgbClr val="E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05740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A25"/>
                </a:solidFill>
                <a:latin typeface="Lato"/>
              </a:rPr>
              <a:t>Current code
tests
data/config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0632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8A5B"/>
                </a:solidFill>
                <a:latin typeface="Lato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3657600"/>
            <a:ext cx="8138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0" y="3657600"/>
            <a:ext cx="73152" cy="141732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2848" y="3822191"/>
            <a:ext cx="7818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Agent plan → implementation → final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4279392"/>
            <a:ext cx="78089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Compare evidence → identify gaps → approve plan → edit live workspace → run real verifier → optionally write final external summary.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Why each architectural choice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The value comes from separation of responsibilities and deterministic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100584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075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Durable run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64792"/>
            <a:ext cx="4928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Long tasks survive UI transport problems and do not depend on chat history as the only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73152" cy="100584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075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Selective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64792"/>
            <a:ext cx="4928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Large repositories do not need to be resent to the model every turn.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404872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404872"/>
            <a:ext cx="73152" cy="100584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56946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Plan 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026664"/>
            <a:ext cx="4928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Prevents scope drift and makes user-approved execution visible.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04872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404872"/>
            <a:ext cx="73152" cy="100584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56946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Revision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026664"/>
            <a:ext cx="4928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Blocks success based on stale test/build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66744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666744"/>
            <a:ext cx="73152" cy="100584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83133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Generic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288536"/>
            <a:ext cx="4928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External tools can change without rewriting core Agent orchestration.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66744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666744"/>
            <a:ext cx="73152" cy="100584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83133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Resource roles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288536"/>
            <a:ext cx="4928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Reference/input paths stay read-only while target workspaces stay explicit.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928616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4928616"/>
            <a:ext cx="73152" cy="100584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5093207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Large-task ledger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5550407"/>
            <a:ext cx="4928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Failed-only retry avoids redoing hundreds of completed units.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928616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928616"/>
            <a:ext cx="73152" cy="100584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5093207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Parallel reads / ordered writes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550407"/>
            <a:ext cx="4928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Reduces latency without creating write races.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Validation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What the shipped ELIYA09 package claims—and what it explicitly does 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73152" cy="1828800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44751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A5B"/>
                </a:solidFill>
                <a:latin typeface="Lato"/>
              </a:rPr>
              <a:t>Recorded passes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01952"/>
            <a:ext cx="48828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JavaScript syntax • CSS/static checks • focused Java 17 compilation with stubs • PDF/HTML/MCP/source invariants • regression additions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73152" cy="1828800"/>
          </a:xfrm>
          <a:prstGeom prst="rect">
            <a:avLst/>
          </a:prstGeom>
          <a:solidFill>
            <a:srgbClr val="FFF4DE"/>
          </a:solidFill>
          <a:ln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44751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4DE"/>
                </a:solidFill>
                <a:latin typeface="Lato"/>
              </a:rPr>
              <a:t>Full build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01952"/>
            <a:ext cx="4882896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The package report says Maven Central DNS resolution failed in its validation container, so a complete Spring Boot dependency build/JUnit suite was not claimed there.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3931920"/>
            <a:ext cx="8321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0240" y="3931920"/>
            <a:ext cx="73152" cy="1371600"/>
          </a:xfrm>
          <a:prstGeom prst="rect">
            <a:avLst/>
          </a:prstGeom>
          <a:solidFill>
            <a:srgbClr val="78BE20"/>
          </a:solidFill>
          <a:ln>
            <a:solidFill>
              <a:srgbClr val="78B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1408" y="4096511"/>
            <a:ext cx="8001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8BE20"/>
                </a:solidFill>
                <a:latin typeface="Lato"/>
              </a:rPr>
              <a:t>Release 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4553712"/>
            <a:ext cx="799185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2A25"/>
                </a:solidFill>
                <a:latin typeface="Lato"/>
              </a:rPr>
              <a:t>Run validate-local.bat / validate-local.sh on the target corporate machine with Maven/repository/proxy access before release.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A5B"/>
          </a:solidFill>
          <a:ln>
            <a:solidFill>
              <a:srgbClr val="00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7A4D"/>
                </a:solidFill>
                <a:latin typeface="Lato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65"/>
                </a:solidFill>
                <a:latin typeface="Lato"/>
              </a:rPr>
              <a:t>A safe first-run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6583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E6B65"/>
                </a:solidFill>
                <a:latin typeface="Lato"/>
              </a:rPr>
              <a:t>ELIYA09  |  As-built source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10332720" cy="4663440"/>
          </a:xfrm>
          <a:prstGeom prst="roundRect">
            <a:avLst/>
          </a:prstGeom>
          <a:solidFill>
            <a:srgbClr val="EAF6F0"/>
          </a:solidFill>
          <a:ln>
            <a:solidFill>
              <a:srgbClr val="E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298448"/>
            <a:ext cx="10113264" cy="444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1F2A25"/>
                </a:solidFill>
                <a:latin typeface="Lato"/>
              </a:defRPr>
            </a:pPr>
            <a:r>
              <a:t>• 1  Start application and configure endpoint/API key/models</a:t>
            </a:r>
          </a:p>
          <a:p>
            <a:pPr>
              <a:spcAft>
                <a:spcPts val="500"/>
              </a:spcAft>
              <a:defRPr sz="1550">
                <a:solidFill>
                  <a:srgbClr val="1F2A25"/>
                </a:solidFill>
                <a:latin typeface="Lato"/>
              </a:defRPr>
            </a:pPr>
            <a:r>
              <a:t>• 2  Validate Chat with a simple prompt and document upload</a:t>
            </a:r>
          </a:p>
          <a:p>
            <a:pPr>
              <a:spcAft>
                <a:spcPts val="500"/>
              </a:spcAft>
              <a:defRPr sz="1550">
                <a:solidFill>
                  <a:srgbClr val="1F2A25"/>
                </a:solidFill>
                <a:latin typeface="Lato"/>
              </a:defRPr>
            </a:pPr>
            <a:r>
              <a:t>• 3  Configure/test MCP if external evidence is needed</a:t>
            </a:r>
          </a:p>
          <a:p>
            <a:pPr>
              <a:spcAft>
                <a:spcPts val="500"/>
              </a:spcAft>
              <a:defRPr sz="1550">
                <a:solidFill>
                  <a:srgbClr val="1F2A25"/>
                </a:solidFill>
                <a:latin typeface="Lato"/>
              </a:defRPr>
            </a:pPr>
            <a:r>
              <a:t>• 4  Map a small local project</a:t>
            </a:r>
          </a:p>
          <a:p>
            <a:pPr>
              <a:spcAft>
                <a:spcPts val="500"/>
              </a:spcAft>
              <a:defRPr sz="1550">
                <a:solidFill>
                  <a:srgbClr val="1F2A25"/>
                </a:solidFill>
                <a:latin typeface="Lato"/>
              </a:defRPr>
            </a:pPr>
            <a:r>
              <a:t>• 5  Run Agent analysis-only prompt</a:t>
            </a:r>
          </a:p>
          <a:p>
            <a:pPr>
              <a:spcAft>
                <a:spcPts val="500"/>
              </a:spcAft>
              <a:defRPr sz="1550">
                <a:solidFill>
                  <a:srgbClr val="1F2A25"/>
                </a:solidFill>
                <a:latin typeface="Lato"/>
              </a:defRPr>
            </a:pPr>
            <a:r>
              <a:t>• 6  Run a small edit with plan approval + final verification</a:t>
            </a:r>
          </a:p>
          <a:p>
            <a:pPr>
              <a:spcAft>
                <a:spcPts val="500"/>
              </a:spcAft>
              <a:defRPr sz="1550">
                <a:solidFill>
                  <a:srgbClr val="1F2A25"/>
                </a:solidFill>
                <a:latin typeface="Lato"/>
              </a:defRPr>
            </a:pPr>
            <a:r>
              <a:t>• 7  Exercise Clear history and durable run status</a:t>
            </a:r>
          </a:p>
          <a:p>
            <a:pPr>
              <a:spcAft>
                <a:spcPts val="500"/>
              </a:spcAft>
              <a:defRPr sz="1550">
                <a:solidFill>
                  <a:srgbClr val="1F2A25"/>
                </a:solidFill>
                <a:latin typeface="Lato"/>
              </a:defRPr>
            </a:pPr>
            <a:r>
              <a:t>• 8  Only then try a broad migration / large-task ledger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5E6B65"/>
                </a:solidFill>
                <a:latin typeface="Lato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A4D"/>
          </a:solidFill>
          <a:ln>
            <a:solidFill>
              <a:srgbClr val="007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Lato"/>
              </a:rPr>
              <a:t>ELIYA09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E4F3EB"/>
                </a:solidFill>
                <a:latin typeface="Lato"/>
              </a:rPr>
              <a:t>Chat when you need understanding.
Agent when you need planned, evidenced and verified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5196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CFE9DC"/>
                </a:solidFill>
                <a:latin typeface="Lato"/>
              </a:rPr>
              <a:t>Source-complete details, every tool, every Java component and all prompt templates are in the companion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94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Lato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