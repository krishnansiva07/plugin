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ELIYA is a local AI engineering assistant with two modes: Chat for analysis and Agent for controlled execution. This deck focuses on the architecture, workflow, reliability and safety mechanisms that make the system understandable and governable.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mental model first. Chat is for analysis and communication. Agent is for controlled execution. This distinction makes the product easier to govern and easier for users to adopt.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demystify ELIYA. The web UI sends requests to controllers. Chat and Agent orchestration call the provider. Tool execution happens through application-owned services, not directly inside the LLM. Durable state lets the system recover and resume.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The user request is not executed immediately. ELIYA discovers evidence, creates a structured plan, optionally requests approval, executes stepwise, and verifies the latest mutation before marking the task complete.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why the architecture is modular. The orchestrator coordinates. The registry defines capabilities. The workspace service owns file operations. Context management controls token use. Durable run state supports recovery. Provider, LSP and MCP integrations are replaceable edges.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of the most important design differentiators. Large migrations are decomposed into work items and batches. Checkpoints and durable progress reduce the cost of failure. Verification is tied to the latest mutation so stale successful results do not falsely mark the task complete.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ELIYA does not continuously resend the entire project. The application maintains durable state and retrieves the evidence needed for the active plan step. This makes large codebases and long tasks more practical.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intentionally precise. The product has a dedicated deletion confirmation checkbox enabled by default. Direct Agent file deletion, destructive copy/move and patch deletion require approval. The guard also blocks obvious destructive shell commands. Application-level controls cannot guarantee what an arbitrary launched script does internally, so OS sandboxing remains the strongest boundary for untrusted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adoption slide. The user first connects a model, chooses Chat or Agent, provides only the necessary context, reviews the plan and then observes execution. The deletion gate is a separate high-impact confirmation.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examples that people can immediately reuse. The key message is that ELIYA is not just a chatbot. It combines controlled tools, workspace awareness, durable execution and explicit safety gates, including file deletion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AF8"/>
        </a:solidFill>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00965E"/>
          </a:solidFill>
          <a:ln w="12700">
            <a:solidFill>
              <a:srgbClr val="00965E"/>
            </a:solidFill>
            <a:prstDash val="solid"/>
          </a:ln>
        </p:spPr>
      </p:sp>
      <p:sp>
        <p:nvSpPr>
          <p:cNvPr id="3" name="Text 1"/>
          <p:cNvSpPr/>
          <p:nvPr/>
        </p:nvSpPr>
        <p:spPr>
          <a:xfrm>
            <a:off x="502920" y="6547104"/>
            <a:ext cx="4114800" cy="164592"/>
          </a:xfrm>
          <a:prstGeom prst="rect">
            <a:avLst/>
          </a:prstGeom>
          <a:noFill/>
          <a:ln/>
        </p:spPr>
        <p:txBody>
          <a:bodyPr wrap="square" lIns="0" tIns="0" rIns="0" bIns="0" rtlCol="0" anchor="ctr"/>
          <a:lstStyle/>
          <a:p>
            <a:pPr indent="0" marL="0">
              <a:buNone/>
            </a:pPr>
            <a:r>
              <a:rPr lang="en-US" sz="850" dirty="0">
                <a:solidFill>
                  <a:srgbClr val="53645C"/>
                </a:solidFill>
                <a:latin typeface="Aptos" pitchFamily="34" charset="0"/>
                <a:ea typeface="Aptos" pitchFamily="34" charset="-122"/>
                <a:cs typeface="Aptos" pitchFamily="34" charset="-120"/>
              </a:rPr>
              <a:t>ELIYA  |  AI Engineering Agent</a:t>
            </a:r>
            <a:endParaRPr lang="en-US" sz="850" dirty="0"/>
          </a:p>
        </p:txBody>
      </p:sp>
      <p:sp>
        <p:nvSpPr>
          <p:cNvPr id="4" name="Text 2"/>
          <p:cNvSpPr/>
          <p:nvPr/>
        </p:nvSpPr>
        <p:spPr>
          <a:xfrm>
            <a:off x="9646920" y="6547104"/>
            <a:ext cx="2011680" cy="164592"/>
          </a:xfrm>
          <a:prstGeom prst="rect">
            <a:avLst/>
          </a:prstGeom>
          <a:noFill/>
          <a:ln/>
        </p:spPr>
        <p:txBody>
          <a:bodyPr wrap="square" lIns="0" tIns="0" rIns="0" bIns="0" rtlCol="0" anchor="ctr"/>
          <a:lstStyle/>
          <a:p>
            <a:pPr algn="r" indent="0" marL="0">
              <a:buNone/>
            </a:pPr>
            <a:r>
              <a:rPr lang="en-US" sz="850" dirty="0">
                <a:solidFill>
                  <a:srgbClr val="53645C"/>
                </a:solidFill>
                <a:latin typeface="Aptos" pitchFamily="34" charset="0"/>
                <a:ea typeface="Aptos" pitchFamily="34" charset="-122"/>
                <a:cs typeface="Aptos" pitchFamily="34" charset="-120"/>
              </a:rPr>
              <a:t>Executive Overview</a:t>
            </a:r>
            <a:endParaRPr lang="en-US" sz="850" dirty="0"/>
          </a:p>
        </p:txBody>
      </p:sp>
      <p:sp>
        <p:nvSpPr>
          <p:cNvPr id="25" name="Slide Number Placeholder 0"/>
          <p:cNvSpPr>
            <a:spLocks noGrp="1"/>
          </p:cNvSpPr>
          <p:nvPr>
            <p:ph type="sldNum" sz="quarter" idx="4294967295"/>
          </p:nvPr>
        </p:nvSpPr>
        <p:spPr>
          <a:xfrm>
            <a:off x="11686032" y="6537960"/>
            <a:ext cx="256032" cy="164592"/>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53645C"/>
                </a:solidFill>
                <a:latin typeface="Aptos"/>
                <a:ea typeface="Aptos"/>
                <a:cs typeface="Aptos"/>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686032" y="6537960"/>
            <a:ext cx="256032" cy="164592"/>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53645C"/>
                </a:solidFill>
                <a:latin typeface="Aptos"/>
                <a:ea typeface="Aptos"/>
                <a:cs typeface="Apto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8F5"/>
        </a:solidFill>
      </p:bgPr>
    </p:bg>
    <p:spTree>
      <p:nvGrpSpPr>
        <p:cNvPr id="1" name=""/>
        <p:cNvGrpSpPr/>
        <p:nvPr/>
      </p:nvGrpSpPr>
      <p:grpSpPr>
        <a:xfrm>
          <a:off x="0" y="0"/>
          <a:ext cx="0" cy="0"/>
          <a:chOff x="0" y="0"/>
          <a:chExt cx="0" cy="0"/>
        </a:xfrm>
      </p:grpSpPr>
      <p:sp>
        <p:nvSpPr>
          <p:cNvPr id="2" name="Shape 0"/>
          <p:cNvSpPr/>
          <p:nvPr/>
        </p:nvSpPr>
        <p:spPr>
          <a:xfrm>
            <a:off x="0" y="0"/>
            <a:ext cx="4434840" cy="6858000"/>
          </a:xfrm>
          <a:prstGeom prst="rect">
            <a:avLst/>
          </a:prstGeom>
          <a:solidFill>
            <a:srgbClr val="153D2E"/>
          </a:solidFill>
          <a:ln w="12700">
            <a:solidFill>
              <a:srgbClr val="153D2E"/>
            </a:solidFill>
            <a:prstDash val="solid"/>
          </a:ln>
        </p:spPr>
      </p:sp>
      <p:sp>
        <p:nvSpPr>
          <p:cNvPr id="3" name="Shape 1"/>
          <p:cNvSpPr/>
          <p:nvPr/>
        </p:nvSpPr>
        <p:spPr>
          <a:xfrm>
            <a:off x="320040" y="502920"/>
            <a:ext cx="566928" cy="109728"/>
          </a:xfrm>
          <a:prstGeom prst="rect">
            <a:avLst/>
          </a:prstGeom>
          <a:solidFill>
            <a:srgbClr val="00965E"/>
          </a:solidFill>
          <a:ln w="12700">
            <a:solidFill>
              <a:srgbClr val="00965E"/>
            </a:solidFill>
            <a:prstDash val="solid"/>
          </a:ln>
        </p:spPr>
      </p:sp>
      <p:sp>
        <p:nvSpPr>
          <p:cNvPr id="4" name="Text 2"/>
          <p:cNvSpPr/>
          <p:nvPr/>
        </p:nvSpPr>
        <p:spPr>
          <a:xfrm>
            <a:off x="502920" y="987552"/>
            <a:ext cx="3246120" cy="694944"/>
          </a:xfrm>
          <a:prstGeom prst="rect">
            <a:avLst/>
          </a:prstGeom>
          <a:noFill/>
          <a:ln/>
        </p:spPr>
        <p:txBody>
          <a:bodyPr wrap="square" lIns="0" tIns="0" rIns="0" bIns="0" rtlCol="0" anchor="ctr"/>
          <a:lstStyle/>
          <a:p>
            <a:pPr indent="0" marL="0">
              <a:buNone/>
            </a:pPr>
            <a:r>
              <a:rPr lang="en-US" sz="3700" b="1" dirty="0">
                <a:solidFill>
                  <a:srgbClr val="FFFFFF"/>
                </a:solidFill>
              </a:rPr>
              <a:t>ELIYA</a:t>
            </a:r>
            <a:endParaRPr lang="en-US" sz="3700" dirty="0"/>
          </a:p>
        </p:txBody>
      </p:sp>
      <p:sp>
        <p:nvSpPr>
          <p:cNvPr id="5" name="Text 3"/>
          <p:cNvSpPr/>
          <p:nvPr/>
        </p:nvSpPr>
        <p:spPr>
          <a:xfrm>
            <a:off x="521208" y="1783080"/>
            <a:ext cx="3383280" cy="548640"/>
          </a:xfrm>
          <a:prstGeom prst="rect">
            <a:avLst/>
          </a:prstGeom>
          <a:noFill/>
          <a:ln/>
        </p:spPr>
        <p:txBody>
          <a:bodyPr wrap="square" lIns="0" tIns="0" rIns="0" bIns="0" rtlCol="0" anchor="ctr"/>
          <a:lstStyle/>
          <a:p>
            <a:pPr indent="0" marL="0">
              <a:buNone/>
            </a:pPr>
            <a:r>
              <a:rPr lang="en-US" sz="2200" dirty="0">
                <a:solidFill>
                  <a:srgbClr val="DDEBE4"/>
                </a:solidFill>
              </a:rPr>
              <a:t>AI Engineering Agent</a:t>
            </a:r>
            <a:endParaRPr lang="en-US" sz="2200" dirty="0"/>
          </a:p>
        </p:txBody>
      </p:sp>
      <p:sp>
        <p:nvSpPr>
          <p:cNvPr id="6" name="Text 4"/>
          <p:cNvSpPr/>
          <p:nvPr/>
        </p:nvSpPr>
        <p:spPr>
          <a:xfrm>
            <a:off x="530352" y="2560320"/>
            <a:ext cx="3337560" cy="914400"/>
          </a:xfrm>
          <a:prstGeom prst="rect">
            <a:avLst/>
          </a:prstGeom>
          <a:noFill/>
          <a:ln/>
        </p:spPr>
        <p:txBody>
          <a:bodyPr wrap="square" lIns="0" tIns="0" rIns="0" bIns="0" rtlCol="0" anchor="ctr"/>
          <a:lstStyle/>
          <a:p>
            <a:pPr indent="0" marL="0">
              <a:buNone/>
            </a:pPr>
            <a:r>
              <a:rPr lang="en-US" sz="1500" dirty="0">
                <a:solidFill>
                  <a:srgbClr val="C7D9D0"/>
                </a:solidFill>
              </a:rPr>
              <a:t>Architecture · Workflow · Reliability · Safety · Usage</a:t>
            </a:r>
            <a:endParaRPr lang="en-US" sz="1500" dirty="0"/>
          </a:p>
        </p:txBody>
      </p:sp>
      <p:sp>
        <p:nvSpPr>
          <p:cNvPr id="7" name="Text 5"/>
          <p:cNvSpPr/>
          <p:nvPr/>
        </p:nvSpPr>
        <p:spPr>
          <a:xfrm>
            <a:off x="4892040" y="1417320"/>
            <a:ext cx="6355080" cy="1051560"/>
          </a:xfrm>
          <a:prstGeom prst="rect">
            <a:avLst/>
          </a:prstGeom>
          <a:noFill/>
          <a:ln/>
        </p:spPr>
        <p:txBody>
          <a:bodyPr wrap="square" lIns="0" tIns="0" rIns="0" bIns="0" rtlCol="0" anchor="ctr"/>
          <a:lstStyle/>
          <a:p>
            <a:pPr indent="0" marL="0">
              <a:buNone/>
            </a:pPr>
            <a:r>
              <a:rPr lang="en-US" sz="2400" b="1" dirty="0">
                <a:solidFill>
                  <a:srgbClr val="153D2E"/>
                </a:solidFill>
              </a:rPr>
              <a:t>A 10-slide professional overview designed to make the platform understandable to engineering, QA and leadership audiences.</a:t>
            </a:r>
            <a:endParaRPr lang="en-US" sz="2400" dirty="0"/>
          </a:p>
        </p:txBody>
      </p:sp>
      <p:sp>
        <p:nvSpPr>
          <p:cNvPr id="8" name="Shape 6"/>
          <p:cNvSpPr/>
          <p:nvPr/>
        </p:nvSpPr>
        <p:spPr>
          <a:xfrm>
            <a:off x="4937760" y="2880360"/>
            <a:ext cx="6263640" cy="1993392"/>
          </a:xfrm>
          <a:prstGeom prst="roundRect">
            <a:avLst>
              <a:gd name="adj" fmla="val 3670"/>
            </a:avLst>
          </a:prstGeom>
          <a:solidFill>
            <a:srgbClr val="FFFFFF"/>
          </a:solidFill>
          <a:ln w="12700">
            <a:solidFill>
              <a:srgbClr val="C9D9D0"/>
            </a:solidFill>
            <a:prstDash val="solid"/>
          </a:ln>
        </p:spPr>
      </p:sp>
      <p:sp>
        <p:nvSpPr>
          <p:cNvPr id="9" name="Text 7"/>
          <p:cNvSpPr/>
          <p:nvPr/>
        </p:nvSpPr>
        <p:spPr>
          <a:xfrm>
            <a:off x="5303520" y="3246120"/>
            <a:ext cx="2468880" cy="310896"/>
          </a:xfrm>
          <a:prstGeom prst="rect">
            <a:avLst/>
          </a:prstGeom>
          <a:noFill/>
          <a:ln/>
        </p:spPr>
        <p:txBody>
          <a:bodyPr wrap="square" lIns="0" tIns="0" rIns="0" bIns="0" rtlCol="0" anchor="ctr"/>
          <a:lstStyle/>
          <a:p>
            <a:pPr indent="0" marL="0">
              <a:buNone/>
            </a:pPr>
            <a:r>
              <a:rPr lang="en-US" sz="1600" b="1" dirty="0">
                <a:solidFill>
                  <a:srgbClr val="006B45"/>
                </a:solidFill>
              </a:rPr>
              <a:t>What this deck covers</a:t>
            </a:r>
            <a:endParaRPr lang="en-US" sz="1600" dirty="0"/>
          </a:p>
        </p:txBody>
      </p:sp>
      <p:sp>
        <p:nvSpPr>
          <p:cNvPr id="10" name="Text 8"/>
          <p:cNvSpPr/>
          <p:nvPr/>
        </p:nvSpPr>
        <p:spPr>
          <a:xfrm>
            <a:off x="5285232" y="3703320"/>
            <a:ext cx="5440680" cy="1417320"/>
          </a:xfrm>
          <a:prstGeom prst="rect">
            <a:avLst/>
          </a:prstGeom>
          <a:noFill/>
          <a:ln/>
        </p:spPr>
        <p:txBody>
          <a:bodyPr wrap="square" lIns="254" tIns="254" rIns="254" bIns="254" rtlCol="0" anchor="t"/>
          <a:lstStyle/>
          <a:p>
            <a:pPr marL="177800" indent="-177800">
              <a:buSzPct val="100000"/>
              <a:buChar char="•"/>
            </a:pPr>
            <a:r>
              <a:rPr lang="en-US" sz="1200" dirty="0">
                <a:solidFill>
                  <a:srgbClr val="1C2B24"/>
                </a:solidFill>
              </a:rPr>
              <a:t>What ELIYA does and when to use Chat vs Agent</a:t>
            </a:r>
            <a:endParaRPr lang="en-US" sz="1200" dirty="0"/>
          </a:p>
          <a:p>
            <a:pPr marL="177800" indent="-177800">
              <a:buSzPct val="100000"/>
              <a:buChar char="•"/>
            </a:pPr>
            <a:r>
              <a:rPr lang="en-US" sz="1200" dirty="0">
                <a:solidFill>
                  <a:srgbClr val="1C2B24"/>
                </a:solidFill>
              </a:rPr>
              <a:t>How planning, tools, workspace, context and verification work together</a:t>
            </a:r>
            <a:endParaRPr lang="en-US" sz="1200" dirty="0"/>
          </a:p>
          <a:p>
            <a:pPr marL="177800" indent="-177800">
              <a:buSzPct val="100000"/>
              <a:buChar char="•"/>
            </a:pPr>
            <a:r>
              <a:rPr lang="en-US" sz="1200" dirty="0">
                <a:solidFill>
                  <a:srgbClr val="1C2B24"/>
                </a:solidFill>
              </a:rPr>
              <a:t>How large tasks recover safely and how file deletion is governed</a:t>
            </a:r>
            <a:endParaRPr lang="en-US" sz="1200" dirty="0"/>
          </a:p>
          <a:p>
            <a:pPr marL="177800" indent="-177800">
              <a:buSzPct val="100000"/>
              <a:buChar char="•"/>
            </a:pPr>
            <a:r>
              <a:rPr lang="en-US" sz="1200" dirty="0">
                <a:solidFill>
                  <a:srgbClr val="1C2B24"/>
                </a:solidFill>
              </a:rPr>
              <a:t>Simple example prompts for real engineering work</a:t>
            </a:r>
            <a:endParaRPr lang="en-US" sz="1200" dirty="0"/>
          </a:p>
        </p:txBody>
      </p:sp>
      <p:sp>
        <p:nvSpPr>
          <p:cNvPr id="11" name="Shape 9"/>
          <p:cNvSpPr/>
          <p:nvPr/>
        </p:nvSpPr>
        <p:spPr>
          <a:xfrm>
            <a:off x="4983480" y="5257800"/>
            <a:ext cx="1965960" cy="329184"/>
          </a:xfrm>
          <a:prstGeom prst="roundRect">
            <a:avLst>
              <a:gd name="adj" fmla="val 22222"/>
            </a:avLst>
          </a:prstGeom>
          <a:solidFill>
            <a:srgbClr val="E8F5EF"/>
          </a:solidFill>
          <a:ln w="12700">
            <a:solidFill>
              <a:srgbClr val="E8F5EF"/>
            </a:solidFill>
            <a:prstDash val="solid"/>
          </a:ln>
        </p:spPr>
      </p:sp>
      <p:sp>
        <p:nvSpPr>
          <p:cNvPr id="12" name="Text 10"/>
          <p:cNvSpPr/>
          <p:nvPr/>
        </p:nvSpPr>
        <p:spPr>
          <a:xfrm>
            <a:off x="5056632" y="5312664"/>
            <a:ext cx="1819656" cy="201168"/>
          </a:xfrm>
          <a:prstGeom prst="rect">
            <a:avLst/>
          </a:prstGeom>
          <a:noFill/>
          <a:ln/>
        </p:spPr>
        <p:txBody>
          <a:bodyPr wrap="square" lIns="0" tIns="0" rIns="0" bIns="0" rtlCol="0" anchor="ctr"/>
          <a:lstStyle/>
          <a:p>
            <a:pPr algn="ctr" indent="0" marL="0">
              <a:buNone/>
            </a:pPr>
            <a:r>
              <a:rPr lang="en-US" sz="1000" b="1" dirty="0">
                <a:solidFill>
                  <a:srgbClr val="006B45"/>
                </a:solidFill>
              </a:rPr>
              <a:t>Professional summary</a:t>
            </a:r>
            <a:endParaRPr lang="en-US" sz="1000" dirty="0"/>
          </a:p>
        </p:txBody>
      </p:sp>
      <p:sp>
        <p:nvSpPr>
          <p:cNvPr id="13" name="Shape 11"/>
          <p:cNvSpPr/>
          <p:nvPr/>
        </p:nvSpPr>
        <p:spPr>
          <a:xfrm>
            <a:off x="7132320" y="5257800"/>
            <a:ext cx="1828800" cy="329184"/>
          </a:xfrm>
          <a:prstGeom prst="roundRect">
            <a:avLst>
              <a:gd name="adj" fmla="val 22222"/>
            </a:avLst>
          </a:prstGeom>
          <a:solidFill>
            <a:srgbClr val="E8F5EF"/>
          </a:solidFill>
          <a:ln w="12700">
            <a:solidFill>
              <a:srgbClr val="E8F5EF"/>
            </a:solidFill>
            <a:prstDash val="solid"/>
          </a:ln>
        </p:spPr>
      </p:sp>
      <p:sp>
        <p:nvSpPr>
          <p:cNvPr id="14" name="Text 12"/>
          <p:cNvSpPr/>
          <p:nvPr/>
        </p:nvSpPr>
        <p:spPr>
          <a:xfrm>
            <a:off x="7205472" y="5312664"/>
            <a:ext cx="1682496" cy="201168"/>
          </a:xfrm>
          <a:prstGeom prst="rect">
            <a:avLst/>
          </a:prstGeom>
          <a:noFill/>
          <a:ln/>
        </p:spPr>
        <p:txBody>
          <a:bodyPr wrap="square" lIns="0" tIns="0" rIns="0" bIns="0" rtlCol="0" anchor="ctr"/>
          <a:lstStyle/>
          <a:p>
            <a:pPr algn="ctr" indent="0" marL="0">
              <a:buNone/>
            </a:pPr>
            <a:r>
              <a:rPr lang="en-US" sz="1000" b="1" dirty="0">
                <a:solidFill>
                  <a:srgbClr val="006B45"/>
                </a:solidFill>
              </a:rPr>
              <a:t>BNP green theme</a:t>
            </a:r>
            <a:endParaRPr lang="en-US" sz="1000" dirty="0"/>
          </a:p>
        </p:txBody>
      </p:sp>
      <p:sp>
        <p:nvSpPr>
          <p:cNvPr id="15" name="Shape 13"/>
          <p:cNvSpPr/>
          <p:nvPr/>
        </p:nvSpPr>
        <p:spPr>
          <a:xfrm>
            <a:off x="9162288" y="5257800"/>
            <a:ext cx="1965960" cy="329184"/>
          </a:xfrm>
          <a:prstGeom prst="roundRect">
            <a:avLst>
              <a:gd name="adj" fmla="val 22222"/>
            </a:avLst>
          </a:prstGeom>
          <a:solidFill>
            <a:srgbClr val="E8F5EF"/>
          </a:solidFill>
          <a:ln w="12700">
            <a:solidFill>
              <a:srgbClr val="E8F5EF"/>
            </a:solidFill>
            <a:prstDash val="solid"/>
          </a:ln>
        </p:spPr>
      </p:sp>
      <p:sp>
        <p:nvSpPr>
          <p:cNvPr id="16" name="Text 14"/>
          <p:cNvSpPr/>
          <p:nvPr/>
        </p:nvSpPr>
        <p:spPr>
          <a:xfrm>
            <a:off x="9235440" y="5312664"/>
            <a:ext cx="1819656" cy="201168"/>
          </a:xfrm>
          <a:prstGeom prst="rect">
            <a:avLst/>
          </a:prstGeom>
          <a:noFill/>
          <a:ln/>
        </p:spPr>
        <p:txBody>
          <a:bodyPr wrap="square" lIns="0" tIns="0" rIns="0" bIns="0" rtlCol="0" anchor="ctr"/>
          <a:lstStyle/>
          <a:p>
            <a:pPr algn="ctr" indent="0" marL="0">
              <a:buNone/>
            </a:pPr>
            <a:r>
              <a:rPr lang="en-US" sz="1000" b="1" dirty="0">
                <a:solidFill>
                  <a:srgbClr val="006B45"/>
                </a:solidFill>
              </a:rPr>
              <a:t>10 slides</a:t>
            </a:r>
            <a:endParaRPr lang="en-US" sz="1000" dirty="0"/>
          </a:p>
        </p:txBody>
      </p:sp>
      <p:sp>
        <p:nvSpPr>
          <p:cNvPr id="25" name="Slide Number Placeholder 0"/>
          <p:cNvSpPr>
            <a:spLocks noGrp="1"/>
          </p:cNvSpPr>
          <p:nvPr>
            <p:ph type="sldNum" sz="quarter" idx="4294967295"/>
          </p:nvPr>
        </p:nvSpPr>
        <p:spPr>
          <a:xfrm>
            <a:off x="11686032" y="6537960"/>
            <a:ext cx="256032" cy="164592"/>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53645C"/>
                </a:solidFill>
                <a:latin typeface="Aptos"/>
                <a:ea typeface="Aptos"/>
                <a:cs typeface="Aptos"/>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84048"/>
            <a:ext cx="8183880" cy="438912"/>
          </a:xfrm>
          <a:prstGeom prst="rect">
            <a:avLst/>
          </a:prstGeom>
          <a:noFill/>
          <a:ln/>
        </p:spPr>
        <p:txBody>
          <a:bodyPr wrap="square" lIns="0" tIns="0" rIns="0" bIns="0" rtlCol="0" anchor="ctr"/>
          <a:lstStyle/>
          <a:p>
            <a:pPr indent="0" marL="0">
              <a:buNone/>
            </a:pPr>
            <a:r>
              <a:rPr lang="en-US" sz="2700" b="1" dirty="0">
                <a:solidFill>
                  <a:srgbClr val="153D2E"/>
                </a:solidFill>
              </a:rPr>
              <a:t>1. What ELIYA is</a:t>
            </a:r>
            <a:endParaRPr lang="en-US" sz="2700" dirty="0"/>
          </a:p>
        </p:txBody>
      </p:sp>
      <p:sp>
        <p:nvSpPr>
          <p:cNvPr id="3" name="Text 1"/>
          <p:cNvSpPr/>
          <p:nvPr/>
        </p:nvSpPr>
        <p:spPr>
          <a:xfrm>
            <a:off x="566928" y="877824"/>
            <a:ext cx="10881360" cy="347472"/>
          </a:xfrm>
          <a:prstGeom prst="rect">
            <a:avLst/>
          </a:prstGeom>
          <a:noFill/>
          <a:ln/>
        </p:spPr>
        <p:txBody>
          <a:bodyPr wrap="square" lIns="0" tIns="0" rIns="0" bIns="0" rtlCol="0" anchor="ctr"/>
          <a:lstStyle/>
          <a:p>
            <a:pPr indent="0" marL="0">
              <a:buNone/>
            </a:pPr>
            <a:r>
              <a:rPr lang="en-US" sz="1250" dirty="0">
                <a:solidFill>
                  <a:srgbClr val="5A6B62"/>
                </a:solidFill>
              </a:rPr>
              <a:t>One application, two ways of working — conversational intelligence and task execution.</a:t>
            </a:r>
            <a:endParaRPr lang="en-US" sz="1250" dirty="0"/>
          </a:p>
        </p:txBody>
      </p:sp>
      <p:sp>
        <p:nvSpPr>
          <p:cNvPr id="4" name="Shape 2"/>
          <p:cNvSpPr/>
          <p:nvPr/>
        </p:nvSpPr>
        <p:spPr>
          <a:xfrm>
            <a:off x="9646920" y="402336"/>
            <a:ext cx="1920240" cy="329184"/>
          </a:xfrm>
          <a:prstGeom prst="roundRect">
            <a:avLst>
              <a:gd name="adj" fmla="val 22222"/>
            </a:avLst>
          </a:prstGeom>
          <a:solidFill>
            <a:srgbClr val="D9EFE5"/>
          </a:solidFill>
          <a:ln w="12700">
            <a:solidFill>
              <a:srgbClr val="D9EFE5"/>
            </a:solidFill>
            <a:prstDash val="solid"/>
          </a:ln>
        </p:spPr>
      </p:sp>
      <p:sp>
        <p:nvSpPr>
          <p:cNvPr id="5" name="Text 3"/>
          <p:cNvSpPr/>
          <p:nvPr/>
        </p:nvSpPr>
        <p:spPr>
          <a:xfrm>
            <a:off x="9720072" y="457200"/>
            <a:ext cx="1773936" cy="201168"/>
          </a:xfrm>
          <a:prstGeom prst="rect">
            <a:avLst/>
          </a:prstGeom>
          <a:noFill/>
          <a:ln/>
        </p:spPr>
        <p:txBody>
          <a:bodyPr wrap="square" lIns="0" tIns="0" rIns="0" bIns="0" rtlCol="0" anchor="ctr"/>
          <a:lstStyle/>
          <a:p>
            <a:pPr algn="ctr" indent="0" marL="0">
              <a:buNone/>
            </a:pPr>
            <a:r>
              <a:rPr lang="en-US" sz="1000" b="1" dirty="0">
                <a:solidFill>
                  <a:srgbClr val="006B45"/>
                </a:solidFill>
              </a:rPr>
              <a:t>OVERVIEW</a:t>
            </a:r>
            <a:endParaRPr lang="en-US" sz="1000" dirty="0"/>
          </a:p>
        </p:txBody>
      </p:sp>
      <p:sp>
        <p:nvSpPr>
          <p:cNvPr id="6" name="Shape 4"/>
          <p:cNvSpPr/>
          <p:nvPr/>
        </p:nvSpPr>
        <p:spPr>
          <a:xfrm>
            <a:off x="658368" y="1417320"/>
            <a:ext cx="3419856" cy="3566160"/>
          </a:xfrm>
          <a:prstGeom prst="roundRect">
            <a:avLst>
              <a:gd name="adj" fmla="val 2139"/>
            </a:avLst>
          </a:prstGeom>
          <a:solidFill>
            <a:srgbClr val="FFFFFF"/>
          </a:solidFill>
          <a:ln w="12700">
            <a:solidFill>
              <a:srgbClr val="C9D9D0"/>
            </a:solidFill>
            <a:prstDash val="solid"/>
          </a:ln>
        </p:spPr>
      </p:sp>
      <p:sp>
        <p:nvSpPr>
          <p:cNvPr id="7" name="Shape 5"/>
          <p:cNvSpPr/>
          <p:nvPr/>
        </p:nvSpPr>
        <p:spPr>
          <a:xfrm>
            <a:off x="658368" y="1417320"/>
            <a:ext cx="73152" cy="3566160"/>
          </a:xfrm>
          <a:prstGeom prst="rect">
            <a:avLst/>
          </a:prstGeom>
          <a:solidFill>
            <a:srgbClr val="00965E"/>
          </a:solidFill>
          <a:ln w="12700">
            <a:solidFill>
              <a:srgbClr val="00965E"/>
            </a:solidFill>
            <a:prstDash val="solid"/>
          </a:ln>
        </p:spPr>
      </p:sp>
      <p:sp>
        <p:nvSpPr>
          <p:cNvPr id="8" name="Text 6"/>
          <p:cNvSpPr/>
          <p:nvPr/>
        </p:nvSpPr>
        <p:spPr>
          <a:xfrm>
            <a:off x="841248" y="1581912"/>
            <a:ext cx="3090672" cy="320040"/>
          </a:xfrm>
          <a:prstGeom prst="rect">
            <a:avLst/>
          </a:prstGeom>
          <a:noFill/>
          <a:ln/>
        </p:spPr>
        <p:txBody>
          <a:bodyPr wrap="square" lIns="0" tIns="0" rIns="0" bIns="0" rtlCol="0" anchor="ctr"/>
          <a:lstStyle/>
          <a:p>
            <a:pPr indent="0" marL="0">
              <a:buNone/>
            </a:pPr>
            <a:r>
              <a:rPr lang="en-US" sz="1500" b="1" dirty="0">
                <a:solidFill>
                  <a:srgbClr val="153D2E"/>
                </a:solidFill>
              </a:rPr>
              <a:t>CHAT MODE</a:t>
            </a:r>
            <a:endParaRPr lang="en-US" sz="1500" dirty="0"/>
          </a:p>
        </p:txBody>
      </p:sp>
      <p:sp>
        <p:nvSpPr>
          <p:cNvPr id="9" name="Text 7"/>
          <p:cNvSpPr/>
          <p:nvPr/>
        </p:nvSpPr>
        <p:spPr>
          <a:xfrm>
            <a:off x="841248" y="1993392"/>
            <a:ext cx="3072384" cy="2852928"/>
          </a:xfrm>
          <a:prstGeom prst="rect">
            <a:avLst/>
          </a:prstGeom>
          <a:noFill/>
          <a:ln/>
        </p:spPr>
        <p:txBody>
          <a:bodyPr wrap="square" lIns="254" tIns="254" rIns="254" bIns="254" rtlCol="0" anchor="t"/>
          <a:lstStyle/>
          <a:p>
            <a:pPr indent="0" marL="0">
              <a:buNone/>
            </a:pPr>
            <a:r>
              <a:rPr lang="en-US" sz="1120" dirty="0">
                <a:solidFill>
                  <a:srgbClr val="1C2B24"/>
                </a:solidFill>
              </a:rPr>
              <a:t>Use for understanding, summarising, reviewing, comparing and generating content without changing the workspace.</a:t>
            </a:r>
            <a:endParaRPr lang="en-US" sz="1120" dirty="0"/>
          </a:p>
        </p:txBody>
      </p:sp>
      <p:sp>
        <p:nvSpPr>
          <p:cNvPr id="10" name="Text 8"/>
          <p:cNvSpPr/>
          <p:nvPr/>
        </p:nvSpPr>
        <p:spPr>
          <a:xfrm>
            <a:off x="932688" y="2331720"/>
            <a:ext cx="1463040" cy="256032"/>
          </a:xfrm>
          <a:prstGeom prst="rect">
            <a:avLst/>
          </a:prstGeom>
          <a:noFill/>
          <a:ln/>
        </p:spPr>
        <p:txBody>
          <a:bodyPr wrap="square" lIns="0" tIns="0" rIns="0" bIns="0" rtlCol="0" anchor="ctr"/>
          <a:lstStyle/>
          <a:p>
            <a:pPr indent="0" marL="0">
              <a:buNone/>
            </a:pPr>
            <a:r>
              <a:rPr lang="en-US" sz="1100" b="1" dirty="0">
                <a:solidFill>
                  <a:srgbClr val="006B45"/>
                </a:solidFill>
              </a:rPr>
              <a:t>Typical outcomes</a:t>
            </a:r>
            <a:endParaRPr lang="en-US" sz="1100" dirty="0"/>
          </a:p>
        </p:txBody>
      </p:sp>
      <p:sp>
        <p:nvSpPr>
          <p:cNvPr id="11" name="Text 9"/>
          <p:cNvSpPr/>
          <p:nvPr/>
        </p:nvSpPr>
        <p:spPr>
          <a:xfrm>
            <a:off x="914400" y="2679192"/>
            <a:ext cx="2788920" cy="1691640"/>
          </a:xfrm>
          <a:prstGeom prst="rect">
            <a:avLst/>
          </a:prstGeom>
          <a:noFill/>
          <a:ln/>
        </p:spPr>
        <p:txBody>
          <a:bodyPr wrap="square" lIns="254" tIns="254" rIns="254" bIns="254" rtlCol="0" anchor="t"/>
          <a:lstStyle/>
          <a:p>
            <a:pPr marL="177800" indent="-177800">
              <a:buSzPct val="100000"/>
              <a:buChar char="•"/>
            </a:pPr>
            <a:r>
              <a:rPr lang="en-US" sz="1130" dirty="0">
                <a:solidFill>
                  <a:srgbClr val="1C2B24"/>
                </a:solidFill>
              </a:rPr>
              <a:t>Explain code / errors</a:t>
            </a:r>
            <a:endParaRPr lang="en-US" sz="1130" dirty="0"/>
          </a:p>
          <a:p>
            <a:pPr marL="177800" indent="-177800">
              <a:buSzPct val="100000"/>
              <a:buChar char="•"/>
            </a:pPr>
            <a:r>
              <a:rPr lang="en-US" sz="1130" dirty="0">
                <a:solidFill>
                  <a:srgbClr val="1C2B24"/>
                </a:solidFill>
              </a:rPr>
              <a:t>Summarise uploaded documents</a:t>
            </a:r>
            <a:endParaRPr lang="en-US" sz="1130" dirty="0"/>
          </a:p>
          <a:p>
            <a:pPr marL="177800" indent="-177800">
              <a:buSzPct val="100000"/>
              <a:buChar char="•"/>
            </a:pPr>
            <a:r>
              <a:rPr lang="en-US" sz="1130" dirty="0">
                <a:solidFill>
                  <a:srgbClr val="1C2B24"/>
                </a:solidFill>
              </a:rPr>
              <a:t>Review requirements</a:t>
            </a:r>
            <a:endParaRPr lang="en-US" sz="1130" dirty="0"/>
          </a:p>
          <a:p>
            <a:pPr marL="177800" indent="-177800">
              <a:buSzPct val="100000"/>
              <a:buChar char="•"/>
            </a:pPr>
            <a:r>
              <a:rPr lang="en-US" sz="1130" dirty="0">
                <a:solidFill>
                  <a:srgbClr val="1C2B24"/>
                </a:solidFill>
              </a:rPr>
              <a:t>Produce tables, plans and test ideas</a:t>
            </a:r>
            <a:endParaRPr lang="en-US" sz="1130" dirty="0"/>
          </a:p>
          <a:p>
            <a:pPr marL="177800" indent="-177800">
              <a:buSzPct val="100000"/>
              <a:buChar char="•"/>
            </a:pPr>
            <a:r>
              <a:rPr lang="en-US" sz="1130" dirty="0">
                <a:solidFill>
                  <a:srgbClr val="1C2B24"/>
                </a:solidFill>
              </a:rPr>
              <a:t>Read external evidence when configured</a:t>
            </a:r>
            <a:endParaRPr lang="en-US" sz="1130" dirty="0"/>
          </a:p>
        </p:txBody>
      </p:sp>
      <p:sp>
        <p:nvSpPr>
          <p:cNvPr id="12" name="Shape 10"/>
          <p:cNvSpPr/>
          <p:nvPr/>
        </p:nvSpPr>
        <p:spPr>
          <a:xfrm>
            <a:off x="4389120" y="1417320"/>
            <a:ext cx="3419856" cy="3566160"/>
          </a:xfrm>
          <a:prstGeom prst="roundRect">
            <a:avLst>
              <a:gd name="adj" fmla="val 2139"/>
            </a:avLst>
          </a:prstGeom>
          <a:solidFill>
            <a:srgbClr val="E8F5EF"/>
          </a:solidFill>
          <a:ln w="12700">
            <a:solidFill>
              <a:srgbClr val="C9D9D0"/>
            </a:solidFill>
            <a:prstDash val="solid"/>
          </a:ln>
        </p:spPr>
      </p:sp>
      <p:sp>
        <p:nvSpPr>
          <p:cNvPr id="13" name="Shape 11"/>
          <p:cNvSpPr/>
          <p:nvPr/>
        </p:nvSpPr>
        <p:spPr>
          <a:xfrm>
            <a:off x="4389120" y="1417320"/>
            <a:ext cx="73152" cy="3566160"/>
          </a:xfrm>
          <a:prstGeom prst="rect">
            <a:avLst/>
          </a:prstGeom>
          <a:solidFill>
            <a:srgbClr val="00965E"/>
          </a:solidFill>
          <a:ln w="12700">
            <a:solidFill>
              <a:srgbClr val="00965E"/>
            </a:solidFill>
            <a:prstDash val="solid"/>
          </a:ln>
        </p:spPr>
      </p:sp>
      <p:sp>
        <p:nvSpPr>
          <p:cNvPr id="14" name="Text 12"/>
          <p:cNvSpPr/>
          <p:nvPr/>
        </p:nvSpPr>
        <p:spPr>
          <a:xfrm>
            <a:off x="4572000" y="1581912"/>
            <a:ext cx="3090672" cy="320040"/>
          </a:xfrm>
          <a:prstGeom prst="rect">
            <a:avLst/>
          </a:prstGeom>
          <a:noFill/>
          <a:ln/>
        </p:spPr>
        <p:txBody>
          <a:bodyPr wrap="square" lIns="0" tIns="0" rIns="0" bIns="0" rtlCol="0" anchor="ctr"/>
          <a:lstStyle/>
          <a:p>
            <a:pPr indent="0" marL="0">
              <a:buNone/>
            </a:pPr>
            <a:r>
              <a:rPr lang="en-US" sz="1500" b="1" dirty="0">
                <a:solidFill>
                  <a:srgbClr val="153D2E"/>
                </a:solidFill>
              </a:rPr>
              <a:t>AGENT MODE</a:t>
            </a:r>
            <a:endParaRPr lang="en-US" sz="1500" dirty="0"/>
          </a:p>
        </p:txBody>
      </p:sp>
      <p:sp>
        <p:nvSpPr>
          <p:cNvPr id="15" name="Text 13"/>
          <p:cNvSpPr/>
          <p:nvPr/>
        </p:nvSpPr>
        <p:spPr>
          <a:xfrm>
            <a:off x="4572000" y="1993392"/>
            <a:ext cx="3072384" cy="2852928"/>
          </a:xfrm>
          <a:prstGeom prst="rect">
            <a:avLst/>
          </a:prstGeom>
          <a:noFill/>
          <a:ln/>
        </p:spPr>
        <p:txBody>
          <a:bodyPr wrap="square" lIns="254" tIns="254" rIns="254" bIns="254" rtlCol="0" anchor="t"/>
          <a:lstStyle/>
          <a:p>
            <a:pPr indent="0" marL="0">
              <a:buNone/>
            </a:pPr>
            <a:r>
              <a:rPr lang="en-US" sz="1120" dirty="0">
                <a:solidFill>
                  <a:srgbClr val="1C2B24"/>
                </a:solidFill>
              </a:rPr>
              <a:t>Use when the task requires workspace-aware actions: inspect, plan, edit, execute tools, validate and persist progress.</a:t>
            </a:r>
            <a:endParaRPr lang="en-US" sz="1120" dirty="0"/>
          </a:p>
        </p:txBody>
      </p:sp>
      <p:sp>
        <p:nvSpPr>
          <p:cNvPr id="16" name="Text 14"/>
          <p:cNvSpPr/>
          <p:nvPr/>
        </p:nvSpPr>
        <p:spPr>
          <a:xfrm>
            <a:off x="4663440" y="2331720"/>
            <a:ext cx="1463040" cy="256032"/>
          </a:xfrm>
          <a:prstGeom prst="rect">
            <a:avLst/>
          </a:prstGeom>
          <a:noFill/>
          <a:ln/>
        </p:spPr>
        <p:txBody>
          <a:bodyPr wrap="square" lIns="0" tIns="0" rIns="0" bIns="0" rtlCol="0" anchor="ctr"/>
          <a:lstStyle/>
          <a:p>
            <a:pPr indent="0" marL="0">
              <a:buNone/>
            </a:pPr>
            <a:r>
              <a:rPr lang="en-US" sz="1100" b="1" dirty="0">
                <a:solidFill>
                  <a:srgbClr val="006B45"/>
                </a:solidFill>
              </a:rPr>
              <a:t>Typical outcomes</a:t>
            </a:r>
            <a:endParaRPr lang="en-US" sz="1100" dirty="0"/>
          </a:p>
        </p:txBody>
      </p:sp>
      <p:sp>
        <p:nvSpPr>
          <p:cNvPr id="17" name="Text 15"/>
          <p:cNvSpPr/>
          <p:nvPr/>
        </p:nvSpPr>
        <p:spPr>
          <a:xfrm>
            <a:off x="4645152" y="2679192"/>
            <a:ext cx="2788920" cy="1691640"/>
          </a:xfrm>
          <a:prstGeom prst="rect">
            <a:avLst/>
          </a:prstGeom>
          <a:noFill/>
          <a:ln/>
        </p:spPr>
        <p:txBody>
          <a:bodyPr wrap="square" lIns="254" tIns="254" rIns="254" bIns="254" rtlCol="0" anchor="t"/>
          <a:lstStyle/>
          <a:p>
            <a:pPr marL="177800" indent="-177800">
              <a:buSzPct val="100000"/>
              <a:buChar char="•"/>
            </a:pPr>
            <a:r>
              <a:rPr lang="en-US" sz="1130" dirty="0">
                <a:solidFill>
                  <a:srgbClr val="1C2B24"/>
                </a:solidFill>
              </a:rPr>
              <a:t>Analyse an existing codebase</a:t>
            </a:r>
            <a:endParaRPr lang="en-US" sz="1130" dirty="0"/>
          </a:p>
          <a:p>
            <a:pPr marL="177800" indent="-177800">
              <a:buSzPct val="100000"/>
              <a:buChar char="•"/>
            </a:pPr>
            <a:r>
              <a:rPr lang="en-US" sz="1130" dirty="0">
                <a:solidFill>
                  <a:srgbClr val="1C2B24"/>
                </a:solidFill>
              </a:rPr>
              <a:t>Create / update source files</a:t>
            </a:r>
            <a:endParaRPr lang="en-US" sz="1130" dirty="0"/>
          </a:p>
          <a:p>
            <a:pPr marL="177800" indent="-177800">
              <a:buSzPct val="100000"/>
              <a:buChar char="•"/>
            </a:pPr>
            <a:r>
              <a:rPr lang="en-US" sz="1130" dirty="0">
                <a:solidFill>
                  <a:srgbClr val="1C2B24"/>
                </a:solidFill>
              </a:rPr>
              <a:t>Run build, tests and checks</a:t>
            </a:r>
            <a:endParaRPr lang="en-US" sz="1130" dirty="0"/>
          </a:p>
          <a:p>
            <a:pPr marL="177800" indent="-177800">
              <a:buSzPct val="100000"/>
              <a:buChar char="•"/>
            </a:pPr>
            <a:r>
              <a:rPr lang="en-US" sz="1130" dirty="0">
                <a:solidFill>
                  <a:srgbClr val="1C2B24"/>
                </a:solidFill>
              </a:rPr>
              <a:t>Perform phased migration</a:t>
            </a:r>
            <a:endParaRPr lang="en-US" sz="1130" dirty="0"/>
          </a:p>
          <a:p>
            <a:pPr marL="177800" indent="-177800">
              <a:buSzPct val="100000"/>
              <a:buChar char="•"/>
            </a:pPr>
            <a:r>
              <a:rPr lang="en-US" sz="1130" dirty="0">
                <a:solidFill>
                  <a:srgbClr val="1C2B24"/>
                </a:solidFill>
              </a:rPr>
              <a:t>Resume long work from durable state</a:t>
            </a:r>
            <a:endParaRPr lang="en-US" sz="1130" dirty="0"/>
          </a:p>
        </p:txBody>
      </p:sp>
      <p:sp>
        <p:nvSpPr>
          <p:cNvPr id="18" name="Shape 16"/>
          <p:cNvSpPr/>
          <p:nvPr/>
        </p:nvSpPr>
        <p:spPr>
          <a:xfrm>
            <a:off x="8119872" y="1417320"/>
            <a:ext cx="3401568" cy="3566160"/>
          </a:xfrm>
          <a:prstGeom prst="roundRect">
            <a:avLst>
              <a:gd name="adj" fmla="val 2151"/>
            </a:avLst>
          </a:prstGeom>
          <a:solidFill>
            <a:srgbClr val="FFFFFF"/>
          </a:solidFill>
          <a:ln w="12700">
            <a:solidFill>
              <a:srgbClr val="C9D9D0"/>
            </a:solidFill>
            <a:prstDash val="solid"/>
          </a:ln>
        </p:spPr>
      </p:sp>
      <p:sp>
        <p:nvSpPr>
          <p:cNvPr id="19" name="Shape 17"/>
          <p:cNvSpPr/>
          <p:nvPr/>
        </p:nvSpPr>
        <p:spPr>
          <a:xfrm>
            <a:off x="8119872" y="1417320"/>
            <a:ext cx="73152" cy="3566160"/>
          </a:xfrm>
          <a:prstGeom prst="rect">
            <a:avLst/>
          </a:prstGeom>
          <a:solidFill>
            <a:srgbClr val="00965E"/>
          </a:solidFill>
          <a:ln w="12700">
            <a:solidFill>
              <a:srgbClr val="00965E"/>
            </a:solidFill>
            <a:prstDash val="solid"/>
          </a:ln>
        </p:spPr>
      </p:sp>
      <p:sp>
        <p:nvSpPr>
          <p:cNvPr id="20" name="Text 18"/>
          <p:cNvSpPr/>
          <p:nvPr/>
        </p:nvSpPr>
        <p:spPr>
          <a:xfrm>
            <a:off x="8302752" y="1581912"/>
            <a:ext cx="3072384" cy="320040"/>
          </a:xfrm>
          <a:prstGeom prst="rect">
            <a:avLst/>
          </a:prstGeom>
          <a:noFill/>
          <a:ln/>
        </p:spPr>
        <p:txBody>
          <a:bodyPr wrap="square" lIns="0" tIns="0" rIns="0" bIns="0" rtlCol="0" anchor="ctr"/>
          <a:lstStyle/>
          <a:p>
            <a:pPr indent="0" marL="0">
              <a:buNone/>
            </a:pPr>
            <a:r>
              <a:rPr lang="en-US" sz="1500" b="1" dirty="0">
                <a:solidFill>
                  <a:srgbClr val="153D2E"/>
                </a:solidFill>
              </a:rPr>
              <a:t>WHY IT MATTERS</a:t>
            </a:r>
            <a:endParaRPr lang="en-US" sz="1500" dirty="0"/>
          </a:p>
        </p:txBody>
      </p:sp>
      <p:sp>
        <p:nvSpPr>
          <p:cNvPr id="21" name="Text 19"/>
          <p:cNvSpPr/>
          <p:nvPr/>
        </p:nvSpPr>
        <p:spPr>
          <a:xfrm>
            <a:off x="8302752" y="1993392"/>
            <a:ext cx="3054096" cy="2852928"/>
          </a:xfrm>
          <a:prstGeom prst="rect">
            <a:avLst/>
          </a:prstGeom>
          <a:noFill/>
          <a:ln/>
        </p:spPr>
        <p:txBody>
          <a:bodyPr wrap="square" lIns="254" tIns="254" rIns="254" bIns="254" rtlCol="0" anchor="t"/>
          <a:lstStyle/>
          <a:p>
            <a:pPr indent="0" marL="0">
              <a:buNone/>
            </a:pPr>
            <a:r>
              <a:rPr lang="en-US" sz="1120" dirty="0">
                <a:solidFill>
                  <a:srgbClr val="1C2B24"/>
                </a:solidFill>
              </a:rPr>
              <a:t>ELIYA separates “answering” from “doing”. That gives users a clear mental model and allows stronger controls around execution.</a:t>
            </a:r>
            <a:endParaRPr lang="en-US" sz="1120" dirty="0"/>
          </a:p>
        </p:txBody>
      </p:sp>
      <p:sp>
        <p:nvSpPr>
          <p:cNvPr id="22" name="Text 20"/>
          <p:cNvSpPr/>
          <p:nvPr/>
        </p:nvSpPr>
        <p:spPr>
          <a:xfrm>
            <a:off x="8394192" y="2267712"/>
            <a:ext cx="2788920" cy="1828800"/>
          </a:xfrm>
          <a:prstGeom prst="rect">
            <a:avLst/>
          </a:prstGeom>
          <a:noFill/>
          <a:ln/>
        </p:spPr>
        <p:txBody>
          <a:bodyPr wrap="square" lIns="254" tIns="254" rIns="254" bIns="254" rtlCol="0" anchor="t"/>
          <a:lstStyle/>
          <a:p>
            <a:pPr marL="177800" indent="-177800">
              <a:buSzPct val="100000"/>
              <a:buChar char="•"/>
            </a:pPr>
            <a:r>
              <a:rPr lang="en-US" sz="1130" dirty="0">
                <a:solidFill>
                  <a:srgbClr val="1C2B24"/>
                </a:solidFill>
              </a:rPr>
              <a:t>Human approval can gate execution</a:t>
            </a:r>
            <a:endParaRPr lang="en-US" sz="1130" dirty="0"/>
          </a:p>
          <a:p>
            <a:pPr marL="177800" indent="-177800">
              <a:buSzPct val="100000"/>
              <a:buChar char="•"/>
            </a:pPr>
            <a:r>
              <a:rPr lang="en-US" sz="1130" dirty="0">
                <a:solidFill>
                  <a:srgbClr val="1C2B24"/>
                </a:solidFill>
              </a:rPr>
              <a:t>Workspace can be optional when only external evidence is needed</a:t>
            </a:r>
            <a:endParaRPr lang="en-US" sz="1130" dirty="0"/>
          </a:p>
          <a:p>
            <a:pPr marL="177800" indent="-177800">
              <a:buSzPct val="100000"/>
              <a:buChar char="•"/>
            </a:pPr>
            <a:r>
              <a:rPr lang="en-US" sz="1130" dirty="0">
                <a:solidFill>
                  <a:srgbClr val="1C2B24"/>
                </a:solidFill>
              </a:rPr>
              <a:t>State is retained for long-running tasks</a:t>
            </a:r>
            <a:endParaRPr lang="en-US" sz="1130" dirty="0"/>
          </a:p>
          <a:p>
            <a:pPr marL="177800" indent="-177800">
              <a:buSzPct val="100000"/>
              <a:buChar char="•"/>
            </a:pPr>
            <a:r>
              <a:rPr lang="en-US" sz="1130" dirty="0">
                <a:solidFill>
                  <a:srgbClr val="1C2B24"/>
                </a:solidFill>
              </a:rPr>
              <a:t>Tool usage is explicit and auditable</a:t>
            </a:r>
            <a:endParaRPr lang="en-US" sz="1130" dirty="0"/>
          </a:p>
          <a:p>
            <a:pPr marL="177800" indent="-177800">
              <a:buSzPct val="100000"/>
              <a:buChar char="•"/>
            </a:pPr>
            <a:r>
              <a:rPr lang="en-US" sz="1130" dirty="0">
                <a:solidFill>
                  <a:srgbClr val="1C2B24"/>
                </a:solidFill>
              </a:rPr>
              <a:t>Safety controls are independent of model output</a:t>
            </a:r>
            <a:endParaRPr lang="en-US" sz="1130" dirty="0"/>
          </a:p>
        </p:txBody>
      </p:sp>
      <p:sp>
        <p:nvSpPr>
          <p:cNvPr id="23" name="Shape 21"/>
          <p:cNvSpPr/>
          <p:nvPr/>
        </p:nvSpPr>
        <p:spPr>
          <a:xfrm>
            <a:off x="1463040" y="5303520"/>
            <a:ext cx="9235440" cy="621792"/>
          </a:xfrm>
          <a:prstGeom prst="roundRect">
            <a:avLst/>
          </a:prstGeom>
          <a:solidFill>
            <a:srgbClr val="153D2E"/>
          </a:solidFill>
          <a:ln w="12700">
            <a:solidFill>
              <a:srgbClr val="153D2E"/>
            </a:solidFill>
            <a:prstDash val="solid"/>
          </a:ln>
        </p:spPr>
      </p:sp>
      <p:sp>
        <p:nvSpPr>
          <p:cNvPr id="24" name="Text 22"/>
          <p:cNvSpPr/>
          <p:nvPr/>
        </p:nvSpPr>
        <p:spPr>
          <a:xfrm>
            <a:off x="1737360" y="5468112"/>
            <a:ext cx="8686800" cy="256032"/>
          </a:xfrm>
          <a:prstGeom prst="rect">
            <a:avLst/>
          </a:prstGeom>
          <a:noFill/>
          <a:ln/>
        </p:spPr>
        <p:txBody>
          <a:bodyPr wrap="square" lIns="0" tIns="0" rIns="0" bIns="0" rtlCol="0" anchor="ctr"/>
          <a:lstStyle/>
          <a:p>
            <a:pPr algn="ctr" indent="0" marL="0">
              <a:buNone/>
            </a:pPr>
            <a:r>
              <a:rPr lang="en-US" sz="1700" b="1" dirty="0">
                <a:solidFill>
                  <a:srgbClr val="FFFFFF"/>
                </a:solidFill>
              </a:rPr>
              <a:t>Simple rule:  Ask Chat to THINK.  Ask Agent to CHANGE, RUN or VERIFY.</a:t>
            </a:r>
            <a:endParaRPr lang="en-US" sz="1700" dirty="0"/>
          </a:p>
        </p:txBody>
      </p:sp>
      <p:sp>
        <p:nvSpPr>
          <p:cNvPr id="25" name="Slide Number Placeholder 0"/>
          <p:cNvSpPr>
            <a:spLocks noGrp="1"/>
          </p:cNvSpPr>
          <p:nvPr>
            <p:ph type="sldNum" sz="quarter" idx="4294967295"/>
          </p:nvPr>
        </p:nvSpPr>
        <p:spPr>
          <a:xfrm>
            <a:off x="11686032" y="6537960"/>
            <a:ext cx="256032" cy="164592"/>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53645C"/>
                </a:solidFill>
                <a:latin typeface="Aptos"/>
                <a:ea typeface="Aptos"/>
                <a:cs typeface="Apto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84048"/>
            <a:ext cx="8183880" cy="438912"/>
          </a:xfrm>
          <a:prstGeom prst="rect">
            <a:avLst/>
          </a:prstGeom>
          <a:noFill/>
          <a:ln/>
        </p:spPr>
        <p:txBody>
          <a:bodyPr wrap="square" lIns="0" tIns="0" rIns="0" bIns="0" rtlCol="0" anchor="ctr"/>
          <a:lstStyle/>
          <a:p>
            <a:pPr indent="0" marL="0">
              <a:buNone/>
            </a:pPr>
            <a:r>
              <a:rPr lang="en-US" sz="2700" b="1" dirty="0">
                <a:solidFill>
                  <a:srgbClr val="153D2E"/>
                </a:solidFill>
              </a:rPr>
              <a:t>2. Architecture at a glance</a:t>
            </a:r>
            <a:endParaRPr lang="en-US" sz="2700" dirty="0"/>
          </a:p>
        </p:txBody>
      </p:sp>
      <p:sp>
        <p:nvSpPr>
          <p:cNvPr id="3" name="Text 1"/>
          <p:cNvSpPr/>
          <p:nvPr/>
        </p:nvSpPr>
        <p:spPr>
          <a:xfrm>
            <a:off x="566928" y="877824"/>
            <a:ext cx="10881360" cy="347472"/>
          </a:xfrm>
          <a:prstGeom prst="rect">
            <a:avLst/>
          </a:prstGeom>
          <a:noFill/>
          <a:ln/>
        </p:spPr>
        <p:txBody>
          <a:bodyPr wrap="square" lIns="0" tIns="0" rIns="0" bIns="0" rtlCol="0" anchor="ctr"/>
          <a:lstStyle/>
          <a:p>
            <a:pPr indent="0" marL="0">
              <a:buNone/>
            </a:pPr>
            <a:r>
              <a:rPr lang="en-US" sz="1250" dirty="0">
                <a:solidFill>
                  <a:srgbClr val="5A6B62"/>
                </a:solidFill>
              </a:rPr>
              <a:t>A layered design keeps UI, reasoning, tools, workspace and durable state separate.</a:t>
            </a:r>
            <a:endParaRPr lang="en-US" sz="1250" dirty="0"/>
          </a:p>
        </p:txBody>
      </p:sp>
      <p:sp>
        <p:nvSpPr>
          <p:cNvPr id="4" name="Shape 2"/>
          <p:cNvSpPr/>
          <p:nvPr/>
        </p:nvSpPr>
        <p:spPr>
          <a:xfrm>
            <a:off x="9646920" y="402336"/>
            <a:ext cx="1920240" cy="329184"/>
          </a:xfrm>
          <a:prstGeom prst="roundRect">
            <a:avLst>
              <a:gd name="adj" fmla="val 22222"/>
            </a:avLst>
          </a:prstGeom>
          <a:solidFill>
            <a:srgbClr val="D9EFE5"/>
          </a:solidFill>
          <a:ln w="12700">
            <a:solidFill>
              <a:srgbClr val="D9EFE5"/>
            </a:solidFill>
            <a:prstDash val="solid"/>
          </a:ln>
        </p:spPr>
      </p:sp>
      <p:sp>
        <p:nvSpPr>
          <p:cNvPr id="5" name="Text 3"/>
          <p:cNvSpPr/>
          <p:nvPr/>
        </p:nvSpPr>
        <p:spPr>
          <a:xfrm>
            <a:off x="9720072" y="457200"/>
            <a:ext cx="1773936" cy="201168"/>
          </a:xfrm>
          <a:prstGeom prst="rect">
            <a:avLst/>
          </a:prstGeom>
          <a:noFill/>
          <a:ln/>
        </p:spPr>
        <p:txBody>
          <a:bodyPr wrap="square" lIns="0" tIns="0" rIns="0" bIns="0" rtlCol="0" anchor="ctr"/>
          <a:lstStyle/>
          <a:p>
            <a:pPr algn="ctr" indent="0" marL="0">
              <a:buNone/>
            </a:pPr>
            <a:r>
              <a:rPr lang="en-US" sz="1000" b="1" dirty="0">
                <a:solidFill>
                  <a:srgbClr val="006B45"/>
                </a:solidFill>
              </a:rPr>
              <a:t>ARCHITECTURE</a:t>
            </a:r>
            <a:endParaRPr lang="en-US" sz="1000" dirty="0"/>
          </a:p>
        </p:txBody>
      </p:sp>
      <p:sp>
        <p:nvSpPr>
          <p:cNvPr id="6" name="Shape 4"/>
          <p:cNvSpPr/>
          <p:nvPr/>
        </p:nvSpPr>
        <p:spPr>
          <a:xfrm>
            <a:off x="640080" y="1828800"/>
            <a:ext cx="1600200" cy="2103120"/>
          </a:xfrm>
          <a:prstGeom prst="roundRect">
            <a:avLst>
              <a:gd name="adj" fmla="val 4571"/>
            </a:avLst>
          </a:prstGeom>
          <a:solidFill>
            <a:srgbClr val="E8F5EF"/>
          </a:solidFill>
          <a:ln w="12700">
            <a:solidFill>
              <a:srgbClr val="C9D9D0"/>
            </a:solidFill>
            <a:prstDash val="solid"/>
          </a:ln>
        </p:spPr>
      </p:sp>
      <p:sp>
        <p:nvSpPr>
          <p:cNvPr id="7" name="Text 5"/>
          <p:cNvSpPr/>
          <p:nvPr/>
        </p:nvSpPr>
        <p:spPr>
          <a:xfrm>
            <a:off x="822960" y="1993392"/>
            <a:ext cx="1271016" cy="320040"/>
          </a:xfrm>
          <a:prstGeom prst="rect">
            <a:avLst/>
          </a:prstGeom>
          <a:noFill/>
          <a:ln/>
        </p:spPr>
        <p:txBody>
          <a:bodyPr wrap="square" lIns="0" tIns="0" rIns="0" bIns="0" rtlCol="0" anchor="ctr"/>
          <a:lstStyle/>
          <a:p>
            <a:pPr indent="0" marL="0">
              <a:buNone/>
            </a:pPr>
            <a:r>
              <a:rPr lang="en-US" sz="1500" b="1" dirty="0">
                <a:solidFill>
                  <a:srgbClr val="153D2E"/>
                </a:solidFill>
              </a:rPr>
              <a:t>Web UI</a:t>
            </a:r>
            <a:endParaRPr lang="en-US" sz="1500" dirty="0"/>
          </a:p>
        </p:txBody>
      </p:sp>
      <p:sp>
        <p:nvSpPr>
          <p:cNvPr id="8" name="Text 6"/>
          <p:cNvSpPr/>
          <p:nvPr/>
        </p:nvSpPr>
        <p:spPr>
          <a:xfrm>
            <a:off x="822960" y="2404872"/>
            <a:ext cx="1252728" cy="1389888"/>
          </a:xfrm>
          <a:prstGeom prst="rect">
            <a:avLst/>
          </a:prstGeom>
          <a:noFill/>
          <a:ln/>
        </p:spPr>
        <p:txBody>
          <a:bodyPr wrap="square" lIns="254" tIns="254" rIns="254" bIns="254" rtlCol="0" anchor="t"/>
          <a:lstStyle/>
          <a:p>
            <a:pPr indent="0" marL="0">
              <a:buNone/>
            </a:pPr>
            <a:r>
              <a:rPr lang="en-US" sz="1120" dirty="0">
                <a:solidFill>
                  <a:srgbClr val="1C2B24"/>
                </a:solidFill>
              </a:rPr>
              <a:t>Chat · Agent</a:t>
            </a:r>
            <a:endParaRPr lang="en-US" sz="1120" dirty="0"/>
          </a:p>
          <a:p>
            <a:pPr indent="0" marL="0">
              <a:buNone/>
            </a:pPr>
            <a:r>
              <a:rPr lang="en-US" sz="1120" dirty="0">
                <a:solidFill>
                  <a:srgbClr val="1C2B24"/>
                </a:solidFill>
              </a:rPr>
              <a:t>Settings · History</a:t>
            </a:r>
            <a:endParaRPr lang="en-US" sz="1120" dirty="0"/>
          </a:p>
        </p:txBody>
      </p:sp>
      <p:sp>
        <p:nvSpPr>
          <p:cNvPr id="9" name="Shape 7"/>
          <p:cNvSpPr/>
          <p:nvPr/>
        </p:nvSpPr>
        <p:spPr>
          <a:xfrm>
            <a:off x="2240280" y="2880360"/>
            <a:ext cx="155448" cy="0"/>
          </a:xfrm>
          <a:prstGeom prst="line">
            <a:avLst/>
          </a:prstGeom>
          <a:noFill/>
          <a:ln w="25400">
            <a:solidFill>
              <a:srgbClr val="5A6B62"/>
            </a:solidFill>
            <a:prstDash val="solid"/>
            <a:headEnd type="none"/>
            <a:tailEnd type="triangle"/>
          </a:ln>
        </p:spPr>
      </p:sp>
      <p:sp>
        <p:nvSpPr>
          <p:cNvPr id="10" name="Shape 8"/>
          <p:cNvSpPr/>
          <p:nvPr/>
        </p:nvSpPr>
        <p:spPr>
          <a:xfrm>
            <a:off x="2468880" y="1828800"/>
            <a:ext cx="1600200" cy="2103120"/>
          </a:xfrm>
          <a:prstGeom prst="roundRect">
            <a:avLst>
              <a:gd name="adj" fmla="val 4571"/>
            </a:avLst>
          </a:prstGeom>
          <a:solidFill>
            <a:srgbClr val="FFFFFF"/>
          </a:solidFill>
          <a:ln w="12700">
            <a:solidFill>
              <a:srgbClr val="C9D9D0"/>
            </a:solidFill>
            <a:prstDash val="solid"/>
          </a:ln>
        </p:spPr>
      </p:sp>
      <p:sp>
        <p:nvSpPr>
          <p:cNvPr id="11" name="Text 9"/>
          <p:cNvSpPr/>
          <p:nvPr/>
        </p:nvSpPr>
        <p:spPr>
          <a:xfrm>
            <a:off x="2651760" y="1993392"/>
            <a:ext cx="1271016" cy="320040"/>
          </a:xfrm>
          <a:prstGeom prst="rect">
            <a:avLst/>
          </a:prstGeom>
          <a:noFill/>
          <a:ln/>
        </p:spPr>
        <p:txBody>
          <a:bodyPr wrap="square" lIns="0" tIns="0" rIns="0" bIns="0" rtlCol="0" anchor="ctr"/>
          <a:lstStyle/>
          <a:p>
            <a:pPr indent="0" marL="0">
              <a:buNone/>
            </a:pPr>
            <a:r>
              <a:rPr lang="en-US" sz="1500" b="1" dirty="0">
                <a:solidFill>
                  <a:srgbClr val="153D2E"/>
                </a:solidFill>
              </a:rPr>
              <a:t>Controllers</a:t>
            </a:r>
            <a:endParaRPr lang="en-US" sz="1500" dirty="0"/>
          </a:p>
        </p:txBody>
      </p:sp>
      <p:sp>
        <p:nvSpPr>
          <p:cNvPr id="12" name="Text 10"/>
          <p:cNvSpPr/>
          <p:nvPr/>
        </p:nvSpPr>
        <p:spPr>
          <a:xfrm>
            <a:off x="2651760" y="2404872"/>
            <a:ext cx="1252728" cy="1389888"/>
          </a:xfrm>
          <a:prstGeom prst="rect">
            <a:avLst/>
          </a:prstGeom>
          <a:noFill/>
          <a:ln/>
        </p:spPr>
        <p:txBody>
          <a:bodyPr wrap="square" lIns="254" tIns="254" rIns="254" bIns="254" rtlCol="0" anchor="t"/>
          <a:lstStyle/>
          <a:p>
            <a:pPr indent="0" marL="0">
              <a:buNone/>
            </a:pPr>
            <a:r>
              <a:rPr lang="en-US" sz="1120" dirty="0">
                <a:solidFill>
                  <a:srgbClr val="1C2B24"/>
                </a:solidFill>
              </a:rPr>
              <a:t>Chat · Agent · Files</a:t>
            </a:r>
            <a:endParaRPr lang="en-US" sz="1120" dirty="0"/>
          </a:p>
          <a:p>
            <a:pPr indent="0" marL="0">
              <a:buNone/>
            </a:pPr>
            <a:r>
              <a:rPr lang="en-US" sz="1120" dirty="0">
                <a:solidFill>
                  <a:srgbClr val="1C2B24"/>
                </a:solidFill>
              </a:rPr>
              <a:t>Projects · MCP</a:t>
            </a:r>
            <a:endParaRPr lang="en-US" sz="1120" dirty="0"/>
          </a:p>
        </p:txBody>
      </p:sp>
      <p:sp>
        <p:nvSpPr>
          <p:cNvPr id="13" name="Shape 11"/>
          <p:cNvSpPr/>
          <p:nvPr/>
        </p:nvSpPr>
        <p:spPr>
          <a:xfrm>
            <a:off x="4069080" y="2880360"/>
            <a:ext cx="155448" cy="0"/>
          </a:xfrm>
          <a:prstGeom prst="line">
            <a:avLst/>
          </a:prstGeom>
          <a:noFill/>
          <a:ln w="25400">
            <a:solidFill>
              <a:srgbClr val="5A6B62"/>
            </a:solidFill>
            <a:prstDash val="solid"/>
            <a:headEnd type="none"/>
            <a:tailEnd type="triangle"/>
          </a:ln>
        </p:spPr>
      </p:sp>
      <p:sp>
        <p:nvSpPr>
          <p:cNvPr id="14" name="Shape 12"/>
          <p:cNvSpPr/>
          <p:nvPr/>
        </p:nvSpPr>
        <p:spPr>
          <a:xfrm>
            <a:off x="4297680" y="1828800"/>
            <a:ext cx="1600200" cy="2103120"/>
          </a:xfrm>
          <a:prstGeom prst="roundRect">
            <a:avLst>
              <a:gd name="adj" fmla="val 4571"/>
            </a:avLst>
          </a:prstGeom>
          <a:solidFill>
            <a:srgbClr val="E8F5EF"/>
          </a:solidFill>
          <a:ln w="12700">
            <a:solidFill>
              <a:srgbClr val="C9D9D0"/>
            </a:solidFill>
            <a:prstDash val="solid"/>
          </a:ln>
        </p:spPr>
      </p:sp>
      <p:sp>
        <p:nvSpPr>
          <p:cNvPr id="15" name="Text 13"/>
          <p:cNvSpPr/>
          <p:nvPr/>
        </p:nvSpPr>
        <p:spPr>
          <a:xfrm>
            <a:off x="4480560" y="1993392"/>
            <a:ext cx="1271016" cy="320040"/>
          </a:xfrm>
          <a:prstGeom prst="rect">
            <a:avLst/>
          </a:prstGeom>
          <a:noFill/>
          <a:ln/>
        </p:spPr>
        <p:txBody>
          <a:bodyPr wrap="square" lIns="0" tIns="0" rIns="0" bIns="0" rtlCol="0" anchor="ctr"/>
          <a:lstStyle/>
          <a:p>
            <a:pPr indent="0" marL="0">
              <a:buNone/>
            </a:pPr>
            <a:r>
              <a:rPr lang="en-US" sz="1500" b="1" dirty="0">
                <a:solidFill>
                  <a:srgbClr val="153D2E"/>
                </a:solidFill>
              </a:rPr>
              <a:t>Orchestration</a:t>
            </a:r>
            <a:endParaRPr lang="en-US" sz="1500" dirty="0"/>
          </a:p>
        </p:txBody>
      </p:sp>
      <p:sp>
        <p:nvSpPr>
          <p:cNvPr id="16" name="Text 14"/>
          <p:cNvSpPr/>
          <p:nvPr/>
        </p:nvSpPr>
        <p:spPr>
          <a:xfrm>
            <a:off x="4480560" y="2404872"/>
            <a:ext cx="1252728" cy="1389888"/>
          </a:xfrm>
          <a:prstGeom prst="rect">
            <a:avLst/>
          </a:prstGeom>
          <a:noFill/>
          <a:ln/>
        </p:spPr>
        <p:txBody>
          <a:bodyPr wrap="square" lIns="254" tIns="254" rIns="254" bIns="254" rtlCol="0" anchor="t"/>
          <a:lstStyle/>
          <a:p>
            <a:pPr indent="0" marL="0">
              <a:buNone/>
            </a:pPr>
            <a:r>
              <a:rPr lang="en-US" sz="1120" dirty="0">
                <a:solidFill>
                  <a:srgbClr val="1C2B24"/>
                </a:solidFill>
              </a:rPr>
              <a:t>AgentService</a:t>
            </a:r>
            <a:endParaRPr lang="en-US" sz="1120" dirty="0"/>
          </a:p>
          <a:p>
            <a:pPr indent="0" marL="0">
              <a:buNone/>
            </a:pPr>
            <a:r>
              <a:rPr lang="en-US" sz="1120" dirty="0">
                <a:solidFill>
                  <a:srgbClr val="1C2B24"/>
                </a:solidFill>
              </a:rPr>
              <a:t>Chat runtime</a:t>
            </a:r>
            <a:endParaRPr lang="en-US" sz="1120" dirty="0"/>
          </a:p>
        </p:txBody>
      </p:sp>
      <p:sp>
        <p:nvSpPr>
          <p:cNvPr id="17" name="Shape 15"/>
          <p:cNvSpPr/>
          <p:nvPr/>
        </p:nvSpPr>
        <p:spPr>
          <a:xfrm>
            <a:off x="5897880" y="2880360"/>
            <a:ext cx="155448" cy="0"/>
          </a:xfrm>
          <a:prstGeom prst="line">
            <a:avLst/>
          </a:prstGeom>
          <a:noFill/>
          <a:ln w="25400">
            <a:solidFill>
              <a:srgbClr val="5A6B62"/>
            </a:solidFill>
            <a:prstDash val="solid"/>
            <a:headEnd type="none"/>
            <a:tailEnd type="triangle"/>
          </a:ln>
        </p:spPr>
      </p:sp>
      <p:sp>
        <p:nvSpPr>
          <p:cNvPr id="18" name="Shape 16"/>
          <p:cNvSpPr/>
          <p:nvPr/>
        </p:nvSpPr>
        <p:spPr>
          <a:xfrm>
            <a:off x="6126480" y="1828800"/>
            <a:ext cx="1600200" cy="2103120"/>
          </a:xfrm>
          <a:prstGeom prst="roundRect">
            <a:avLst>
              <a:gd name="adj" fmla="val 4571"/>
            </a:avLst>
          </a:prstGeom>
          <a:solidFill>
            <a:srgbClr val="FFFFFF"/>
          </a:solidFill>
          <a:ln w="12700">
            <a:solidFill>
              <a:srgbClr val="C9D9D0"/>
            </a:solidFill>
            <a:prstDash val="solid"/>
          </a:ln>
        </p:spPr>
      </p:sp>
      <p:sp>
        <p:nvSpPr>
          <p:cNvPr id="19" name="Text 17"/>
          <p:cNvSpPr/>
          <p:nvPr/>
        </p:nvSpPr>
        <p:spPr>
          <a:xfrm>
            <a:off x="6309360" y="1993392"/>
            <a:ext cx="1271016" cy="320040"/>
          </a:xfrm>
          <a:prstGeom prst="rect">
            <a:avLst/>
          </a:prstGeom>
          <a:noFill/>
          <a:ln/>
        </p:spPr>
        <p:txBody>
          <a:bodyPr wrap="square" lIns="0" tIns="0" rIns="0" bIns="0" rtlCol="0" anchor="ctr"/>
          <a:lstStyle/>
          <a:p>
            <a:pPr indent="0" marL="0">
              <a:buNone/>
            </a:pPr>
            <a:r>
              <a:rPr lang="en-US" sz="1500" b="1" dirty="0">
                <a:solidFill>
                  <a:srgbClr val="153D2E"/>
                </a:solidFill>
              </a:rPr>
              <a:t>LLM + Context</a:t>
            </a:r>
            <a:endParaRPr lang="en-US" sz="1500" dirty="0"/>
          </a:p>
        </p:txBody>
      </p:sp>
      <p:sp>
        <p:nvSpPr>
          <p:cNvPr id="20" name="Text 18"/>
          <p:cNvSpPr/>
          <p:nvPr/>
        </p:nvSpPr>
        <p:spPr>
          <a:xfrm>
            <a:off x="6309360" y="2404872"/>
            <a:ext cx="1252728" cy="1389888"/>
          </a:xfrm>
          <a:prstGeom prst="rect">
            <a:avLst/>
          </a:prstGeom>
          <a:noFill/>
          <a:ln/>
        </p:spPr>
        <p:txBody>
          <a:bodyPr wrap="square" lIns="254" tIns="254" rIns="254" bIns="254" rtlCol="0" anchor="t"/>
          <a:lstStyle/>
          <a:p>
            <a:pPr indent="0" marL="0">
              <a:buNone/>
            </a:pPr>
            <a:r>
              <a:rPr lang="en-US" sz="1120" dirty="0">
                <a:solidFill>
                  <a:srgbClr val="1C2B24"/>
                </a:solidFill>
              </a:rPr>
              <a:t>Provider client</a:t>
            </a:r>
            <a:endParaRPr lang="en-US" sz="1120" dirty="0"/>
          </a:p>
          <a:p>
            <a:pPr indent="0" marL="0">
              <a:buNone/>
            </a:pPr>
            <a:r>
              <a:rPr lang="en-US" sz="1120" dirty="0">
                <a:solidFill>
                  <a:srgbClr val="1C2B24"/>
                </a:solidFill>
              </a:rPr>
              <a:t>Context window</a:t>
            </a:r>
            <a:endParaRPr lang="en-US" sz="1120" dirty="0"/>
          </a:p>
        </p:txBody>
      </p:sp>
      <p:sp>
        <p:nvSpPr>
          <p:cNvPr id="21" name="Shape 19"/>
          <p:cNvSpPr/>
          <p:nvPr/>
        </p:nvSpPr>
        <p:spPr>
          <a:xfrm>
            <a:off x="7726680" y="2880360"/>
            <a:ext cx="155448" cy="0"/>
          </a:xfrm>
          <a:prstGeom prst="line">
            <a:avLst/>
          </a:prstGeom>
          <a:noFill/>
          <a:ln w="25400">
            <a:solidFill>
              <a:srgbClr val="5A6B62"/>
            </a:solidFill>
            <a:prstDash val="solid"/>
            <a:headEnd type="none"/>
            <a:tailEnd type="triangle"/>
          </a:ln>
        </p:spPr>
      </p:sp>
      <p:sp>
        <p:nvSpPr>
          <p:cNvPr id="22" name="Shape 20"/>
          <p:cNvSpPr/>
          <p:nvPr/>
        </p:nvSpPr>
        <p:spPr>
          <a:xfrm>
            <a:off x="7955280" y="1828800"/>
            <a:ext cx="1600200" cy="2103120"/>
          </a:xfrm>
          <a:prstGeom prst="roundRect">
            <a:avLst>
              <a:gd name="adj" fmla="val 4571"/>
            </a:avLst>
          </a:prstGeom>
          <a:solidFill>
            <a:srgbClr val="E8F5EF"/>
          </a:solidFill>
          <a:ln w="12700">
            <a:solidFill>
              <a:srgbClr val="C9D9D0"/>
            </a:solidFill>
            <a:prstDash val="solid"/>
          </a:ln>
        </p:spPr>
      </p:sp>
      <p:sp>
        <p:nvSpPr>
          <p:cNvPr id="23" name="Text 21"/>
          <p:cNvSpPr/>
          <p:nvPr/>
        </p:nvSpPr>
        <p:spPr>
          <a:xfrm>
            <a:off x="8138160" y="1993392"/>
            <a:ext cx="1271016" cy="320040"/>
          </a:xfrm>
          <a:prstGeom prst="rect">
            <a:avLst/>
          </a:prstGeom>
          <a:noFill/>
          <a:ln/>
        </p:spPr>
        <p:txBody>
          <a:bodyPr wrap="square" lIns="0" tIns="0" rIns="0" bIns="0" rtlCol="0" anchor="ctr"/>
          <a:lstStyle/>
          <a:p>
            <a:pPr indent="0" marL="0">
              <a:buNone/>
            </a:pPr>
            <a:r>
              <a:rPr lang="en-US" sz="1500" b="1" dirty="0">
                <a:solidFill>
                  <a:srgbClr val="153D2E"/>
                </a:solidFill>
              </a:rPr>
              <a:t>Tools + Workspace</a:t>
            </a:r>
            <a:endParaRPr lang="en-US" sz="1500" dirty="0"/>
          </a:p>
        </p:txBody>
      </p:sp>
      <p:sp>
        <p:nvSpPr>
          <p:cNvPr id="24" name="Text 22"/>
          <p:cNvSpPr/>
          <p:nvPr/>
        </p:nvSpPr>
        <p:spPr>
          <a:xfrm>
            <a:off x="8138160" y="2404872"/>
            <a:ext cx="1252728" cy="1389888"/>
          </a:xfrm>
          <a:prstGeom prst="rect">
            <a:avLst/>
          </a:prstGeom>
          <a:noFill/>
          <a:ln/>
        </p:spPr>
        <p:txBody>
          <a:bodyPr wrap="square" lIns="254" tIns="254" rIns="254" bIns="254" rtlCol="0" anchor="t"/>
          <a:lstStyle/>
          <a:p>
            <a:pPr indent="0" marL="0">
              <a:buNone/>
            </a:pPr>
            <a:r>
              <a:rPr lang="en-US" sz="1120" dirty="0">
                <a:solidFill>
                  <a:srgbClr val="1C2B24"/>
                </a:solidFill>
              </a:rPr>
              <a:t>Tool registry</a:t>
            </a:r>
            <a:endParaRPr lang="en-US" sz="1120" dirty="0"/>
          </a:p>
          <a:p>
            <a:pPr indent="0" marL="0">
              <a:buNone/>
            </a:pPr>
            <a:r>
              <a:rPr lang="en-US" sz="1120" dirty="0">
                <a:solidFill>
                  <a:srgbClr val="1C2B24"/>
                </a:solidFill>
              </a:rPr>
              <a:t>Workspace · LSP</a:t>
            </a:r>
            <a:endParaRPr lang="en-US" sz="1120" dirty="0"/>
          </a:p>
        </p:txBody>
      </p:sp>
      <p:sp>
        <p:nvSpPr>
          <p:cNvPr id="25" name="Shape 23"/>
          <p:cNvSpPr/>
          <p:nvPr/>
        </p:nvSpPr>
        <p:spPr>
          <a:xfrm>
            <a:off x="9555480" y="2880360"/>
            <a:ext cx="155448" cy="0"/>
          </a:xfrm>
          <a:prstGeom prst="line">
            <a:avLst/>
          </a:prstGeom>
          <a:noFill/>
          <a:ln w="25400">
            <a:solidFill>
              <a:srgbClr val="5A6B62"/>
            </a:solidFill>
            <a:prstDash val="solid"/>
            <a:headEnd type="none"/>
            <a:tailEnd type="triangle"/>
          </a:ln>
        </p:spPr>
      </p:sp>
      <p:sp>
        <p:nvSpPr>
          <p:cNvPr id="26" name="Shape 24"/>
          <p:cNvSpPr/>
          <p:nvPr/>
        </p:nvSpPr>
        <p:spPr>
          <a:xfrm>
            <a:off x="9784080" y="1828800"/>
            <a:ext cx="1600200" cy="2103120"/>
          </a:xfrm>
          <a:prstGeom prst="roundRect">
            <a:avLst>
              <a:gd name="adj" fmla="val 4571"/>
            </a:avLst>
          </a:prstGeom>
          <a:solidFill>
            <a:srgbClr val="FFFFFF"/>
          </a:solidFill>
          <a:ln w="12700">
            <a:solidFill>
              <a:srgbClr val="C9D9D0"/>
            </a:solidFill>
            <a:prstDash val="solid"/>
          </a:ln>
        </p:spPr>
      </p:sp>
      <p:sp>
        <p:nvSpPr>
          <p:cNvPr id="27" name="Text 25"/>
          <p:cNvSpPr/>
          <p:nvPr/>
        </p:nvSpPr>
        <p:spPr>
          <a:xfrm>
            <a:off x="9966960" y="1993392"/>
            <a:ext cx="1271016" cy="320040"/>
          </a:xfrm>
          <a:prstGeom prst="rect">
            <a:avLst/>
          </a:prstGeom>
          <a:noFill/>
          <a:ln/>
        </p:spPr>
        <p:txBody>
          <a:bodyPr wrap="square" lIns="0" tIns="0" rIns="0" bIns="0" rtlCol="0" anchor="ctr"/>
          <a:lstStyle/>
          <a:p>
            <a:pPr indent="0" marL="0">
              <a:buNone/>
            </a:pPr>
            <a:r>
              <a:rPr lang="en-US" sz="1500" b="1" dirty="0">
                <a:solidFill>
                  <a:srgbClr val="153D2E"/>
                </a:solidFill>
              </a:rPr>
              <a:t>Durable State</a:t>
            </a:r>
            <a:endParaRPr lang="en-US" sz="1500" dirty="0"/>
          </a:p>
        </p:txBody>
      </p:sp>
      <p:sp>
        <p:nvSpPr>
          <p:cNvPr id="28" name="Text 26"/>
          <p:cNvSpPr/>
          <p:nvPr/>
        </p:nvSpPr>
        <p:spPr>
          <a:xfrm>
            <a:off x="9966960" y="2404872"/>
            <a:ext cx="1252728" cy="1389888"/>
          </a:xfrm>
          <a:prstGeom prst="rect">
            <a:avLst/>
          </a:prstGeom>
          <a:noFill/>
          <a:ln/>
        </p:spPr>
        <p:txBody>
          <a:bodyPr wrap="square" lIns="254" tIns="254" rIns="254" bIns="254" rtlCol="0" anchor="t"/>
          <a:lstStyle/>
          <a:p>
            <a:pPr indent="0" marL="0">
              <a:buNone/>
            </a:pPr>
            <a:r>
              <a:rPr lang="en-US" sz="1120" dirty="0">
                <a:solidFill>
                  <a:srgbClr val="1C2B24"/>
                </a:solidFill>
              </a:rPr>
              <a:t>Runs · journals</a:t>
            </a:r>
            <a:endParaRPr lang="en-US" sz="1120" dirty="0"/>
          </a:p>
          <a:p>
            <a:pPr indent="0" marL="0">
              <a:buNone/>
            </a:pPr>
            <a:r>
              <a:rPr lang="en-US" sz="1120" dirty="0">
                <a:solidFill>
                  <a:srgbClr val="1C2B24"/>
                </a:solidFill>
              </a:rPr>
              <a:t>H2 · uploads</a:t>
            </a:r>
            <a:endParaRPr lang="en-US" sz="1120" dirty="0"/>
          </a:p>
        </p:txBody>
      </p:sp>
      <p:sp>
        <p:nvSpPr>
          <p:cNvPr id="29" name="Text 27"/>
          <p:cNvSpPr/>
          <p:nvPr/>
        </p:nvSpPr>
        <p:spPr>
          <a:xfrm>
            <a:off x="8001000" y="4389120"/>
            <a:ext cx="1645920" cy="274320"/>
          </a:xfrm>
          <a:prstGeom prst="rect">
            <a:avLst/>
          </a:prstGeom>
          <a:noFill/>
          <a:ln/>
        </p:spPr>
        <p:txBody>
          <a:bodyPr wrap="square" lIns="0" tIns="0" rIns="0" bIns="0" rtlCol="0" anchor="ctr"/>
          <a:lstStyle/>
          <a:p>
            <a:pPr algn="ctr" indent="0" marL="0">
              <a:buNone/>
            </a:pPr>
            <a:r>
              <a:rPr lang="en-US" sz="1200" b="1" dirty="0">
                <a:solidFill>
                  <a:srgbClr val="006B45"/>
                </a:solidFill>
              </a:rPr>
              <a:t>External evidence</a:t>
            </a:r>
            <a:endParaRPr lang="en-US" sz="1200" dirty="0"/>
          </a:p>
        </p:txBody>
      </p:sp>
      <p:sp>
        <p:nvSpPr>
          <p:cNvPr id="30" name="Shape 28"/>
          <p:cNvSpPr/>
          <p:nvPr/>
        </p:nvSpPr>
        <p:spPr>
          <a:xfrm>
            <a:off x="7909560" y="4709160"/>
            <a:ext cx="1920240" cy="713232"/>
          </a:xfrm>
          <a:prstGeom prst="roundRect">
            <a:avLst/>
          </a:prstGeom>
          <a:solidFill>
            <a:srgbClr val="FFFFFF"/>
          </a:solidFill>
          <a:ln w="15240">
            <a:solidFill>
              <a:srgbClr val="00965E"/>
            </a:solidFill>
            <a:prstDash val="solid"/>
          </a:ln>
        </p:spPr>
      </p:sp>
      <p:sp>
        <p:nvSpPr>
          <p:cNvPr id="31" name="Text 29"/>
          <p:cNvSpPr/>
          <p:nvPr/>
        </p:nvSpPr>
        <p:spPr>
          <a:xfrm>
            <a:off x="8019288" y="4855464"/>
            <a:ext cx="1700784" cy="347472"/>
          </a:xfrm>
          <a:prstGeom prst="rect">
            <a:avLst/>
          </a:prstGeom>
          <a:noFill/>
          <a:ln/>
        </p:spPr>
        <p:txBody>
          <a:bodyPr wrap="square" lIns="0" tIns="0" rIns="0" bIns="0" rtlCol="0" anchor="ctr"/>
          <a:lstStyle/>
          <a:p>
            <a:pPr algn="ctr" indent="0" marL="0">
              <a:buNone/>
            </a:pPr>
            <a:r>
              <a:rPr lang="en-US" sz="1050" dirty="0">
                <a:solidFill>
                  <a:srgbClr val="1C2B24"/>
                </a:solidFill>
              </a:rPr>
              <a:t>Jira · Confluence</a:t>
            </a:r>
            <a:endParaRPr lang="en-US" sz="1050" dirty="0"/>
          </a:p>
          <a:p>
            <a:pPr algn="ctr" indent="0" marL="0">
              <a:buNone/>
            </a:pPr>
            <a:r>
              <a:rPr lang="en-US" sz="1050" dirty="0">
                <a:solidFill>
                  <a:srgbClr val="1C2B24"/>
                </a:solidFill>
              </a:rPr>
              <a:t>DevOps · MCP</a:t>
            </a:r>
            <a:endParaRPr lang="en-US" sz="1050" dirty="0"/>
          </a:p>
        </p:txBody>
      </p:sp>
      <p:sp>
        <p:nvSpPr>
          <p:cNvPr id="32" name="Shape 30"/>
          <p:cNvSpPr/>
          <p:nvPr/>
        </p:nvSpPr>
        <p:spPr>
          <a:xfrm>
            <a:off x="7315200" y="3931920"/>
            <a:ext cx="960120" cy="749808"/>
          </a:xfrm>
          <a:prstGeom prst="line">
            <a:avLst/>
          </a:prstGeom>
          <a:noFill/>
          <a:ln w="25400">
            <a:solidFill>
              <a:srgbClr val="00965E"/>
            </a:solidFill>
            <a:prstDash val="solid"/>
            <a:headEnd type="none"/>
            <a:tailEnd type="triangle"/>
          </a:ln>
        </p:spPr>
      </p:sp>
      <p:sp>
        <p:nvSpPr>
          <p:cNvPr id="33" name="Text 31"/>
          <p:cNvSpPr/>
          <p:nvPr/>
        </p:nvSpPr>
        <p:spPr>
          <a:xfrm>
            <a:off x="731520" y="4572000"/>
            <a:ext cx="2011680" cy="274320"/>
          </a:xfrm>
          <a:prstGeom prst="rect">
            <a:avLst/>
          </a:prstGeom>
          <a:noFill/>
          <a:ln/>
        </p:spPr>
        <p:txBody>
          <a:bodyPr wrap="square" lIns="0" tIns="0" rIns="0" bIns="0" rtlCol="0" anchor="ctr"/>
          <a:lstStyle/>
          <a:p>
            <a:pPr indent="0" marL="0">
              <a:buNone/>
            </a:pPr>
            <a:r>
              <a:rPr lang="en-US" sz="1300" b="1" dirty="0">
                <a:solidFill>
                  <a:srgbClr val="153D2E"/>
                </a:solidFill>
              </a:rPr>
              <a:t>Key design principle</a:t>
            </a:r>
            <a:endParaRPr lang="en-US" sz="1300" dirty="0"/>
          </a:p>
        </p:txBody>
      </p:sp>
      <p:sp>
        <p:nvSpPr>
          <p:cNvPr id="34" name="Text 32"/>
          <p:cNvSpPr/>
          <p:nvPr/>
        </p:nvSpPr>
        <p:spPr>
          <a:xfrm>
            <a:off x="731520" y="4983480"/>
            <a:ext cx="6126480" cy="749808"/>
          </a:xfrm>
          <a:prstGeom prst="rect">
            <a:avLst/>
          </a:prstGeom>
          <a:noFill/>
          <a:ln/>
        </p:spPr>
        <p:txBody>
          <a:bodyPr wrap="square" lIns="0" tIns="0" rIns="0" bIns="0" rtlCol="0" anchor="ctr"/>
          <a:lstStyle/>
          <a:p>
            <a:pPr indent="0" marL="0">
              <a:buNone/>
            </a:pPr>
            <a:r>
              <a:rPr lang="en-US" sz="1500" b="1" dirty="0">
                <a:solidFill>
                  <a:srgbClr val="1C2B24"/>
                </a:solidFill>
              </a:rPr>
              <a:t>The model never “is” the agent. The model proposes; the application owns tools, permissions, workspace boundaries, state and verification.</a:t>
            </a:r>
            <a:endParaRPr lang="en-US" sz="1500" dirty="0"/>
          </a:p>
        </p:txBody>
      </p:sp>
      <p:sp>
        <p:nvSpPr>
          <p:cNvPr id="25" name="Slide Number Placeholder 0"/>
          <p:cNvSpPr>
            <a:spLocks noGrp="1"/>
          </p:cNvSpPr>
          <p:nvPr>
            <p:ph type="sldNum" sz="quarter" idx="4294967295"/>
          </p:nvPr>
        </p:nvSpPr>
        <p:spPr>
          <a:xfrm>
            <a:off x="11686032" y="6537960"/>
            <a:ext cx="256032" cy="164592"/>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53645C"/>
                </a:solidFill>
                <a:latin typeface="Aptos"/>
                <a:ea typeface="Aptos"/>
                <a:cs typeface="Apto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84048"/>
            <a:ext cx="8183880" cy="438912"/>
          </a:xfrm>
          <a:prstGeom prst="rect">
            <a:avLst/>
          </a:prstGeom>
          <a:noFill/>
          <a:ln/>
        </p:spPr>
        <p:txBody>
          <a:bodyPr wrap="square" lIns="0" tIns="0" rIns="0" bIns="0" rtlCol="0" anchor="ctr"/>
          <a:lstStyle/>
          <a:p>
            <a:pPr indent="0" marL="0">
              <a:buNone/>
            </a:pPr>
            <a:r>
              <a:rPr lang="en-US" sz="2700" b="1" dirty="0">
                <a:solidFill>
                  <a:srgbClr val="153D2E"/>
                </a:solidFill>
              </a:rPr>
              <a:t>3. Agent workflow — from request to verified result</a:t>
            </a:r>
            <a:endParaRPr lang="en-US" sz="2700" dirty="0"/>
          </a:p>
        </p:txBody>
      </p:sp>
      <p:sp>
        <p:nvSpPr>
          <p:cNvPr id="3" name="Text 1"/>
          <p:cNvSpPr/>
          <p:nvPr/>
        </p:nvSpPr>
        <p:spPr>
          <a:xfrm>
            <a:off x="566928" y="877824"/>
            <a:ext cx="10881360" cy="347472"/>
          </a:xfrm>
          <a:prstGeom prst="rect">
            <a:avLst/>
          </a:prstGeom>
          <a:noFill/>
          <a:ln/>
        </p:spPr>
        <p:txBody>
          <a:bodyPr wrap="square" lIns="0" tIns="0" rIns="0" bIns="0" rtlCol="0" anchor="ctr"/>
          <a:lstStyle/>
          <a:p>
            <a:pPr indent="0" marL="0">
              <a:buNone/>
            </a:pPr>
            <a:r>
              <a:rPr lang="en-US" sz="1250" dirty="0">
                <a:solidFill>
                  <a:srgbClr val="5A6B62"/>
                </a:solidFill>
              </a:rPr>
              <a:t>The workflow converts an open-ended request into a controlled sequence with approval and verification.</a:t>
            </a:r>
            <a:endParaRPr lang="en-US" sz="1250" dirty="0"/>
          </a:p>
        </p:txBody>
      </p:sp>
      <p:sp>
        <p:nvSpPr>
          <p:cNvPr id="4" name="Shape 2"/>
          <p:cNvSpPr/>
          <p:nvPr/>
        </p:nvSpPr>
        <p:spPr>
          <a:xfrm>
            <a:off x="9646920" y="402336"/>
            <a:ext cx="1920240" cy="329184"/>
          </a:xfrm>
          <a:prstGeom prst="roundRect">
            <a:avLst>
              <a:gd name="adj" fmla="val 22222"/>
            </a:avLst>
          </a:prstGeom>
          <a:solidFill>
            <a:srgbClr val="D9EFE5"/>
          </a:solidFill>
          <a:ln w="12700">
            <a:solidFill>
              <a:srgbClr val="D9EFE5"/>
            </a:solidFill>
            <a:prstDash val="solid"/>
          </a:ln>
        </p:spPr>
      </p:sp>
      <p:sp>
        <p:nvSpPr>
          <p:cNvPr id="5" name="Text 3"/>
          <p:cNvSpPr/>
          <p:nvPr/>
        </p:nvSpPr>
        <p:spPr>
          <a:xfrm>
            <a:off x="9720072" y="457200"/>
            <a:ext cx="1773936" cy="201168"/>
          </a:xfrm>
          <a:prstGeom prst="rect">
            <a:avLst/>
          </a:prstGeom>
          <a:noFill/>
          <a:ln/>
        </p:spPr>
        <p:txBody>
          <a:bodyPr wrap="square" lIns="0" tIns="0" rIns="0" bIns="0" rtlCol="0" anchor="ctr"/>
          <a:lstStyle/>
          <a:p>
            <a:pPr algn="ctr" indent="0" marL="0">
              <a:buNone/>
            </a:pPr>
            <a:r>
              <a:rPr lang="en-US" sz="1000" b="1" dirty="0">
                <a:solidFill>
                  <a:srgbClr val="006B45"/>
                </a:solidFill>
              </a:rPr>
              <a:t>WORKFLOW</a:t>
            </a:r>
            <a:endParaRPr lang="en-US" sz="1000" dirty="0"/>
          </a:p>
        </p:txBody>
      </p:sp>
      <p:sp>
        <p:nvSpPr>
          <p:cNvPr id="6" name="Shape 4"/>
          <p:cNvSpPr/>
          <p:nvPr/>
        </p:nvSpPr>
        <p:spPr>
          <a:xfrm>
            <a:off x="502920" y="1673352"/>
            <a:ext cx="420624" cy="420624"/>
          </a:xfrm>
          <a:prstGeom prst="ellipse">
            <a:avLst/>
          </a:prstGeom>
          <a:solidFill>
            <a:srgbClr val="00965E"/>
          </a:solidFill>
          <a:ln w="12700">
            <a:solidFill>
              <a:srgbClr val="00965E"/>
            </a:solidFill>
            <a:prstDash val="solid"/>
          </a:ln>
        </p:spPr>
      </p:sp>
      <p:sp>
        <p:nvSpPr>
          <p:cNvPr id="7" name="Text 5"/>
          <p:cNvSpPr/>
          <p:nvPr/>
        </p:nvSpPr>
        <p:spPr>
          <a:xfrm>
            <a:off x="502920" y="1709928"/>
            <a:ext cx="420624" cy="256032"/>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8" name="Shape 6"/>
          <p:cNvSpPr/>
          <p:nvPr/>
        </p:nvSpPr>
        <p:spPr>
          <a:xfrm>
            <a:off x="1005840" y="1508760"/>
            <a:ext cx="2240280" cy="749808"/>
          </a:xfrm>
          <a:prstGeom prst="roundRect">
            <a:avLst/>
          </a:prstGeom>
          <a:solidFill>
            <a:srgbClr val="FFFFFF"/>
          </a:solidFill>
          <a:ln w="12700">
            <a:solidFill>
              <a:srgbClr val="C9D9D0"/>
            </a:solidFill>
            <a:prstDash val="solid"/>
          </a:ln>
        </p:spPr>
      </p:sp>
      <p:sp>
        <p:nvSpPr>
          <p:cNvPr id="9" name="Text 7"/>
          <p:cNvSpPr/>
          <p:nvPr/>
        </p:nvSpPr>
        <p:spPr>
          <a:xfrm>
            <a:off x="1188720" y="1618488"/>
            <a:ext cx="1874520" cy="228600"/>
          </a:xfrm>
          <a:prstGeom prst="rect">
            <a:avLst/>
          </a:prstGeom>
          <a:noFill/>
          <a:ln/>
        </p:spPr>
        <p:txBody>
          <a:bodyPr wrap="square" lIns="0" tIns="0" rIns="0" bIns="0" rtlCol="0" anchor="ctr"/>
          <a:lstStyle/>
          <a:p>
            <a:pPr indent="0" marL="0">
              <a:buNone/>
            </a:pPr>
            <a:r>
              <a:rPr lang="en-US" sz="1250" b="1" dirty="0">
                <a:solidFill>
                  <a:srgbClr val="153D2E"/>
                </a:solidFill>
              </a:rPr>
              <a:t>Receive request</a:t>
            </a:r>
            <a:endParaRPr lang="en-US" sz="1250" dirty="0"/>
          </a:p>
        </p:txBody>
      </p:sp>
      <p:sp>
        <p:nvSpPr>
          <p:cNvPr id="10" name="Text 8"/>
          <p:cNvSpPr/>
          <p:nvPr/>
        </p:nvSpPr>
        <p:spPr>
          <a:xfrm>
            <a:off x="1188720" y="1901952"/>
            <a:ext cx="1828800" cy="219456"/>
          </a:xfrm>
          <a:prstGeom prst="rect">
            <a:avLst/>
          </a:prstGeom>
          <a:noFill/>
          <a:ln/>
        </p:spPr>
        <p:txBody>
          <a:bodyPr wrap="square" lIns="0" tIns="0" rIns="0" bIns="0" rtlCol="0" anchor="ctr"/>
          <a:lstStyle/>
          <a:p>
            <a:pPr indent="0" marL="0">
              <a:buNone/>
            </a:pPr>
            <a:r>
              <a:rPr lang="en-US" sz="970" dirty="0">
                <a:solidFill>
                  <a:srgbClr val="5A6B62"/>
                </a:solidFill>
              </a:rPr>
              <a:t>Understand goal</a:t>
            </a:r>
            <a:endParaRPr lang="en-US" sz="970" dirty="0"/>
          </a:p>
        </p:txBody>
      </p:sp>
      <p:sp>
        <p:nvSpPr>
          <p:cNvPr id="11" name="Shape 9"/>
          <p:cNvSpPr/>
          <p:nvPr/>
        </p:nvSpPr>
        <p:spPr>
          <a:xfrm>
            <a:off x="3273552" y="1883664"/>
            <a:ext cx="292608" cy="0"/>
          </a:xfrm>
          <a:prstGeom prst="line">
            <a:avLst/>
          </a:prstGeom>
          <a:noFill/>
          <a:ln w="25400">
            <a:solidFill>
              <a:srgbClr val="5A6B62"/>
            </a:solidFill>
            <a:prstDash val="solid"/>
            <a:headEnd type="none"/>
            <a:tailEnd type="triangle"/>
          </a:ln>
        </p:spPr>
      </p:sp>
      <p:sp>
        <p:nvSpPr>
          <p:cNvPr id="12" name="Shape 10"/>
          <p:cNvSpPr/>
          <p:nvPr/>
        </p:nvSpPr>
        <p:spPr>
          <a:xfrm>
            <a:off x="3383280" y="1673352"/>
            <a:ext cx="420624" cy="420624"/>
          </a:xfrm>
          <a:prstGeom prst="ellipse">
            <a:avLst/>
          </a:prstGeom>
          <a:solidFill>
            <a:srgbClr val="00965E"/>
          </a:solidFill>
          <a:ln w="12700">
            <a:solidFill>
              <a:srgbClr val="00965E"/>
            </a:solidFill>
            <a:prstDash val="solid"/>
          </a:ln>
        </p:spPr>
      </p:sp>
      <p:sp>
        <p:nvSpPr>
          <p:cNvPr id="13" name="Text 11"/>
          <p:cNvSpPr/>
          <p:nvPr/>
        </p:nvSpPr>
        <p:spPr>
          <a:xfrm>
            <a:off x="3383280" y="1709928"/>
            <a:ext cx="420624" cy="256032"/>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4" name="Shape 12"/>
          <p:cNvSpPr/>
          <p:nvPr/>
        </p:nvSpPr>
        <p:spPr>
          <a:xfrm>
            <a:off x="3886200" y="1508760"/>
            <a:ext cx="2240280" cy="749808"/>
          </a:xfrm>
          <a:prstGeom prst="roundRect">
            <a:avLst/>
          </a:prstGeom>
          <a:solidFill>
            <a:srgbClr val="FFFFFF"/>
          </a:solidFill>
          <a:ln w="12700">
            <a:solidFill>
              <a:srgbClr val="C9D9D0"/>
            </a:solidFill>
            <a:prstDash val="solid"/>
          </a:ln>
        </p:spPr>
      </p:sp>
      <p:sp>
        <p:nvSpPr>
          <p:cNvPr id="15" name="Text 13"/>
          <p:cNvSpPr/>
          <p:nvPr/>
        </p:nvSpPr>
        <p:spPr>
          <a:xfrm>
            <a:off x="4069080" y="1618488"/>
            <a:ext cx="1874520" cy="228600"/>
          </a:xfrm>
          <a:prstGeom prst="rect">
            <a:avLst/>
          </a:prstGeom>
          <a:noFill/>
          <a:ln/>
        </p:spPr>
        <p:txBody>
          <a:bodyPr wrap="square" lIns="0" tIns="0" rIns="0" bIns="0" rtlCol="0" anchor="ctr"/>
          <a:lstStyle/>
          <a:p>
            <a:pPr indent="0" marL="0">
              <a:buNone/>
            </a:pPr>
            <a:r>
              <a:rPr lang="en-US" sz="1250" b="1" dirty="0">
                <a:solidFill>
                  <a:srgbClr val="153D2E"/>
                </a:solidFill>
              </a:rPr>
              <a:t>Discover context</a:t>
            </a:r>
            <a:endParaRPr lang="en-US" sz="1250" dirty="0"/>
          </a:p>
        </p:txBody>
      </p:sp>
      <p:sp>
        <p:nvSpPr>
          <p:cNvPr id="16" name="Text 14"/>
          <p:cNvSpPr/>
          <p:nvPr/>
        </p:nvSpPr>
        <p:spPr>
          <a:xfrm>
            <a:off x="4069080" y="1901952"/>
            <a:ext cx="1828800" cy="219456"/>
          </a:xfrm>
          <a:prstGeom prst="rect">
            <a:avLst/>
          </a:prstGeom>
          <a:noFill/>
          <a:ln/>
        </p:spPr>
        <p:txBody>
          <a:bodyPr wrap="square" lIns="0" tIns="0" rIns="0" bIns="0" rtlCol="0" anchor="ctr"/>
          <a:lstStyle/>
          <a:p>
            <a:pPr indent="0" marL="0">
              <a:buNone/>
            </a:pPr>
            <a:r>
              <a:rPr lang="en-US" sz="970" dirty="0">
                <a:solidFill>
                  <a:srgbClr val="5A6B62"/>
                </a:solidFill>
              </a:rPr>
              <a:t>Workspace · files · evidence</a:t>
            </a:r>
            <a:endParaRPr lang="en-US" sz="970" dirty="0"/>
          </a:p>
        </p:txBody>
      </p:sp>
      <p:sp>
        <p:nvSpPr>
          <p:cNvPr id="17" name="Shape 15"/>
          <p:cNvSpPr/>
          <p:nvPr/>
        </p:nvSpPr>
        <p:spPr>
          <a:xfrm>
            <a:off x="6153912" y="1883664"/>
            <a:ext cx="292608" cy="0"/>
          </a:xfrm>
          <a:prstGeom prst="line">
            <a:avLst/>
          </a:prstGeom>
          <a:noFill/>
          <a:ln w="25400">
            <a:solidFill>
              <a:srgbClr val="5A6B62"/>
            </a:solidFill>
            <a:prstDash val="solid"/>
            <a:headEnd type="none"/>
            <a:tailEnd type="triangle"/>
          </a:ln>
        </p:spPr>
      </p:sp>
      <p:sp>
        <p:nvSpPr>
          <p:cNvPr id="18" name="Shape 16"/>
          <p:cNvSpPr/>
          <p:nvPr/>
        </p:nvSpPr>
        <p:spPr>
          <a:xfrm>
            <a:off x="6263640" y="1673352"/>
            <a:ext cx="420624" cy="420624"/>
          </a:xfrm>
          <a:prstGeom prst="ellipse">
            <a:avLst/>
          </a:prstGeom>
          <a:solidFill>
            <a:srgbClr val="00965E"/>
          </a:solidFill>
          <a:ln w="12700">
            <a:solidFill>
              <a:srgbClr val="00965E"/>
            </a:solidFill>
            <a:prstDash val="solid"/>
          </a:ln>
        </p:spPr>
      </p:sp>
      <p:sp>
        <p:nvSpPr>
          <p:cNvPr id="19" name="Text 17"/>
          <p:cNvSpPr/>
          <p:nvPr/>
        </p:nvSpPr>
        <p:spPr>
          <a:xfrm>
            <a:off x="6263640" y="1709928"/>
            <a:ext cx="420624" cy="256032"/>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20" name="Shape 18"/>
          <p:cNvSpPr/>
          <p:nvPr/>
        </p:nvSpPr>
        <p:spPr>
          <a:xfrm>
            <a:off x="6766560" y="1508760"/>
            <a:ext cx="2240280" cy="749808"/>
          </a:xfrm>
          <a:prstGeom prst="roundRect">
            <a:avLst/>
          </a:prstGeom>
          <a:solidFill>
            <a:srgbClr val="FFFFFF"/>
          </a:solidFill>
          <a:ln w="12700">
            <a:solidFill>
              <a:srgbClr val="C9D9D0"/>
            </a:solidFill>
            <a:prstDash val="solid"/>
          </a:ln>
        </p:spPr>
      </p:sp>
      <p:sp>
        <p:nvSpPr>
          <p:cNvPr id="21" name="Text 19"/>
          <p:cNvSpPr/>
          <p:nvPr/>
        </p:nvSpPr>
        <p:spPr>
          <a:xfrm>
            <a:off x="6949440" y="1618488"/>
            <a:ext cx="1874520" cy="228600"/>
          </a:xfrm>
          <a:prstGeom prst="rect">
            <a:avLst/>
          </a:prstGeom>
          <a:noFill/>
          <a:ln/>
        </p:spPr>
        <p:txBody>
          <a:bodyPr wrap="square" lIns="0" tIns="0" rIns="0" bIns="0" rtlCol="0" anchor="ctr"/>
          <a:lstStyle/>
          <a:p>
            <a:pPr indent="0" marL="0">
              <a:buNone/>
            </a:pPr>
            <a:r>
              <a:rPr lang="en-US" sz="1250" b="1" dirty="0">
                <a:solidFill>
                  <a:srgbClr val="153D2E"/>
                </a:solidFill>
              </a:rPr>
              <a:t>Create plan</a:t>
            </a:r>
            <a:endParaRPr lang="en-US" sz="1250" dirty="0"/>
          </a:p>
        </p:txBody>
      </p:sp>
      <p:sp>
        <p:nvSpPr>
          <p:cNvPr id="22" name="Text 20"/>
          <p:cNvSpPr/>
          <p:nvPr/>
        </p:nvSpPr>
        <p:spPr>
          <a:xfrm>
            <a:off x="6949440" y="1901952"/>
            <a:ext cx="1828800" cy="219456"/>
          </a:xfrm>
          <a:prstGeom prst="rect">
            <a:avLst/>
          </a:prstGeom>
          <a:noFill/>
          <a:ln/>
        </p:spPr>
        <p:txBody>
          <a:bodyPr wrap="square" lIns="0" tIns="0" rIns="0" bIns="0" rtlCol="0" anchor="ctr"/>
          <a:lstStyle/>
          <a:p>
            <a:pPr indent="0" marL="0">
              <a:buNone/>
            </a:pPr>
            <a:r>
              <a:rPr lang="en-US" sz="970" dirty="0">
                <a:solidFill>
                  <a:srgbClr val="5A6B62"/>
                </a:solidFill>
              </a:rPr>
              <a:t>Structured sequential steps</a:t>
            </a:r>
            <a:endParaRPr lang="en-US" sz="970" dirty="0"/>
          </a:p>
        </p:txBody>
      </p:sp>
      <p:sp>
        <p:nvSpPr>
          <p:cNvPr id="23" name="Shape 21"/>
          <p:cNvSpPr/>
          <p:nvPr/>
        </p:nvSpPr>
        <p:spPr>
          <a:xfrm>
            <a:off x="9034272" y="1883664"/>
            <a:ext cx="292608" cy="0"/>
          </a:xfrm>
          <a:prstGeom prst="line">
            <a:avLst/>
          </a:prstGeom>
          <a:noFill/>
          <a:ln w="25400">
            <a:solidFill>
              <a:srgbClr val="5A6B62"/>
            </a:solidFill>
            <a:prstDash val="solid"/>
            <a:headEnd type="none"/>
            <a:tailEnd type="triangle"/>
          </a:ln>
        </p:spPr>
      </p:sp>
      <p:sp>
        <p:nvSpPr>
          <p:cNvPr id="24" name="Shape 22"/>
          <p:cNvSpPr/>
          <p:nvPr/>
        </p:nvSpPr>
        <p:spPr>
          <a:xfrm>
            <a:off x="9144000" y="1673352"/>
            <a:ext cx="420624" cy="420624"/>
          </a:xfrm>
          <a:prstGeom prst="ellipse">
            <a:avLst/>
          </a:prstGeom>
          <a:solidFill>
            <a:srgbClr val="00965E"/>
          </a:solidFill>
          <a:ln w="12700">
            <a:solidFill>
              <a:srgbClr val="00965E"/>
            </a:solidFill>
            <a:prstDash val="solid"/>
          </a:ln>
        </p:spPr>
      </p:sp>
      <p:sp>
        <p:nvSpPr>
          <p:cNvPr id="25" name="Text 23"/>
          <p:cNvSpPr/>
          <p:nvPr/>
        </p:nvSpPr>
        <p:spPr>
          <a:xfrm>
            <a:off x="9144000" y="1709928"/>
            <a:ext cx="420624" cy="256032"/>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26" name="Shape 24"/>
          <p:cNvSpPr/>
          <p:nvPr/>
        </p:nvSpPr>
        <p:spPr>
          <a:xfrm>
            <a:off x="9646920" y="1508760"/>
            <a:ext cx="2240280" cy="749808"/>
          </a:xfrm>
          <a:prstGeom prst="roundRect">
            <a:avLst/>
          </a:prstGeom>
          <a:solidFill>
            <a:srgbClr val="D9EFE5"/>
          </a:solidFill>
          <a:ln w="12700">
            <a:solidFill>
              <a:srgbClr val="00965E"/>
            </a:solidFill>
            <a:prstDash val="solid"/>
          </a:ln>
        </p:spPr>
      </p:sp>
      <p:sp>
        <p:nvSpPr>
          <p:cNvPr id="27" name="Text 25"/>
          <p:cNvSpPr/>
          <p:nvPr/>
        </p:nvSpPr>
        <p:spPr>
          <a:xfrm>
            <a:off x="9829800" y="1618488"/>
            <a:ext cx="1874520" cy="228600"/>
          </a:xfrm>
          <a:prstGeom prst="rect">
            <a:avLst/>
          </a:prstGeom>
          <a:noFill/>
          <a:ln/>
        </p:spPr>
        <p:txBody>
          <a:bodyPr wrap="square" lIns="0" tIns="0" rIns="0" bIns="0" rtlCol="0" anchor="ctr"/>
          <a:lstStyle/>
          <a:p>
            <a:pPr indent="0" marL="0">
              <a:buNone/>
            </a:pPr>
            <a:r>
              <a:rPr lang="en-US" sz="1250" b="1" dirty="0">
                <a:solidFill>
                  <a:srgbClr val="153D2E"/>
                </a:solidFill>
              </a:rPr>
              <a:t>Approve plan</a:t>
            </a:r>
            <a:endParaRPr lang="en-US" sz="1250" dirty="0"/>
          </a:p>
        </p:txBody>
      </p:sp>
      <p:sp>
        <p:nvSpPr>
          <p:cNvPr id="28" name="Text 26"/>
          <p:cNvSpPr/>
          <p:nvPr/>
        </p:nvSpPr>
        <p:spPr>
          <a:xfrm>
            <a:off x="9829800" y="1901952"/>
            <a:ext cx="1828800" cy="219456"/>
          </a:xfrm>
          <a:prstGeom prst="rect">
            <a:avLst/>
          </a:prstGeom>
          <a:noFill/>
          <a:ln/>
        </p:spPr>
        <p:txBody>
          <a:bodyPr wrap="square" lIns="0" tIns="0" rIns="0" bIns="0" rtlCol="0" anchor="ctr"/>
          <a:lstStyle/>
          <a:p>
            <a:pPr indent="0" marL="0">
              <a:buNone/>
            </a:pPr>
            <a:r>
              <a:rPr lang="en-US" sz="970" dirty="0">
                <a:solidFill>
                  <a:srgbClr val="5A6B62"/>
                </a:solidFill>
              </a:rPr>
              <a:t>User can review / edit</a:t>
            </a:r>
            <a:endParaRPr lang="en-US" sz="970" dirty="0"/>
          </a:p>
        </p:txBody>
      </p:sp>
      <p:sp>
        <p:nvSpPr>
          <p:cNvPr id="29" name="Shape 27"/>
          <p:cNvSpPr/>
          <p:nvPr/>
        </p:nvSpPr>
        <p:spPr>
          <a:xfrm>
            <a:off x="502920" y="3136392"/>
            <a:ext cx="420624" cy="420624"/>
          </a:xfrm>
          <a:prstGeom prst="ellipse">
            <a:avLst/>
          </a:prstGeom>
          <a:solidFill>
            <a:srgbClr val="00965E"/>
          </a:solidFill>
          <a:ln w="12700">
            <a:solidFill>
              <a:srgbClr val="00965E"/>
            </a:solidFill>
            <a:prstDash val="solid"/>
          </a:ln>
        </p:spPr>
      </p:sp>
      <p:sp>
        <p:nvSpPr>
          <p:cNvPr id="30" name="Text 28"/>
          <p:cNvSpPr/>
          <p:nvPr/>
        </p:nvSpPr>
        <p:spPr>
          <a:xfrm>
            <a:off x="502920" y="3172968"/>
            <a:ext cx="420624" cy="256032"/>
          </a:xfrm>
          <a:prstGeom prst="rect">
            <a:avLst/>
          </a:prstGeom>
          <a:noFill/>
          <a:ln/>
        </p:spPr>
        <p:txBody>
          <a:bodyPr wrap="square" lIns="0" tIns="0" rIns="0" bIns="0" rtlCol="0" anchor="ctr"/>
          <a:lstStyle/>
          <a:p>
            <a:pPr algn="ctr" indent="0" marL="0">
              <a:buNone/>
            </a:pPr>
            <a:r>
              <a:rPr lang="en-US" sz="1200" b="1" dirty="0">
                <a:solidFill>
                  <a:srgbClr val="FFFFFF"/>
                </a:solidFill>
              </a:rPr>
              <a:t>5</a:t>
            </a:r>
            <a:endParaRPr lang="en-US" sz="1200" dirty="0"/>
          </a:p>
        </p:txBody>
      </p:sp>
      <p:sp>
        <p:nvSpPr>
          <p:cNvPr id="31" name="Shape 29"/>
          <p:cNvSpPr/>
          <p:nvPr/>
        </p:nvSpPr>
        <p:spPr>
          <a:xfrm>
            <a:off x="1005840" y="2971800"/>
            <a:ext cx="2240280" cy="749808"/>
          </a:xfrm>
          <a:prstGeom prst="roundRect">
            <a:avLst/>
          </a:prstGeom>
          <a:solidFill>
            <a:srgbClr val="FFFFFF"/>
          </a:solidFill>
          <a:ln w="12700">
            <a:solidFill>
              <a:srgbClr val="C9D9D0"/>
            </a:solidFill>
            <a:prstDash val="solid"/>
          </a:ln>
        </p:spPr>
      </p:sp>
      <p:sp>
        <p:nvSpPr>
          <p:cNvPr id="32" name="Text 30"/>
          <p:cNvSpPr/>
          <p:nvPr/>
        </p:nvSpPr>
        <p:spPr>
          <a:xfrm>
            <a:off x="1188720" y="3081528"/>
            <a:ext cx="1874520" cy="228600"/>
          </a:xfrm>
          <a:prstGeom prst="rect">
            <a:avLst/>
          </a:prstGeom>
          <a:noFill/>
          <a:ln/>
        </p:spPr>
        <p:txBody>
          <a:bodyPr wrap="square" lIns="0" tIns="0" rIns="0" bIns="0" rtlCol="0" anchor="ctr"/>
          <a:lstStyle/>
          <a:p>
            <a:pPr indent="0" marL="0">
              <a:buNone/>
            </a:pPr>
            <a:r>
              <a:rPr lang="en-US" sz="1250" b="1" dirty="0">
                <a:solidFill>
                  <a:srgbClr val="153D2E"/>
                </a:solidFill>
              </a:rPr>
              <a:t>Execute</a:t>
            </a:r>
            <a:endParaRPr lang="en-US" sz="1250" dirty="0"/>
          </a:p>
        </p:txBody>
      </p:sp>
      <p:sp>
        <p:nvSpPr>
          <p:cNvPr id="33" name="Text 31"/>
          <p:cNvSpPr/>
          <p:nvPr/>
        </p:nvSpPr>
        <p:spPr>
          <a:xfrm>
            <a:off x="1188720" y="3364992"/>
            <a:ext cx="1828800" cy="219456"/>
          </a:xfrm>
          <a:prstGeom prst="rect">
            <a:avLst/>
          </a:prstGeom>
          <a:noFill/>
          <a:ln/>
        </p:spPr>
        <p:txBody>
          <a:bodyPr wrap="square" lIns="0" tIns="0" rIns="0" bIns="0" rtlCol="0" anchor="ctr"/>
          <a:lstStyle/>
          <a:p>
            <a:pPr indent="0" marL="0">
              <a:buNone/>
            </a:pPr>
            <a:r>
              <a:rPr lang="en-US" sz="970" dirty="0">
                <a:solidFill>
                  <a:srgbClr val="5A6B62"/>
                </a:solidFill>
              </a:rPr>
              <a:t>One active step at a time</a:t>
            </a:r>
            <a:endParaRPr lang="en-US" sz="970" dirty="0"/>
          </a:p>
        </p:txBody>
      </p:sp>
      <p:sp>
        <p:nvSpPr>
          <p:cNvPr id="34" name="Shape 32"/>
          <p:cNvSpPr/>
          <p:nvPr/>
        </p:nvSpPr>
        <p:spPr>
          <a:xfrm>
            <a:off x="3273552" y="3346704"/>
            <a:ext cx="292608" cy="0"/>
          </a:xfrm>
          <a:prstGeom prst="line">
            <a:avLst/>
          </a:prstGeom>
          <a:noFill/>
          <a:ln w="25400">
            <a:solidFill>
              <a:srgbClr val="5A6B62"/>
            </a:solidFill>
            <a:prstDash val="solid"/>
            <a:headEnd type="none"/>
            <a:tailEnd type="triangle"/>
          </a:ln>
        </p:spPr>
      </p:sp>
      <p:sp>
        <p:nvSpPr>
          <p:cNvPr id="35" name="Shape 33"/>
          <p:cNvSpPr/>
          <p:nvPr/>
        </p:nvSpPr>
        <p:spPr>
          <a:xfrm>
            <a:off x="3383280" y="3136392"/>
            <a:ext cx="420624" cy="420624"/>
          </a:xfrm>
          <a:prstGeom prst="ellipse">
            <a:avLst/>
          </a:prstGeom>
          <a:solidFill>
            <a:srgbClr val="00965E"/>
          </a:solidFill>
          <a:ln w="12700">
            <a:solidFill>
              <a:srgbClr val="00965E"/>
            </a:solidFill>
            <a:prstDash val="solid"/>
          </a:ln>
        </p:spPr>
      </p:sp>
      <p:sp>
        <p:nvSpPr>
          <p:cNvPr id="36" name="Text 34"/>
          <p:cNvSpPr/>
          <p:nvPr/>
        </p:nvSpPr>
        <p:spPr>
          <a:xfrm>
            <a:off x="3383280" y="3172968"/>
            <a:ext cx="420624" cy="256032"/>
          </a:xfrm>
          <a:prstGeom prst="rect">
            <a:avLst/>
          </a:prstGeom>
          <a:noFill/>
          <a:ln/>
        </p:spPr>
        <p:txBody>
          <a:bodyPr wrap="square" lIns="0" tIns="0" rIns="0" bIns="0" rtlCol="0" anchor="ctr"/>
          <a:lstStyle/>
          <a:p>
            <a:pPr algn="ctr" indent="0" marL="0">
              <a:buNone/>
            </a:pPr>
            <a:r>
              <a:rPr lang="en-US" sz="1200" b="1" dirty="0">
                <a:solidFill>
                  <a:srgbClr val="FFFFFF"/>
                </a:solidFill>
              </a:rPr>
              <a:t>6</a:t>
            </a:r>
            <a:endParaRPr lang="en-US" sz="1200" dirty="0"/>
          </a:p>
        </p:txBody>
      </p:sp>
      <p:sp>
        <p:nvSpPr>
          <p:cNvPr id="37" name="Shape 35"/>
          <p:cNvSpPr/>
          <p:nvPr/>
        </p:nvSpPr>
        <p:spPr>
          <a:xfrm>
            <a:off x="3886200" y="2971800"/>
            <a:ext cx="2240280" cy="749808"/>
          </a:xfrm>
          <a:prstGeom prst="roundRect">
            <a:avLst/>
          </a:prstGeom>
          <a:solidFill>
            <a:srgbClr val="FFFFFF"/>
          </a:solidFill>
          <a:ln w="12700">
            <a:solidFill>
              <a:srgbClr val="C9D9D0"/>
            </a:solidFill>
            <a:prstDash val="solid"/>
          </a:ln>
        </p:spPr>
      </p:sp>
      <p:sp>
        <p:nvSpPr>
          <p:cNvPr id="38" name="Text 36"/>
          <p:cNvSpPr/>
          <p:nvPr/>
        </p:nvSpPr>
        <p:spPr>
          <a:xfrm>
            <a:off x="4069080" y="3081528"/>
            <a:ext cx="1874520" cy="228600"/>
          </a:xfrm>
          <a:prstGeom prst="rect">
            <a:avLst/>
          </a:prstGeom>
          <a:noFill/>
          <a:ln/>
        </p:spPr>
        <p:txBody>
          <a:bodyPr wrap="square" lIns="0" tIns="0" rIns="0" bIns="0" rtlCol="0" anchor="ctr"/>
          <a:lstStyle/>
          <a:p>
            <a:pPr indent="0" marL="0">
              <a:buNone/>
            </a:pPr>
            <a:r>
              <a:rPr lang="en-US" sz="1250" b="1" dirty="0">
                <a:solidFill>
                  <a:srgbClr val="153D2E"/>
                </a:solidFill>
              </a:rPr>
              <a:t>Large-task batches</a:t>
            </a:r>
            <a:endParaRPr lang="en-US" sz="1250" dirty="0"/>
          </a:p>
        </p:txBody>
      </p:sp>
      <p:sp>
        <p:nvSpPr>
          <p:cNvPr id="39" name="Text 37"/>
          <p:cNvSpPr/>
          <p:nvPr/>
        </p:nvSpPr>
        <p:spPr>
          <a:xfrm>
            <a:off x="4069080" y="3364992"/>
            <a:ext cx="1828800" cy="219456"/>
          </a:xfrm>
          <a:prstGeom prst="rect">
            <a:avLst/>
          </a:prstGeom>
          <a:noFill/>
          <a:ln/>
        </p:spPr>
        <p:txBody>
          <a:bodyPr wrap="square" lIns="0" tIns="0" rIns="0" bIns="0" rtlCol="0" anchor="ctr"/>
          <a:lstStyle/>
          <a:p>
            <a:pPr indent="0" marL="0">
              <a:buNone/>
            </a:pPr>
            <a:r>
              <a:rPr lang="en-US" sz="970" dirty="0">
                <a:solidFill>
                  <a:srgbClr val="5A6B62"/>
                </a:solidFill>
              </a:rPr>
              <a:t>Checkpoint + work-item ledger</a:t>
            </a:r>
            <a:endParaRPr lang="en-US" sz="970" dirty="0"/>
          </a:p>
        </p:txBody>
      </p:sp>
      <p:sp>
        <p:nvSpPr>
          <p:cNvPr id="40" name="Shape 38"/>
          <p:cNvSpPr/>
          <p:nvPr/>
        </p:nvSpPr>
        <p:spPr>
          <a:xfrm>
            <a:off x="6153912" y="3346704"/>
            <a:ext cx="292608" cy="0"/>
          </a:xfrm>
          <a:prstGeom prst="line">
            <a:avLst/>
          </a:prstGeom>
          <a:noFill/>
          <a:ln w="25400">
            <a:solidFill>
              <a:srgbClr val="5A6B62"/>
            </a:solidFill>
            <a:prstDash val="solid"/>
            <a:headEnd type="none"/>
            <a:tailEnd type="triangle"/>
          </a:ln>
        </p:spPr>
      </p:sp>
      <p:sp>
        <p:nvSpPr>
          <p:cNvPr id="41" name="Shape 39"/>
          <p:cNvSpPr/>
          <p:nvPr/>
        </p:nvSpPr>
        <p:spPr>
          <a:xfrm>
            <a:off x="6263640" y="3136392"/>
            <a:ext cx="420624" cy="420624"/>
          </a:xfrm>
          <a:prstGeom prst="ellipse">
            <a:avLst/>
          </a:prstGeom>
          <a:solidFill>
            <a:srgbClr val="00965E"/>
          </a:solidFill>
          <a:ln w="12700">
            <a:solidFill>
              <a:srgbClr val="00965E"/>
            </a:solidFill>
            <a:prstDash val="solid"/>
          </a:ln>
        </p:spPr>
      </p:sp>
      <p:sp>
        <p:nvSpPr>
          <p:cNvPr id="42" name="Text 40"/>
          <p:cNvSpPr/>
          <p:nvPr/>
        </p:nvSpPr>
        <p:spPr>
          <a:xfrm>
            <a:off x="6263640" y="3172968"/>
            <a:ext cx="420624" cy="256032"/>
          </a:xfrm>
          <a:prstGeom prst="rect">
            <a:avLst/>
          </a:prstGeom>
          <a:noFill/>
          <a:ln/>
        </p:spPr>
        <p:txBody>
          <a:bodyPr wrap="square" lIns="0" tIns="0" rIns="0" bIns="0" rtlCol="0" anchor="ctr"/>
          <a:lstStyle/>
          <a:p>
            <a:pPr algn="ctr" indent="0" marL="0">
              <a:buNone/>
            </a:pPr>
            <a:r>
              <a:rPr lang="en-US" sz="1200" b="1" dirty="0">
                <a:solidFill>
                  <a:srgbClr val="FFFFFF"/>
                </a:solidFill>
              </a:rPr>
              <a:t>7</a:t>
            </a:r>
            <a:endParaRPr lang="en-US" sz="1200" dirty="0"/>
          </a:p>
        </p:txBody>
      </p:sp>
      <p:sp>
        <p:nvSpPr>
          <p:cNvPr id="43" name="Shape 41"/>
          <p:cNvSpPr/>
          <p:nvPr/>
        </p:nvSpPr>
        <p:spPr>
          <a:xfrm>
            <a:off x="6766560" y="2971800"/>
            <a:ext cx="2240280" cy="749808"/>
          </a:xfrm>
          <a:prstGeom prst="roundRect">
            <a:avLst/>
          </a:prstGeom>
          <a:solidFill>
            <a:srgbClr val="E8F5EF"/>
          </a:solidFill>
          <a:ln w="12700">
            <a:solidFill>
              <a:srgbClr val="C9D9D0"/>
            </a:solidFill>
            <a:prstDash val="solid"/>
          </a:ln>
        </p:spPr>
      </p:sp>
      <p:sp>
        <p:nvSpPr>
          <p:cNvPr id="44" name="Text 42"/>
          <p:cNvSpPr/>
          <p:nvPr/>
        </p:nvSpPr>
        <p:spPr>
          <a:xfrm>
            <a:off x="6949440" y="3081528"/>
            <a:ext cx="1874520" cy="228600"/>
          </a:xfrm>
          <a:prstGeom prst="rect">
            <a:avLst/>
          </a:prstGeom>
          <a:noFill/>
          <a:ln/>
        </p:spPr>
        <p:txBody>
          <a:bodyPr wrap="square" lIns="0" tIns="0" rIns="0" bIns="0" rtlCol="0" anchor="ctr"/>
          <a:lstStyle/>
          <a:p>
            <a:pPr indent="0" marL="0">
              <a:buNone/>
            </a:pPr>
            <a:r>
              <a:rPr lang="en-US" sz="1250" b="1" dirty="0">
                <a:solidFill>
                  <a:srgbClr val="153D2E"/>
                </a:solidFill>
              </a:rPr>
              <a:t>Verify</a:t>
            </a:r>
            <a:endParaRPr lang="en-US" sz="1250" dirty="0"/>
          </a:p>
        </p:txBody>
      </p:sp>
      <p:sp>
        <p:nvSpPr>
          <p:cNvPr id="45" name="Text 43"/>
          <p:cNvSpPr/>
          <p:nvPr/>
        </p:nvSpPr>
        <p:spPr>
          <a:xfrm>
            <a:off x="6949440" y="3364992"/>
            <a:ext cx="1828800" cy="219456"/>
          </a:xfrm>
          <a:prstGeom prst="rect">
            <a:avLst/>
          </a:prstGeom>
          <a:noFill/>
          <a:ln/>
        </p:spPr>
        <p:txBody>
          <a:bodyPr wrap="square" lIns="0" tIns="0" rIns="0" bIns="0" rtlCol="0" anchor="ctr"/>
          <a:lstStyle/>
          <a:p>
            <a:pPr indent="0" marL="0">
              <a:buNone/>
            </a:pPr>
            <a:r>
              <a:rPr lang="en-US" sz="970" dirty="0">
                <a:solidFill>
                  <a:srgbClr val="5A6B62"/>
                </a:solidFill>
              </a:rPr>
              <a:t>Build · test · check · run</a:t>
            </a:r>
            <a:endParaRPr lang="en-US" sz="970" dirty="0"/>
          </a:p>
        </p:txBody>
      </p:sp>
      <p:sp>
        <p:nvSpPr>
          <p:cNvPr id="46" name="Shape 44"/>
          <p:cNvSpPr/>
          <p:nvPr/>
        </p:nvSpPr>
        <p:spPr>
          <a:xfrm>
            <a:off x="9034272" y="3346704"/>
            <a:ext cx="292608" cy="0"/>
          </a:xfrm>
          <a:prstGeom prst="line">
            <a:avLst/>
          </a:prstGeom>
          <a:noFill/>
          <a:ln w="25400">
            <a:solidFill>
              <a:srgbClr val="5A6B62"/>
            </a:solidFill>
            <a:prstDash val="solid"/>
            <a:headEnd type="none"/>
            <a:tailEnd type="triangle"/>
          </a:ln>
        </p:spPr>
      </p:sp>
      <p:sp>
        <p:nvSpPr>
          <p:cNvPr id="47" name="Shape 45"/>
          <p:cNvSpPr/>
          <p:nvPr/>
        </p:nvSpPr>
        <p:spPr>
          <a:xfrm>
            <a:off x="9144000" y="3136392"/>
            <a:ext cx="420624" cy="420624"/>
          </a:xfrm>
          <a:prstGeom prst="ellipse">
            <a:avLst/>
          </a:prstGeom>
          <a:solidFill>
            <a:srgbClr val="00965E"/>
          </a:solidFill>
          <a:ln w="12700">
            <a:solidFill>
              <a:srgbClr val="00965E"/>
            </a:solidFill>
            <a:prstDash val="solid"/>
          </a:ln>
        </p:spPr>
      </p:sp>
      <p:sp>
        <p:nvSpPr>
          <p:cNvPr id="48" name="Text 46"/>
          <p:cNvSpPr/>
          <p:nvPr/>
        </p:nvSpPr>
        <p:spPr>
          <a:xfrm>
            <a:off x="9144000" y="3172968"/>
            <a:ext cx="420624" cy="256032"/>
          </a:xfrm>
          <a:prstGeom prst="rect">
            <a:avLst/>
          </a:prstGeom>
          <a:noFill/>
          <a:ln/>
        </p:spPr>
        <p:txBody>
          <a:bodyPr wrap="square" lIns="0" tIns="0" rIns="0" bIns="0" rtlCol="0" anchor="ctr"/>
          <a:lstStyle/>
          <a:p>
            <a:pPr algn="ctr" indent="0" marL="0">
              <a:buNone/>
            </a:pPr>
            <a:r>
              <a:rPr lang="en-US" sz="1200" b="1" dirty="0">
                <a:solidFill>
                  <a:srgbClr val="FFFFFF"/>
                </a:solidFill>
              </a:rPr>
              <a:t>8</a:t>
            </a:r>
            <a:endParaRPr lang="en-US" sz="1200" dirty="0"/>
          </a:p>
        </p:txBody>
      </p:sp>
      <p:sp>
        <p:nvSpPr>
          <p:cNvPr id="49" name="Shape 47"/>
          <p:cNvSpPr/>
          <p:nvPr/>
        </p:nvSpPr>
        <p:spPr>
          <a:xfrm>
            <a:off x="9646920" y="2971800"/>
            <a:ext cx="2240280" cy="749808"/>
          </a:xfrm>
          <a:prstGeom prst="roundRect">
            <a:avLst/>
          </a:prstGeom>
          <a:solidFill>
            <a:srgbClr val="FFFFFF"/>
          </a:solidFill>
          <a:ln w="12700">
            <a:solidFill>
              <a:srgbClr val="C9D9D0"/>
            </a:solidFill>
            <a:prstDash val="solid"/>
          </a:ln>
        </p:spPr>
      </p:sp>
      <p:sp>
        <p:nvSpPr>
          <p:cNvPr id="50" name="Text 48"/>
          <p:cNvSpPr/>
          <p:nvPr/>
        </p:nvSpPr>
        <p:spPr>
          <a:xfrm>
            <a:off x="9829800" y="3081528"/>
            <a:ext cx="1874520" cy="228600"/>
          </a:xfrm>
          <a:prstGeom prst="rect">
            <a:avLst/>
          </a:prstGeom>
          <a:noFill/>
          <a:ln/>
        </p:spPr>
        <p:txBody>
          <a:bodyPr wrap="square" lIns="0" tIns="0" rIns="0" bIns="0" rtlCol="0" anchor="ctr"/>
          <a:lstStyle/>
          <a:p>
            <a:pPr indent="0" marL="0">
              <a:buNone/>
            </a:pPr>
            <a:r>
              <a:rPr lang="en-US" sz="1250" b="1" dirty="0">
                <a:solidFill>
                  <a:srgbClr val="153D2E"/>
                </a:solidFill>
              </a:rPr>
              <a:t>Complete</a:t>
            </a:r>
            <a:endParaRPr lang="en-US" sz="1250" dirty="0"/>
          </a:p>
        </p:txBody>
      </p:sp>
      <p:sp>
        <p:nvSpPr>
          <p:cNvPr id="51" name="Text 49"/>
          <p:cNvSpPr/>
          <p:nvPr/>
        </p:nvSpPr>
        <p:spPr>
          <a:xfrm>
            <a:off x="9829800" y="3364992"/>
            <a:ext cx="1828800" cy="219456"/>
          </a:xfrm>
          <a:prstGeom prst="rect">
            <a:avLst/>
          </a:prstGeom>
          <a:noFill/>
          <a:ln/>
        </p:spPr>
        <p:txBody>
          <a:bodyPr wrap="square" lIns="0" tIns="0" rIns="0" bIns="0" rtlCol="0" anchor="ctr"/>
          <a:lstStyle/>
          <a:p>
            <a:pPr indent="0" marL="0">
              <a:buNone/>
            </a:pPr>
            <a:r>
              <a:rPr lang="en-US" sz="970" dirty="0">
                <a:solidFill>
                  <a:srgbClr val="5A6B62"/>
                </a:solidFill>
              </a:rPr>
              <a:t>Persist result + activity</a:t>
            </a:r>
            <a:endParaRPr lang="en-US" sz="970" dirty="0"/>
          </a:p>
        </p:txBody>
      </p:sp>
      <p:sp>
        <p:nvSpPr>
          <p:cNvPr id="52" name="Shape 50"/>
          <p:cNvSpPr/>
          <p:nvPr/>
        </p:nvSpPr>
        <p:spPr>
          <a:xfrm>
            <a:off x="1051560" y="4800600"/>
            <a:ext cx="10104120" cy="822960"/>
          </a:xfrm>
          <a:prstGeom prst="roundRect">
            <a:avLst/>
          </a:prstGeom>
          <a:solidFill>
            <a:srgbClr val="153D2E"/>
          </a:solidFill>
          <a:ln w="12700">
            <a:solidFill>
              <a:srgbClr val="153D2E"/>
            </a:solidFill>
            <a:prstDash val="solid"/>
          </a:ln>
        </p:spPr>
      </p:sp>
      <p:sp>
        <p:nvSpPr>
          <p:cNvPr id="53" name="Text 51"/>
          <p:cNvSpPr/>
          <p:nvPr/>
        </p:nvSpPr>
        <p:spPr>
          <a:xfrm>
            <a:off x="1371600" y="5065776"/>
            <a:ext cx="9464040" cy="274320"/>
          </a:xfrm>
          <a:prstGeom prst="rect">
            <a:avLst/>
          </a:prstGeom>
          <a:noFill/>
          <a:ln/>
        </p:spPr>
        <p:txBody>
          <a:bodyPr wrap="square" lIns="0" tIns="0" rIns="0" bIns="0" rtlCol="0" anchor="ctr"/>
          <a:lstStyle/>
          <a:p>
            <a:pPr algn="ctr" indent="0" marL="0">
              <a:buNone/>
            </a:pPr>
            <a:r>
              <a:rPr lang="en-US" sz="1500" b="1" dirty="0">
                <a:solidFill>
                  <a:srgbClr val="FFFFFF"/>
                </a:solidFill>
              </a:rPr>
              <a:t>Critical control points:  plan approval  •  tool permissions  •  deletion approval  •  latest-mutation verification</a:t>
            </a:r>
            <a:endParaRPr lang="en-US" sz="1500" dirty="0"/>
          </a:p>
        </p:txBody>
      </p:sp>
      <p:sp>
        <p:nvSpPr>
          <p:cNvPr id="25" name="Slide Number Placeholder 0"/>
          <p:cNvSpPr>
            <a:spLocks noGrp="1"/>
          </p:cNvSpPr>
          <p:nvPr>
            <p:ph type="sldNum" sz="quarter" idx="4294967295"/>
          </p:nvPr>
        </p:nvSpPr>
        <p:spPr>
          <a:xfrm>
            <a:off x="11686032" y="6537960"/>
            <a:ext cx="256032" cy="164592"/>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53645C"/>
                </a:solidFill>
                <a:latin typeface="Aptos"/>
                <a:ea typeface="Aptos"/>
                <a:cs typeface="Apto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84048"/>
            <a:ext cx="8183880" cy="438912"/>
          </a:xfrm>
          <a:prstGeom prst="rect">
            <a:avLst/>
          </a:prstGeom>
          <a:noFill/>
          <a:ln/>
        </p:spPr>
        <p:txBody>
          <a:bodyPr wrap="square" lIns="0" tIns="0" rIns="0" bIns="0" rtlCol="0" anchor="ctr"/>
          <a:lstStyle/>
          <a:p>
            <a:pPr indent="0" marL="0">
              <a:buNone/>
            </a:pPr>
            <a:r>
              <a:rPr lang="en-US" sz="2700" b="1" dirty="0">
                <a:solidFill>
                  <a:srgbClr val="153D2E"/>
                </a:solidFill>
              </a:rPr>
              <a:t>4. Core components — what each one contributes</a:t>
            </a:r>
            <a:endParaRPr lang="en-US" sz="2700" dirty="0"/>
          </a:p>
        </p:txBody>
      </p:sp>
      <p:sp>
        <p:nvSpPr>
          <p:cNvPr id="3" name="Text 1"/>
          <p:cNvSpPr/>
          <p:nvPr/>
        </p:nvSpPr>
        <p:spPr>
          <a:xfrm>
            <a:off x="566928" y="877824"/>
            <a:ext cx="10881360" cy="347472"/>
          </a:xfrm>
          <a:prstGeom prst="rect">
            <a:avLst/>
          </a:prstGeom>
          <a:noFill/>
          <a:ln/>
        </p:spPr>
        <p:txBody>
          <a:bodyPr wrap="square" lIns="0" tIns="0" rIns="0" bIns="0" rtlCol="0" anchor="ctr"/>
          <a:lstStyle/>
          <a:p>
            <a:pPr indent="0" marL="0">
              <a:buNone/>
            </a:pPr>
            <a:r>
              <a:rPr lang="en-US" sz="1250" dirty="0">
                <a:solidFill>
                  <a:srgbClr val="5A6B62"/>
                </a:solidFill>
              </a:rPr>
              <a:t>Each component has one primary responsibility, reducing coupling and improving recoverability.</a:t>
            </a:r>
            <a:endParaRPr lang="en-US" sz="1250" dirty="0"/>
          </a:p>
        </p:txBody>
      </p:sp>
      <p:sp>
        <p:nvSpPr>
          <p:cNvPr id="4" name="Shape 2"/>
          <p:cNvSpPr/>
          <p:nvPr/>
        </p:nvSpPr>
        <p:spPr>
          <a:xfrm>
            <a:off x="9646920" y="402336"/>
            <a:ext cx="1920240" cy="329184"/>
          </a:xfrm>
          <a:prstGeom prst="roundRect">
            <a:avLst>
              <a:gd name="adj" fmla="val 22222"/>
            </a:avLst>
          </a:prstGeom>
          <a:solidFill>
            <a:srgbClr val="D9EFE5"/>
          </a:solidFill>
          <a:ln w="12700">
            <a:solidFill>
              <a:srgbClr val="D9EFE5"/>
            </a:solidFill>
            <a:prstDash val="solid"/>
          </a:ln>
        </p:spPr>
      </p:sp>
      <p:sp>
        <p:nvSpPr>
          <p:cNvPr id="5" name="Text 3"/>
          <p:cNvSpPr/>
          <p:nvPr/>
        </p:nvSpPr>
        <p:spPr>
          <a:xfrm>
            <a:off x="9720072" y="457200"/>
            <a:ext cx="1773936" cy="201168"/>
          </a:xfrm>
          <a:prstGeom prst="rect">
            <a:avLst/>
          </a:prstGeom>
          <a:noFill/>
          <a:ln/>
        </p:spPr>
        <p:txBody>
          <a:bodyPr wrap="square" lIns="0" tIns="0" rIns="0" bIns="0" rtlCol="0" anchor="ctr"/>
          <a:lstStyle/>
          <a:p>
            <a:pPr algn="ctr" indent="0" marL="0">
              <a:buNone/>
            </a:pPr>
            <a:r>
              <a:rPr lang="en-US" sz="1000" b="1" dirty="0">
                <a:solidFill>
                  <a:srgbClr val="006B45"/>
                </a:solidFill>
              </a:rPr>
              <a:t>COMPONENTS</a:t>
            </a:r>
            <a:endParaRPr lang="en-US" sz="1000" dirty="0"/>
          </a:p>
        </p:txBody>
      </p:sp>
      <p:sp>
        <p:nvSpPr>
          <p:cNvPr id="6" name="Shape 4"/>
          <p:cNvSpPr/>
          <p:nvPr/>
        </p:nvSpPr>
        <p:spPr>
          <a:xfrm>
            <a:off x="658368" y="1389888"/>
            <a:ext cx="5394960" cy="960120"/>
          </a:xfrm>
          <a:prstGeom prst="roundRect">
            <a:avLst/>
          </a:prstGeom>
          <a:solidFill>
            <a:srgbClr val="E8F5EF"/>
          </a:solidFill>
          <a:ln w="12700">
            <a:solidFill>
              <a:srgbClr val="C9D9D0"/>
            </a:solidFill>
            <a:prstDash val="solid"/>
          </a:ln>
        </p:spPr>
      </p:sp>
      <p:sp>
        <p:nvSpPr>
          <p:cNvPr id="7" name="Text 5"/>
          <p:cNvSpPr/>
          <p:nvPr/>
        </p:nvSpPr>
        <p:spPr>
          <a:xfrm>
            <a:off x="841248" y="1499616"/>
            <a:ext cx="1965960" cy="219456"/>
          </a:xfrm>
          <a:prstGeom prst="rect">
            <a:avLst/>
          </a:prstGeom>
          <a:noFill/>
          <a:ln/>
        </p:spPr>
        <p:txBody>
          <a:bodyPr wrap="square" lIns="0" tIns="0" rIns="0" bIns="0" rtlCol="0" anchor="ctr"/>
          <a:lstStyle/>
          <a:p>
            <a:pPr indent="0" marL="0">
              <a:buNone/>
            </a:pPr>
            <a:r>
              <a:rPr lang="en-US" sz="1250" b="1" dirty="0">
                <a:solidFill>
                  <a:srgbClr val="006B45"/>
                </a:solidFill>
              </a:rPr>
              <a:t>AgentService</a:t>
            </a:r>
            <a:endParaRPr lang="en-US" sz="1250" dirty="0"/>
          </a:p>
        </p:txBody>
      </p:sp>
      <p:sp>
        <p:nvSpPr>
          <p:cNvPr id="8" name="Text 6"/>
          <p:cNvSpPr/>
          <p:nvPr/>
        </p:nvSpPr>
        <p:spPr>
          <a:xfrm>
            <a:off x="2807208" y="1499616"/>
            <a:ext cx="3017520" cy="228600"/>
          </a:xfrm>
          <a:prstGeom prst="rect">
            <a:avLst/>
          </a:prstGeom>
          <a:noFill/>
          <a:ln/>
        </p:spPr>
        <p:txBody>
          <a:bodyPr wrap="square" lIns="0" tIns="0" rIns="0" bIns="0" rtlCol="0" anchor="ctr"/>
          <a:lstStyle/>
          <a:p>
            <a:pPr indent="0" marL="0">
              <a:buNone/>
            </a:pPr>
            <a:r>
              <a:rPr lang="en-US" sz="1050" dirty="0">
                <a:solidFill>
                  <a:srgbClr val="1C2B24"/>
                </a:solidFill>
              </a:rPr>
              <a:t>Orchestrates planning, tool calls and execution</a:t>
            </a:r>
            <a:endParaRPr lang="en-US" sz="1050" dirty="0"/>
          </a:p>
        </p:txBody>
      </p:sp>
      <p:sp>
        <p:nvSpPr>
          <p:cNvPr id="9" name="Text 7"/>
          <p:cNvSpPr/>
          <p:nvPr/>
        </p:nvSpPr>
        <p:spPr>
          <a:xfrm>
            <a:off x="841248" y="1847088"/>
            <a:ext cx="4983480" cy="329184"/>
          </a:xfrm>
          <a:prstGeom prst="rect">
            <a:avLst/>
          </a:prstGeom>
          <a:noFill/>
          <a:ln/>
        </p:spPr>
        <p:txBody>
          <a:bodyPr wrap="square" lIns="0" tIns="0" rIns="0" bIns="0" rtlCol="0" anchor="ctr"/>
          <a:lstStyle/>
          <a:p>
            <a:pPr indent="0" marL="0">
              <a:buNone/>
            </a:pPr>
            <a:r>
              <a:rPr lang="en-US" sz="970" i="1" dirty="0">
                <a:solidFill>
                  <a:srgbClr val="5A6B62"/>
                </a:solidFill>
              </a:rPr>
              <a:t>Why better: Keeps the workflow deterministic around an uncertain model</a:t>
            </a:r>
            <a:endParaRPr lang="en-US" sz="970" dirty="0"/>
          </a:p>
        </p:txBody>
      </p:sp>
      <p:sp>
        <p:nvSpPr>
          <p:cNvPr id="10" name="Shape 8"/>
          <p:cNvSpPr/>
          <p:nvPr/>
        </p:nvSpPr>
        <p:spPr>
          <a:xfrm>
            <a:off x="6144768" y="1389888"/>
            <a:ext cx="5394960" cy="960120"/>
          </a:xfrm>
          <a:prstGeom prst="roundRect">
            <a:avLst/>
          </a:prstGeom>
          <a:solidFill>
            <a:srgbClr val="FFFFFF"/>
          </a:solidFill>
          <a:ln w="12700">
            <a:solidFill>
              <a:srgbClr val="C9D9D0"/>
            </a:solidFill>
            <a:prstDash val="solid"/>
          </a:ln>
        </p:spPr>
      </p:sp>
      <p:sp>
        <p:nvSpPr>
          <p:cNvPr id="11" name="Text 9"/>
          <p:cNvSpPr/>
          <p:nvPr/>
        </p:nvSpPr>
        <p:spPr>
          <a:xfrm>
            <a:off x="6327648" y="1499616"/>
            <a:ext cx="1965960" cy="219456"/>
          </a:xfrm>
          <a:prstGeom prst="rect">
            <a:avLst/>
          </a:prstGeom>
          <a:noFill/>
          <a:ln/>
        </p:spPr>
        <p:txBody>
          <a:bodyPr wrap="square" lIns="0" tIns="0" rIns="0" bIns="0" rtlCol="0" anchor="ctr"/>
          <a:lstStyle/>
          <a:p>
            <a:pPr indent="0" marL="0">
              <a:buNone/>
            </a:pPr>
            <a:r>
              <a:rPr lang="en-US" sz="1250" b="1" dirty="0">
                <a:solidFill>
                  <a:srgbClr val="006B45"/>
                </a:solidFill>
              </a:rPr>
              <a:t>AgentToolRegistry</a:t>
            </a:r>
            <a:endParaRPr lang="en-US" sz="1250" dirty="0"/>
          </a:p>
        </p:txBody>
      </p:sp>
      <p:sp>
        <p:nvSpPr>
          <p:cNvPr id="12" name="Text 10"/>
          <p:cNvSpPr/>
          <p:nvPr/>
        </p:nvSpPr>
        <p:spPr>
          <a:xfrm>
            <a:off x="8293608" y="1499616"/>
            <a:ext cx="3017520" cy="228600"/>
          </a:xfrm>
          <a:prstGeom prst="rect">
            <a:avLst/>
          </a:prstGeom>
          <a:noFill/>
          <a:ln/>
        </p:spPr>
        <p:txBody>
          <a:bodyPr wrap="square" lIns="0" tIns="0" rIns="0" bIns="0" rtlCol="0" anchor="ctr"/>
          <a:lstStyle/>
          <a:p>
            <a:pPr indent="0" marL="0">
              <a:buNone/>
            </a:pPr>
            <a:r>
              <a:rPr lang="en-US" sz="1050" dirty="0">
                <a:solidFill>
                  <a:srgbClr val="1C2B24"/>
                </a:solidFill>
              </a:rPr>
              <a:t>Publishes controlled built-in tools</a:t>
            </a:r>
            <a:endParaRPr lang="en-US" sz="1050" dirty="0"/>
          </a:p>
        </p:txBody>
      </p:sp>
      <p:sp>
        <p:nvSpPr>
          <p:cNvPr id="13" name="Text 11"/>
          <p:cNvSpPr/>
          <p:nvPr/>
        </p:nvSpPr>
        <p:spPr>
          <a:xfrm>
            <a:off x="6327648" y="1847088"/>
            <a:ext cx="4983480" cy="329184"/>
          </a:xfrm>
          <a:prstGeom prst="rect">
            <a:avLst/>
          </a:prstGeom>
          <a:noFill/>
          <a:ln/>
        </p:spPr>
        <p:txBody>
          <a:bodyPr wrap="square" lIns="0" tIns="0" rIns="0" bIns="0" rtlCol="0" anchor="ctr"/>
          <a:lstStyle/>
          <a:p>
            <a:pPr indent="0" marL="0">
              <a:buNone/>
            </a:pPr>
            <a:r>
              <a:rPr lang="en-US" sz="970" i="1" dirty="0">
                <a:solidFill>
                  <a:srgbClr val="5A6B62"/>
                </a:solidFill>
              </a:rPr>
              <a:t>Why better: Provides a bounded capability surface instead of arbitrary direct access</a:t>
            </a:r>
            <a:endParaRPr lang="en-US" sz="970" dirty="0"/>
          </a:p>
        </p:txBody>
      </p:sp>
      <p:sp>
        <p:nvSpPr>
          <p:cNvPr id="14" name="Shape 12"/>
          <p:cNvSpPr/>
          <p:nvPr/>
        </p:nvSpPr>
        <p:spPr>
          <a:xfrm>
            <a:off x="658368" y="2596896"/>
            <a:ext cx="5394960" cy="960120"/>
          </a:xfrm>
          <a:prstGeom prst="roundRect">
            <a:avLst/>
          </a:prstGeom>
          <a:solidFill>
            <a:srgbClr val="E8F5EF"/>
          </a:solidFill>
          <a:ln w="12700">
            <a:solidFill>
              <a:srgbClr val="C9D9D0"/>
            </a:solidFill>
            <a:prstDash val="solid"/>
          </a:ln>
        </p:spPr>
      </p:sp>
      <p:sp>
        <p:nvSpPr>
          <p:cNvPr id="15" name="Text 13"/>
          <p:cNvSpPr/>
          <p:nvPr/>
        </p:nvSpPr>
        <p:spPr>
          <a:xfrm>
            <a:off x="841248" y="2706624"/>
            <a:ext cx="1965960" cy="219456"/>
          </a:xfrm>
          <a:prstGeom prst="rect">
            <a:avLst/>
          </a:prstGeom>
          <a:noFill/>
          <a:ln/>
        </p:spPr>
        <p:txBody>
          <a:bodyPr wrap="square" lIns="0" tIns="0" rIns="0" bIns="0" rtlCol="0" anchor="ctr"/>
          <a:lstStyle/>
          <a:p>
            <a:pPr indent="0" marL="0">
              <a:buNone/>
            </a:pPr>
            <a:r>
              <a:rPr lang="en-US" sz="1250" b="1" dirty="0">
                <a:solidFill>
                  <a:srgbClr val="006B45"/>
                </a:solidFill>
              </a:rPr>
              <a:t>AgentWorkspaceService</a:t>
            </a:r>
            <a:endParaRPr lang="en-US" sz="1250" dirty="0"/>
          </a:p>
        </p:txBody>
      </p:sp>
      <p:sp>
        <p:nvSpPr>
          <p:cNvPr id="16" name="Text 14"/>
          <p:cNvSpPr/>
          <p:nvPr/>
        </p:nvSpPr>
        <p:spPr>
          <a:xfrm>
            <a:off x="2807208" y="2706624"/>
            <a:ext cx="3017520" cy="228600"/>
          </a:xfrm>
          <a:prstGeom prst="rect">
            <a:avLst/>
          </a:prstGeom>
          <a:noFill/>
          <a:ln/>
        </p:spPr>
        <p:txBody>
          <a:bodyPr wrap="square" lIns="0" tIns="0" rIns="0" bIns="0" rtlCol="0" anchor="ctr"/>
          <a:lstStyle/>
          <a:p>
            <a:pPr indent="0" marL="0">
              <a:buNone/>
            </a:pPr>
            <a:r>
              <a:rPr lang="en-US" sz="1050" dirty="0">
                <a:solidFill>
                  <a:srgbClr val="1C2B24"/>
                </a:solidFill>
              </a:rPr>
              <a:t>Reads and mutates workspace / resource files</a:t>
            </a:r>
            <a:endParaRPr lang="en-US" sz="1050" dirty="0"/>
          </a:p>
        </p:txBody>
      </p:sp>
      <p:sp>
        <p:nvSpPr>
          <p:cNvPr id="17" name="Text 15"/>
          <p:cNvSpPr/>
          <p:nvPr/>
        </p:nvSpPr>
        <p:spPr>
          <a:xfrm>
            <a:off x="841248" y="3054096"/>
            <a:ext cx="4983480" cy="329184"/>
          </a:xfrm>
          <a:prstGeom prst="rect">
            <a:avLst/>
          </a:prstGeom>
          <a:noFill/>
          <a:ln/>
        </p:spPr>
        <p:txBody>
          <a:bodyPr wrap="square" lIns="0" tIns="0" rIns="0" bIns="0" rtlCol="0" anchor="ctr"/>
          <a:lstStyle/>
          <a:p>
            <a:pPr indent="0" marL="0">
              <a:buNone/>
            </a:pPr>
            <a:r>
              <a:rPr lang="en-US" sz="970" i="1" dirty="0">
                <a:solidFill>
                  <a:srgbClr val="5A6B62"/>
                </a:solidFill>
              </a:rPr>
              <a:t>Why better: Centralises path resolution, file impact and safety checks</a:t>
            </a:r>
            <a:endParaRPr lang="en-US" sz="970" dirty="0"/>
          </a:p>
        </p:txBody>
      </p:sp>
      <p:sp>
        <p:nvSpPr>
          <p:cNvPr id="18" name="Shape 16"/>
          <p:cNvSpPr/>
          <p:nvPr/>
        </p:nvSpPr>
        <p:spPr>
          <a:xfrm>
            <a:off x="6144768" y="2596896"/>
            <a:ext cx="5394960" cy="960120"/>
          </a:xfrm>
          <a:prstGeom prst="roundRect">
            <a:avLst/>
          </a:prstGeom>
          <a:solidFill>
            <a:srgbClr val="FFFFFF"/>
          </a:solidFill>
          <a:ln w="12700">
            <a:solidFill>
              <a:srgbClr val="C9D9D0"/>
            </a:solidFill>
            <a:prstDash val="solid"/>
          </a:ln>
        </p:spPr>
      </p:sp>
      <p:sp>
        <p:nvSpPr>
          <p:cNvPr id="19" name="Text 17"/>
          <p:cNvSpPr/>
          <p:nvPr/>
        </p:nvSpPr>
        <p:spPr>
          <a:xfrm>
            <a:off x="6327648" y="2706624"/>
            <a:ext cx="1965960" cy="219456"/>
          </a:xfrm>
          <a:prstGeom prst="rect">
            <a:avLst/>
          </a:prstGeom>
          <a:noFill/>
          <a:ln/>
        </p:spPr>
        <p:txBody>
          <a:bodyPr wrap="square" lIns="0" tIns="0" rIns="0" bIns="0" rtlCol="0" anchor="ctr"/>
          <a:lstStyle/>
          <a:p>
            <a:pPr indent="0" marL="0">
              <a:buNone/>
            </a:pPr>
            <a:r>
              <a:rPr lang="en-US" sz="1250" b="1" dirty="0">
                <a:solidFill>
                  <a:srgbClr val="006B45"/>
                </a:solidFill>
              </a:rPr>
              <a:t>ContextWindowManager</a:t>
            </a:r>
            <a:endParaRPr lang="en-US" sz="1250" dirty="0"/>
          </a:p>
        </p:txBody>
      </p:sp>
      <p:sp>
        <p:nvSpPr>
          <p:cNvPr id="20" name="Text 18"/>
          <p:cNvSpPr/>
          <p:nvPr/>
        </p:nvSpPr>
        <p:spPr>
          <a:xfrm>
            <a:off x="8293608" y="2706624"/>
            <a:ext cx="3017520" cy="228600"/>
          </a:xfrm>
          <a:prstGeom prst="rect">
            <a:avLst/>
          </a:prstGeom>
          <a:noFill/>
          <a:ln/>
        </p:spPr>
        <p:txBody>
          <a:bodyPr wrap="square" lIns="0" tIns="0" rIns="0" bIns="0" rtlCol="0" anchor="ctr"/>
          <a:lstStyle/>
          <a:p>
            <a:pPr indent="0" marL="0">
              <a:buNone/>
            </a:pPr>
            <a:r>
              <a:rPr lang="en-US" sz="1050" dirty="0">
                <a:solidFill>
                  <a:srgbClr val="1C2B24"/>
                </a:solidFill>
              </a:rPr>
              <a:t>Selects and prunes model context</a:t>
            </a:r>
            <a:endParaRPr lang="en-US" sz="1050" dirty="0"/>
          </a:p>
        </p:txBody>
      </p:sp>
      <p:sp>
        <p:nvSpPr>
          <p:cNvPr id="21" name="Text 19"/>
          <p:cNvSpPr/>
          <p:nvPr/>
        </p:nvSpPr>
        <p:spPr>
          <a:xfrm>
            <a:off x="6327648" y="3054096"/>
            <a:ext cx="4983480" cy="329184"/>
          </a:xfrm>
          <a:prstGeom prst="rect">
            <a:avLst/>
          </a:prstGeom>
          <a:noFill/>
          <a:ln/>
        </p:spPr>
        <p:txBody>
          <a:bodyPr wrap="square" lIns="0" tIns="0" rIns="0" bIns="0" rtlCol="0" anchor="ctr"/>
          <a:lstStyle/>
          <a:p>
            <a:pPr indent="0" marL="0">
              <a:buNone/>
            </a:pPr>
            <a:r>
              <a:rPr lang="en-US" sz="970" i="1" dirty="0">
                <a:solidFill>
                  <a:srgbClr val="5A6B62"/>
                </a:solidFill>
              </a:rPr>
              <a:t>Why better: Reduces token waste while preserving the most relevant evidence</a:t>
            </a:r>
            <a:endParaRPr lang="en-US" sz="970" dirty="0"/>
          </a:p>
        </p:txBody>
      </p:sp>
      <p:sp>
        <p:nvSpPr>
          <p:cNvPr id="22" name="Shape 20"/>
          <p:cNvSpPr/>
          <p:nvPr/>
        </p:nvSpPr>
        <p:spPr>
          <a:xfrm>
            <a:off x="658368" y="3803904"/>
            <a:ext cx="5394960" cy="960120"/>
          </a:xfrm>
          <a:prstGeom prst="roundRect">
            <a:avLst/>
          </a:prstGeom>
          <a:solidFill>
            <a:srgbClr val="E8F5EF"/>
          </a:solidFill>
          <a:ln w="12700">
            <a:solidFill>
              <a:srgbClr val="C9D9D0"/>
            </a:solidFill>
            <a:prstDash val="solid"/>
          </a:ln>
        </p:spPr>
      </p:sp>
      <p:sp>
        <p:nvSpPr>
          <p:cNvPr id="23" name="Text 21"/>
          <p:cNvSpPr/>
          <p:nvPr/>
        </p:nvSpPr>
        <p:spPr>
          <a:xfrm>
            <a:off x="841248" y="3913632"/>
            <a:ext cx="1965960" cy="219456"/>
          </a:xfrm>
          <a:prstGeom prst="rect">
            <a:avLst/>
          </a:prstGeom>
          <a:noFill/>
          <a:ln/>
        </p:spPr>
        <p:txBody>
          <a:bodyPr wrap="square" lIns="0" tIns="0" rIns="0" bIns="0" rtlCol="0" anchor="ctr"/>
          <a:lstStyle/>
          <a:p>
            <a:pPr indent="0" marL="0">
              <a:buNone/>
            </a:pPr>
            <a:r>
              <a:rPr lang="en-US" sz="1250" b="1" dirty="0">
                <a:solidFill>
                  <a:srgbClr val="006B45"/>
                </a:solidFill>
              </a:rPr>
              <a:t>AgentRunService</a:t>
            </a:r>
            <a:endParaRPr lang="en-US" sz="1250" dirty="0"/>
          </a:p>
        </p:txBody>
      </p:sp>
      <p:sp>
        <p:nvSpPr>
          <p:cNvPr id="24" name="Text 22"/>
          <p:cNvSpPr/>
          <p:nvPr/>
        </p:nvSpPr>
        <p:spPr>
          <a:xfrm>
            <a:off x="2807208" y="3913632"/>
            <a:ext cx="3017520" cy="228600"/>
          </a:xfrm>
          <a:prstGeom prst="rect">
            <a:avLst/>
          </a:prstGeom>
          <a:noFill/>
          <a:ln/>
        </p:spPr>
        <p:txBody>
          <a:bodyPr wrap="square" lIns="0" tIns="0" rIns="0" bIns="0" rtlCol="0" anchor="ctr"/>
          <a:lstStyle/>
          <a:p>
            <a:pPr indent="0" marL="0">
              <a:buNone/>
            </a:pPr>
            <a:r>
              <a:rPr lang="en-US" sz="1050" dirty="0">
                <a:solidFill>
                  <a:srgbClr val="1C2B24"/>
                </a:solidFill>
              </a:rPr>
              <a:t>Persists run progress and events</a:t>
            </a:r>
            <a:endParaRPr lang="en-US" sz="1050" dirty="0"/>
          </a:p>
        </p:txBody>
      </p:sp>
      <p:sp>
        <p:nvSpPr>
          <p:cNvPr id="25" name="Text 23"/>
          <p:cNvSpPr/>
          <p:nvPr/>
        </p:nvSpPr>
        <p:spPr>
          <a:xfrm>
            <a:off x="841248" y="4261104"/>
            <a:ext cx="4983480" cy="329184"/>
          </a:xfrm>
          <a:prstGeom prst="rect">
            <a:avLst/>
          </a:prstGeom>
          <a:noFill/>
          <a:ln/>
        </p:spPr>
        <p:txBody>
          <a:bodyPr wrap="square" lIns="0" tIns="0" rIns="0" bIns="0" rtlCol="0" anchor="ctr"/>
          <a:lstStyle/>
          <a:p>
            <a:pPr indent="0" marL="0">
              <a:buNone/>
            </a:pPr>
            <a:r>
              <a:rPr lang="en-US" sz="970" i="1" dirty="0">
                <a:solidFill>
                  <a:srgbClr val="5A6B62"/>
                </a:solidFill>
              </a:rPr>
              <a:t>Why better: Supports long-running work, recovery and history</a:t>
            </a:r>
            <a:endParaRPr lang="en-US" sz="970" dirty="0"/>
          </a:p>
        </p:txBody>
      </p:sp>
      <p:sp>
        <p:nvSpPr>
          <p:cNvPr id="26" name="Shape 24"/>
          <p:cNvSpPr/>
          <p:nvPr/>
        </p:nvSpPr>
        <p:spPr>
          <a:xfrm>
            <a:off x="6144768" y="3803904"/>
            <a:ext cx="5394960" cy="960120"/>
          </a:xfrm>
          <a:prstGeom prst="roundRect">
            <a:avLst/>
          </a:prstGeom>
          <a:solidFill>
            <a:srgbClr val="FFFFFF"/>
          </a:solidFill>
          <a:ln w="12700">
            <a:solidFill>
              <a:srgbClr val="C9D9D0"/>
            </a:solidFill>
            <a:prstDash val="solid"/>
          </a:ln>
        </p:spPr>
      </p:sp>
      <p:sp>
        <p:nvSpPr>
          <p:cNvPr id="27" name="Text 25"/>
          <p:cNvSpPr/>
          <p:nvPr/>
        </p:nvSpPr>
        <p:spPr>
          <a:xfrm>
            <a:off x="6327648" y="3913632"/>
            <a:ext cx="1965960" cy="219456"/>
          </a:xfrm>
          <a:prstGeom prst="rect">
            <a:avLst/>
          </a:prstGeom>
          <a:noFill/>
          <a:ln/>
        </p:spPr>
        <p:txBody>
          <a:bodyPr wrap="square" lIns="0" tIns="0" rIns="0" bIns="0" rtlCol="0" anchor="ctr"/>
          <a:lstStyle/>
          <a:p>
            <a:pPr indent="0" marL="0">
              <a:buNone/>
            </a:pPr>
            <a:r>
              <a:rPr lang="en-US" sz="1250" b="1" dirty="0">
                <a:solidFill>
                  <a:srgbClr val="006B45"/>
                </a:solidFill>
              </a:rPr>
              <a:t>OpenAI-Compatible Client</a:t>
            </a:r>
            <a:endParaRPr lang="en-US" sz="1250" dirty="0"/>
          </a:p>
        </p:txBody>
      </p:sp>
      <p:sp>
        <p:nvSpPr>
          <p:cNvPr id="28" name="Text 26"/>
          <p:cNvSpPr/>
          <p:nvPr/>
        </p:nvSpPr>
        <p:spPr>
          <a:xfrm>
            <a:off x="8293608" y="3913632"/>
            <a:ext cx="3017520" cy="228600"/>
          </a:xfrm>
          <a:prstGeom prst="rect">
            <a:avLst/>
          </a:prstGeom>
          <a:noFill/>
          <a:ln/>
        </p:spPr>
        <p:txBody>
          <a:bodyPr wrap="square" lIns="0" tIns="0" rIns="0" bIns="0" rtlCol="0" anchor="ctr"/>
          <a:lstStyle/>
          <a:p>
            <a:pPr indent="0" marL="0">
              <a:buNone/>
            </a:pPr>
            <a:r>
              <a:rPr lang="en-US" sz="1050" dirty="0">
                <a:solidFill>
                  <a:srgbClr val="1C2B24"/>
                </a:solidFill>
              </a:rPr>
              <a:t>Connects configured LLM providers</a:t>
            </a:r>
            <a:endParaRPr lang="en-US" sz="1050" dirty="0"/>
          </a:p>
        </p:txBody>
      </p:sp>
      <p:sp>
        <p:nvSpPr>
          <p:cNvPr id="29" name="Text 27"/>
          <p:cNvSpPr/>
          <p:nvPr/>
        </p:nvSpPr>
        <p:spPr>
          <a:xfrm>
            <a:off x="6327648" y="4261104"/>
            <a:ext cx="4983480" cy="329184"/>
          </a:xfrm>
          <a:prstGeom prst="rect">
            <a:avLst/>
          </a:prstGeom>
          <a:noFill/>
          <a:ln/>
        </p:spPr>
        <p:txBody>
          <a:bodyPr wrap="square" lIns="0" tIns="0" rIns="0" bIns="0" rtlCol="0" anchor="ctr"/>
          <a:lstStyle/>
          <a:p>
            <a:pPr indent="0" marL="0">
              <a:buNone/>
            </a:pPr>
            <a:r>
              <a:rPr lang="en-US" sz="970" i="1" dirty="0">
                <a:solidFill>
                  <a:srgbClr val="5A6B62"/>
                </a:solidFill>
              </a:rPr>
              <a:t>Why better: Keeps provider integration separate from agent logic</a:t>
            </a:r>
            <a:endParaRPr lang="en-US" sz="970" dirty="0"/>
          </a:p>
        </p:txBody>
      </p:sp>
      <p:sp>
        <p:nvSpPr>
          <p:cNvPr id="30" name="Shape 28"/>
          <p:cNvSpPr/>
          <p:nvPr/>
        </p:nvSpPr>
        <p:spPr>
          <a:xfrm>
            <a:off x="658368" y="5010912"/>
            <a:ext cx="5394960" cy="960120"/>
          </a:xfrm>
          <a:prstGeom prst="roundRect">
            <a:avLst/>
          </a:prstGeom>
          <a:solidFill>
            <a:srgbClr val="E8F5EF"/>
          </a:solidFill>
          <a:ln w="12700">
            <a:solidFill>
              <a:srgbClr val="C9D9D0"/>
            </a:solidFill>
            <a:prstDash val="solid"/>
          </a:ln>
        </p:spPr>
      </p:sp>
      <p:sp>
        <p:nvSpPr>
          <p:cNvPr id="31" name="Text 29"/>
          <p:cNvSpPr/>
          <p:nvPr/>
        </p:nvSpPr>
        <p:spPr>
          <a:xfrm>
            <a:off x="841248" y="5120640"/>
            <a:ext cx="1965960" cy="219456"/>
          </a:xfrm>
          <a:prstGeom prst="rect">
            <a:avLst/>
          </a:prstGeom>
          <a:noFill/>
          <a:ln/>
        </p:spPr>
        <p:txBody>
          <a:bodyPr wrap="square" lIns="0" tIns="0" rIns="0" bIns="0" rtlCol="0" anchor="ctr"/>
          <a:lstStyle/>
          <a:p>
            <a:pPr indent="0" marL="0">
              <a:buNone/>
            </a:pPr>
            <a:r>
              <a:rPr lang="en-US" sz="1250" b="1" dirty="0">
                <a:solidFill>
                  <a:srgbClr val="006B45"/>
                </a:solidFill>
              </a:rPr>
              <a:t>LSP Manager</a:t>
            </a:r>
            <a:endParaRPr lang="en-US" sz="1250" dirty="0"/>
          </a:p>
        </p:txBody>
      </p:sp>
      <p:sp>
        <p:nvSpPr>
          <p:cNvPr id="32" name="Text 30"/>
          <p:cNvSpPr/>
          <p:nvPr/>
        </p:nvSpPr>
        <p:spPr>
          <a:xfrm>
            <a:off x="2807208" y="5120640"/>
            <a:ext cx="3017520" cy="228600"/>
          </a:xfrm>
          <a:prstGeom prst="rect">
            <a:avLst/>
          </a:prstGeom>
          <a:noFill/>
          <a:ln/>
        </p:spPr>
        <p:txBody>
          <a:bodyPr wrap="square" lIns="0" tIns="0" rIns="0" bIns="0" rtlCol="0" anchor="ctr"/>
          <a:lstStyle/>
          <a:p>
            <a:pPr indent="0" marL="0">
              <a:buNone/>
            </a:pPr>
            <a:r>
              <a:rPr lang="en-US" sz="1050" dirty="0">
                <a:solidFill>
                  <a:srgbClr val="1C2B24"/>
                </a:solidFill>
              </a:rPr>
              <a:t>Provides code intelligence where available</a:t>
            </a:r>
            <a:endParaRPr lang="en-US" sz="1050" dirty="0"/>
          </a:p>
        </p:txBody>
      </p:sp>
      <p:sp>
        <p:nvSpPr>
          <p:cNvPr id="33" name="Text 31"/>
          <p:cNvSpPr/>
          <p:nvPr/>
        </p:nvSpPr>
        <p:spPr>
          <a:xfrm>
            <a:off x="841248" y="5468112"/>
            <a:ext cx="4983480" cy="329184"/>
          </a:xfrm>
          <a:prstGeom prst="rect">
            <a:avLst/>
          </a:prstGeom>
          <a:noFill/>
          <a:ln/>
        </p:spPr>
        <p:txBody>
          <a:bodyPr wrap="square" lIns="0" tIns="0" rIns="0" bIns="0" rtlCol="0" anchor="ctr"/>
          <a:lstStyle/>
          <a:p>
            <a:pPr indent="0" marL="0">
              <a:buNone/>
            </a:pPr>
            <a:r>
              <a:rPr lang="en-US" sz="970" i="1" dirty="0">
                <a:solidFill>
                  <a:srgbClr val="5A6B62"/>
                </a:solidFill>
              </a:rPr>
              <a:t>Why better: Improves symbol discovery and precise code navigation</a:t>
            </a:r>
            <a:endParaRPr lang="en-US" sz="970" dirty="0"/>
          </a:p>
        </p:txBody>
      </p:sp>
      <p:sp>
        <p:nvSpPr>
          <p:cNvPr id="34" name="Shape 32"/>
          <p:cNvSpPr/>
          <p:nvPr/>
        </p:nvSpPr>
        <p:spPr>
          <a:xfrm>
            <a:off x="6144768" y="5010912"/>
            <a:ext cx="5394960" cy="960120"/>
          </a:xfrm>
          <a:prstGeom prst="roundRect">
            <a:avLst/>
          </a:prstGeom>
          <a:solidFill>
            <a:srgbClr val="FFFFFF"/>
          </a:solidFill>
          <a:ln w="12700">
            <a:solidFill>
              <a:srgbClr val="C9D9D0"/>
            </a:solidFill>
            <a:prstDash val="solid"/>
          </a:ln>
        </p:spPr>
      </p:sp>
      <p:sp>
        <p:nvSpPr>
          <p:cNvPr id="35" name="Text 33"/>
          <p:cNvSpPr/>
          <p:nvPr/>
        </p:nvSpPr>
        <p:spPr>
          <a:xfrm>
            <a:off x="6327648" y="5120640"/>
            <a:ext cx="1965960" cy="219456"/>
          </a:xfrm>
          <a:prstGeom prst="rect">
            <a:avLst/>
          </a:prstGeom>
          <a:noFill/>
          <a:ln/>
        </p:spPr>
        <p:txBody>
          <a:bodyPr wrap="square" lIns="0" tIns="0" rIns="0" bIns="0" rtlCol="0" anchor="ctr"/>
          <a:lstStyle/>
          <a:p>
            <a:pPr indent="0" marL="0">
              <a:buNone/>
            </a:pPr>
            <a:r>
              <a:rPr lang="en-US" sz="1250" b="1" dirty="0">
                <a:solidFill>
                  <a:srgbClr val="006B45"/>
                </a:solidFill>
              </a:rPr>
              <a:t>MCP Manager</a:t>
            </a:r>
            <a:endParaRPr lang="en-US" sz="1250" dirty="0"/>
          </a:p>
        </p:txBody>
      </p:sp>
      <p:sp>
        <p:nvSpPr>
          <p:cNvPr id="36" name="Text 34"/>
          <p:cNvSpPr/>
          <p:nvPr/>
        </p:nvSpPr>
        <p:spPr>
          <a:xfrm>
            <a:off x="8293608" y="5120640"/>
            <a:ext cx="3017520" cy="228600"/>
          </a:xfrm>
          <a:prstGeom prst="rect">
            <a:avLst/>
          </a:prstGeom>
          <a:noFill/>
          <a:ln/>
        </p:spPr>
        <p:txBody>
          <a:bodyPr wrap="square" lIns="0" tIns="0" rIns="0" bIns="0" rtlCol="0" anchor="ctr"/>
          <a:lstStyle/>
          <a:p>
            <a:pPr indent="0" marL="0">
              <a:buNone/>
            </a:pPr>
            <a:r>
              <a:rPr lang="en-US" sz="1050" dirty="0">
                <a:solidFill>
                  <a:srgbClr val="1C2B24"/>
                </a:solidFill>
              </a:rPr>
              <a:t>Connects external tool/evidence providers</a:t>
            </a:r>
            <a:endParaRPr lang="en-US" sz="1050" dirty="0"/>
          </a:p>
        </p:txBody>
      </p:sp>
      <p:sp>
        <p:nvSpPr>
          <p:cNvPr id="37" name="Text 35"/>
          <p:cNvSpPr/>
          <p:nvPr/>
        </p:nvSpPr>
        <p:spPr>
          <a:xfrm>
            <a:off x="6327648" y="5468112"/>
            <a:ext cx="4983480" cy="329184"/>
          </a:xfrm>
          <a:prstGeom prst="rect">
            <a:avLst/>
          </a:prstGeom>
          <a:noFill/>
          <a:ln/>
        </p:spPr>
        <p:txBody>
          <a:bodyPr wrap="square" lIns="0" tIns="0" rIns="0" bIns="0" rtlCol="0" anchor="ctr"/>
          <a:lstStyle/>
          <a:p>
            <a:pPr indent="0" marL="0">
              <a:buNone/>
            </a:pPr>
            <a:r>
              <a:rPr lang="en-US" sz="970" i="1" dirty="0">
                <a:solidFill>
                  <a:srgbClr val="5A6B62"/>
                </a:solidFill>
              </a:rPr>
              <a:t>Why better: Extends capability without hard-coding every external system</a:t>
            </a:r>
            <a:endParaRPr lang="en-US" sz="970" dirty="0"/>
          </a:p>
        </p:txBody>
      </p:sp>
      <p:sp>
        <p:nvSpPr>
          <p:cNvPr id="25" name="Slide Number Placeholder 0"/>
          <p:cNvSpPr>
            <a:spLocks noGrp="1"/>
          </p:cNvSpPr>
          <p:nvPr>
            <p:ph type="sldNum" sz="quarter" idx="4294967295"/>
          </p:nvPr>
        </p:nvSpPr>
        <p:spPr>
          <a:xfrm>
            <a:off x="11686032" y="6537960"/>
            <a:ext cx="256032" cy="164592"/>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53645C"/>
                </a:solidFill>
                <a:latin typeface="Aptos"/>
                <a:ea typeface="Aptos"/>
                <a:cs typeface="Aptos"/>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84048"/>
            <a:ext cx="8183880" cy="438912"/>
          </a:xfrm>
          <a:prstGeom prst="rect">
            <a:avLst/>
          </a:prstGeom>
          <a:noFill/>
          <a:ln/>
        </p:spPr>
        <p:txBody>
          <a:bodyPr wrap="square" lIns="0" tIns="0" rIns="0" bIns="0" rtlCol="0" anchor="ctr"/>
          <a:lstStyle/>
          <a:p>
            <a:pPr indent="0" marL="0">
              <a:buNone/>
            </a:pPr>
            <a:r>
              <a:rPr lang="en-US" sz="2700" b="1" dirty="0">
                <a:solidFill>
                  <a:srgbClr val="153D2E"/>
                </a:solidFill>
              </a:rPr>
              <a:t>5. Large-task reliability</a:t>
            </a:r>
            <a:endParaRPr lang="en-US" sz="2700" dirty="0"/>
          </a:p>
        </p:txBody>
      </p:sp>
      <p:sp>
        <p:nvSpPr>
          <p:cNvPr id="3" name="Text 1"/>
          <p:cNvSpPr/>
          <p:nvPr/>
        </p:nvSpPr>
        <p:spPr>
          <a:xfrm>
            <a:off x="566928" y="877824"/>
            <a:ext cx="10881360" cy="347472"/>
          </a:xfrm>
          <a:prstGeom prst="rect">
            <a:avLst/>
          </a:prstGeom>
          <a:noFill/>
          <a:ln/>
        </p:spPr>
        <p:txBody>
          <a:bodyPr wrap="square" lIns="0" tIns="0" rIns="0" bIns="0" rtlCol="0" anchor="ctr"/>
          <a:lstStyle/>
          <a:p>
            <a:pPr indent="0" marL="0">
              <a:buNone/>
            </a:pPr>
            <a:r>
              <a:rPr lang="en-US" sz="1250" dirty="0">
                <a:solidFill>
                  <a:srgbClr val="5A6B62"/>
                </a:solidFill>
              </a:rPr>
              <a:t>Long migrations and multi-file changes are treated as a sequence of resumable work items — not one giant prompt.</a:t>
            </a:r>
            <a:endParaRPr lang="en-US" sz="1250" dirty="0"/>
          </a:p>
        </p:txBody>
      </p:sp>
      <p:sp>
        <p:nvSpPr>
          <p:cNvPr id="4" name="Shape 2"/>
          <p:cNvSpPr/>
          <p:nvPr/>
        </p:nvSpPr>
        <p:spPr>
          <a:xfrm>
            <a:off x="9646920" y="402336"/>
            <a:ext cx="1920240" cy="329184"/>
          </a:xfrm>
          <a:prstGeom prst="roundRect">
            <a:avLst>
              <a:gd name="adj" fmla="val 22222"/>
            </a:avLst>
          </a:prstGeom>
          <a:solidFill>
            <a:srgbClr val="D9EFE5"/>
          </a:solidFill>
          <a:ln w="12700">
            <a:solidFill>
              <a:srgbClr val="D9EFE5"/>
            </a:solidFill>
            <a:prstDash val="solid"/>
          </a:ln>
        </p:spPr>
      </p:sp>
      <p:sp>
        <p:nvSpPr>
          <p:cNvPr id="5" name="Text 3"/>
          <p:cNvSpPr/>
          <p:nvPr/>
        </p:nvSpPr>
        <p:spPr>
          <a:xfrm>
            <a:off x="9720072" y="457200"/>
            <a:ext cx="1773936" cy="201168"/>
          </a:xfrm>
          <a:prstGeom prst="rect">
            <a:avLst/>
          </a:prstGeom>
          <a:noFill/>
          <a:ln/>
        </p:spPr>
        <p:txBody>
          <a:bodyPr wrap="square" lIns="0" tIns="0" rIns="0" bIns="0" rtlCol="0" anchor="ctr"/>
          <a:lstStyle/>
          <a:p>
            <a:pPr algn="ctr" indent="0" marL="0">
              <a:buNone/>
            </a:pPr>
            <a:r>
              <a:rPr lang="en-US" sz="1000" b="1" dirty="0">
                <a:solidFill>
                  <a:srgbClr val="006B45"/>
                </a:solidFill>
              </a:rPr>
              <a:t>RELIABILITY</a:t>
            </a:r>
            <a:endParaRPr lang="en-US" sz="1000" dirty="0"/>
          </a:p>
        </p:txBody>
      </p:sp>
      <p:sp>
        <p:nvSpPr>
          <p:cNvPr id="6" name="Shape 4"/>
          <p:cNvSpPr/>
          <p:nvPr/>
        </p:nvSpPr>
        <p:spPr>
          <a:xfrm>
            <a:off x="685800" y="1417320"/>
            <a:ext cx="2926080" cy="4160520"/>
          </a:xfrm>
          <a:prstGeom prst="roundRect">
            <a:avLst/>
          </a:prstGeom>
          <a:solidFill>
            <a:srgbClr val="153D2E"/>
          </a:solidFill>
          <a:ln w="12700">
            <a:solidFill>
              <a:srgbClr val="153D2E"/>
            </a:solidFill>
            <a:prstDash val="solid"/>
          </a:ln>
        </p:spPr>
      </p:sp>
      <p:sp>
        <p:nvSpPr>
          <p:cNvPr id="7" name="Text 5"/>
          <p:cNvSpPr/>
          <p:nvPr/>
        </p:nvSpPr>
        <p:spPr>
          <a:xfrm>
            <a:off x="1005840" y="1783080"/>
            <a:ext cx="2194560" cy="320040"/>
          </a:xfrm>
          <a:prstGeom prst="rect">
            <a:avLst/>
          </a:prstGeom>
          <a:noFill/>
          <a:ln/>
        </p:spPr>
        <p:txBody>
          <a:bodyPr wrap="square" lIns="0" tIns="0" rIns="0" bIns="0" rtlCol="0" anchor="ctr"/>
          <a:lstStyle/>
          <a:p>
            <a:pPr indent="0" marL="0">
              <a:buNone/>
            </a:pPr>
            <a:r>
              <a:rPr lang="en-US" sz="1800" b="1" dirty="0">
                <a:solidFill>
                  <a:srgbClr val="FFFFFF"/>
                </a:solidFill>
              </a:rPr>
              <a:t>Why large tasks fail</a:t>
            </a:r>
            <a:endParaRPr lang="en-US" sz="1800" dirty="0"/>
          </a:p>
        </p:txBody>
      </p:sp>
      <p:sp>
        <p:nvSpPr>
          <p:cNvPr id="8" name="Text 6"/>
          <p:cNvSpPr/>
          <p:nvPr/>
        </p:nvSpPr>
        <p:spPr>
          <a:xfrm>
            <a:off x="960120" y="2331720"/>
            <a:ext cx="2286000" cy="2377440"/>
          </a:xfrm>
          <a:prstGeom prst="rect">
            <a:avLst/>
          </a:prstGeom>
          <a:noFill/>
          <a:ln/>
        </p:spPr>
        <p:txBody>
          <a:bodyPr wrap="square" lIns="254" tIns="254" rIns="254" bIns="254" rtlCol="0" anchor="t"/>
          <a:lstStyle/>
          <a:p>
            <a:pPr marL="177800" indent="-177800">
              <a:buSzPct val="100000"/>
              <a:buChar char="•"/>
            </a:pPr>
            <a:r>
              <a:rPr lang="en-US" sz="1130" dirty="0">
                <a:solidFill>
                  <a:srgbClr val="E3EEE8"/>
                </a:solidFill>
              </a:rPr>
              <a:t>Context becomes too large</a:t>
            </a:r>
            <a:endParaRPr lang="en-US" sz="1130" dirty="0"/>
          </a:p>
          <a:p>
            <a:pPr marL="177800" indent="-177800">
              <a:buSzPct val="100000"/>
              <a:buChar char="•"/>
            </a:pPr>
            <a:r>
              <a:rPr lang="en-US" sz="1130" dirty="0">
                <a:solidFill>
                  <a:srgbClr val="E3EEE8"/>
                </a:solidFill>
              </a:rPr>
              <a:t>Model/provider may become unavailable</a:t>
            </a:r>
            <a:endParaRPr lang="en-US" sz="1130" dirty="0"/>
          </a:p>
          <a:p>
            <a:pPr marL="177800" indent="-177800">
              <a:buSzPct val="100000"/>
              <a:buChar char="•"/>
            </a:pPr>
            <a:r>
              <a:rPr lang="en-US" sz="1130" dirty="0">
                <a:solidFill>
                  <a:srgbClr val="E3EEE8"/>
                </a:solidFill>
              </a:rPr>
              <a:t>A late failure can invalidate hours of work</a:t>
            </a:r>
            <a:endParaRPr lang="en-US" sz="1130" dirty="0"/>
          </a:p>
          <a:p>
            <a:pPr marL="177800" indent="-177800">
              <a:buSzPct val="100000"/>
              <a:buChar char="•"/>
            </a:pPr>
            <a:r>
              <a:rPr lang="en-US" sz="1130" dirty="0">
                <a:solidFill>
                  <a:srgbClr val="E3EEE8"/>
                </a:solidFill>
              </a:rPr>
              <a:t>Some generated tests fail and need focused repair</a:t>
            </a:r>
            <a:endParaRPr lang="en-US" sz="1130" dirty="0"/>
          </a:p>
          <a:p>
            <a:pPr marL="177800" indent="-177800">
              <a:buSzPct val="100000"/>
              <a:buChar char="•"/>
            </a:pPr>
            <a:r>
              <a:rPr lang="en-US" sz="1130" dirty="0">
                <a:solidFill>
                  <a:srgbClr val="E3EEE8"/>
                </a:solidFill>
              </a:rPr>
              <a:t>UI/network interruptions should not erase backend progress</a:t>
            </a:r>
            <a:endParaRPr lang="en-US" sz="1130" dirty="0"/>
          </a:p>
        </p:txBody>
      </p:sp>
      <p:sp>
        <p:nvSpPr>
          <p:cNvPr id="9" name="Shape 7"/>
          <p:cNvSpPr/>
          <p:nvPr/>
        </p:nvSpPr>
        <p:spPr>
          <a:xfrm>
            <a:off x="3977640" y="1444752"/>
            <a:ext cx="3401568" cy="1024128"/>
          </a:xfrm>
          <a:prstGeom prst="roundRect">
            <a:avLst>
              <a:gd name="adj" fmla="val 7143"/>
            </a:avLst>
          </a:prstGeom>
          <a:solidFill>
            <a:srgbClr val="FFFFFF"/>
          </a:solidFill>
          <a:ln w="12700">
            <a:solidFill>
              <a:srgbClr val="C9D9D0"/>
            </a:solidFill>
            <a:prstDash val="solid"/>
          </a:ln>
        </p:spPr>
      </p:sp>
      <p:sp>
        <p:nvSpPr>
          <p:cNvPr id="10" name="Shape 8"/>
          <p:cNvSpPr/>
          <p:nvPr/>
        </p:nvSpPr>
        <p:spPr>
          <a:xfrm>
            <a:off x="3977640" y="1444752"/>
            <a:ext cx="73152" cy="1024128"/>
          </a:xfrm>
          <a:prstGeom prst="rect">
            <a:avLst/>
          </a:prstGeom>
          <a:solidFill>
            <a:srgbClr val="00965E"/>
          </a:solidFill>
          <a:ln w="12700">
            <a:solidFill>
              <a:srgbClr val="00965E"/>
            </a:solidFill>
            <a:prstDash val="solid"/>
          </a:ln>
        </p:spPr>
      </p:sp>
      <p:sp>
        <p:nvSpPr>
          <p:cNvPr id="11" name="Text 9"/>
          <p:cNvSpPr/>
          <p:nvPr/>
        </p:nvSpPr>
        <p:spPr>
          <a:xfrm>
            <a:off x="4160520" y="1609344"/>
            <a:ext cx="3072384" cy="320040"/>
          </a:xfrm>
          <a:prstGeom prst="rect">
            <a:avLst/>
          </a:prstGeom>
          <a:noFill/>
          <a:ln/>
        </p:spPr>
        <p:txBody>
          <a:bodyPr wrap="square" lIns="0" tIns="0" rIns="0" bIns="0" rtlCol="0" anchor="ctr"/>
          <a:lstStyle/>
          <a:p>
            <a:pPr indent="0" marL="0">
              <a:buNone/>
            </a:pPr>
            <a:r>
              <a:rPr lang="en-US" sz="1500" b="1" dirty="0">
                <a:solidFill>
                  <a:srgbClr val="153D2E"/>
                </a:solidFill>
              </a:rPr>
              <a:t>Work-item ledger</a:t>
            </a:r>
            <a:endParaRPr lang="en-US" sz="1500" dirty="0"/>
          </a:p>
        </p:txBody>
      </p:sp>
      <p:sp>
        <p:nvSpPr>
          <p:cNvPr id="12" name="Text 10"/>
          <p:cNvSpPr/>
          <p:nvPr/>
        </p:nvSpPr>
        <p:spPr>
          <a:xfrm>
            <a:off x="4160520" y="2020824"/>
            <a:ext cx="3054096" cy="310896"/>
          </a:xfrm>
          <a:prstGeom prst="rect">
            <a:avLst/>
          </a:prstGeom>
          <a:noFill/>
          <a:ln/>
        </p:spPr>
        <p:txBody>
          <a:bodyPr wrap="square" lIns="254" tIns="254" rIns="254" bIns="254" rtlCol="0" anchor="t"/>
          <a:lstStyle/>
          <a:p>
            <a:pPr indent="0" marL="0">
              <a:buNone/>
            </a:pPr>
            <a:r>
              <a:rPr lang="en-US" sz="1120" dirty="0">
                <a:solidFill>
                  <a:srgbClr val="1C2B24"/>
                </a:solidFill>
              </a:rPr>
              <a:t>Breaks work into named units</a:t>
            </a:r>
            <a:endParaRPr lang="en-US" sz="1120" dirty="0"/>
          </a:p>
        </p:txBody>
      </p:sp>
      <p:sp>
        <p:nvSpPr>
          <p:cNvPr id="13" name="Shape 11"/>
          <p:cNvSpPr/>
          <p:nvPr/>
        </p:nvSpPr>
        <p:spPr>
          <a:xfrm>
            <a:off x="7772400" y="1444752"/>
            <a:ext cx="3401568" cy="1024128"/>
          </a:xfrm>
          <a:prstGeom prst="roundRect">
            <a:avLst>
              <a:gd name="adj" fmla="val 7143"/>
            </a:avLst>
          </a:prstGeom>
          <a:solidFill>
            <a:srgbClr val="FFFFFF"/>
          </a:solidFill>
          <a:ln w="12700">
            <a:solidFill>
              <a:srgbClr val="C9D9D0"/>
            </a:solidFill>
            <a:prstDash val="solid"/>
          </a:ln>
        </p:spPr>
      </p:sp>
      <p:sp>
        <p:nvSpPr>
          <p:cNvPr id="14" name="Shape 12"/>
          <p:cNvSpPr/>
          <p:nvPr/>
        </p:nvSpPr>
        <p:spPr>
          <a:xfrm>
            <a:off x="7772400" y="1444752"/>
            <a:ext cx="73152" cy="1024128"/>
          </a:xfrm>
          <a:prstGeom prst="rect">
            <a:avLst/>
          </a:prstGeom>
          <a:solidFill>
            <a:srgbClr val="00965E"/>
          </a:solidFill>
          <a:ln w="12700">
            <a:solidFill>
              <a:srgbClr val="00965E"/>
            </a:solidFill>
            <a:prstDash val="solid"/>
          </a:ln>
        </p:spPr>
      </p:sp>
      <p:sp>
        <p:nvSpPr>
          <p:cNvPr id="15" name="Text 13"/>
          <p:cNvSpPr/>
          <p:nvPr/>
        </p:nvSpPr>
        <p:spPr>
          <a:xfrm>
            <a:off x="7955280" y="1609344"/>
            <a:ext cx="3072384" cy="320040"/>
          </a:xfrm>
          <a:prstGeom prst="rect">
            <a:avLst/>
          </a:prstGeom>
          <a:noFill/>
          <a:ln/>
        </p:spPr>
        <p:txBody>
          <a:bodyPr wrap="square" lIns="0" tIns="0" rIns="0" bIns="0" rtlCol="0" anchor="ctr"/>
          <a:lstStyle/>
          <a:p>
            <a:pPr indent="0" marL="0">
              <a:buNone/>
            </a:pPr>
            <a:r>
              <a:rPr lang="en-US" sz="1500" b="1" dirty="0">
                <a:solidFill>
                  <a:srgbClr val="153D2E"/>
                </a:solidFill>
              </a:rPr>
              <a:t>Batching</a:t>
            </a:r>
            <a:endParaRPr lang="en-US" sz="1500" dirty="0"/>
          </a:p>
        </p:txBody>
      </p:sp>
      <p:sp>
        <p:nvSpPr>
          <p:cNvPr id="16" name="Text 14"/>
          <p:cNvSpPr/>
          <p:nvPr/>
        </p:nvSpPr>
        <p:spPr>
          <a:xfrm>
            <a:off x="7955280" y="2020824"/>
            <a:ext cx="3054096" cy="310896"/>
          </a:xfrm>
          <a:prstGeom prst="rect">
            <a:avLst/>
          </a:prstGeom>
          <a:noFill/>
          <a:ln/>
        </p:spPr>
        <p:txBody>
          <a:bodyPr wrap="square" lIns="254" tIns="254" rIns="254" bIns="254" rtlCol="0" anchor="t"/>
          <a:lstStyle/>
          <a:p>
            <a:pPr indent="0" marL="0">
              <a:buNone/>
            </a:pPr>
            <a:r>
              <a:rPr lang="en-US" sz="1120" dirty="0">
                <a:solidFill>
                  <a:srgbClr val="1C2B24"/>
                </a:solidFill>
              </a:rPr>
              <a:t>Runs manageable groups instead of everything at once</a:t>
            </a:r>
            <a:endParaRPr lang="en-US" sz="1120" dirty="0"/>
          </a:p>
        </p:txBody>
      </p:sp>
      <p:sp>
        <p:nvSpPr>
          <p:cNvPr id="17" name="Shape 15"/>
          <p:cNvSpPr/>
          <p:nvPr/>
        </p:nvSpPr>
        <p:spPr>
          <a:xfrm>
            <a:off x="3977640" y="2779776"/>
            <a:ext cx="3401568" cy="1024128"/>
          </a:xfrm>
          <a:prstGeom prst="roundRect">
            <a:avLst>
              <a:gd name="adj" fmla="val 7143"/>
            </a:avLst>
          </a:prstGeom>
          <a:solidFill>
            <a:srgbClr val="E8F5EF"/>
          </a:solidFill>
          <a:ln w="12700">
            <a:solidFill>
              <a:srgbClr val="C9D9D0"/>
            </a:solidFill>
            <a:prstDash val="solid"/>
          </a:ln>
        </p:spPr>
      </p:sp>
      <p:sp>
        <p:nvSpPr>
          <p:cNvPr id="18" name="Shape 16"/>
          <p:cNvSpPr/>
          <p:nvPr/>
        </p:nvSpPr>
        <p:spPr>
          <a:xfrm>
            <a:off x="3977640" y="2779776"/>
            <a:ext cx="73152" cy="1024128"/>
          </a:xfrm>
          <a:prstGeom prst="rect">
            <a:avLst/>
          </a:prstGeom>
          <a:solidFill>
            <a:srgbClr val="00965E"/>
          </a:solidFill>
          <a:ln w="12700">
            <a:solidFill>
              <a:srgbClr val="00965E"/>
            </a:solidFill>
            <a:prstDash val="solid"/>
          </a:ln>
        </p:spPr>
      </p:sp>
      <p:sp>
        <p:nvSpPr>
          <p:cNvPr id="19" name="Text 17"/>
          <p:cNvSpPr/>
          <p:nvPr/>
        </p:nvSpPr>
        <p:spPr>
          <a:xfrm>
            <a:off x="4160520" y="2944368"/>
            <a:ext cx="3072384" cy="320040"/>
          </a:xfrm>
          <a:prstGeom prst="rect">
            <a:avLst/>
          </a:prstGeom>
          <a:noFill/>
          <a:ln/>
        </p:spPr>
        <p:txBody>
          <a:bodyPr wrap="square" lIns="0" tIns="0" rIns="0" bIns="0" rtlCol="0" anchor="ctr"/>
          <a:lstStyle/>
          <a:p>
            <a:pPr indent="0" marL="0">
              <a:buNone/>
            </a:pPr>
            <a:r>
              <a:rPr lang="en-US" sz="1500" b="1" dirty="0">
                <a:solidFill>
                  <a:srgbClr val="153D2E"/>
                </a:solidFill>
              </a:rPr>
              <a:t>Checkpoints</a:t>
            </a:r>
            <a:endParaRPr lang="en-US" sz="1500" dirty="0"/>
          </a:p>
        </p:txBody>
      </p:sp>
      <p:sp>
        <p:nvSpPr>
          <p:cNvPr id="20" name="Text 18"/>
          <p:cNvSpPr/>
          <p:nvPr/>
        </p:nvSpPr>
        <p:spPr>
          <a:xfrm>
            <a:off x="4160520" y="3355848"/>
            <a:ext cx="3054096" cy="310896"/>
          </a:xfrm>
          <a:prstGeom prst="rect">
            <a:avLst/>
          </a:prstGeom>
          <a:noFill/>
          <a:ln/>
        </p:spPr>
        <p:txBody>
          <a:bodyPr wrap="square" lIns="254" tIns="254" rIns="254" bIns="254" rtlCol="0" anchor="t"/>
          <a:lstStyle/>
          <a:p>
            <a:pPr indent="0" marL="0">
              <a:buNone/>
            </a:pPr>
            <a:r>
              <a:rPr lang="en-US" sz="1120" dirty="0">
                <a:solidFill>
                  <a:srgbClr val="1C2B24"/>
                </a:solidFill>
              </a:rPr>
              <a:t>Captures resumable progress</a:t>
            </a:r>
            <a:endParaRPr lang="en-US" sz="1120" dirty="0"/>
          </a:p>
        </p:txBody>
      </p:sp>
      <p:sp>
        <p:nvSpPr>
          <p:cNvPr id="21" name="Shape 19"/>
          <p:cNvSpPr/>
          <p:nvPr/>
        </p:nvSpPr>
        <p:spPr>
          <a:xfrm>
            <a:off x="7772400" y="2779776"/>
            <a:ext cx="3401568" cy="1024128"/>
          </a:xfrm>
          <a:prstGeom prst="roundRect">
            <a:avLst>
              <a:gd name="adj" fmla="val 7143"/>
            </a:avLst>
          </a:prstGeom>
          <a:solidFill>
            <a:srgbClr val="E8F5EF"/>
          </a:solidFill>
          <a:ln w="12700">
            <a:solidFill>
              <a:srgbClr val="C9D9D0"/>
            </a:solidFill>
            <a:prstDash val="solid"/>
          </a:ln>
        </p:spPr>
      </p:sp>
      <p:sp>
        <p:nvSpPr>
          <p:cNvPr id="22" name="Shape 20"/>
          <p:cNvSpPr/>
          <p:nvPr/>
        </p:nvSpPr>
        <p:spPr>
          <a:xfrm>
            <a:off x="7772400" y="2779776"/>
            <a:ext cx="73152" cy="1024128"/>
          </a:xfrm>
          <a:prstGeom prst="rect">
            <a:avLst/>
          </a:prstGeom>
          <a:solidFill>
            <a:srgbClr val="00965E"/>
          </a:solidFill>
          <a:ln w="12700">
            <a:solidFill>
              <a:srgbClr val="00965E"/>
            </a:solidFill>
            <a:prstDash val="solid"/>
          </a:ln>
        </p:spPr>
      </p:sp>
      <p:sp>
        <p:nvSpPr>
          <p:cNvPr id="23" name="Text 21"/>
          <p:cNvSpPr/>
          <p:nvPr/>
        </p:nvSpPr>
        <p:spPr>
          <a:xfrm>
            <a:off x="7955280" y="2944368"/>
            <a:ext cx="3072384" cy="320040"/>
          </a:xfrm>
          <a:prstGeom prst="rect">
            <a:avLst/>
          </a:prstGeom>
          <a:noFill/>
          <a:ln/>
        </p:spPr>
        <p:txBody>
          <a:bodyPr wrap="square" lIns="0" tIns="0" rIns="0" bIns="0" rtlCol="0" anchor="ctr"/>
          <a:lstStyle/>
          <a:p>
            <a:pPr indent="0" marL="0">
              <a:buNone/>
            </a:pPr>
            <a:r>
              <a:rPr lang="en-US" sz="1500" b="1" dirty="0">
                <a:solidFill>
                  <a:srgbClr val="153D2E"/>
                </a:solidFill>
              </a:rPr>
              <a:t>Failed-only recovery</a:t>
            </a:r>
            <a:endParaRPr lang="en-US" sz="1500" dirty="0"/>
          </a:p>
        </p:txBody>
      </p:sp>
      <p:sp>
        <p:nvSpPr>
          <p:cNvPr id="24" name="Text 22"/>
          <p:cNvSpPr/>
          <p:nvPr/>
        </p:nvSpPr>
        <p:spPr>
          <a:xfrm>
            <a:off x="7955280" y="3355848"/>
            <a:ext cx="3054096" cy="310896"/>
          </a:xfrm>
          <a:prstGeom prst="rect">
            <a:avLst/>
          </a:prstGeom>
          <a:noFill/>
          <a:ln/>
        </p:spPr>
        <p:txBody>
          <a:bodyPr wrap="square" lIns="254" tIns="254" rIns="254" bIns="254" rtlCol="0" anchor="t"/>
          <a:lstStyle/>
          <a:p>
            <a:pPr indent="0" marL="0">
              <a:buNone/>
            </a:pPr>
            <a:r>
              <a:rPr lang="en-US" sz="1120" dirty="0">
                <a:solidFill>
                  <a:srgbClr val="1C2B24"/>
                </a:solidFill>
              </a:rPr>
              <a:t>Focuses repair on unresolved items</a:t>
            </a:r>
            <a:endParaRPr lang="en-US" sz="1120" dirty="0"/>
          </a:p>
        </p:txBody>
      </p:sp>
      <p:sp>
        <p:nvSpPr>
          <p:cNvPr id="25" name="Shape 23"/>
          <p:cNvSpPr/>
          <p:nvPr/>
        </p:nvSpPr>
        <p:spPr>
          <a:xfrm>
            <a:off x="3977640" y="4114800"/>
            <a:ext cx="3401568" cy="1024128"/>
          </a:xfrm>
          <a:prstGeom prst="roundRect">
            <a:avLst>
              <a:gd name="adj" fmla="val 7143"/>
            </a:avLst>
          </a:prstGeom>
          <a:solidFill>
            <a:srgbClr val="FFFFFF"/>
          </a:solidFill>
          <a:ln w="12700">
            <a:solidFill>
              <a:srgbClr val="C9D9D0"/>
            </a:solidFill>
            <a:prstDash val="solid"/>
          </a:ln>
        </p:spPr>
      </p:sp>
      <p:sp>
        <p:nvSpPr>
          <p:cNvPr id="26" name="Shape 24"/>
          <p:cNvSpPr/>
          <p:nvPr/>
        </p:nvSpPr>
        <p:spPr>
          <a:xfrm>
            <a:off x="3977640" y="4114800"/>
            <a:ext cx="73152" cy="1024128"/>
          </a:xfrm>
          <a:prstGeom prst="rect">
            <a:avLst/>
          </a:prstGeom>
          <a:solidFill>
            <a:srgbClr val="00965E"/>
          </a:solidFill>
          <a:ln w="12700">
            <a:solidFill>
              <a:srgbClr val="00965E"/>
            </a:solidFill>
            <a:prstDash val="solid"/>
          </a:ln>
        </p:spPr>
      </p:sp>
      <p:sp>
        <p:nvSpPr>
          <p:cNvPr id="27" name="Text 25"/>
          <p:cNvSpPr/>
          <p:nvPr/>
        </p:nvSpPr>
        <p:spPr>
          <a:xfrm>
            <a:off x="4160520" y="4279392"/>
            <a:ext cx="3072384" cy="320040"/>
          </a:xfrm>
          <a:prstGeom prst="rect">
            <a:avLst/>
          </a:prstGeom>
          <a:noFill/>
          <a:ln/>
        </p:spPr>
        <p:txBody>
          <a:bodyPr wrap="square" lIns="0" tIns="0" rIns="0" bIns="0" rtlCol="0" anchor="ctr"/>
          <a:lstStyle/>
          <a:p>
            <a:pPr indent="0" marL="0">
              <a:buNone/>
            </a:pPr>
            <a:r>
              <a:rPr lang="en-US" sz="1500" b="1" dirty="0">
                <a:solidFill>
                  <a:srgbClr val="153D2E"/>
                </a:solidFill>
              </a:rPr>
              <a:t>Revision-aware verification</a:t>
            </a:r>
            <a:endParaRPr lang="en-US" sz="1500" dirty="0"/>
          </a:p>
        </p:txBody>
      </p:sp>
      <p:sp>
        <p:nvSpPr>
          <p:cNvPr id="28" name="Text 26"/>
          <p:cNvSpPr/>
          <p:nvPr/>
        </p:nvSpPr>
        <p:spPr>
          <a:xfrm>
            <a:off x="4160520" y="4690872"/>
            <a:ext cx="3054096" cy="310896"/>
          </a:xfrm>
          <a:prstGeom prst="rect">
            <a:avLst/>
          </a:prstGeom>
          <a:noFill/>
          <a:ln/>
        </p:spPr>
        <p:txBody>
          <a:bodyPr wrap="square" lIns="254" tIns="254" rIns="254" bIns="254" rtlCol="0" anchor="t"/>
          <a:lstStyle/>
          <a:p>
            <a:pPr indent="0" marL="0">
              <a:buNone/>
            </a:pPr>
            <a:r>
              <a:rPr lang="en-US" sz="1120" dirty="0">
                <a:solidFill>
                  <a:srgbClr val="1C2B24"/>
                </a:solidFill>
              </a:rPr>
              <a:t>Re-validates after the latest code mutation</a:t>
            </a:r>
            <a:endParaRPr lang="en-US" sz="1120" dirty="0"/>
          </a:p>
        </p:txBody>
      </p:sp>
      <p:sp>
        <p:nvSpPr>
          <p:cNvPr id="29" name="Shape 27"/>
          <p:cNvSpPr/>
          <p:nvPr/>
        </p:nvSpPr>
        <p:spPr>
          <a:xfrm>
            <a:off x="7772400" y="4114800"/>
            <a:ext cx="3401568" cy="1024128"/>
          </a:xfrm>
          <a:prstGeom prst="roundRect">
            <a:avLst>
              <a:gd name="adj" fmla="val 7143"/>
            </a:avLst>
          </a:prstGeom>
          <a:solidFill>
            <a:srgbClr val="FFFFFF"/>
          </a:solidFill>
          <a:ln w="12700">
            <a:solidFill>
              <a:srgbClr val="C9D9D0"/>
            </a:solidFill>
            <a:prstDash val="solid"/>
          </a:ln>
        </p:spPr>
      </p:sp>
      <p:sp>
        <p:nvSpPr>
          <p:cNvPr id="30" name="Shape 28"/>
          <p:cNvSpPr/>
          <p:nvPr/>
        </p:nvSpPr>
        <p:spPr>
          <a:xfrm>
            <a:off x="7772400" y="4114800"/>
            <a:ext cx="73152" cy="1024128"/>
          </a:xfrm>
          <a:prstGeom prst="rect">
            <a:avLst/>
          </a:prstGeom>
          <a:solidFill>
            <a:srgbClr val="00965E"/>
          </a:solidFill>
          <a:ln w="12700">
            <a:solidFill>
              <a:srgbClr val="00965E"/>
            </a:solidFill>
            <a:prstDash val="solid"/>
          </a:ln>
        </p:spPr>
      </p:sp>
      <p:sp>
        <p:nvSpPr>
          <p:cNvPr id="31" name="Text 29"/>
          <p:cNvSpPr/>
          <p:nvPr/>
        </p:nvSpPr>
        <p:spPr>
          <a:xfrm>
            <a:off x="7955280" y="4279392"/>
            <a:ext cx="3072384" cy="320040"/>
          </a:xfrm>
          <a:prstGeom prst="rect">
            <a:avLst/>
          </a:prstGeom>
          <a:noFill/>
          <a:ln/>
        </p:spPr>
        <p:txBody>
          <a:bodyPr wrap="square" lIns="0" tIns="0" rIns="0" bIns="0" rtlCol="0" anchor="ctr"/>
          <a:lstStyle/>
          <a:p>
            <a:pPr indent="0" marL="0">
              <a:buNone/>
            </a:pPr>
            <a:r>
              <a:rPr lang="en-US" sz="1500" b="1" dirty="0">
                <a:solidFill>
                  <a:srgbClr val="153D2E"/>
                </a:solidFill>
              </a:rPr>
              <a:t>Durable history</a:t>
            </a:r>
            <a:endParaRPr lang="en-US" sz="1500" dirty="0"/>
          </a:p>
        </p:txBody>
      </p:sp>
      <p:sp>
        <p:nvSpPr>
          <p:cNvPr id="32" name="Text 30"/>
          <p:cNvSpPr/>
          <p:nvPr/>
        </p:nvSpPr>
        <p:spPr>
          <a:xfrm>
            <a:off x="7955280" y="4690872"/>
            <a:ext cx="3054096" cy="310896"/>
          </a:xfrm>
          <a:prstGeom prst="rect">
            <a:avLst/>
          </a:prstGeom>
          <a:noFill/>
          <a:ln/>
        </p:spPr>
        <p:txBody>
          <a:bodyPr wrap="square" lIns="254" tIns="254" rIns="254" bIns="254" rtlCol="0" anchor="t"/>
          <a:lstStyle/>
          <a:p>
            <a:pPr indent="0" marL="0">
              <a:buNone/>
            </a:pPr>
            <a:r>
              <a:rPr lang="en-US" sz="1120" dirty="0">
                <a:solidFill>
                  <a:srgbClr val="1C2B24"/>
                </a:solidFill>
              </a:rPr>
              <a:t>Keeps activity and progress visible after interruption</a:t>
            </a:r>
            <a:endParaRPr lang="en-US" sz="1120" dirty="0"/>
          </a:p>
        </p:txBody>
      </p:sp>
      <p:sp>
        <p:nvSpPr>
          <p:cNvPr id="33" name="Text 31"/>
          <p:cNvSpPr/>
          <p:nvPr/>
        </p:nvSpPr>
        <p:spPr>
          <a:xfrm>
            <a:off x="3977640" y="5559552"/>
            <a:ext cx="7269480" cy="493776"/>
          </a:xfrm>
          <a:prstGeom prst="rect">
            <a:avLst/>
          </a:prstGeom>
          <a:noFill/>
          <a:ln/>
        </p:spPr>
        <p:txBody>
          <a:bodyPr wrap="square" lIns="0" tIns="0" rIns="0" bIns="0" rtlCol="0" anchor="ctr"/>
          <a:lstStyle/>
          <a:p>
            <a:pPr indent="0" marL="0">
              <a:buNone/>
            </a:pPr>
            <a:r>
              <a:rPr lang="en-US" sz="1350" b="1" dirty="0">
                <a:solidFill>
                  <a:srgbClr val="153D2E"/>
                </a:solidFill>
              </a:rPr>
              <a:t>Result: a long task can make incremental progress, recover locally and prove completion instead of simply stopping at the first disruption.</a:t>
            </a:r>
            <a:endParaRPr lang="en-US" sz="1350" dirty="0"/>
          </a:p>
        </p:txBody>
      </p:sp>
      <p:sp>
        <p:nvSpPr>
          <p:cNvPr id="25" name="Slide Number Placeholder 0"/>
          <p:cNvSpPr>
            <a:spLocks noGrp="1"/>
          </p:cNvSpPr>
          <p:nvPr>
            <p:ph type="sldNum" sz="quarter" idx="4294967295"/>
          </p:nvPr>
        </p:nvSpPr>
        <p:spPr>
          <a:xfrm>
            <a:off x="11686032" y="6537960"/>
            <a:ext cx="256032" cy="164592"/>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53645C"/>
                </a:solidFill>
                <a:latin typeface="Aptos"/>
                <a:ea typeface="Aptos"/>
                <a:cs typeface="Aptos"/>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384048"/>
            <a:ext cx="8183880" cy="438912"/>
          </a:xfrm>
          <a:prstGeom prst="rect">
            <a:avLst/>
          </a:prstGeom>
          <a:noFill/>
          <a:ln/>
        </p:spPr>
        <p:txBody>
          <a:bodyPr wrap="square" lIns="0" tIns="0" rIns="0" bIns="0" rtlCol="0" anchor="ctr"/>
          <a:lstStyle/>
          <a:p>
            <a:pPr indent="0" marL="0">
              <a:buNone/>
            </a:pPr>
            <a:r>
              <a:rPr lang="en-US" sz="2700" b="1" dirty="0">
                <a:solidFill>
                  <a:srgbClr val="153D2E"/>
                </a:solidFill>
              </a:rPr>
              <a:t>6. Context, tools and external evidence</a:t>
            </a:r>
            <a:endParaRPr lang="en-US" sz="2700" dirty="0"/>
          </a:p>
        </p:txBody>
      </p:sp>
      <p:sp>
        <p:nvSpPr>
          <p:cNvPr id="3" name="Text 1"/>
          <p:cNvSpPr/>
          <p:nvPr/>
        </p:nvSpPr>
        <p:spPr>
          <a:xfrm>
            <a:off x="566928" y="877824"/>
            <a:ext cx="10881360" cy="347472"/>
          </a:xfrm>
          <a:prstGeom prst="rect">
            <a:avLst/>
          </a:prstGeom>
          <a:noFill/>
          <a:ln/>
        </p:spPr>
        <p:txBody>
          <a:bodyPr wrap="square" lIns="0" tIns="0" rIns="0" bIns="0" rtlCol="0" anchor="ctr"/>
          <a:lstStyle/>
          <a:p>
            <a:pPr indent="0" marL="0">
              <a:buNone/>
            </a:pPr>
            <a:r>
              <a:rPr lang="en-US" sz="1250" dirty="0">
                <a:solidFill>
                  <a:srgbClr val="5A6B62"/>
                </a:solidFill>
              </a:rPr>
              <a:t>ELIYA sends the model only the context needed for the current step, while retaining application-side state.</a:t>
            </a:r>
            <a:endParaRPr lang="en-US" sz="1250" dirty="0"/>
          </a:p>
        </p:txBody>
      </p:sp>
      <p:sp>
        <p:nvSpPr>
          <p:cNvPr id="4" name="Shape 2"/>
          <p:cNvSpPr/>
          <p:nvPr/>
        </p:nvSpPr>
        <p:spPr>
          <a:xfrm>
            <a:off x="9646920" y="402336"/>
            <a:ext cx="1920240" cy="329184"/>
          </a:xfrm>
          <a:prstGeom prst="roundRect">
            <a:avLst>
              <a:gd name="adj" fmla="val 22222"/>
            </a:avLst>
          </a:prstGeom>
          <a:solidFill>
            <a:srgbClr val="D9EFE5"/>
          </a:solidFill>
          <a:ln w="12700">
            <a:solidFill>
              <a:srgbClr val="D9EFE5"/>
            </a:solidFill>
            <a:prstDash val="solid"/>
          </a:ln>
        </p:spPr>
      </p:sp>
      <p:sp>
        <p:nvSpPr>
          <p:cNvPr id="5" name="Text 3"/>
          <p:cNvSpPr/>
          <p:nvPr/>
        </p:nvSpPr>
        <p:spPr>
          <a:xfrm>
            <a:off x="9720072" y="457200"/>
            <a:ext cx="1773936" cy="201168"/>
          </a:xfrm>
          <a:prstGeom prst="rect">
            <a:avLst/>
          </a:prstGeom>
          <a:noFill/>
          <a:ln/>
        </p:spPr>
        <p:txBody>
          <a:bodyPr wrap="square" lIns="0" tIns="0" rIns="0" bIns="0" rtlCol="0" anchor="ctr"/>
          <a:lstStyle/>
          <a:p>
            <a:pPr algn="ctr" indent="0" marL="0">
              <a:buNone/>
            </a:pPr>
            <a:r>
              <a:rPr lang="en-US" sz="1000" b="1" dirty="0">
                <a:solidFill>
                  <a:srgbClr val="006B45"/>
                </a:solidFill>
              </a:rPr>
              <a:t>CONTEXT</a:t>
            </a:r>
            <a:endParaRPr lang="en-US" sz="1000" dirty="0"/>
          </a:p>
        </p:txBody>
      </p:sp>
      <p:sp>
        <p:nvSpPr>
          <p:cNvPr id="6" name="Shape 4"/>
          <p:cNvSpPr/>
          <p:nvPr/>
        </p:nvSpPr>
        <p:spPr>
          <a:xfrm>
            <a:off x="685800" y="1417320"/>
            <a:ext cx="3337560" cy="804672"/>
          </a:xfrm>
          <a:prstGeom prst="roundRect">
            <a:avLst/>
          </a:prstGeom>
          <a:solidFill>
            <a:srgbClr val="E8F5EF"/>
          </a:solidFill>
          <a:ln w="12700">
            <a:solidFill>
              <a:srgbClr val="C9D9D0"/>
            </a:solidFill>
            <a:prstDash val="solid"/>
          </a:ln>
        </p:spPr>
      </p:sp>
      <p:sp>
        <p:nvSpPr>
          <p:cNvPr id="7" name="Text 5"/>
          <p:cNvSpPr/>
          <p:nvPr/>
        </p:nvSpPr>
        <p:spPr>
          <a:xfrm>
            <a:off x="868680" y="1527048"/>
            <a:ext cx="1645920" cy="201168"/>
          </a:xfrm>
          <a:prstGeom prst="rect">
            <a:avLst/>
          </a:prstGeom>
          <a:noFill/>
          <a:ln/>
        </p:spPr>
        <p:txBody>
          <a:bodyPr wrap="square" lIns="0" tIns="0" rIns="0" bIns="0" rtlCol="0" anchor="ctr"/>
          <a:lstStyle/>
          <a:p>
            <a:pPr indent="0" marL="0">
              <a:buNone/>
            </a:pPr>
            <a:r>
              <a:rPr lang="en-US" sz="1150" b="1" dirty="0">
                <a:solidFill>
                  <a:srgbClr val="006B45"/>
                </a:solidFill>
              </a:rPr>
              <a:t>User objective</a:t>
            </a:r>
            <a:endParaRPr lang="en-US" sz="1150" dirty="0"/>
          </a:p>
        </p:txBody>
      </p:sp>
      <p:sp>
        <p:nvSpPr>
          <p:cNvPr id="8" name="Text 6"/>
          <p:cNvSpPr/>
          <p:nvPr/>
        </p:nvSpPr>
        <p:spPr>
          <a:xfrm>
            <a:off x="868680" y="1819656"/>
            <a:ext cx="2743200" cy="182880"/>
          </a:xfrm>
          <a:prstGeom prst="rect">
            <a:avLst/>
          </a:prstGeom>
          <a:noFill/>
          <a:ln/>
        </p:spPr>
        <p:txBody>
          <a:bodyPr wrap="square" lIns="0" tIns="0" rIns="0" bIns="0" rtlCol="0" anchor="ctr"/>
          <a:lstStyle/>
          <a:p>
            <a:pPr indent="0" marL="0">
              <a:buNone/>
            </a:pPr>
            <a:r>
              <a:rPr lang="en-US" sz="970" dirty="0">
                <a:solidFill>
                  <a:srgbClr val="5A6B62"/>
                </a:solidFill>
              </a:rPr>
              <a:t>What the user wants</a:t>
            </a:r>
            <a:endParaRPr lang="en-US" sz="970" dirty="0"/>
          </a:p>
        </p:txBody>
      </p:sp>
      <p:sp>
        <p:nvSpPr>
          <p:cNvPr id="9" name="Shape 7"/>
          <p:cNvSpPr/>
          <p:nvPr/>
        </p:nvSpPr>
        <p:spPr>
          <a:xfrm>
            <a:off x="2359152" y="2240280"/>
            <a:ext cx="3739896" cy="1645920"/>
          </a:xfrm>
          <a:prstGeom prst="line">
            <a:avLst/>
          </a:prstGeom>
          <a:noFill/>
          <a:ln w="25400">
            <a:solidFill>
              <a:srgbClr val="C9D9D0"/>
            </a:solidFill>
            <a:prstDash val="solid"/>
            <a:headEnd type="none"/>
            <a:tailEnd type="triangle"/>
          </a:ln>
        </p:spPr>
      </p:sp>
      <p:sp>
        <p:nvSpPr>
          <p:cNvPr id="10" name="Shape 8"/>
          <p:cNvSpPr/>
          <p:nvPr/>
        </p:nvSpPr>
        <p:spPr>
          <a:xfrm>
            <a:off x="4434840" y="1417320"/>
            <a:ext cx="3337560" cy="804672"/>
          </a:xfrm>
          <a:prstGeom prst="roundRect">
            <a:avLst/>
          </a:prstGeom>
          <a:solidFill>
            <a:srgbClr val="FFFFFF"/>
          </a:solidFill>
          <a:ln w="12700">
            <a:solidFill>
              <a:srgbClr val="C9D9D0"/>
            </a:solidFill>
            <a:prstDash val="solid"/>
          </a:ln>
        </p:spPr>
      </p:sp>
      <p:sp>
        <p:nvSpPr>
          <p:cNvPr id="11" name="Text 9"/>
          <p:cNvSpPr/>
          <p:nvPr/>
        </p:nvSpPr>
        <p:spPr>
          <a:xfrm>
            <a:off x="4617720" y="1527048"/>
            <a:ext cx="1645920" cy="201168"/>
          </a:xfrm>
          <a:prstGeom prst="rect">
            <a:avLst/>
          </a:prstGeom>
          <a:noFill/>
          <a:ln/>
        </p:spPr>
        <p:txBody>
          <a:bodyPr wrap="square" lIns="0" tIns="0" rIns="0" bIns="0" rtlCol="0" anchor="ctr"/>
          <a:lstStyle/>
          <a:p>
            <a:pPr indent="0" marL="0">
              <a:buNone/>
            </a:pPr>
            <a:r>
              <a:rPr lang="en-US" sz="1150" b="1" dirty="0">
                <a:solidFill>
                  <a:srgbClr val="006B45"/>
                </a:solidFill>
              </a:rPr>
              <a:t>Current plan step</a:t>
            </a:r>
            <a:endParaRPr lang="en-US" sz="1150" dirty="0"/>
          </a:p>
        </p:txBody>
      </p:sp>
      <p:sp>
        <p:nvSpPr>
          <p:cNvPr id="12" name="Text 10"/>
          <p:cNvSpPr/>
          <p:nvPr/>
        </p:nvSpPr>
        <p:spPr>
          <a:xfrm>
            <a:off x="4617720" y="1819656"/>
            <a:ext cx="2743200" cy="182880"/>
          </a:xfrm>
          <a:prstGeom prst="rect">
            <a:avLst/>
          </a:prstGeom>
          <a:noFill/>
          <a:ln/>
        </p:spPr>
        <p:txBody>
          <a:bodyPr wrap="square" lIns="0" tIns="0" rIns="0" bIns="0" rtlCol="0" anchor="ctr"/>
          <a:lstStyle/>
          <a:p>
            <a:pPr indent="0" marL="0">
              <a:buNone/>
            </a:pPr>
            <a:r>
              <a:rPr lang="en-US" sz="970" dirty="0">
                <a:solidFill>
                  <a:srgbClr val="5A6B62"/>
                </a:solidFill>
              </a:rPr>
              <a:t>Only the active work</a:t>
            </a:r>
            <a:endParaRPr lang="en-US" sz="970" dirty="0"/>
          </a:p>
        </p:txBody>
      </p:sp>
      <p:sp>
        <p:nvSpPr>
          <p:cNvPr id="13" name="Shape 11"/>
          <p:cNvSpPr/>
          <p:nvPr/>
        </p:nvSpPr>
        <p:spPr>
          <a:xfrm>
            <a:off x="6108192" y="2240280"/>
            <a:ext cx="-9144" cy="1645920"/>
          </a:xfrm>
          <a:prstGeom prst="line">
            <a:avLst/>
          </a:prstGeom>
          <a:noFill/>
          <a:ln w="25400">
            <a:solidFill>
              <a:srgbClr val="C9D9D0"/>
            </a:solidFill>
            <a:prstDash val="solid"/>
            <a:headEnd type="none"/>
            <a:tailEnd type="triangle"/>
          </a:ln>
        </p:spPr>
      </p:sp>
      <p:sp>
        <p:nvSpPr>
          <p:cNvPr id="14" name="Shape 12"/>
          <p:cNvSpPr/>
          <p:nvPr/>
        </p:nvSpPr>
        <p:spPr>
          <a:xfrm>
            <a:off x="8183880" y="1417320"/>
            <a:ext cx="3337560" cy="804672"/>
          </a:xfrm>
          <a:prstGeom prst="roundRect">
            <a:avLst/>
          </a:prstGeom>
          <a:solidFill>
            <a:srgbClr val="E8F5EF"/>
          </a:solidFill>
          <a:ln w="12700">
            <a:solidFill>
              <a:srgbClr val="C9D9D0"/>
            </a:solidFill>
            <a:prstDash val="solid"/>
          </a:ln>
        </p:spPr>
      </p:sp>
      <p:sp>
        <p:nvSpPr>
          <p:cNvPr id="15" name="Text 13"/>
          <p:cNvSpPr/>
          <p:nvPr/>
        </p:nvSpPr>
        <p:spPr>
          <a:xfrm>
            <a:off x="8366760" y="1527048"/>
            <a:ext cx="1645920" cy="201168"/>
          </a:xfrm>
          <a:prstGeom prst="rect">
            <a:avLst/>
          </a:prstGeom>
          <a:noFill/>
          <a:ln/>
        </p:spPr>
        <p:txBody>
          <a:bodyPr wrap="square" lIns="0" tIns="0" rIns="0" bIns="0" rtlCol="0" anchor="ctr"/>
          <a:lstStyle/>
          <a:p>
            <a:pPr indent="0" marL="0">
              <a:buNone/>
            </a:pPr>
            <a:r>
              <a:rPr lang="en-US" sz="1150" b="1" dirty="0">
                <a:solidFill>
                  <a:srgbClr val="006B45"/>
                </a:solidFill>
              </a:rPr>
              <a:t>Workspace retrieval</a:t>
            </a:r>
            <a:endParaRPr lang="en-US" sz="1150" dirty="0"/>
          </a:p>
        </p:txBody>
      </p:sp>
      <p:sp>
        <p:nvSpPr>
          <p:cNvPr id="16" name="Text 14"/>
          <p:cNvSpPr/>
          <p:nvPr/>
        </p:nvSpPr>
        <p:spPr>
          <a:xfrm>
            <a:off x="8366760" y="1819656"/>
            <a:ext cx="2743200" cy="182880"/>
          </a:xfrm>
          <a:prstGeom prst="rect">
            <a:avLst/>
          </a:prstGeom>
          <a:noFill/>
          <a:ln/>
        </p:spPr>
        <p:txBody>
          <a:bodyPr wrap="square" lIns="0" tIns="0" rIns="0" bIns="0" rtlCol="0" anchor="ctr"/>
          <a:lstStyle/>
          <a:p>
            <a:pPr indent="0" marL="0">
              <a:buNone/>
            </a:pPr>
            <a:r>
              <a:rPr lang="en-US" sz="970" dirty="0">
                <a:solidFill>
                  <a:srgbClr val="5A6B62"/>
                </a:solidFill>
              </a:rPr>
              <a:t>Relevant files / symbols</a:t>
            </a:r>
            <a:endParaRPr lang="en-US" sz="970" dirty="0"/>
          </a:p>
        </p:txBody>
      </p:sp>
      <p:sp>
        <p:nvSpPr>
          <p:cNvPr id="17" name="Shape 15"/>
          <p:cNvSpPr/>
          <p:nvPr/>
        </p:nvSpPr>
        <p:spPr>
          <a:xfrm>
            <a:off x="9857232" y="2240280"/>
            <a:ext cx="-3758184" cy="1645920"/>
          </a:xfrm>
          <a:prstGeom prst="line">
            <a:avLst/>
          </a:prstGeom>
          <a:noFill/>
          <a:ln w="25400">
            <a:solidFill>
              <a:srgbClr val="C9D9D0"/>
            </a:solidFill>
            <a:prstDash val="solid"/>
            <a:headEnd type="none"/>
            <a:tailEnd type="triangle"/>
          </a:ln>
        </p:spPr>
      </p:sp>
      <p:sp>
        <p:nvSpPr>
          <p:cNvPr id="18" name="Shape 16"/>
          <p:cNvSpPr/>
          <p:nvPr/>
        </p:nvSpPr>
        <p:spPr>
          <a:xfrm>
            <a:off x="685800" y="2514600"/>
            <a:ext cx="3337560" cy="804672"/>
          </a:xfrm>
          <a:prstGeom prst="roundRect">
            <a:avLst/>
          </a:prstGeom>
          <a:solidFill>
            <a:srgbClr val="FFFFFF"/>
          </a:solidFill>
          <a:ln w="12700">
            <a:solidFill>
              <a:srgbClr val="C9D9D0"/>
            </a:solidFill>
            <a:prstDash val="solid"/>
          </a:ln>
        </p:spPr>
      </p:sp>
      <p:sp>
        <p:nvSpPr>
          <p:cNvPr id="19" name="Text 17"/>
          <p:cNvSpPr/>
          <p:nvPr/>
        </p:nvSpPr>
        <p:spPr>
          <a:xfrm>
            <a:off x="868680" y="2624328"/>
            <a:ext cx="1645920" cy="201168"/>
          </a:xfrm>
          <a:prstGeom prst="rect">
            <a:avLst/>
          </a:prstGeom>
          <a:noFill/>
          <a:ln/>
        </p:spPr>
        <p:txBody>
          <a:bodyPr wrap="square" lIns="0" tIns="0" rIns="0" bIns="0" rtlCol="0" anchor="ctr"/>
          <a:lstStyle/>
          <a:p>
            <a:pPr indent="0" marL="0">
              <a:buNone/>
            </a:pPr>
            <a:r>
              <a:rPr lang="en-US" sz="1150" b="1" dirty="0">
                <a:solidFill>
                  <a:srgbClr val="006B45"/>
                </a:solidFill>
              </a:rPr>
              <a:t>Durable run state</a:t>
            </a:r>
            <a:endParaRPr lang="en-US" sz="1150" dirty="0"/>
          </a:p>
        </p:txBody>
      </p:sp>
      <p:sp>
        <p:nvSpPr>
          <p:cNvPr id="20" name="Text 18"/>
          <p:cNvSpPr/>
          <p:nvPr/>
        </p:nvSpPr>
        <p:spPr>
          <a:xfrm>
            <a:off x="868680" y="2916936"/>
            <a:ext cx="2743200" cy="182880"/>
          </a:xfrm>
          <a:prstGeom prst="rect">
            <a:avLst/>
          </a:prstGeom>
          <a:noFill/>
          <a:ln/>
        </p:spPr>
        <p:txBody>
          <a:bodyPr wrap="square" lIns="0" tIns="0" rIns="0" bIns="0" rtlCol="0" anchor="ctr"/>
          <a:lstStyle/>
          <a:p>
            <a:pPr indent="0" marL="0">
              <a:buNone/>
            </a:pPr>
            <a:r>
              <a:rPr lang="en-US" sz="970" dirty="0">
                <a:solidFill>
                  <a:srgbClr val="5A6B62"/>
                </a:solidFill>
              </a:rPr>
              <a:t>Progress · revisions · verification</a:t>
            </a:r>
            <a:endParaRPr lang="en-US" sz="970" dirty="0"/>
          </a:p>
        </p:txBody>
      </p:sp>
      <p:sp>
        <p:nvSpPr>
          <p:cNvPr id="21" name="Shape 19"/>
          <p:cNvSpPr/>
          <p:nvPr/>
        </p:nvSpPr>
        <p:spPr>
          <a:xfrm>
            <a:off x="2359152" y="3337560"/>
            <a:ext cx="3739896" cy="548640"/>
          </a:xfrm>
          <a:prstGeom prst="line">
            <a:avLst/>
          </a:prstGeom>
          <a:noFill/>
          <a:ln w="25400">
            <a:solidFill>
              <a:srgbClr val="C9D9D0"/>
            </a:solidFill>
            <a:prstDash val="solid"/>
            <a:headEnd type="none"/>
            <a:tailEnd type="triangle"/>
          </a:ln>
        </p:spPr>
      </p:sp>
      <p:sp>
        <p:nvSpPr>
          <p:cNvPr id="22" name="Shape 20"/>
          <p:cNvSpPr/>
          <p:nvPr/>
        </p:nvSpPr>
        <p:spPr>
          <a:xfrm>
            <a:off x="4434840" y="2514600"/>
            <a:ext cx="3337560" cy="804672"/>
          </a:xfrm>
          <a:prstGeom prst="roundRect">
            <a:avLst/>
          </a:prstGeom>
          <a:solidFill>
            <a:srgbClr val="E8F5EF"/>
          </a:solidFill>
          <a:ln w="12700">
            <a:solidFill>
              <a:srgbClr val="C9D9D0"/>
            </a:solidFill>
            <a:prstDash val="solid"/>
          </a:ln>
        </p:spPr>
      </p:sp>
      <p:sp>
        <p:nvSpPr>
          <p:cNvPr id="23" name="Text 21"/>
          <p:cNvSpPr/>
          <p:nvPr/>
        </p:nvSpPr>
        <p:spPr>
          <a:xfrm>
            <a:off x="4617720" y="2624328"/>
            <a:ext cx="1645920" cy="201168"/>
          </a:xfrm>
          <a:prstGeom prst="rect">
            <a:avLst/>
          </a:prstGeom>
          <a:noFill/>
          <a:ln/>
        </p:spPr>
        <p:txBody>
          <a:bodyPr wrap="square" lIns="0" tIns="0" rIns="0" bIns="0" rtlCol="0" anchor="ctr"/>
          <a:lstStyle/>
          <a:p>
            <a:pPr indent="0" marL="0">
              <a:buNone/>
            </a:pPr>
            <a:r>
              <a:rPr lang="en-US" sz="1150" b="1" dirty="0">
                <a:solidFill>
                  <a:srgbClr val="006B45"/>
                </a:solidFill>
              </a:rPr>
              <a:t>Tool schemas</a:t>
            </a:r>
            <a:endParaRPr lang="en-US" sz="1150" dirty="0"/>
          </a:p>
        </p:txBody>
      </p:sp>
      <p:sp>
        <p:nvSpPr>
          <p:cNvPr id="24" name="Text 22"/>
          <p:cNvSpPr/>
          <p:nvPr/>
        </p:nvSpPr>
        <p:spPr>
          <a:xfrm>
            <a:off x="4617720" y="2916936"/>
            <a:ext cx="2743200" cy="182880"/>
          </a:xfrm>
          <a:prstGeom prst="rect">
            <a:avLst/>
          </a:prstGeom>
          <a:noFill/>
          <a:ln/>
        </p:spPr>
        <p:txBody>
          <a:bodyPr wrap="square" lIns="0" tIns="0" rIns="0" bIns="0" rtlCol="0" anchor="ctr"/>
          <a:lstStyle/>
          <a:p>
            <a:pPr indent="0" marL="0">
              <a:buNone/>
            </a:pPr>
            <a:r>
              <a:rPr lang="en-US" sz="970" dirty="0">
                <a:solidFill>
                  <a:srgbClr val="5A6B62"/>
                </a:solidFill>
              </a:rPr>
              <a:t>Only available capabilities</a:t>
            </a:r>
            <a:endParaRPr lang="en-US" sz="970" dirty="0"/>
          </a:p>
        </p:txBody>
      </p:sp>
      <p:sp>
        <p:nvSpPr>
          <p:cNvPr id="25" name="Shape 23"/>
          <p:cNvSpPr/>
          <p:nvPr/>
        </p:nvSpPr>
        <p:spPr>
          <a:xfrm>
            <a:off x="6108192" y="3337560"/>
            <a:ext cx="-9144" cy="548640"/>
          </a:xfrm>
          <a:prstGeom prst="line">
            <a:avLst/>
          </a:prstGeom>
          <a:noFill/>
          <a:ln w="25400">
            <a:solidFill>
              <a:srgbClr val="C9D9D0"/>
            </a:solidFill>
            <a:prstDash val="solid"/>
            <a:headEnd type="none"/>
            <a:tailEnd type="triangle"/>
          </a:ln>
        </p:spPr>
      </p:sp>
      <p:sp>
        <p:nvSpPr>
          <p:cNvPr id="26" name="Shape 24"/>
          <p:cNvSpPr/>
          <p:nvPr/>
        </p:nvSpPr>
        <p:spPr>
          <a:xfrm>
            <a:off x="8183880" y="2514600"/>
            <a:ext cx="3337560" cy="804672"/>
          </a:xfrm>
          <a:prstGeom prst="roundRect">
            <a:avLst/>
          </a:prstGeom>
          <a:solidFill>
            <a:srgbClr val="FFFFFF"/>
          </a:solidFill>
          <a:ln w="12700">
            <a:solidFill>
              <a:srgbClr val="C9D9D0"/>
            </a:solidFill>
            <a:prstDash val="solid"/>
          </a:ln>
        </p:spPr>
      </p:sp>
      <p:sp>
        <p:nvSpPr>
          <p:cNvPr id="27" name="Text 25"/>
          <p:cNvSpPr/>
          <p:nvPr/>
        </p:nvSpPr>
        <p:spPr>
          <a:xfrm>
            <a:off x="8366760" y="2624328"/>
            <a:ext cx="1645920" cy="201168"/>
          </a:xfrm>
          <a:prstGeom prst="rect">
            <a:avLst/>
          </a:prstGeom>
          <a:noFill/>
          <a:ln/>
        </p:spPr>
        <p:txBody>
          <a:bodyPr wrap="square" lIns="0" tIns="0" rIns="0" bIns="0" rtlCol="0" anchor="ctr"/>
          <a:lstStyle/>
          <a:p>
            <a:pPr indent="0" marL="0">
              <a:buNone/>
            </a:pPr>
            <a:r>
              <a:rPr lang="en-US" sz="1150" b="1" dirty="0">
                <a:solidFill>
                  <a:srgbClr val="006B45"/>
                </a:solidFill>
              </a:rPr>
              <a:t>Recent history</a:t>
            </a:r>
            <a:endParaRPr lang="en-US" sz="1150" dirty="0"/>
          </a:p>
        </p:txBody>
      </p:sp>
      <p:sp>
        <p:nvSpPr>
          <p:cNvPr id="28" name="Text 26"/>
          <p:cNvSpPr/>
          <p:nvPr/>
        </p:nvSpPr>
        <p:spPr>
          <a:xfrm>
            <a:off x="8366760" y="2916936"/>
            <a:ext cx="2743200" cy="182880"/>
          </a:xfrm>
          <a:prstGeom prst="rect">
            <a:avLst/>
          </a:prstGeom>
          <a:noFill/>
          <a:ln/>
        </p:spPr>
        <p:txBody>
          <a:bodyPr wrap="square" lIns="0" tIns="0" rIns="0" bIns="0" rtlCol="0" anchor="ctr"/>
          <a:lstStyle/>
          <a:p>
            <a:pPr indent="0" marL="0">
              <a:buNone/>
            </a:pPr>
            <a:r>
              <a:rPr lang="en-US" sz="970" dirty="0">
                <a:solidFill>
                  <a:srgbClr val="5A6B62"/>
                </a:solidFill>
              </a:rPr>
              <a:t>Enough conversation to continue</a:t>
            </a:r>
            <a:endParaRPr lang="en-US" sz="970" dirty="0"/>
          </a:p>
        </p:txBody>
      </p:sp>
      <p:sp>
        <p:nvSpPr>
          <p:cNvPr id="29" name="Shape 27"/>
          <p:cNvSpPr/>
          <p:nvPr/>
        </p:nvSpPr>
        <p:spPr>
          <a:xfrm>
            <a:off x="9857232" y="3337560"/>
            <a:ext cx="-3758184" cy="548640"/>
          </a:xfrm>
          <a:prstGeom prst="line">
            <a:avLst/>
          </a:prstGeom>
          <a:noFill/>
          <a:ln w="25400">
            <a:solidFill>
              <a:srgbClr val="C9D9D0"/>
            </a:solidFill>
            <a:prstDash val="solid"/>
            <a:headEnd type="none"/>
            <a:tailEnd type="triangle"/>
          </a:ln>
        </p:spPr>
      </p:sp>
      <p:sp>
        <p:nvSpPr>
          <p:cNvPr id="30" name="Shape 28"/>
          <p:cNvSpPr/>
          <p:nvPr/>
        </p:nvSpPr>
        <p:spPr>
          <a:xfrm>
            <a:off x="4736592" y="3730752"/>
            <a:ext cx="2743200" cy="868680"/>
          </a:xfrm>
          <a:prstGeom prst="roundRect">
            <a:avLst/>
          </a:prstGeom>
          <a:solidFill>
            <a:srgbClr val="153D2E"/>
          </a:solidFill>
          <a:ln w="12700">
            <a:solidFill>
              <a:srgbClr val="153D2E"/>
            </a:solidFill>
            <a:prstDash val="solid"/>
          </a:ln>
        </p:spPr>
      </p:sp>
      <p:sp>
        <p:nvSpPr>
          <p:cNvPr id="31" name="Text 29"/>
          <p:cNvSpPr/>
          <p:nvPr/>
        </p:nvSpPr>
        <p:spPr>
          <a:xfrm>
            <a:off x="5010912" y="3959352"/>
            <a:ext cx="2194560" cy="256032"/>
          </a:xfrm>
          <a:prstGeom prst="rect">
            <a:avLst/>
          </a:prstGeom>
          <a:noFill/>
          <a:ln/>
        </p:spPr>
        <p:txBody>
          <a:bodyPr wrap="square" lIns="0" tIns="0" rIns="0" bIns="0" rtlCol="0" anchor="ctr"/>
          <a:lstStyle/>
          <a:p>
            <a:pPr algn="ctr" indent="0" marL="0">
              <a:buNone/>
            </a:pPr>
            <a:r>
              <a:rPr lang="en-US" sz="1500" b="1" dirty="0">
                <a:solidFill>
                  <a:srgbClr val="FFFFFF"/>
                </a:solidFill>
              </a:rPr>
              <a:t>Context Window Manager</a:t>
            </a:r>
            <a:endParaRPr lang="en-US" sz="1500" dirty="0"/>
          </a:p>
        </p:txBody>
      </p:sp>
      <p:sp>
        <p:nvSpPr>
          <p:cNvPr id="32" name="Shape 30"/>
          <p:cNvSpPr/>
          <p:nvPr/>
        </p:nvSpPr>
        <p:spPr>
          <a:xfrm>
            <a:off x="6108192" y="4599432"/>
            <a:ext cx="0" cy="521208"/>
          </a:xfrm>
          <a:prstGeom prst="line">
            <a:avLst/>
          </a:prstGeom>
          <a:noFill/>
          <a:ln w="25400">
            <a:solidFill>
              <a:srgbClr val="00965E"/>
            </a:solidFill>
            <a:prstDash val="solid"/>
            <a:headEnd type="none"/>
            <a:tailEnd type="triangle"/>
          </a:ln>
        </p:spPr>
      </p:sp>
      <p:sp>
        <p:nvSpPr>
          <p:cNvPr id="33" name="Shape 31"/>
          <p:cNvSpPr/>
          <p:nvPr/>
        </p:nvSpPr>
        <p:spPr>
          <a:xfrm>
            <a:off x="4983480" y="5120640"/>
            <a:ext cx="2249424" cy="658368"/>
          </a:xfrm>
          <a:prstGeom prst="roundRect">
            <a:avLst/>
          </a:prstGeom>
          <a:solidFill>
            <a:srgbClr val="D9EFE5"/>
          </a:solidFill>
          <a:ln w="15240">
            <a:solidFill>
              <a:srgbClr val="00965E"/>
            </a:solidFill>
            <a:prstDash val="solid"/>
          </a:ln>
        </p:spPr>
      </p:sp>
      <p:sp>
        <p:nvSpPr>
          <p:cNvPr id="34" name="Text 32"/>
          <p:cNvSpPr/>
          <p:nvPr/>
        </p:nvSpPr>
        <p:spPr>
          <a:xfrm>
            <a:off x="5212080" y="5321808"/>
            <a:ext cx="1783080" cy="210312"/>
          </a:xfrm>
          <a:prstGeom prst="rect">
            <a:avLst/>
          </a:prstGeom>
          <a:noFill/>
          <a:ln/>
        </p:spPr>
        <p:txBody>
          <a:bodyPr wrap="square" lIns="0" tIns="0" rIns="0" bIns="0" rtlCol="0" anchor="ctr"/>
          <a:lstStyle/>
          <a:p>
            <a:pPr algn="ctr" indent="0" marL="0">
              <a:buNone/>
            </a:pPr>
            <a:r>
              <a:rPr lang="en-US" sz="1200" b="1" dirty="0">
                <a:solidFill>
                  <a:srgbClr val="153D2E"/>
                </a:solidFill>
              </a:rPr>
              <a:t>Selected Agent model</a:t>
            </a:r>
            <a:endParaRPr lang="en-US" sz="1200" dirty="0"/>
          </a:p>
        </p:txBody>
      </p:sp>
      <p:sp>
        <p:nvSpPr>
          <p:cNvPr id="35" name="Text 33"/>
          <p:cNvSpPr/>
          <p:nvPr/>
        </p:nvSpPr>
        <p:spPr>
          <a:xfrm>
            <a:off x="8366760" y="3785616"/>
            <a:ext cx="1280160" cy="274320"/>
          </a:xfrm>
          <a:prstGeom prst="rect">
            <a:avLst/>
          </a:prstGeom>
          <a:noFill/>
          <a:ln/>
        </p:spPr>
        <p:txBody>
          <a:bodyPr wrap="square" lIns="0" tIns="0" rIns="0" bIns="0" rtlCol="0" anchor="ctr"/>
          <a:lstStyle/>
          <a:p>
            <a:pPr indent="0" marL="0">
              <a:buNone/>
            </a:pPr>
            <a:r>
              <a:rPr lang="en-US" sz="1400" b="1" dirty="0">
                <a:solidFill>
                  <a:srgbClr val="006B45"/>
                </a:solidFill>
              </a:rPr>
              <a:t>Why better</a:t>
            </a:r>
            <a:endParaRPr lang="en-US" sz="1400" dirty="0"/>
          </a:p>
        </p:txBody>
      </p:sp>
      <p:sp>
        <p:nvSpPr>
          <p:cNvPr id="36" name="Text 34"/>
          <p:cNvSpPr/>
          <p:nvPr/>
        </p:nvSpPr>
        <p:spPr>
          <a:xfrm>
            <a:off x="8366760" y="4160520"/>
            <a:ext cx="3017520" cy="1600200"/>
          </a:xfrm>
          <a:prstGeom prst="rect">
            <a:avLst/>
          </a:prstGeom>
          <a:noFill/>
          <a:ln/>
        </p:spPr>
        <p:txBody>
          <a:bodyPr wrap="square" lIns="254" tIns="254" rIns="254" bIns="254" rtlCol="0" anchor="t"/>
          <a:lstStyle/>
          <a:p>
            <a:pPr marL="177800" indent="-177800">
              <a:buSzPct val="100000"/>
              <a:buChar char="•"/>
            </a:pPr>
            <a:r>
              <a:rPr lang="en-US" sz="1080" dirty="0">
                <a:solidFill>
                  <a:srgbClr val="1C2B24"/>
                </a:solidFill>
              </a:rPr>
              <a:t>Lower token consumption</a:t>
            </a:r>
            <a:endParaRPr lang="en-US" sz="1080" dirty="0"/>
          </a:p>
          <a:p>
            <a:pPr marL="177800" indent="-177800">
              <a:buSzPct val="100000"/>
              <a:buChar char="•"/>
            </a:pPr>
            <a:r>
              <a:rPr lang="en-US" sz="1080" dirty="0">
                <a:solidFill>
                  <a:srgbClr val="1C2B24"/>
                </a:solidFill>
              </a:rPr>
              <a:t>Less irrelevant context</a:t>
            </a:r>
            <a:endParaRPr lang="en-US" sz="1080" dirty="0"/>
          </a:p>
          <a:p>
            <a:pPr marL="177800" indent="-177800">
              <a:buSzPct val="100000"/>
              <a:buChar char="•"/>
            </a:pPr>
            <a:r>
              <a:rPr lang="en-US" sz="1080" dirty="0">
                <a:solidFill>
                  <a:srgbClr val="1C2B24"/>
                </a:solidFill>
              </a:rPr>
              <a:t>Fewer repeated model requests</a:t>
            </a:r>
            <a:endParaRPr lang="en-US" sz="1080" dirty="0"/>
          </a:p>
          <a:p>
            <a:pPr marL="177800" indent="-177800">
              <a:buSzPct val="100000"/>
              <a:buChar char="•"/>
            </a:pPr>
            <a:r>
              <a:rPr lang="en-US" sz="1080" dirty="0">
                <a:solidFill>
                  <a:srgbClr val="1C2B24"/>
                </a:solidFill>
              </a:rPr>
              <a:t>Easier recovery because run state stays in the application</a:t>
            </a:r>
            <a:endParaRPr lang="en-US" sz="1080" dirty="0"/>
          </a:p>
          <a:p>
            <a:pPr marL="177800" indent="-177800">
              <a:buSzPct val="100000"/>
              <a:buChar char="•"/>
            </a:pPr>
            <a:r>
              <a:rPr lang="en-US" sz="1080" dirty="0">
                <a:solidFill>
                  <a:srgbClr val="1C2B24"/>
                </a:solidFill>
              </a:rPr>
              <a:t>Workspace can be optional for external-analysis tasks</a:t>
            </a:r>
            <a:endParaRPr lang="en-US" sz="1080" dirty="0"/>
          </a:p>
        </p:txBody>
      </p:sp>
      <p:sp>
        <p:nvSpPr>
          <p:cNvPr id="25" name="Slide Number Placeholder 0"/>
          <p:cNvSpPr>
            <a:spLocks noGrp="1"/>
          </p:cNvSpPr>
          <p:nvPr>
            <p:ph type="sldNum" sz="quarter" idx="4294967295"/>
          </p:nvPr>
        </p:nvSpPr>
        <p:spPr>
          <a:xfrm>
            <a:off x="11686032" y="6537960"/>
            <a:ext cx="256032" cy="164592"/>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53645C"/>
                </a:solidFill>
                <a:latin typeface="Aptos"/>
                <a:ea typeface="Aptos"/>
                <a:cs typeface="Aptos"/>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384048"/>
            <a:ext cx="8183880" cy="438912"/>
          </a:xfrm>
          <a:prstGeom prst="rect">
            <a:avLst/>
          </a:prstGeom>
          <a:noFill/>
          <a:ln/>
        </p:spPr>
        <p:txBody>
          <a:bodyPr wrap="square" lIns="0" tIns="0" rIns="0" bIns="0" rtlCol="0" anchor="ctr"/>
          <a:lstStyle/>
          <a:p>
            <a:pPr indent="0" marL="0">
              <a:buNone/>
            </a:pPr>
            <a:r>
              <a:rPr lang="en-US" sz="2700" b="1" dirty="0">
                <a:solidFill>
                  <a:srgbClr val="153D2E"/>
                </a:solidFill>
              </a:rPr>
              <a:t>7. Safety &amp; file-deletion protection</a:t>
            </a:r>
            <a:endParaRPr lang="en-US" sz="2700" dirty="0"/>
          </a:p>
        </p:txBody>
      </p:sp>
      <p:sp>
        <p:nvSpPr>
          <p:cNvPr id="3" name="Text 1"/>
          <p:cNvSpPr/>
          <p:nvPr/>
        </p:nvSpPr>
        <p:spPr>
          <a:xfrm>
            <a:off x="566928" y="877824"/>
            <a:ext cx="10881360" cy="347472"/>
          </a:xfrm>
          <a:prstGeom prst="rect">
            <a:avLst/>
          </a:prstGeom>
          <a:noFill/>
          <a:ln/>
        </p:spPr>
        <p:txBody>
          <a:bodyPr wrap="square" lIns="0" tIns="0" rIns="0" bIns="0" rtlCol="0" anchor="ctr"/>
          <a:lstStyle/>
          <a:p>
            <a:pPr indent="0" marL="0">
              <a:buNone/>
            </a:pPr>
            <a:r>
              <a:rPr lang="en-US" sz="1250" dirty="0">
                <a:solidFill>
                  <a:srgbClr val="5A6B62"/>
                </a:solidFill>
              </a:rPr>
              <a:t>Deletion approval is a separate safety gate — automatic tool approval does not bypass it.</a:t>
            </a:r>
            <a:endParaRPr lang="en-US" sz="1250" dirty="0"/>
          </a:p>
        </p:txBody>
      </p:sp>
      <p:sp>
        <p:nvSpPr>
          <p:cNvPr id="4" name="Shape 2"/>
          <p:cNvSpPr/>
          <p:nvPr/>
        </p:nvSpPr>
        <p:spPr>
          <a:xfrm>
            <a:off x="9646920" y="402336"/>
            <a:ext cx="1920240" cy="329184"/>
          </a:xfrm>
          <a:prstGeom prst="roundRect">
            <a:avLst>
              <a:gd name="adj" fmla="val 22222"/>
            </a:avLst>
          </a:prstGeom>
          <a:solidFill>
            <a:srgbClr val="D9EFE5"/>
          </a:solidFill>
          <a:ln w="12700">
            <a:solidFill>
              <a:srgbClr val="D9EFE5"/>
            </a:solidFill>
            <a:prstDash val="solid"/>
          </a:ln>
        </p:spPr>
      </p:sp>
      <p:sp>
        <p:nvSpPr>
          <p:cNvPr id="5" name="Text 3"/>
          <p:cNvSpPr/>
          <p:nvPr/>
        </p:nvSpPr>
        <p:spPr>
          <a:xfrm>
            <a:off x="9720072" y="457200"/>
            <a:ext cx="1773936" cy="201168"/>
          </a:xfrm>
          <a:prstGeom prst="rect">
            <a:avLst/>
          </a:prstGeom>
          <a:noFill/>
          <a:ln/>
        </p:spPr>
        <p:txBody>
          <a:bodyPr wrap="square" lIns="0" tIns="0" rIns="0" bIns="0" rtlCol="0" anchor="ctr"/>
          <a:lstStyle/>
          <a:p>
            <a:pPr algn="ctr" indent="0" marL="0">
              <a:buNone/>
            </a:pPr>
            <a:r>
              <a:rPr lang="en-US" sz="1000" b="1" dirty="0">
                <a:solidFill>
                  <a:srgbClr val="006B45"/>
                </a:solidFill>
              </a:rPr>
              <a:t>SAFETY</a:t>
            </a:r>
            <a:endParaRPr lang="en-US" sz="1000" dirty="0"/>
          </a:p>
        </p:txBody>
      </p:sp>
      <p:sp>
        <p:nvSpPr>
          <p:cNvPr id="6" name="Shape 4"/>
          <p:cNvSpPr/>
          <p:nvPr/>
        </p:nvSpPr>
        <p:spPr>
          <a:xfrm>
            <a:off x="713232" y="1325880"/>
            <a:ext cx="3703320" cy="4343400"/>
          </a:xfrm>
          <a:prstGeom prst="roundRect">
            <a:avLst/>
          </a:prstGeom>
          <a:solidFill>
            <a:srgbClr val="E8F5EF"/>
          </a:solidFill>
          <a:ln w="15240">
            <a:solidFill>
              <a:srgbClr val="00965E"/>
            </a:solidFill>
            <a:prstDash val="solid"/>
          </a:ln>
        </p:spPr>
      </p:sp>
      <p:sp>
        <p:nvSpPr>
          <p:cNvPr id="7" name="Text 5"/>
          <p:cNvSpPr/>
          <p:nvPr/>
        </p:nvSpPr>
        <p:spPr>
          <a:xfrm>
            <a:off x="1024128" y="1664208"/>
            <a:ext cx="1280160" cy="274320"/>
          </a:xfrm>
          <a:prstGeom prst="rect">
            <a:avLst/>
          </a:prstGeom>
          <a:noFill/>
          <a:ln/>
        </p:spPr>
        <p:txBody>
          <a:bodyPr wrap="square" lIns="0" tIns="0" rIns="0" bIns="0" rtlCol="0" anchor="ctr"/>
          <a:lstStyle/>
          <a:p>
            <a:pPr indent="0" marL="0">
              <a:buNone/>
            </a:pPr>
            <a:r>
              <a:rPr lang="en-US" sz="1700" b="1" dirty="0">
                <a:solidFill>
                  <a:srgbClr val="153D2E"/>
                </a:solidFill>
              </a:rPr>
              <a:t>UI control</a:t>
            </a:r>
            <a:endParaRPr lang="en-US" sz="1700" dirty="0"/>
          </a:p>
        </p:txBody>
      </p:sp>
      <p:sp>
        <p:nvSpPr>
          <p:cNvPr id="8" name="Shape 6"/>
          <p:cNvSpPr/>
          <p:nvPr/>
        </p:nvSpPr>
        <p:spPr>
          <a:xfrm>
            <a:off x="1005840" y="2139696"/>
            <a:ext cx="3090672" cy="822960"/>
          </a:xfrm>
          <a:prstGeom prst="roundRect">
            <a:avLst/>
          </a:prstGeom>
          <a:solidFill>
            <a:srgbClr val="FFFFFF"/>
          </a:solidFill>
          <a:ln w="12700">
            <a:solidFill>
              <a:srgbClr val="C9D9D0"/>
            </a:solidFill>
            <a:prstDash val="solid"/>
          </a:ln>
        </p:spPr>
      </p:sp>
      <p:sp>
        <p:nvSpPr>
          <p:cNvPr id="9" name="Shape 7"/>
          <p:cNvSpPr/>
          <p:nvPr/>
        </p:nvSpPr>
        <p:spPr>
          <a:xfrm>
            <a:off x="1207008" y="2377440"/>
            <a:ext cx="201168" cy="201168"/>
          </a:xfrm>
          <a:prstGeom prst="rect">
            <a:avLst/>
          </a:prstGeom>
          <a:solidFill>
            <a:srgbClr val="00965E"/>
          </a:solidFill>
          <a:ln w="12700">
            <a:solidFill>
              <a:srgbClr val="00965E"/>
            </a:solidFill>
            <a:prstDash val="solid"/>
          </a:ln>
        </p:spPr>
      </p:sp>
      <p:sp>
        <p:nvSpPr>
          <p:cNvPr id="10" name="Text 8"/>
          <p:cNvSpPr/>
          <p:nvPr/>
        </p:nvSpPr>
        <p:spPr>
          <a:xfrm>
            <a:off x="1207008" y="2331720"/>
            <a:ext cx="201168" cy="228600"/>
          </a:xfrm>
          <a:prstGeom prst="rect">
            <a:avLst/>
          </a:prstGeom>
          <a:noFill/>
          <a:ln/>
        </p:spPr>
        <p:txBody>
          <a:bodyPr wrap="square" lIns="0" tIns="0" rIns="0" bIns="0" rtlCol="0" anchor="ctr"/>
          <a:lstStyle/>
          <a:p>
            <a:pPr algn="ctr" indent="0" marL="0">
              <a:buNone/>
            </a:pPr>
            <a:r>
              <a:rPr lang="en-US" sz="1300" b="1" dirty="0">
                <a:solidFill>
                  <a:srgbClr val="FFFFFF"/>
                </a:solidFill>
              </a:rPr>
              <a:t>✓</a:t>
            </a:r>
            <a:endParaRPr lang="en-US" sz="1300" dirty="0"/>
          </a:p>
        </p:txBody>
      </p:sp>
      <p:sp>
        <p:nvSpPr>
          <p:cNvPr id="11" name="Text 9"/>
          <p:cNvSpPr/>
          <p:nvPr/>
        </p:nvSpPr>
        <p:spPr>
          <a:xfrm>
            <a:off x="1527048" y="2240280"/>
            <a:ext cx="2240280" cy="411480"/>
          </a:xfrm>
          <a:prstGeom prst="rect">
            <a:avLst/>
          </a:prstGeom>
          <a:noFill/>
          <a:ln/>
        </p:spPr>
        <p:txBody>
          <a:bodyPr wrap="square" lIns="0" tIns="0" rIns="0" bIns="0" rtlCol="0" anchor="ctr"/>
          <a:lstStyle/>
          <a:p>
            <a:pPr indent="0" marL="0">
              <a:buNone/>
            </a:pPr>
            <a:r>
              <a:rPr lang="en-US" sz="1120" b="1" dirty="0">
                <a:solidFill>
                  <a:srgbClr val="1C2B24"/>
                </a:solidFill>
              </a:rPr>
              <a:t>Confirm file removal / destructive</a:t>
            </a:r>
            <a:endParaRPr lang="en-US" sz="1120" dirty="0"/>
          </a:p>
          <a:p>
            <a:pPr indent="0" marL="0">
              <a:buNone/>
            </a:pPr>
            <a:r>
              <a:rPr lang="en-US" sz="1120" b="1" dirty="0">
                <a:solidFill>
                  <a:srgbClr val="1C2B24"/>
                </a:solidFill>
              </a:rPr>
              <a:t>copy or move</a:t>
            </a:r>
            <a:endParaRPr lang="en-US" sz="1120" dirty="0"/>
          </a:p>
        </p:txBody>
      </p:sp>
      <p:sp>
        <p:nvSpPr>
          <p:cNvPr id="12" name="Text 10"/>
          <p:cNvSpPr/>
          <p:nvPr/>
        </p:nvSpPr>
        <p:spPr>
          <a:xfrm>
            <a:off x="1005840" y="3246120"/>
            <a:ext cx="2971800" cy="1737360"/>
          </a:xfrm>
          <a:prstGeom prst="rect">
            <a:avLst/>
          </a:prstGeom>
          <a:noFill/>
          <a:ln/>
        </p:spPr>
        <p:txBody>
          <a:bodyPr wrap="square" lIns="254" tIns="254" rIns="254" bIns="254" rtlCol="0" anchor="t"/>
          <a:lstStyle/>
          <a:p>
            <a:pPr marL="177800" indent="-177800">
              <a:buSzPct val="100000"/>
              <a:buChar char="•"/>
            </a:pPr>
            <a:r>
              <a:rPr lang="en-US" sz="1070" dirty="0">
                <a:solidFill>
                  <a:srgbClr val="1C2B24"/>
                </a:solidFill>
              </a:rPr>
              <a:t>Enabled by default</a:t>
            </a:r>
            <a:endParaRPr lang="en-US" sz="1070" dirty="0"/>
          </a:p>
          <a:p>
            <a:pPr marL="177800" indent="-177800">
              <a:buSzPct val="100000"/>
              <a:buChar char="•"/>
            </a:pPr>
            <a:r>
              <a:rPr lang="en-US" sz="1070" dirty="0">
                <a:solidFill>
                  <a:srgbClr val="1C2B24"/>
                </a:solidFill>
              </a:rPr>
              <a:t>Separate approval for each destructive operation</a:t>
            </a:r>
            <a:endParaRPr lang="en-US" sz="1070" dirty="0"/>
          </a:p>
          <a:p>
            <a:pPr marL="177800" indent="-177800">
              <a:buSzPct val="100000"/>
              <a:buChar char="•"/>
            </a:pPr>
            <a:r>
              <a:rPr lang="en-US" sz="1070" dirty="0">
                <a:solidFill>
                  <a:srgbClr val="1C2B24"/>
                </a:solidFill>
              </a:rPr>
              <a:t>Deny keeps the affected file unchanged</a:t>
            </a:r>
            <a:endParaRPr lang="en-US" sz="1070" dirty="0"/>
          </a:p>
          <a:p>
            <a:pPr marL="177800" indent="-177800">
              <a:buSzPct val="100000"/>
              <a:buChar char="•"/>
            </a:pPr>
            <a:r>
              <a:rPr lang="en-US" sz="1070" dirty="0">
                <a:solidFill>
                  <a:srgbClr val="1C2B24"/>
                </a:solidFill>
              </a:rPr>
              <a:t>Reference-resource deletion is only available for writable resources</a:t>
            </a:r>
            <a:endParaRPr lang="en-US" sz="1070" dirty="0"/>
          </a:p>
          <a:p>
            <a:pPr marL="177800" indent="-177800">
              <a:buSzPct val="100000"/>
              <a:buChar char="•"/>
            </a:pPr>
            <a:r>
              <a:rPr lang="en-US" sz="1070" dirty="0">
                <a:solidFill>
                  <a:srgbClr val="1C2B24"/>
                </a:solidFill>
              </a:rPr>
              <a:t>Obvious destructive shell syntax is blocked as defence-in-depth</a:t>
            </a:r>
            <a:endParaRPr lang="en-US" sz="1070" dirty="0"/>
          </a:p>
        </p:txBody>
      </p:sp>
      <p:sp>
        <p:nvSpPr>
          <p:cNvPr id="13" name="Shape 11"/>
          <p:cNvSpPr/>
          <p:nvPr/>
        </p:nvSpPr>
        <p:spPr>
          <a:xfrm>
            <a:off x="4846320" y="1554480"/>
            <a:ext cx="420624" cy="420624"/>
          </a:xfrm>
          <a:prstGeom prst="ellipse">
            <a:avLst/>
          </a:prstGeom>
          <a:solidFill>
            <a:srgbClr val="00965E"/>
          </a:solidFill>
          <a:ln w="12700">
            <a:solidFill>
              <a:srgbClr val="00965E"/>
            </a:solidFill>
            <a:prstDash val="solid"/>
          </a:ln>
        </p:spPr>
      </p:sp>
      <p:sp>
        <p:nvSpPr>
          <p:cNvPr id="14" name="Text 12"/>
          <p:cNvSpPr/>
          <p:nvPr/>
        </p:nvSpPr>
        <p:spPr>
          <a:xfrm>
            <a:off x="4846320" y="1591056"/>
            <a:ext cx="420624" cy="256032"/>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15" name="Shape 13"/>
          <p:cNvSpPr/>
          <p:nvPr/>
        </p:nvSpPr>
        <p:spPr>
          <a:xfrm>
            <a:off x="5376672" y="1444752"/>
            <a:ext cx="2834640" cy="694944"/>
          </a:xfrm>
          <a:prstGeom prst="roundRect">
            <a:avLst/>
          </a:prstGeom>
          <a:solidFill>
            <a:srgbClr val="FFFFFF"/>
          </a:solidFill>
          <a:ln w="12700">
            <a:solidFill>
              <a:srgbClr val="C9D9D0"/>
            </a:solidFill>
            <a:prstDash val="solid"/>
          </a:ln>
        </p:spPr>
      </p:sp>
      <p:sp>
        <p:nvSpPr>
          <p:cNvPr id="16" name="Text 14"/>
          <p:cNvSpPr/>
          <p:nvPr/>
        </p:nvSpPr>
        <p:spPr>
          <a:xfrm>
            <a:off x="5559552" y="1536192"/>
            <a:ext cx="1463040" cy="201168"/>
          </a:xfrm>
          <a:prstGeom prst="rect">
            <a:avLst/>
          </a:prstGeom>
          <a:noFill/>
          <a:ln/>
        </p:spPr>
        <p:txBody>
          <a:bodyPr wrap="square" lIns="0" tIns="0" rIns="0" bIns="0" rtlCol="0" anchor="ctr"/>
          <a:lstStyle/>
          <a:p>
            <a:pPr indent="0" marL="0">
              <a:buNone/>
            </a:pPr>
            <a:r>
              <a:rPr lang="en-US" sz="1150" b="1" dirty="0">
                <a:solidFill>
                  <a:srgbClr val="153D2E"/>
                </a:solidFill>
              </a:rPr>
              <a:t>Agent requests delete</a:t>
            </a:r>
            <a:endParaRPr lang="en-US" sz="1150" dirty="0"/>
          </a:p>
        </p:txBody>
      </p:sp>
      <p:sp>
        <p:nvSpPr>
          <p:cNvPr id="17" name="Text 15"/>
          <p:cNvSpPr/>
          <p:nvPr/>
        </p:nvSpPr>
        <p:spPr>
          <a:xfrm>
            <a:off x="6812280" y="1536192"/>
            <a:ext cx="1170432" cy="365760"/>
          </a:xfrm>
          <a:prstGeom prst="rect">
            <a:avLst/>
          </a:prstGeom>
          <a:noFill/>
          <a:ln/>
        </p:spPr>
        <p:txBody>
          <a:bodyPr wrap="square" lIns="0" tIns="0" rIns="0" bIns="0" rtlCol="0" anchor="ctr"/>
          <a:lstStyle/>
          <a:p>
            <a:pPr algn="r" indent="0" marL="0">
              <a:buNone/>
            </a:pPr>
            <a:r>
              <a:rPr lang="en-US" sz="940" dirty="0">
                <a:solidFill>
                  <a:srgbClr val="5A6B62"/>
                </a:solidFill>
              </a:rPr>
              <a:t>Preflight impacted file(s)</a:t>
            </a:r>
            <a:endParaRPr lang="en-US" sz="940" dirty="0"/>
          </a:p>
        </p:txBody>
      </p:sp>
      <p:sp>
        <p:nvSpPr>
          <p:cNvPr id="18" name="Shape 16"/>
          <p:cNvSpPr/>
          <p:nvPr/>
        </p:nvSpPr>
        <p:spPr>
          <a:xfrm>
            <a:off x="6784848" y="2148840"/>
            <a:ext cx="0" cy="320040"/>
          </a:xfrm>
          <a:prstGeom prst="line">
            <a:avLst/>
          </a:prstGeom>
          <a:noFill/>
          <a:ln w="25400">
            <a:solidFill>
              <a:srgbClr val="5A6B62"/>
            </a:solidFill>
            <a:prstDash val="solid"/>
            <a:headEnd type="none"/>
            <a:tailEnd type="triangle"/>
          </a:ln>
        </p:spPr>
      </p:sp>
      <p:sp>
        <p:nvSpPr>
          <p:cNvPr id="19" name="Shape 17"/>
          <p:cNvSpPr/>
          <p:nvPr/>
        </p:nvSpPr>
        <p:spPr>
          <a:xfrm>
            <a:off x="4846320" y="2606040"/>
            <a:ext cx="420624" cy="420624"/>
          </a:xfrm>
          <a:prstGeom prst="ellipse">
            <a:avLst/>
          </a:prstGeom>
          <a:solidFill>
            <a:srgbClr val="00965E"/>
          </a:solidFill>
          <a:ln w="12700">
            <a:solidFill>
              <a:srgbClr val="00965E"/>
            </a:solidFill>
            <a:prstDash val="solid"/>
          </a:ln>
        </p:spPr>
      </p:sp>
      <p:sp>
        <p:nvSpPr>
          <p:cNvPr id="20" name="Text 18"/>
          <p:cNvSpPr/>
          <p:nvPr/>
        </p:nvSpPr>
        <p:spPr>
          <a:xfrm>
            <a:off x="4846320" y="2642616"/>
            <a:ext cx="420624" cy="256032"/>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21" name="Shape 19"/>
          <p:cNvSpPr/>
          <p:nvPr/>
        </p:nvSpPr>
        <p:spPr>
          <a:xfrm>
            <a:off x="5376672" y="2496312"/>
            <a:ext cx="2834640" cy="694944"/>
          </a:xfrm>
          <a:prstGeom prst="roundRect">
            <a:avLst/>
          </a:prstGeom>
          <a:solidFill>
            <a:srgbClr val="D9EFE5"/>
          </a:solidFill>
          <a:ln w="12700">
            <a:solidFill>
              <a:srgbClr val="00965E"/>
            </a:solidFill>
            <a:prstDash val="solid"/>
          </a:ln>
        </p:spPr>
      </p:sp>
      <p:sp>
        <p:nvSpPr>
          <p:cNvPr id="22" name="Text 20"/>
          <p:cNvSpPr/>
          <p:nvPr/>
        </p:nvSpPr>
        <p:spPr>
          <a:xfrm>
            <a:off x="5559552" y="2587752"/>
            <a:ext cx="1463040" cy="201168"/>
          </a:xfrm>
          <a:prstGeom prst="rect">
            <a:avLst/>
          </a:prstGeom>
          <a:noFill/>
          <a:ln/>
        </p:spPr>
        <p:txBody>
          <a:bodyPr wrap="square" lIns="0" tIns="0" rIns="0" bIns="0" rtlCol="0" anchor="ctr"/>
          <a:lstStyle/>
          <a:p>
            <a:pPr indent="0" marL="0">
              <a:buNone/>
            </a:pPr>
            <a:r>
              <a:rPr lang="en-US" sz="1150" b="1" dirty="0">
                <a:solidFill>
                  <a:srgbClr val="153D2E"/>
                </a:solidFill>
              </a:rPr>
              <a:t>Approval required</a:t>
            </a:r>
            <a:endParaRPr lang="en-US" sz="1150" dirty="0"/>
          </a:p>
        </p:txBody>
      </p:sp>
      <p:sp>
        <p:nvSpPr>
          <p:cNvPr id="23" name="Text 21"/>
          <p:cNvSpPr/>
          <p:nvPr/>
        </p:nvSpPr>
        <p:spPr>
          <a:xfrm>
            <a:off x="6812280" y="2587752"/>
            <a:ext cx="1170432" cy="365760"/>
          </a:xfrm>
          <a:prstGeom prst="rect">
            <a:avLst/>
          </a:prstGeom>
          <a:noFill/>
          <a:ln/>
        </p:spPr>
        <p:txBody>
          <a:bodyPr wrap="square" lIns="0" tIns="0" rIns="0" bIns="0" rtlCol="0" anchor="ctr"/>
          <a:lstStyle/>
          <a:p>
            <a:pPr algn="r" indent="0" marL="0">
              <a:buNone/>
            </a:pPr>
            <a:r>
              <a:rPr lang="en-US" sz="940" dirty="0">
                <a:solidFill>
                  <a:srgbClr val="5A6B62"/>
                </a:solidFill>
              </a:rPr>
              <a:t>Show affected path(s)</a:t>
            </a:r>
            <a:endParaRPr lang="en-US" sz="940" dirty="0"/>
          </a:p>
        </p:txBody>
      </p:sp>
      <p:sp>
        <p:nvSpPr>
          <p:cNvPr id="24" name="Shape 22"/>
          <p:cNvSpPr/>
          <p:nvPr/>
        </p:nvSpPr>
        <p:spPr>
          <a:xfrm>
            <a:off x="6784848" y="3200400"/>
            <a:ext cx="0" cy="320040"/>
          </a:xfrm>
          <a:prstGeom prst="line">
            <a:avLst/>
          </a:prstGeom>
          <a:noFill/>
          <a:ln w="25400">
            <a:solidFill>
              <a:srgbClr val="5A6B62"/>
            </a:solidFill>
            <a:prstDash val="solid"/>
            <a:headEnd type="none"/>
            <a:tailEnd type="triangle"/>
          </a:ln>
        </p:spPr>
      </p:sp>
      <p:sp>
        <p:nvSpPr>
          <p:cNvPr id="25" name="Shape 23"/>
          <p:cNvSpPr/>
          <p:nvPr/>
        </p:nvSpPr>
        <p:spPr>
          <a:xfrm>
            <a:off x="4846320" y="3657600"/>
            <a:ext cx="420624" cy="420624"/>
          </a:xfrm>
          <a:prstGeom prst="ellipse">
            <a:avLst/>
          </a:prstGeom>
          <a:solidFill>
            <a:srgbClr val="00965E"/>
          </a:solidFill>
          <a:ln w="12700">
            <a:solidFill>
              <a:srgbClr val="00965E"/>
            </a:solidFill>
            <a:prstDash val="solid"/>
          </a:ln>
        </p:spPr>
      </p:sp>
      <p:sp>
        <p:nvSpPr>
          <p:cNvPr id="26" name="Text 24"/>
          <p:cNvSpPr/>
          <p:nvPr/>
        </p:nvSpPr>
        <p:spPr>
          <a:xfrm>
            <a:off x="4846320" y="3694176"/>
            <a:ext cx="420624" cy="256032"/>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27" name="Shape 25"/>
          <p:cNvSpPr/>
          <p:nvPr/>
        </p:nvSpPr>
        <p:spPr>
          <a:xfrm>
            <a:off x="5376672" y="3547872"/>
            <a:ext cx="2834640" cy="694944"/>
          </a:xfrm>
          <a:prstGeom prst="roundRect">
            <a:avLst/>
          </a:prstGeom>
          <a:solidFill>
            <a:srgbClr val="FFFFFF"/>
          </a:solidFill>
          <a:ln w="12700">
            <a:solidFill>
              <a:srgbClr val="C9D9D0"/>
            </a:solidFill>
            <a:prstDash val="solid"/>
          </a:ln>
        </p:spPr>
      </p:sp>
      <p:sp>
        <p:nvSpPr>
          <p:cNvPr id="28" name="Text 26"/>
          <p:cNvSpPr/>
          <p:nvPr/>
        </p:nvSpPr>
        <p:spPr>
          <a:xfrm>
            <a:off x="5559552" y="3639312"/>
            <a:ext cx="1463040" cy="201168"/>
          </a:xfrm>
          <a:prstGeom prst="rect">
            <a:avLst/>
          </a:prstGeom>
          <a:noFill/>
          <a:ln/>
        </p:spPr>
        <p:txBody>
          <a:bodyPr wrap="square" lIns="0" tIns="0" rIns="0" bIns="0" rtlCol="0" anchor="ctr"/>
          <a:lstStyle/>
          <a:p>
            <a:pPr indent="0" marL="0">
              <a:buNone/>
            </a:pPr>
            <a:r>
              <a:rPr lang="en-US" sz="1150" b="1" dirty="0">
                <a:solidFill>
                  <a:srgbClr val="153D2E"/>
                </a:solidFill>
              </a:rPr>
              <a:t>User decision</a:t>
            </a:r>
            <a:endParaRPr lang="en-US" sz="1150" dirty="0"/>
          </a:p>
        </p:txBody>
      </p:sp>
      <p:sp>
        <p:nvSpPr>
          <p:cNvPr id="29" name="Text 27"/>
          <p:cNvSpPr/>
          <p:nvPr/>
        </p:nvSpPr>
        <p:spPr>
          <a:xfrm>
            <a:off x="6812280" y="3639312"/>
            <a:ext cx="1170432" cy="365760"/>
          </a:xfrm>
          <a:prstGeom prst="rect">
            <a:avLst/>
          </a:prstGeom>
          <a:noFill/>
          <a:ln/>
        </p:spPr>
        <p:txBody>
          <a:bodyPr wrap="square" lIns="0" tIns="0" rIns="0" bIns="0" rtlCol="0" anchor="ctr"/>
          <a:lstStyle/>
          <a:p>
            <a:pPr algn="r" indent="0" marL="0">
              <a:buNone/>
            </a:pPr>
            <a:r>
              <a:rPr lang="en-US" sz="940" dirty="0">
                <a:solidFill>
                  <a:srgbClr val="5A6B62"/>
                </a:solidFill>
              </a:rPr>
              <a:t>Approve once  /  Deny</a:t>
            </a:r>
            <a:endParaRPr lang="en-US" sz="940" dirty="0"/>
          </a:p>
        </p:txBody>
      </p:sp>
      <p:sp>
        <p:nvSpPr>
          <p:cNvPr id="30" name="Shape 28"/>
          <p:cNvSpPr/>
          <p:nvPr/>
        </p:nvSpPr>
        <p:spPr>
          <a:xfrm>
            <a:off x="6784848" y="4251960"/>
            <a:ext cx="0" cy="320040"/>
          </a:xfrm>
          <a:prstGeom prst="line">
            <a:avLst/>
          </a:prstGeom>
          <a:noFill/>
          <a:ln w="25400">
            <a:solidFill>
              <a:srgbClr val="5A6B62"/>
            </a:solidFill>
            <a:prstDash val="solid"/>
            <a:headEnd type="none"/>
            <a:tailEnd type="triangle"/>
          </a:ln>
        </p:spPr>
      </p:sp>
      <p:sp>
        <p:nvSpPr>
          <p:cNvPr id="31" name="Shape 29"/>
          <p:cNvSpPr/>
          <p:nvPr/>
        </p:nvSpPr>
        <p:spPr>
          <a:xfrm>
            <a:off x="4846320" y="4709160"/>
            <a:ext cx="420624" cy="420624"/>
          </a:xfrm>
          <a:prstGeom prst="ellipse">
            <a:avLst/>
          </a:prstGeom>
          <a:solidFill>
            <a:srgbClr val="00965E"/>
          </a:solidFill>
          <a:ln w="12700">
            <a:solidFill>
              <a:srgbClr val="00965E"/>
            </a:solidFill>
            <a:prstDash val="solid"/>
          </a:ln>
        </p:spPr>
      </p:sp>
      <p:sp>
        <p:nvSpPr>
          <p:cNvPr id="32" name="Text 30"/>
          <p:cNvSpPr/>
          <p:nvPr/>
        </p:nvSpPr>
        <p:spPr>
          <a:xfrm>
            <a:off x="4846320" y="4745736"/>
            <a:ext cx="420624" cy="256032"/>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33" name="Shape 31"/>
          <p:cNvSpPr/>
          <p:nvPr/>
        </p:nvSpPr>
        <p:spPr>
          <a:xfrm>
            <a:off x="5376672" y="4599432"/>
            <a:ext cx="2834640" cy="694944"/>
          </a:xfrm>
          <a:prstGeom prst="roundRect">
            <a:avLst/>
          </a:prstGeom>
          <a:solidFill>
            <a:srgbClr val="FFFFFF"/>
          </a:solidFill>
          <a:ln w="12700">
            <a:solidFill>
              <a:srgbClr val="C9D9D0"/>
            </a:solidFill>
            <a:prstDash val="solid"/>
          </a:ln>
        </p:spPr>
      </p:sp>
      <p:sp>
        <p:nvSpPr>
          <p:cNvPr id="34" name="Text 32"/>
          <p:cNvSpPr/>
          <p:nvPr/>
        </p:nvSpPr>
        <p:spPr>
          <a:xfrm>
            <a:off x="5559552" y="4690872"/>
            <a:ext cx="1463040" cy="201168"/>
          </a:xfrm>
          <a:prstGeom prst="rect">
            <a:avLst/>
          </a:prstGeom>
          <a:noFill/>
          <a:ln/>
        </p:spPr>
        <p:txBody>
          <a:bodyPr wrap="square" lIns="0" tIns="0" rIns="0" bIns="0" rtlCol="0" anchor="ctr"/>
          <a:lstStyle/>
          <a:p>
            <a:pPr indent="0" marL="0">
              <a:buNone/>
            </a:pPr>
            <a:r>
              <a:rPr lang="en-US" sz="1150" b="1" dirty="0">
                <a:solidFill>
                  <a:srgbClr val="153D2E"/>
                </a:solidFill>
              </a:rPr>
              <a:t>Execute or stop</a:t>
            </a:r>
            <a:endParaRPr lang="en-US" sz="1150" dirty="0"/>
          </a:p>
        </p:txBody>
      </p:sp>
      <p:sp>
        <p:nvSpPr>
          <p:cNvPr id="35" name="Text 33"/>
          <p:cNvSpPr/>
          <p:nvPr/>
        </p:nvSpPr>
        <p:spPr>
          <a:xfrm>
            <a:off x="6812280" y="4690872"/>
            <a:ext cx="1170432" cy="365760"/>
          </a:xfrm>
          <a:prstGeom prst="rect">
            <a:avLst/>
          </a:prstGeom>
          <a:noFill/>
          <a:ln/>
        </p:spPr>
        <p:txBody>
          <a:bodyPr wrap="square" lIns="0" tIns="0" rIns="0" bIns="0" rtlCol="0" anchor="ctr"/>
          <a:lstStyle/>
          <a:p>
            <a:pPr algn="r" indent="0" marL="0">
              <a:buNone/>
            </a:pPr>
            <a:r>
              <a:rPr lang="en-US" sz="940" dirty="0">
                <a:solidFill>
                  <a:srgbClr val="5A6B62"/>
                </a:solidFill>
              </a:rPr>
              <a:t>Result recorded in activity</a:t>
            </a:r>
            <a:endParaRPr lang="en-US" sz="940" dirty="0"/>
          </a:p>
        </p:txBody>
      </p:sp>
      <p:sp>
        <p:nvSpPr>
          <p:cNvPr id="36" name="Shape 34"/>
          <p:cNvSpPr/>
          <p:nvPr/>
        </p:nvSpPr>
        <p:spPr>
          <a:xfrm>
            <a:off x="8641080" y="1417320"/>
            <a:ext cx="2834640" cy="3584448"/>
          </a:xfrm>
          <a:prstGeom prst="roundRect">
            <a:avLst/>
          </a:prstGeom>
          <a:solidFill>
            <a:srgbClr val="FFF9EE"/>
          </a:solidFill>
          <a:ln w="12700">
            <a:solidFill>
              <a:srgbClr val="E4C483"/>
            </a:solidFill>
            <a:prstDash val="solid"/>
          </a:ln>
        </p:spPr>
      </p:sp>
      <p:sp>
        <p:nvSpPr>
          <p:cNvPr id="37" name="Text 35"/>
          <p:cNvSpPr/>
          <p:nvPr/>
        </p:nvSpPr>
        <p:spPr>
          <a:xfrm>
            <a:off x="8915400" y="1719072"/>
            <a:ext cx="2286000" cy="274320"/>
          </a:xfrm>
          <a:prstGeom prst="rect">
            <a:avLst/>
          </a:prstGeom>
          <a:noFill/>
          <a:ln/>
        </p:spPr>
        <p:txBody>
          <a:bodyPr wrap="square" lIns="0" tIns="0" rIns="0" bIns="0" rtlCol="0" anchor="ctr"/>
          <a:lstStyle/>
          <a:p>
            <a:pPr indent="0" marL="0">
              <a:buNone/>
            </a:pPr>
            <a:r>
              <a:rPr lang="en-US" sz="1500" b="1" dirty="0">
                <a:solidFill>
                  <a:srgbClr val="B97B14"/>
                </a:solidFill>
              </a:rPr>
              <a:t>Protection boundary</a:t>
            </a:r>
            <a:endParaRPr lang="en-US" sz="1500" dirty="0"/>
          </a:p>
        </p:txBody>
      </p:sp>
      <p:sp>
        <p:nvSpPr>
          <p:cNvPr id="38" name="Text 36"/>
          <p:cNvSpPr/>
          <p:nvPr/>
        </p:nvSpPr>
        <p:spPr>
          <a:xfrm>
            <a:off x="8887968" y="2176272"/>
            <a:ext cx="2240280" cy="2240280"/>
          </a:xfrm>
          <a:prstGeom prst="rect">
            <a:avLst/>
          </a:prstGeom>
          <a:noFill/>
          <a:ln/>
        </p:spPr>
        <p:txBody>
          <a:bodyPr wrap="square" lIns="254" tIns="254" rIns="254" bIns="254" rtlCol="0" anchor="t"/>
          <a:lstStyle/>
          <a:p>
            <a:pPr marL="177800" indent="-177800">
              <a:buSzPct val="100000"/>
              <a:buChar char="•"/>
            </a:pPr>
            <a:r>
              <a:rPr lang="en-US" sz="1020" dirty="0">
                <a:solidFill>
                  <a:srgbClr val="1C2B24"/>
                </a:solidFill>
              </a:rPr>
              <a:t>Direct Agent delete tools: approval required</a:t>
            </a:r>
            <a:endParaRPr lang="en-US" sz="1020" dirty="0"/>
          </a:p>
          <a:p>
            <a:pPr marL="177800" indent="-177800">
              <a:buSzPct val="100000"/>
              <a:buChar char="•"/>
            </a:pPr>
            <a:r>
              <a:rPr lang="en-US" sz="1020" dirty="0">
                <a:solidFill>
                  <a:srgbClr val="1C2B24"/>
                </a:solidFill>
              </a:rPr>
              <a:t>Patch delete / destructive move or copy: approval required</a:t>
            </a:r>
            <a:endParaRPr lang="en-US" sz="1020" dirty="0"/>
          </a:p>
          <a:p>
            <a:pPr marL="177800" indent="-177800">
              <a:buSzPct val="100000"/>
              <a:buChar char="•"/>
            </a:pPr>
            <a:r>
              <a:rPr lang="en-US" sz="1020" dirty="0">
                <a:solidFill>
                  <a:srgbClr val="1C2B24"/>
                </a:solidFill>
              </a:rPr>
              <a:t>Read-only resource path: delete not allowed</a:t>
            </a:r>
            <a:endParaRPr lang="en-US" sz="1020" dirty="0"/>
          </a:p>
          <a:p>
            <a:pPr marL="177800" indent="-177800">
              <a:buSzPct val="100000"/>
              <a:buChar char="•"/>
            </a:pPr>
            <a:r>
              <a:rPr lang="en-US" sz="1020" dirty="0">
                <a:solidFill>
                  <a:srgbClr val="1C2B24"/>
                </a:solidFill>
              </a:rPr>
              <a:t>Directories are not deleted by the direct delete tool</a:t>
            </a:r>
            <a:endParaRPr lang="en-US" sz="1020" dirty="0"/>
          </a:p>
          <a:p>
            <a:pPr marL="177800" indent="-177800">
              <a:buSzPct val="100000"/>
              <a:buChar char="•"/>
            </a:pPr>
            <a:r>
              <a:rPr lang="en-US" sz="1020" dirty="0">
                <a:solidFill>
                  <a:srgbClr val="1C2B24"/>
                </a:solidFill>
              </a:rPr>
              <a:t>Arbitrary scripts/builds can perform internal file operations outside application-level interception</a:t>
            </a:r>
            <a:endParaRPr lang="en-US" sz="1020" dirty="0"/>
          </a:p>
        </p:txBody>
      </p:sp>
      <p:sp>
        <p:nvSpPr>
          <p:cNvPr id="39" name="Text 37"/>
          <p:cNvSpPr/>
          <p:nvPr/>
        </p:nvSpPr>
        <p:spPr>
          <a:xfrm>
            <a:off x="8887968" y="5193792"/>
            <a:ext cx="2240280" cy="493776"/>
          </a:xfrm>
          <a:prstGeom prst="rect">
            <a:avLst/>
          </a:prstGeom>
          <a:noFill/>
          <a:ln/>
        </p:spPr>
        <p:txBody>
          <a:bodyPr wrap="square" lIns="0" tIns="0" rIns="0" bIns="0" rtlCol="0" anchor="ctr"/>
          <a:lstStyle/>
          <a:p>
            <a:pPr indent="0" marL="0">
              <a:buNone/>
            </a:pPr>
            <a:r>
              <a:rPr lang="en-US" sz="1050" b="1" dirty="0">
                <a:solidFill>
                  <a:srgbClr val="B43B36"/>
                </a:solidFill>
              </a:rPr>
              <a:t>Best practice: keep the checkbox ON and use OS-level sandboxing for untrusted scripts.</a:t>
            </a:r>
            <a:endParaRPr lang="en-US" sz="1050" dirty="0"/>
          </a:p>
        </p:txBody>
      </p:sp>
      <p:sp>
        <p:nvSpPr>
          <p:cNvPr id="25" name="Slide Number Placeholder 0"/>
          <p:cNvSpPr>
            <a:spLocks noGrp="1"/>
          </p:cNvSpPr>
          <p:nvPr>
            <p:ph type="sldNum" sz="quarter" idx="4294967295"/>
          </p:nvPr>
        </p:nvSpPr>
        <p:spPr>
          <a:xfrm>
            <a:off x="11686032" y="6537960"/>
            <a:ext cx="256032" cy="164592"/>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53645C"/>
                </a:solidFill>
                <a:latin typeface="Aptos"/>
                <a:ea typeface="Aptos"/>
                <a:cs typeface="Aptos"/>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384048"/>
            <a:ext cx="8183880" cy="438912"/>
          </a:xfrm>
          <a:prstGeom prst="rect">
            <a:avLst/>
          </a:prstGeom>
          <a:noFill/>
          <a:ln/>
        </p:spPr>
        <p:txBody>
          <a:bodyPr wrap="square" lIns="0" tIns="0" rIns="0" bIns="0" rtlCol="0" anchor="ctr"/>
          <a:lstStyle/>
          <a:p>
            <a:pPr indent="0" marL="0">
              <a:buNone/>
            </a:pPr>
            <a:r>
              <a:rPr lang="en-US" sz="2700" b="1" dirty="0">
                <a:solidFill>
                  <a:srgbClr val="153D2E"/>
                </a:solidFill>
              </a:rPr>
              <a:t>8. How to use ELIYA — in five steps</a:t>
            </a:r>
            <a:endParaRPr lang="en-US" sz="2700" dirty="0"/>
          </a:p>
        </p:txBody>
      </p:sp>
      <p:sp>
        <p:nvSpPr>
          <p:cNvPr id="3" name="Text 1"/>
          <p:cNvSpPr/>
          <p:nvPr/>
        </p:nvSpPr>
        <p:spPr>
          <a:xfrm>
            <a:off x="566928" y="877824"/>
            <a:ext cx="10881360" cy="347472"/>
          </a:xfrm>
          <a:prstGeom prst="rect">
            <a:avLst/>
          </a:prstGeom>
          <a:noFill/>
          <a:ln/>
        </p:spPr>
        <p:txBody>
          <a:bodyPr wrap="square" lIns="0" tIns="0" rIns="0" bIns="0" rtlCol="0" anchor="ctr"/>
          <a:lstStyle/>
          <a:p>
            <a:pPr indent="0" marL="0">
              <a:buNone/>
            </a:pPr>
            <a:r>
              <a:rPr lang="en-US" sz="1250" dirty="0">
                <a:solidFill>
                  <a:srgbClr val="5A6B62"/>
                </a:solidFill>
              </a:rPr>
              <a:t>A simple operating model helps users get consistent results and keeps high-impact changes under control.</a:t>
            </a:r>
            <a:endParaRPr lang="en-US" sz="1250" dirty="0"/>
          </a:p>
        </p:txBody>
      </p:sp>
      <p:sp>
        <p:nvSpPr>
          <p:cNvPr id="4" name="Shape 2"/>
          <p:cNvSpPr/>
          <p:nvPr/>
        </p:nvSpPr>
        <p:spPr>
          <a:xfrm>
            <a:off x="9646920" y="402336"/>
            <a:ext cx="1920240" cy="329184"/>
          </a:xfrm>
          <a:prstGeom prst="roundRect">
            <a:avLst>
              <a:gd name="adj" fmla="val 22222"/>
            </a:avLst>
          </a:prstGeom>
          <a:solidFill>
            <a:srgbClr val="D9EFE5"/>
          </a:solidFill>
          <a:ln w="12700">
            <a:solidFill>
              <a:srgbClr val="D9EFE5"/>
            </a:solidFill>
            <a:prstDash val="solid"/>
          </a:ln>
        </p:spPr>
      </p:sp>
      <p:sp>
        <p:nvSpPr>
          <p:cNvPr id="5" name="Text 3"/>
          <p:cNvSpPr/>
          <p:nvPr/>
        </p:nvSpPr>
        <p:spPr>
          <a:xfrm>
            <a:off x="9720072" y="457200"/>
            <a:ext cx="1773936" cy="201168"/>
          </a:xfrm>
          <a:prstGeom prst="rect">
            <a:avLst/>
          </a:prstGeom>
          <a:noFill/>
          <a:ln/>
        </p:spPr>
        <p:txBody>
          <a:bodyPr wrap="square" lIns="0" tIns="0" rIns="0" bIns="0" rtlCol="0" anchor="ctr"/>
          <a:lstStyle/>
          <a:p>
            <a:pPr algn="ctr" indent="0" marL="0">
              <a:buNone/>
            </a:pPr>
            <a:r>
              <a:rPr lang="en-US" sz="1000" b="1" dirty="0">
                <a:solidFill>
                  <a:srgbClr val="006B45"/>
                </a:solidFill>
              </a:rPr>
              <a:t>USAGE</a:t>
            </a:r>
            <a:endParaRPr lang="en-US" sz="1000" dirty="0"/>
          </a:p>
        </p:txBody>
      </p:sp>
      <p:sp>
        <p:nvSpPr>
          <p:cNvPr id="6" name="Shape 4"/>
          <p:cNvSpPr/>
          <p:nvPr/>
        </p:nvSpPr>
        <p:spPr>
          <a:xfrm>
            <a:off x="749808" y="1399032"/>
            <a:ext cx="420624" cy="420624"/>
          </a:xfrm>
          <a:prstGeom prst="ellipse">
            <a:avLst/>
          </a:prstGeom>
          <a:solidFill>
            <a:srgbClr val="00965E"/>
          </a:solidFill>
          <a:ln w="12700">
            <a:solidFill>
              <a:srgbClr val="00965E"/>
            </a:solidFill>
            <a:prstDash val="solid"/>
          </a:ln>
        </p:spPr>
      </p:sp>
      <p:sp>
        <p:nvSpPr>
          <p:cNvPr id="7" name="Text 5"/>
          <p:cNvSpPr/>
          <p:nvPr/>
        </p:nvSpPr>
        <p:spPr>
          <a:xfrm>
            <a:off x="749808" y="1435608"/>
            <a:ext cx="420624" cy="256032"/>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8" name="Text 6"/>
          <p:cNvSpPr/>
          <p:nvPr/>
        </p:nvSpPr>
        <p:spPr>
          <a:xfrm>
            <a:off x="1325880" y="1353312"/>
            <a:ext cx="1828800" cy="256032"/>
          </a:xfrm>
          <a:prstGeom prst="rect">
            <a:avLst/>
          </a:prstGeom>
          <a:noFill/>
          <a:ln/>
        </p:spPr>
        <p:txBody>
          <a:bodyPr wrap="square" lIns="0" tIns="0" rIns="0" bIns="0" rtlCol="0" anchor="ctr"/>
          <a:lstStyle/>
          <a:p>
            <a:pPr indent="0" marL="0">
              <a:buNone/>
            </a:pPr>
            <a:r>
              <a:rPr lang="en-US" sz="1300" b="1" dirty="0">
                <a:solidFill>
                  <a:srgbClr val="153D2E"/>
                </a:solidFill>
              </a:rPr>
              <a:t>Connect model</a:t>
            </a:r>
            <a:endParaRPr lang="en-US" sz="1300" dirty="0"/>
          </a:p>
        </p:txBody>
      </p:sp>
      <p:sp>
        <p:nvSpPr>
          <p:cNvPr id="9" name="Text 7"/>
          <p:cNvSpPr/>
          <p:nvPr/>
        </p:nvSpPr>
        <p:spPr>
          <a:xfrm>
            <a:off x="3035808" y="1353312"/>
            <a:ext cx="8046720" cy="329184"/>
          </a:xfrm>
          <a:prstGeom prst="rect">
            <a:avLst/>
          </a:prstGeom>
          <a:noFill/>
          <a:ln/>
        </p:spPr>
        <p:txBody>
          <a:bodyPr wrap="square" lIns="0" tIns="0" rIns="0" bIns="0" rtlCol="0" anchor="ctr"/>
          <a:lstStyle/>
          <a:p>
            <a:pPr indent="0" marL="0">
              <a:buNone/>
            </a:pPr>
            <a:r>
              <a:rPr lang="en-US" sz="1130" dirty="0">
                <a:solidFill>
                  <a:srgbClr val="1C2B24"/>
                </a:solidFill>
              </a:rPr>
              <a:t>Set endpoint, model and key; validate connection.</a:t>
            </a:r>
            <a:endParaRPr lang="en-US" sz="1130" dirty="0"/>
          </a:p>
        </p:txBody>
      </p:sp>
      <p:sp>
        <p:nvSpPr>
          <p:cNvPr id="10" name="Shape 8"/>
          <p:cNvSpPr/>
          <p:nvPr/>
        </p:nvSpPr>
        <p:spPr>
          <a:xfrm>
            <a:off x="960120" y="1810512"/>
            <a:ext cx="0" cy="384048"/>
          </a:xfrm>
          <a:prstGeom prst="line">
            <a:avLst/>
          </a:prstGeom>
          <a:noFill/>
          <a:ln w="19050">
            <a:solidFill>
              <a:srgbClr val="C9D9D0"/>
            </a:solidFill>
            <a:prstDash val="solid"/>
          </a:ln>
        </p:spPr>
      </p:sp>
      <p:sp>
        <p:nvSpPr>
          <p:cNvPr id="11" name="Shape 9"/>
          <p:cNvSpPr/>
          <p:nvPr/>
        </p:nvSpPr>
        <p:spPr>
          <a:xfrm>
            <a:off x="749808" y="2258568"/>
            <a:ext cx="420624" cy="420624"/>
          </a:xfrm>
          <a:prstGeom prst="ellipse">
            <a:avLst/>
          </a:prstGeom>
          <a:solidFill>
            <a:srgbClr val="00965E"/>
          </a:solidFill>
          <a:ln w="12700">
            <a:solidFill>
              <a:srgbClr val="00965E"/>
            </a:solidFill>
            <a:prstDash val="solid"/>
          </a:ln>
        </p:spPr>
      </p:sp>
      <p:sp>
        <p:nvSpPr>
          <p:cNvPr id="12" name="Text 10"/>
          <p:cNvSpPr/>
          <p:nvPr/>
        </p:nvSpPr>
        <p:spPr>
          <a:xfrm>
            <a:off x="749808" y="2295144"/>
            <a:ext cx="420624" cy="256032"/>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3" name="Text 11"/>
          <p:cNvSpPr/>
          <p:nvPr/>
        </p:nvSpPr>
        <p:spPr>
          <a:xfrm>
            <a:off x="1325880" y="2212848"/>
            <a:ext cx="1828800" cy="256032"/>
          </a:xfrm>
          <a:prstGeom prst="rect">
            <a:avLst/>
          </a:prstGeom>
          <a:noFill/>
          <a:ln/>
        </p:spPr>
        <p:txBody>
          <a:bodyPr wrap="square" lIns="0" tIns="0" rIns="0" bIns="0" rtlCol="0" anchor="ctr"/>
          <a:lstStyle/>
          <a:p>
            <a:pPr indent="0" marL="0">
              <a:buNone/>
            </a:pPr>
            <a:r>
              <a:rPr lang="en-US" sz="1300" b="1" dirty="0">
                <a:solidFill>
                  <a:srgbClr val="153D2E"/>
                </a:solidFill>
              </a:rPr>
              <a:t>Choose mode</a:t>
            </a:r>
            <a:endParaRPr lang="en-US" sz="1300" dirty="0"/>
          </a:p>
        </p:txBody>
      </p:sp>
      <p:sp>
        <p:nvSpPr>
          <p:cNvPr id="14" name="Text 12"/>
          <p:cNvSpPr/>
          <p:nvPr/>
        </p:nvSpPr>
        <p:spPr>
          <a:xfrm>
            <a:off x="3035808" y="2212848"/>
            <a:ext cx="8046720" cy="329184"/>
          </a:xfrm>
          <a:prstGeom prst="rect">
            <a:avLst/>
          </a:prstGeom>
          <a:noFill/>
          <a:ln/>
        </p:spPr>
        <p:txBody>
          <a:bodyPr wrap="square" lIns="0" tIns="0" rIns="0" bIns="0" rtlCol="0" anchor="ctr"/>
          <a:lstStyle/>
          <a:p>
            <a:pPr indent="0" marL="0">
              <a:buNone/>
            </a:pPr>
            <a:r>
              <a:rPr lang="en-US" sz="1130" dirty="0">
                <a:solidFill>
                  <a:srgbClr val="1C2B24"/>
                </a:solidFill>
              </a:rPr>
              <a:t>Chat for analysis; Agent for workspace changes or execution.</a:t>
            </a:r>
            <a:endParaRPr lang="en-US" sz="1130" dirty="0"/>
          </a:p>
        </p:txBody>
      </p:sp>
      <p:sp>
        <p:nvSpPr>
          <p:cNvPr id="15" name="Shape 13"/>
          <p:cNvSpPr/>
          <p:nvPr/>
        </p:nvSpPr>
        <p:spPr>
          <a:xfrm>
            <a:off x="960120" y="2670048"/>
            <a:ext cx="0" cy="384048"/>
          </a:xfrm>
          <a:prstGeom prst="line">
            <a:avLst/>
          </a:prstGeom>
          <a:noFill/>
          <a:ln w="19050">
            <a:solidFill>
              <a:srgbClr val="C9D9D0"/>
            </a:solidFill>
            <a:prstDash val="solid"/>
          </a:ln>
        </p:spPr>
      </p:sp>
      <p:sp>
        <p:nvSpPr>
          <p:cNvPr id="16" name="Shape 14"/>
          <p:cNvSpPr/>
          <p:nvPr/>
        </p:nvSpPr>
        <p:spPr>
          <a:xfrm>
            <a:off x="749808" y="3118104"/>
            <a:ext cx="420624" cy="420624"/>
          </a:xfrm>
          <a:prstGeom prst="ellipse">
            <a:avLst/>
          </a:prstGeom>
          <a:solidFill>
            <a:srgbClr val="00965E"/>
          </a:solidFill>
          <a:ln w="12700">
            <a:solidFill>
              <a:srgbClr val="00965E"/>
            </a:solidFill>
            <a:prstDash val="solid"/>
          </a:ln>
        </p:spPr>
      </p:sp>
      <p:sp>
        <p:nvSpPr>
          <p:cNvPr id="17" name="Text 15"/>
          <p:cNvSpPr/>
          <p:nvPr/>
        </p:nvSpPr>
        <p:spPr>
          <a:xfrm>
            <a:off x="749808" y="3154680"/>
            <a:ext cx="420624" cy="256032"/>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8" name="Text 16"/>
          <p:cNvSpPr/>
          <p:nvPr/>
        </p:nvSpPr>
        <p:spPr>
          <a:xfrm>
            <a:off x="1325880" y="3072384"/>
            <a:ext cx="1828800" cy="256032"/>
          </a:xfrm>
          <a:prstGeom prst="rect">
            <a:avLst/>
          </a:prstGeom>
          <a:noFill/>
          <a:ln/>
        </p:spPr>
        <p:txBody>
          <a:bodyPr wrap="square" lIns="0" tIns="0" rIns="0" bIns="0" rtlCol="0" anchor="ctr"/>
          <a:lstStyle/>
          <a:p>
            <a:pPr indent="0" marL="0">
              <a:buNone/>
            </a:pPr>
            <a:r>
              <a:rPr lang="en-US" sz="1300" b="1" dirty="0">
                <a:solidFill>
                  <a:srgbClr val="153D2E"/>
                </a:solidFill>
              </a:rPr>
              <a:t>Provide context</a:t>
            </a:r>
            <a:endParaRPr lang="en-US" sz="1300" dirty="0"/>
          </a:p>
        </p:txBody>
      </p:sp>
      <p:sp>
        <p:nvSpPr>
          <p:cNvPr id="19" name="Text 17"/>
          <p:cNvSpPr/>
          <p:nvPr/>
        </p:nvSpPr>
        <p:spPr>
          <a:xfrm>
            <a:off x="3035808" y="3072384"/>
            <a:ext cx="8046720" cy="329184"/>
          </a:xfrm>
          <a:prstGeom prst="rect">
            <a:avLst/>
          </a:prstGeom>
          <a:noFill/>
          <a:ln/>
        </p:spPr>
        <p:txBody>
          <a:bodyPr wrap="square" lIns="0" tIns="0" rIns="0" bIns="0" rtlCol="0" anchor="ctr"/>
          <a:lstStyle/>
          <a:p>
            <a:pPr indent="0" marL="0">
              <a:buNone/>
            </a:pPr>
            <a:r>
              <a:rPr lang="en-US" sz="1130" dirty="0">
                <a:solidFill>
                  <a:srgbClr val="1C2B24"/>
                </a:solidFill>
              </a:rPr>
              <a:t>Map workspace only when needed; attach requirements or external evidence.</a:t>
            </a:r>
            <a:endParaRPr lang="en-US" sz="1130" dirty="0"/>
          </a:p>
        </p:txBody>
      </p:sp>
      <p:sp>
        <p:nvSpPr>
          <p:cNvPr id="20" name="Shape 18"/>
          <p:cNvSpPr/>
          <p:nvPr/>
        </p:nvSpPr>
        <p:spPr>
          <a:xfrm>
            <a:off x="960120" y="3529584"/>
            <a:ext cx="0" cy="384048"/>
          </a:xfrm>
          <a:prstGeom prst="line">
            <a:avLst/>
          </a:prstGeom>
          <a:noFill/>
          <a:ln w="19050">
            <a:solidFill>
              <a:srgbClr val="C9D9D0"/>
            </a:solidFill>
            <a:prstDash val="solid"/>
          </a:ln>
        </p:spPr>
      </p:sp>
      <p:sp>
        <p:nvSpPr>
          <p:cNvPr id="21" name="Shape 19"/>
          <p:cNvSpPr/>
          <p:nvPr/>
        </p:nvSpPr>
        <p:spPr>
          <a:xfrm>
            <a:off x="749808" y="3977640"/>
            <a:ext cx="420624" cy="420624"/>
          </a:xfrm>
          <a:prstGeom prst="ellipse">
            <a:avLst/>
          </a:prstGeom>
          <a:solidFill>
            <a:srgbClr val="00965E"/>
          </a:solidFill>
          <a:ln w="12700">
            <a:solidFill>
              <a:srgbClr val="00965E"/>
            </a:solidFill>
            <a:prstDash val="solid"/>
          </a:ln>
        </p:spPr>
      </p:sp>
      <p:sp>
        <p:nvSpPr>
          <p:cNvPr id="22" name="Text 20"/>
          <p:cNvSpPr/>
          <p:nvPr/>
        </p:nvSpPr>
        <p:spPr>
          <a:xfrm>
            <a:off x="749808" y="4014216"/>
            <a:ext cx="420624" cy="256032"/>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23" name="Text 21"/>
          <p:cNvSpPr/>
          <p:nvPr/>
        </p:nvSpPr>
        <p:spPr>
          <a:xfrm>
            <a:off x="1325880" y="3931920"/>
            <a:ext cx="1828800" cy="256032"/>
          </a:xfrm>
          <a:prstGeom prst="rect">
            <a:avLst/>
          </a:prstGeom>
          <a:noFill/>
          <a:ln/>
        </p:spPr>
        <p:txBody>
          <a:bodyPr wrap="square" lIns="0" tIns="0" rIns="0" bIns="0" rtlCol="0" anchor="ctr"/>
          <a:lstStyle/>
          <a:p>
            <a:pPr indent="0" marL="0">
              <a:buNone/>
            </a:pPr>
            <a:r>
              <a:rPr lang="en-US" sz="1300" b="1" dirty="0">
                <a:solidFill>
                  <a:srgbClr val="153D2E"/>
                </a:solidFill>
              </a:rPr>
              <a:t>Review plan</a:t>
            </a:r>
            <a:endParaRPr lang="en-US" sz="1300" dirty="0"/>
          </a:p>
        </p:txBody>
      </p:sp>
      <p:sp>
        <p:nvSpPr>
          <p:cNvPr id="24" name="Text 22"/>
          <p:cNvSpPr/>
          <p:nvPr/>
        </p:nvSpPr>
        <p:spPr>
          <a:xfrm>
            <a:off x="3035808" y="3931920"/>
            <a:ext cx="8046720" cy="329184"/>
          </a:xfrm>
          <a:prstGeom prst="rect">
            <a:avLst/>
          </a:prstGeom>
          <a:noFill/>
          <a:ln/>
        </p:spPr>
        <p:txBody>
          <a:bodyPr wrap="square" lIns="0" tIns="0" rIns="0" bIns="0" rtlCol="0" anchor="ctr"/>
          <a:lstStyle/>
          <a:p>
            <a:pPr indent="0" marL="0">
              <a:buNone/>
            </a:pPr>
            <a:r>
              <a:rPr lang="en-US" sz="1130" dirty="0">
                <a:solidFill>
                  <a:srgbClr val="1C2B24"/>
                </a:solidFill>
              </a:rPr>
              <a:t>Edit / approve the Agent plan before execution when approval is enabled.</a:t>
            </a:r>
            <a:endParaRPr lang="en-US" sz="1130" dirty="0"/>
          </a:p>
        </p:txBody>
      </p:sp>
      <p:sp>
        <p:nvSpPr>
          <p:cNvPr id="25" name="Shape 23"/>
          <p:cNvSpPr/>
          <p:nvPr/>
        </p:nvSpPr>
        <p:spPr>
          <a:xfrm>
            <a:off x="960120" y="4389120"/>
            <a:ext cx="0" cy="384048"/>
          </a:xfrm>
          <a:prstGeom prst="line">
            <a:avLst/>
          </a:prstGeom>
          <a:noFill/>
          <a:ln w="19050">
            <a:solidFill>
              <a:srgbClr val="C9D9D0"/>
            </a:solidFill>
            <a:prstDash val="solid"/>
          </a:ln>
        </p:spPr>
      </p:sp>
      <p:sp>
        <p:nvSpPr>
          <p:cNvPr id="26" name="Shape 24"/>
          <p:cNvSpPr/>
          <p:nvPr/>
        </p:nvSpPr>
        <p:spPr>
          <a:xfrm>
            <a:off x="749808" y="4837176"/>
            <a:ext cx="420624" cy="420624"/>
          </a:xfrm>
          <a:prstGeom prst="ellipse">
            <a:avLst/>
          </a:prstGeom>
          <a:solidFill>
            <a:srgbClr val="00965E"/>
          </a:solidFill>
          <a:ln w="12700">
            <a:solidFill>
              <a:srgbClr val="00965E"/>
            </a:solidFill>
            <a:prstDash val="solid"/>
          </a:ln>
        </p:spPr>
      </p:sp>
      <p:sp>
        <p:nvSpPr>
          <p:cNvPr id="27" name="Text 25"/>
          <p:cNvSpPr/>
          <p:nvPr/>
        </p:nvSpPr>
        <p:spPr>
          <a:xfrm>
            <a:off x="749808" y="4873752"/>
            <a:ext cx="420624" cy="256032"/>
          </a:xfrm>
          <a:prstGeom prst="rect">
            <a:avLst/>
          </a:prstGeom>
          <a:noFill/>
          <a:ln/>
        </p:spPr>
        <p:txBody>
          <a:bodyPr wrap="square" lIns="0" tIns="0" rIns="0" bIns="0" rtlCol="0" anchor="ctr"/>
          <a:lstStyle/>
          <a:p>
            <a:pPr algn="ctr" indent="0" marL="0">
              <a:buNone/>
            </a:pPr>
            <a:r>
              <a:rPr lang="en-US" sz="1200" b="1" dirty="0">
                <a:solidFill>
                  <a:srgbClr val="FFFFFF"/>
                </a:solidFill>
              </a:rPr>
              <a:t>5</a:t>
            </a:r>
            <a:endParaRPr lang="en-US" sz="1200" dirty="0"/>
          </a:p>
        </p:txBody>
      </p:sp>
      <p:sp>
        <p:nvSpPr>
          <p:cNvPr id="28" name="Text 26"/>
          <p:cNvSpPr/>
          <p:nvPr/>
        </p:nvSpPr>
        <p:spPr>
          <a:xfrm>
            <a:off x="1325880" y="4791456"/>
            <a:ext cx="1828800" cy="256032"/>
          </a:xfrm>
          <a:prstGeom prst="rect">
            <a:avLst/>
          </a:prstGeom>
          <a:noFill/>
          <a:ln/>
        </p:spPr>
        <p:txBody>
          <a:bodyPr wrap="square" lIns="0" tIns="0" rIns="0" bIns="0" rtlCol="0" anchor="ctr"/>
          <a:lstStyle/>
          <a:p>
            <a:pPr indent="0" marL="0">
              <a:buNone/>
            </a:pPr>
            <a:r>
              <a:rPr lang="en-US" sz="1300" b="1" dirty="0">
                <a:solidFill>
                  <a:srgbClr val="153D2E"/>
                </a:solidFill>
              </a:rPr>
              <a:t>Observe &amp; verify</a:t>
            </a:r>
            <a:endParaRPr lang="en-US" sz="1300" dirty="0"/>
          </a:p>
        </p:txBody>
      </p:sp>
      <p:sp>
        <p:nvSpPr>
          <p:cNvPr id="29" name="Text 27"/>
          <p:cNvSpPr/>
          <p:nvPr/>
        </p:nvSpPr>
        <p:spPr>
          <a:xfrm>
            <a:off x="3035808" y="4791456"/>
            <a:ext cx="8046720" cy="329184"/>
          </a:xfrm>
          <a:prstGeom prst="rect">
            <a:avLst/>
          </a:prstGeom>
          <a:noFill/>
          <a:ln/>
        </p:spPr>
        <p:txBody>
          <a:bodyPr wrap="square" lIns="0" tIns="0" rIns="0" bIns="0" rtlCol="0" anchor="ctr"/>
          <a:lstStyle/>
          <a:p>
            <a:pPr indent="0" marL="0">
              <a:buNone/>
            </a:pPr>
            <a:r>
              <a:rPr lang="en-US" sz="1130" dirty="0">
                <a:solidFill>
                  <a:srgbClr val="1C2B24"/>
                </a:solidFill>
              </a:rPr>
              <a:t>Watch progress, approvals, tool activity, build/test results and final verification.</a:t>
            </a:r>
            <a:endParaRPr lang="en-US" sz="1130" dirty="0"/>
          </a:p>
        </p:txBody>
      </p:sp>
      <p:sp>
        <p:nvSpPr>
          <p:cNvPr id="30" name="Shape 28"/>
          <p:cNvSpPr/>
          <p:nvPr/>
        </p:nvSpPr>
        <p:spPr>
          <a:xfrm>
            <a:off x="713232" y="5504688"/>
            <a:ext cx="10972800" cy="502920"/>
          </a:xfrm>
          <a:prstGeom prst="roundRect">
            <a:avLst/>
          </a:prstGeom>
          <a:solidFill>
            <a:srgbClr val="153D2E"/>
          </a:solidFill>
          <a:ln w="12700">
            <a:solidFill>
              <a:srgbClr val="153D2E"/>
            </a:solidFill>
            <a:prstDash val="solid"/>
          </a:ln>
        </p:spPr>
      </p:sp>
      <p:sp>
        <p:nvSpPr>
          <p:cNvPr id="31" name="Text 29"/>
          <p:cNvSpPr/>
          <p:nvPr/>
        </p:nvSpPr>
        <p:spPr>
          <a:xfrm>
            <a:off x="987552" y="5650992"/>
            <a:ext cx="10378440" cy="219456"/>
          </a:xfrm>
          <a:prstGeom prst="rect">
            <a:avLst/>
          </a:prstGeom>
          <a:noFill/>
          <a:ln/>
        </p:spPr>
        <p:txBody>
          <a:bodyPr wrap="square" lIns="0" tIns="0" rIns="0" bIns="0" rtlCol="0" anchor="ctr"/>
          <a:lstStyle/>
          <a:p>
            <a:pPr algn="ctr" indent="0" marL="0">
              <a:buNone/>
            </a:pPr>
            <a:r>
              <a:rPr lang="en-US" sz="1250" b="1" dirty="0">
                <a:solidFill>
                  <a:srgbClr val="FFFFFF"/>
                </a:solidFill>
              </a:rPr>
              <a:t>For destructive file actions, confirm the exact path in the approval prompt before choosing “Approve once”.</a:t>
            </a:r>
            <a:endParaRPr lang="en-US" sz="1250" dirty="0"/>
          </a:p>
        </p:txBody>
      </p:sp>
      <p:sp>
        <p:nvSpPr>
          <p:cNvPr id="25" name="Slide Number Placeholder 0"/>
          <p:cNvSpPr>
            <a:spLocks noGrp="1"/>
          </p:cNvSpPr>
          <p:nvPr>
            <p:ph type="sldNum" sz="quarter" idx="4294967295"/>
          </p:nvPr>
        </p:nvSpPr>
        <p:spPr>
          <a:xfrm>
            <a:off x="11686032" y="6537960"/>
            <a:ext cx="256032" cy="164592"/>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53645C"/>
                </a:solidFill>
                <a:latin typeface="Aptos"/>
                <a:ea typeface="Aptos"/>
                <a:cs typeface="Aptos"/>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384048"/>
            <a:ext cx="8183880" cy="438912"/>
          </a:xfrm>
          <a:prstGeom prst="rect">
            <a:avLst/>
          </a:prstGeom>
          <a:noFill/>
          <a:ln/>
        </p:spPr>
        <p:txBody>
          <a:bodyPr wrap="square" lIns="0" tIns="0" rIns="0" bIns="0" rtlCol="0" anchor="ctr"/>
          <a:lstStyle/>
          <a:p>
            <a:pPr indent="0" marL="0">
              <a:buNone/>
            </a:pPr>
            <a:r>
              <a:rPr lang="en-US" sz="2700" b="1" dirty="0">
                <a:solidFill>
                  <a:srgbClr val="153D2E"/>
                </a:solidFill>
              </a:rPr>
              <a:t>9. Example prompts &amp; key takeaway</a:t>
            </a:r>
            <a:endParaRPr lang="en-US" sz="2700" dirty="0"/>
          </a:p>
        </p:txBody>
      </p:sp>
      <p:sp>
        <p:nvSpPr>
          <p:cNvPr id="3" name="Text 1"/>
          <p:cNvSpPr/>
          <p:nvPr/>
        </p:nvSpPr>
        <p:spPr>
          <a:xfrm>
            <a:off x="566928" y="877824"/>
            <a:ext cx="10881360" cy="347472"/>
          </a:xfrm>
          <a:prstGeom prst="rect">
            <a:avLst/>
          </a:prstGeom>
          <a:noFill/>
          <a:ln/>
        </p:spPr>
        <p:txBody>
          <a:bodyPr wrap="square" lIns="0" tIns="0" rIns="0" bIns="0" rtlCol="0" anchor="ctr"/>
          <a:lstStyle/>
          <a:p>
            <a:pPr indent="0" marL="0">
              <a:buNone/>
            </a:pPr>
            <a:r>
              <a:rPr lang="en-US" sz="1250" dirty="0">
                <a:solidFill>
                  <a:srgbClr val="5A6B62"/>
                </a:solidFill>
              </a:rPr>
              <a:t>Good prompts state the objective, evidence, constraints and expected verification.</a:t>
            </a:r>
            <a:endParaRPr lang="en-US" sz="1250" dirty="0"/>
          </a:p>
        </p:txBody>
      </p:sp>
      <p:sp>
        <p:nvSpPr>
          <p:cNvPr id="4" name="Shape 2"/>
          <p:cNvSpPr/>
          <p:nvPr/>
        </p:nvSpPr>
        <p:spPr>
          <a:xfrm>
            <a:off x="9646920" y="402336"/>
            <a:ext cx="1920240" cy="329184"/>
          </a:xfrm>
          <a:prstGeom prst="roundRect">
            <a:avLst>
              <a:gd name="adj" fmla="val 22222"/>
            </a:avLst>
          </a:prstGeom>
          <a:solidFill>
            <a:srgbClr val="D9EFE5"/>
          </a:solidFill>
          <a:ln w="12700">
            <a:solidFill>
              <a:srgbClr val="D9EFE5"/>
            </a:solidFill>
            <a:prstDash val="solid"/>
          </a:ln>
        </p:spPr>
      </p:sp>
      <p:sp>
        <p:nvSpPr>
          <p:cNvPr id="5" name="Text 3"/>
          <p:cNvSpPr/>
          <p:nvPr/>
        </p:nvSpPr>
        <p:spPr>
          <a:xfrm>
            <a:off x="9720072" y="457200"/>
            <a:ext cx="1773936" cy="201168"/>
          </a:xfrm>
          <a:prstGeom prst="rect">
            <a:avLst/>
          </a:prstGeom>
          <a:noFill/>
          <a:ln/>
        </p:spPr>
        <p:txBody>
          <a:bodyPr wrap="square" lIns="0" tIns="0" rIns="0" bIns="0" rtlCol="0" anchor="ctr"/>
          <a:lstStyle/>
          <a:p>
            <a:pPr algn="ctr" indent="0" marL="0">
              <a:buNone/>
            </a:pPr>
            <a:r>
              <a:rPr lang="en-US" sz="1000" b="1" dirty="0">
                <a:solidFill>
                  <a:srgbClr val="006B45"/>
                </a:solidFill>
              </a:rPr>
              <a:t>PROMPTS</a:t>
            </a:r>
            <a:endParaRPr lang="en-US" sz="1000" dirty="0"/>
          </a:p>
        </p:txBody>
      </p:sp>
      <p:sp>
        <p:nvSpPr>
          <p:cNvPr id="6" name="Shape 4"/>
          <p:cNvSpPr/>
          <p:nvPr/>
        </p:nvSpPr>
        <p:spPr>
          <a:xfrm>
            <a:off x="685800" y="1353312"/>
            <a:ext cx="5394960" cy="4206240"/>
          </a:xfrm>
          <a:prstGeom prst="roundRect">
            <a:avLst/>
          </a:prstGeom>
          <a:solidFill>
            <a:srgbClr val="FFFFFF"/>
          </a:solidFill>
          <a:ln w="12700">
            <a:solidFill>
              <a:srgbClr val="C9D9D0"/>
            </a:solidFill>
            <a:prstDash val="solid"/>
          </a:ln>
        </p:spPr>
      </p:sp>
      <p:sp>
        <p:nvSpPr>
          <p:cNvPr id="7" name="Text 5"/>
          <p:cNvSpPr/>
          <p:nvPr/>
        </p:nvSpPr>
        <p:spPr>
          <a:xfrm>
            <a:off x="960120" y="1664208"/>
            <a:ext cx="1828800" cy="310896"/>
          </a:xfrm>
          <a:prstGeom prst="rect">
            <a:avLst/>
          </a:prstGeom>
          <a:noFill/>
          <a:ln/>
        </p:spPr>
        <p:txBody>
          <a:bodyPr wrap="square" lIns="0" tIns="0" rIns="0" bIns="0" rtlCol="0" anchor="ctr"/>
          <a:lstStyle/>
          <a:p>
            <a:pPr indent="0" marL="0">
              <a:buNone/>
            </a:pPr>
            <a:r>
              <a:rPr lang="en-US" sz="1700" b="1" dirty="0">
                <a:solidFill>
                  <a:srgbClr val="006B45"/>
                </a:solidFill>
              </a:rPr>
              <a:t>CHAT examples</a:t>
            </a:r>
            <a:endParaRPr lang="en-US" sz="1700" dirty="0"/>
          </a:p>
        </p:txBody>
      </p:sp>
      <p:sp>
        <p:nvSpPr>
          <p:cNvPr id="8" name="Shape 6"/>
          <p:cNvSpPr/>
          <p:nvPr/>
        </p:nvSpPr>
        <p:spPr>
          <a:xfrm>
            <a:off x="960120" y="2148840"/>
            <a:ext cx="4800600" cy="667512"/>
          </a:xfrm>
          <a:prstGeom prst="roundRect">
            <a:avLst/>
          </a:prstGeom>
          <a:solidFill>
            <a:srgbClr val="F7FAF8"/>
          </a:solidFill>
          <a:ln w="12700">
            <a:solidFill>
              <a:srgbClr val="C9D9D0"/>
            </a:solidFill>
            <a:prstDash val="solid"/>
          </a:ln>
        </p:spPr>
      </p:sp>
      <p:sp>
        <p:nvSpPr>
          <p:cNvPr id="9" name="Text 7"/>
          <p:cNvSpPr/>
          <p:nvPr/>
        </p:nvSpPr>
        <p:spPr>
          <a:xfrm>
            <a:off x="1170432" y="2304288"/>
            <a:ext cx="4389120" cy="356616"/>
          </a:xfrm>
          <a:prstGeom prst="rect">
            <a:avLst/>
          </a:prstGeom>
          <a:noFill/>
          <a:ln/>
        </p:spPr>
        <p:txBody>
          <a:bodyPr wrap="square" lIns="0" tIns="0" rIns="0" bIns="0" rtlCol="0" anchor="ctr"/>
          <a:lstStyle/>
          <a:p>
            <a:pPr indent="0" marL="0">
              <a:buNone/>
            </a:pPr>
            <a:r>
              <a:rPr lang="en-US" sz="1060" dirty="0">
                <a:solidFill>
                  <a:srgbClr val="1C2B24"/>
                </a:solidFill>
              </a:rPr>
              <a:t>“Review this requirement and identify positive, negative and boundary test scenarios.”</a:t>
            </a:r>
            <a:endParaRPr lang="en-US" sz="1060" dirty="0"/>
          </a:p>
        </p:txBody>
      </p:sp>
      <p:sp>
        <p:nvSpPr>
          <p:cNvPr id="10" name="Shape 8"/>
          <p:cNvSpPr/>
          <p:nvPr/>
        </p:nvSpPr>
        <p:spPr>
          <a:xfrm>
            <a:off x="960120" y="3017520"/>
            <a:ext cx="4800600" cy="667512"/>
          </a:xfrm>
          <a:prstGeom prst="roundRect">
            <a:avLst/>
          </a:prstGeom>
          <a:solidFill>
            <a:srgbClr val="E8F5EF"/>
          </a:solidFill>
          <a:ln w="12700">
            <a:solidFill>
              <a:srgbClr val="C9D9D0"/>
            </a:solidFill>
            <a:prstDash val="solid"/>
          </a:ln>
        </p:spPr>
      </p:sp>
      <p:sp>
        <p:nvSpPr>
          <p:cNvPr id="11" name="Text 9"/>
          <p:cNvSpPr/>
          <p:nvPr/>
        </p:nvSpPr>
        <p:spPr>
          <a:xfrm>
            <a:off x="1170432" y="3172968"/>
            <a:ext cx="4389120" cy="356616"/>
          </a:xfrm>
          <a:prstGeom prst="rect">
            <a:avLst/>
          </a:prstGeom>
          <a:noFill/>
          <a:ln/>
        </p:spPr>
        <p:txBody>
          <a:bodyPr wrap="square" lIns="0" tIns="0" rIns="0" bIns="0" rtlCol="0" anchor="ctr"/>
          <a:lstStyle/>
          <a:p>
            <a:pPr indent="0" marL="0">
              <a:buNone/>
            </a:pPr>
            <a:r>
              <a:rPr lang="en-US" sz="1060" dirty="0">
                <a:solidFill>
                  <a:srgbClr val="1C2B24"/>
                </a:solidFill>
              </a:rPr>
              <a:t>“Summarise the uploaded design document and list open questions for the architecture review.”</a:t>
            </a:r>
            <a:endParaRPr lang="en-US" sz="1060" dirty="0"/>
          </a:p>
        </p:txBody>
      </p:sp>
      <p:sp>
        <p:nvSpPr>
          <p:cNvPr id="12" name="Shape 10"/>
          <p:cNvSpPr/>
          <p:nvPr/>
        </p:nvSpPr>
        <p:spPr>
          <a:xfrm>
            <a:off x="960120" y="3886200"/>
            <a:ext cx="4800600" cy="667512"/>
          </a:xfrm>
          <a:prstGeom prst="roundRect">
            <a:avLst/>
          </a:prstGeom>
          <a:solidFill>
            <a:srgbClr val="F7FAF8"/>
          </a:solidFill>
          <a:ln w="12700">
            <a:solidFill>
              <a:srgbClr val="C9D9D0"/>
            </a:solidFill>
            <a:prstDash val="solid"/>
          </a:ln>
        </p:spPr>
      </p:sp>
      <p:sp>
        <p:nvSpPr>
          <p:cNvPr id="13" name="Text 11"/>
          <p:cNvSpPr/>
          <p:nvPr/>
        </p:nvSpPr>
        <p:spPr>
          <a:xfrm>
            <a:off x="1170432" y="4041648"/>
            <a:ext cx="4389120" cy="356616"/>
          </a:xfrm>
          <a:prstGeom prst="rect">
            <a:avLst/>
          </a:prstGeom>
          <a:noFill/>
          <a:ln/>
        </p:spPr>
        <p:txBody>
          <a:bodyPr wrap="square" lIns="0" tIns="0" rIns="0" bIns="0" rtlCol="0" anchor="ctr"/>
          <a:lstStyle/>
          <a:p>
            <a:pPr indent="0" marL="0">
              <a:buNone/>
            </a:pPr>
            <a:r>
              <a:rPr lang="en-US" sz="1060" dirty="0">
                <a:solidFill>
                  <a:srgbClr val="1C2B24"/>
                </a:solidFill>
              </a:rPr>
              <a:t>“Compare these two implementations and explain the reliability and maintainability trade-offs.”</a:t>
            </a:r>
            <a:endParaRPr lang="en-US" sz="1060" dirty="0"/>
          </a:p>
        </p:txBody>
      </p:sp>
      <p:sp>
        <p:nvSpPr>
          <p:cNvPr id="14" name="Shape 12"/>
          <p:cNvSpPr/>
          <p:nvPr/>
        </p:nvSpPr>
        <p:spPr>
          <a:xfrm>
            <a:off x="6327648" y="1353312"/>
            <a:ext cx="5166360" cy="4206240"/>
          </a:xfrm>
          <a:prstGeom prst="roundRect">
            <a:avLst/>
          </a:prstGeom>
          <a:solidFill>
            <a:srgbClr val="E8F5EF"/>
          </a:solidFill>
          <a:ln w="13970">
            <a:solidFill>
              <a:srgbClr val="00965E"/>
            </a:solidFill>
            <a:prstDash val="solid"/>
          </a:ln>
        </p:spPr>
      </p:sp>
      <p:sp>
        <p:nvSpPr>
          <p:cNvPr id="15" name="Text 13"/>
          <p:cNvSpPr/>
          <p:nvPr/>
        </p:nvSpPr>
        <p:spPr>
          <a:xfrm>
            <a:off x="6601968" y="1664208"/>
            <a:ext cx="1828800" cy="310896"/>
          </a:xfrm>
          <a:prstGeom prst="rect">
            <a:avLst/>
          </a:prstGeom>
          <a:noFill/>
          <a:ln/>
        </p:spPr>
        <p:txBody>
          <a:bodyPr wrap="square" lIns="0" tIns="0" rIns="0" bIns="0" rtlCol="0" anchor="ctr"/>
          <a:lstStyle/>
          <a:p>
            <a:pPr indent="0" marL="0">
              <a:buNone/>
            </a:pPr>
            <a:r>
              <a:rPr lang="en-US" sz="1700" b="1" dirty="0">
                <a:solidFill>
                  <a:srgbClr val="006B45"/>
                </a:solidFill>
              </a:rPr>
              <a:t>AGENT examples</a:t>
            </a:r>
            <a:endParaRPr lang="en-US" sz="1700" dirty="0"/>
          </a:p>
        </p:txBody>
      </p:sp>
      <p:sp>
        <p:nvSpPr>
          <p:cNvPr id="16" name="Shape 14"/>
          <p:cNvSpPr/>
          <p:nvPr/>
        </p:nvSpPr>
        <p:spPr>
          <a:xfrm>
            <a:off x="6601968" y="2148840"/>
            <a:ext cx="4572000" cy="667512"/>
          </a:xfrm>
          <a:prstGeom prst="roundRect">
            <a:avLst/>
          </a:prstGeom>
          <a:solidFill>
            <a:srgbClr val="EDF8F3"/>
          </a:solidFill>
          <a:ln w="12700">
            <a:solidFill>
              <a:srgbClr val="C9D9D0"/>
            </a:solidFill>
            <a:prstDash val="solid"/>
          </a:ln>
        </p:spPr>
      </p:sp>
      <p:sp>
        <p:nvSpPr>
          <p:cNvPr id="17" name="Text 15"/>
          <p:cNvSpPr/>
          <p:nvPr/>
        </p:nvSpPr>
        <p:spPr>
          <a:xfrm>
            <a:off x="6803136" y="2249424"/>
            <a:ext cx="4169664" cy="457200"/>
          </a:xfrm>
          <a:prstGeom prst="rect">
            <a:avLst/>
          </a:prstGeom>
          <a:noFill/>
          <a:ln/>
        </p:spPr>
        <p:txBody>
          <a:bodyPr wrap="square" lIns="0" tIns="0" rIns="0" bIns="0" rtlCol="0" anchor="ctr"/>
          <a:lstStyle/>
          <a:p>
            <a:pPr indent="0" marL="0">
              <a:buNone/>
            </a:pPr>
            <a:r>
              <a:rPr lang="en-US" sz="1000" dirty="0">
                <a:solidFill>
                  <a:srgbClr val="1C2B24"/>
                </a:solidFill>
              </a:rPr>
              <a:t>“Analyse this Java Selenium framework, create a migration plan to Playwright TypeScript, wait for approval, then migrate module by module and verify each batch.”</a:t>
            </a:r>
            <a:endParaRPr lang="en-US" sz="1000" dirty="0"/>
          </a:p>
        </p:txBody>
      </p:sp>
      <p:sp>
        <p:nvSpPr>
          <p:cNvPr id="18" name="Shape 16"/>
          <p:cNvSpPr/>
          <p:nvPr/>
        </p:nvSpPr>
        <p:spPr>
          <a:xfrm>
            <a:off x="6601968" y="3017520"/>
            <a:ext cx="4572000" cy="667512"/>
          </a:xfrm>
          <a:prstGeom prst="roundRect">
            <a:avLst/>
          </a:prstGeom>
          <a:solidFill>
            <a:srgbClr val="FFFFFF"/>
          </a:solidFill>
          <a:ln w="12700">
            <a:solidFill>
              <a:srgbClr val="C9D9D0"/>
            </a:solidFill>
            <a:prstDash val="solid"/>
          </a:ln>
        </p:spPr>
      </p:sp>
      <p:sp>
        <p:nvSpPr>
          <p:cNvPr id="19" name="Text 17"/>
          <p:cNvSpPr/>
          <p:nvPr/>
        </p:nvSpPr>
        <p:spPr>
          <a:xfrm>
            <a:off x="6803136" y="3118104"/>
            <a:ext cx="4169664" cy="457200"/>
          </a:xfrm>
          <a:prstGeom prst="rect">
            <a:avLst/>
          </a:prstGeom>
          <a:noFill/>
          <a:ln/>
        </p:spPr>
        <p:txBody>
          <a:bodyPr wrap="square" lIns="0" tIns="0" rIns="0" bIns="0" rtlCol="0" anchor="ctr"/>
          <a:lstStyle/>
          <a:p>
            <a:pPr indent="0" marL="0">
              <a:buNone/>
            </a:pPr>
            <a:r>
              <a:rPr lang="en-US" sz="1000" dirty="0">
                <a:solidFill>
                  <a:srgbClr val="1C2B24"/>
                </a:solidFill>
              </a:rPr>
              <a:t>“Fix the failing tests only. Preserve existing architecture, run the relevant suite and stop when the latest changes are verified.”</a:t>
            </a:r>
            <a:endParaRPr lang="en-US" sz="1000" dirty="0"/>
          </a:p>
        </p:txBody>
      </p:sp>
      <p:sp>
        <p:nvSpPr>
          <p:cNvPr id="20" name="Shape 18"/>
          <p:cNvSpPr/>
          <p:nvPr/>
        </p:nvSpPr>
        <p:spPr>
          <a:xfrm>
            <a:off x="6601968" y="3886200"/>
            <a:ext cx="4572000" cy="667512"/>
          </a:xfrm>
          <a:prstGeom prst="roundRect">
            <a:avLst/>
          </a:prstGeom>
          <a:solidFill>
            <a:srgbClr val="EDF8F3"/>
          </a:solidFill>
          <a:ln w="12700">
            <a:solidFill>
              <a:srgbClr val="C9D9D0"/>
            </a:solidFill>
            <a:prstDash val="solid"/>
          </a:ln>
        </p:spPr>
      </p:sp>
      <p:sp>
        <p:nvSpPr>
          <p:cNvPr id="21" name="Text 19"/>
          <p:cNvSpPr/>
          <p:nvPr/>
        </p:nvSpPr>
        <p:spPr>
          <a:xfrm>
            <a:off x="6803136" y="3986784"/>
            <a:ext cx="4169664" cy="457200"/>
          </a:xfrm>
          <a:prstGeom prst="rect">
            <a:avLst/>
          </a:prstGeom>
          <a:noFill/>
          <a:ln/>
        </p:spPr>
        <p:txBody>
          <a:bodyPr wrap="square" lIns="0" tIns="0" rIns="0" bIns="0" rtlCol="0" anchor="ctr"/>
          <a:lstStyle/>
          <a:p>
            <a:pPr indent="0" marL="0">
              <a:buNone/>
            </a:pPr>
            <a:r>
              <a:rPr lang="en-US" sz="1000" dirty="0">
                <a:solidFill>
                  <a:srgbClr val="1C2B24"/>
                </a:solidFill>
              </a:rPr>
              <a:t>“Use Jira + Confluence evidence to produce an analysis report. Do not require a local workspace unless code changes become necessary.”</a:t>
            </a:r>
            <a:endParaRPr lang="en-US" sz="1000" dirty="0"/>
          </a:p>
        </p:txBody>
      </p:sp>
      <p:sp>
        <p:nvSpPr>
          <p:cNvPr id="22" name="Shape 20"/>
          <p:cNvSpPr/>
          <p:nvPr/>
        </p:nvSpPr>
        <p:spPr>
          <a:xfrm>
            <a:off x="1417320" y="5806440"/>
            <a:ext cx="9326880" cy="566928"/>
          </a:xfrm>
          <a:prstGeom prst="roundRect">
            <a:avLst/>
          </a:prstGeom>
          <a:solidFill>
            <a:srgbClr val="153D2E"/>
          </a:solidFill>
          <a:ln w="12700">
            <a:solidFill>
              <a:srgbClr val="153D2E"/>
            </a:solidFill>
            <a:prstDash val="solid"/>
          </a:ln>
        </p:spPr>
      </p:sp>
      <p:sp>
        <p:nvSpPr>
          <p:cNvPr id="23" name="Text 21"/>
          <p:cNvSpPr/>
          <p:nvPr/>
        </p:nvSpPr>
        <p:spPr>
          <a:xfrm>
            <a:off x="1737360" y="5989320"/>
            <a:ext cx="8686800" cy="219456"/>
          </a:xfrm>
          <a:prstGeom prst="rect">
            <a:avLst/>
          </a:prstGeom>
          <a:noFill/>
          <a:ln/>
        </p:spPr>
        <p:txBody>
          <a:bodyPr wrap="square" lIns="0" tIns="0" rIns="0" bIns="0" rtlCol="0" anchor="ctr"/>
          <a:lstStyle/>
          <a:p>
            <a:pPr algn="ctr" indent="0" marL="0">
              <a:buNone/>
            </a:pPr>
            <a:r>
              <a:rPr lang="en-US" sz="1400" b="1" dirty="0">
                <a:solidFill>
                  <a:srgbClr val="FFFFFF"/>
                </a:solidFill>
              </a:rPr>
              <a:t>ELIYA = conversational intelligence + controlled execution + durable recovery + explicit safety gates</a:t>
            </a:r>
            <a:endParaRPr lang="en-US" sz="1400" dirty="0"/>
          </a:p>
        </p:txBody>
      </p:sp>
      <p:sp>
        <p:nvSpPr>
          <p:cNvPr id="25" name="Slide Number Placeholder 0"/>
          <p:cNvSpPr>
            <a:spLocks noGrp="1"/>
          </p:cNvSpPr>
          <p:nvPr>
            <p:ph type="sldNum" sz="quarter" idx="4294967295"/>
          </p:nvPr>
        </p:nvSpPr>
        <p:spPr>
          <a:xfrm>
            <a:off x="11686032" y="6537960"/>
            <a:ext cx="256032" cy="164592"/>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53645C"/>
                </a:solidFill>
                <a:latin typeface="Aptos"/>
                <a:ea typeface="Aptos"/>
                <a:cs typeface="Aptos"/>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BNP Paribas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ELIYA AI Engineering Agent - 10 Slide Professional Overview</dc:title>
  <dc:subject>ELIYA AI Engineering Agent - Executive Overview</dc:subject>
  <dc:creator>OpenAI</dc:creator>
  <cp:lastModifiedBy>OpenAI</cp:lastModifiedBy>
  <cp:revision>1</cp:revision>
  <dcterms:created xsi:type="dcterms:W3CDTF">2026-09-25T15:35:47Z</dcterms:created>
  <dcterms:modified xsi:type="dcterms:W3CDTF">2026-09-25T15:35:47Z</dcterms:modified>
</cp:coreProperties>
</file>