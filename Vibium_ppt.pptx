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9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7A53"/>
          </a:solidFill>
          <a:ln w="12700">
            <a:solidFill>
              <a:srgbClr val="007A53"/>
            </a:solidFill>
            <a:prstDash val="solid"/>
          </a:ln>
        </p:spPr>
      </p:sp>
      <p:sp>
        <p:nvSpPr>
          <p:cNvPr id="3" name="Text 1"/>
          <p:cNvSpPr/>
          <p:nvPr/>
        </p:nvSpPr>
        <p:spPr>
          <a:xfrm>
            <a:off x="411480" y="6510528"/>
            <a:ext cx="3291840" cy="164592"/>
          </a:xfrm>
          <a:prstGeom prst="rect">
            <a:avLst/>
          </a:prstGeom>
          <a:noFill/>
          <a:ln/>
        </p:spPr>
        <p:txBody>
          <a:bodyPr wrap="square" lIns="0" tIns="0" rIns="0" bIns="0" rtlCol="0" anchor="ctr"/>
          <a:lstStyle/>
          <a:p>
            <a:pPr indent="0" marL="0">
              <a:buNone/>
            </a:pPr>
            <a:r>
              <a:rPr lang="en-US" sz="800" dirty="0">
                <a:solidFill>
                  <a:srgbClr val="66756F"/>
                </a:solidFill>
                <a:latin typeface="Noto Sans" pitchFamily="34" charset="0"/>
                <a:ea typeface="Noto Sans" pitchFamily="34" charset="-122"/>
                <a:cs typeface="Noto Sans" pitchFamily="34" charset="-120"/>
              </a:rPr>
              <a:t>ITPS VIBIUM Framework</a:t>
            </a:r>
            <a:endParaRPr lang="en-US" sz="800" dirty="0"/>
          </a:p>
        </p:txBody>
      </p:sp>
      <p:sp>
        <p:nvSpPr>
          <p:cNvPr id="4" name="Text 2"/>
          <p:cNvSpPr/>
          <p:nvPr/>
        </p:nvSpPr>
        <p:spPr>
          <a:xfrm>
            <a:off x="8503920" y="6510528"/>
            <a:ext cx="3246120" cy="164592"/>
          </a:xfrm>
          <a:prstGeom prst="rect">
            <a:avLst/>
          </a:prstGeom>
          <a:noFill/>
          <a:ln/>
        </p:spPr>
        <p:txBody>
          <a:bodyPr wrap="square" lIns="0" tIns="0" rIns="0" bIns="0" rtlCol="0" anchor="ctr"/>
          <a:lstStyle/>
          <a:p>
            <a:pPr algn="r" indent="0" marL="0">
              <a:buNone/>
            </a:pPr>
            <a:r>
              <a:rPr lang="en-US" sz="800" dirty="0">
                <a:solidFill>
                  <a:srgbClr val="66756F"/>
                </a:solidFill>
                <a:latin typeface="Noto Sans" pitchFamily="34" charset="0"/>
                <a:ea typeface="Noto Sans" pitchFamily="34" charset="-122"/>
                <a:cs typeface="Noto Sans" pitchFamily="34" charset="-120"/>
              </a:rPr>
              <a:t>Internal technical overview</a:t>
            </a:r>
            <a:endParaRPr lang="en-US" sz="80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B3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5B3E"/>
          </a:solidFill>
          <a:ln w="12700">
            <a:solidFill>
              <a:srgbClr val="005B3E"/>
            </a:solidFill>
            <a:prstDash val="solid"/>
          </a:ln>
        </p:spPr>
      </p:sp>
      <p:sp>
        <p:nvSpPr>
          <p:cNvPr id="3" name="Shape 1"/>
          <p:cNvSpPr/>
          <p:nvPr/>
        </p:nvSpPr>
        <p:spPr>
          <a:xfrm>
            <a:off x="9281160" y="137160"/>
            <a:ext cx="2743200" cy="2743200"/>
          </a:xfrm>
          <a:prstGeom prst="ellipse">
            <a:avLst/>
          </a:prstGeom>
          <a:solidFill>
            <a:srgbClr val="0B8C61">
              <a:alpha val="80000"/>
            </a:srgbClr>
          </a:solidFill>
          <a:ln w="12700">
            <a:solidFill>
              <a:srgbClr val="0B8C61">
                <a:alpha val="0"/>
              </a:srgbClr>
            </a:solidFill>
            <a:prstDash val="solid"/>
          </a:ln>
        </p:spPr>
      </p:sp>
      <p:sp>
        <p:nvSpPr>
          <p:cNvPr id="4" name="Shape 2"/>
          <p:cNvSpPr/>
          <p:nvPr/>
        </p:nvSpPr>
        <p:spPr>
          <a:xfrm>
            <a:off x="9738360" y="4617720"/>
            <a:ext cx="2148840" cy="2148840"/>
          </a:xfrm>
          <a:prstGeom prst="ellipse">
            <a:avLst/>
          </a:prstGeom>
          <a:solidFill>
            <a:srgbClr val="82C9AA">
              <a:alpha val="20000"/>
            </a:srgbClr>
          </a:solidFill>
          <a:ln w="12700">
            <a:solidFill>
              <a:srgbClr val="82C9AA">
                <a:alpha val="0"/>
              </a:srgbClr>
            </a:solidFill>
            <a:prstDash val="solid"/>
          </a:ln>
        </p:spPr>
      </p:sp>
      <p:sp>
        <p:nvSpPr>
          <p:cNvPr id="5" name="Text 3"/>
          <p:cNvSpPr/>
          <p:nvPr/>
        </p:nvSpPr>
        <p:spPr>
          <a:xfrm>
            <a:off x="731520" y="1051560"/>
            <a:ext cx="7498080" cy="1417320"/>
          </a:xfrm>
          <a:prstGeom prst="rect">
            <a:avLst/>
          </a:prstGeom>
          <a:noFill/>
          <a:ln/>
        </p:spPr>
        <p:txBody>
          <a:bodyPr wrap="square" lIns="0" tIns="0" rIns="0" bIns="0" rtlCol="0" anchor="ctr"/>
          <a:lstStyle/>
          <a:p>
            <a:pPr indent="0" marL="0">
              <a:buNone/>
            </a:pPr>
            <a:r>
              <a:rPr lang="en-US" sz="3400" b="1" dirty="0">
                <a:solidFill>
                  <a:srgbClr val="FFFFFF"/>
                </a:solidFill>
              </a:rPr>
              <a:t>ITPS VIBIUM</a:t>
            </a:r>
            <a:endParaRPr lang="en-US" sz="3400" dirty="0"/>
          </a:p>
          <a:p>
            <a:pPr indent="0" marL="0">
              <a:buNone/>
            </a:pPr>
            <a:r>
              <a:rPr lang="en-US" sz="3400" b="1" dirty="0">
                <a:solidFill>
                  <a:srgbClr val="FFFFFF"/>
                </a:solidFill>
              </a:rPr>
              <a:t>MCP Framework</a:t>
            </a:r>
            <a:endParaRPr lang="en-US" sz="3400" dirty="0"/>
          </a:p>
        </p:txBody>
      </p:sp>
      <p:sp>
        <p:nvSpPr>
          <p:cNvPr id="6" name="Text 4"/>
          <p:cNvSpPr/>
          <p:nvPr/>
        </p:nvSpPr>
        <p:spPr>
          <a:xfrm>
            <a:off x="758952" y="2743200"/>
            <a:ext cx="8046720" cy="914400"/>
          </a:xfrm>
          <a:prstGeom prst="rect">
            <a:avLst/>
          </a:prstGeom>
          <a:noFill/>
          <a:ln/>
        </p:spPr>
        <p:txBody>
          <a:bodyPr wrap="square" lIns="0" tIns="0" rIns="0" bIns="0" rtlCol="0" anchor="ctr"/>
          <a:lstStyle/>
          <a:p>
            <a:pPr indent="0" marL="0">
              <a:buNone/>
            </a:pPr>
            <a:r>
              <a:rPr lang="en-US" sz="1600" dirty="0">
                <a:solidFill>
                  <a:srgbClr val="D8EEE5"/>
                </a:solidFill>
              </a:rPr>
              <a:t>Agentic browser automation with Vibium MCP, LangGraph orchestration, self-healing, parallel execution, recording and auditable reporting</a:t>
            </a:r>
            <a:endParaRPr lang="en-US" sz="1600" dirty="0"/>
          </a:p>
        </p:txBody>
      </p:sp>
      <p:sp>
        <p:nvSpPr>
          <p:cNvPr id="7" name="Text 5"/>
          <p:cNvSpPr/>
          <p:nvPr/>
        </p:nvSpPr>
        <p:spPr>
          <a:xfrm>
            <a:off x="758952" y="4069080"/>
            <a:ext cx="1143000" cy="310896"/>
          </a:xfrm>
          <a:prstGeom prst="rect">
            <a:avLst/>
          </a:prstGeom>
          <a:solidFill>
            <a:srgbClr val="0A8A5F"/>
          </a:solidFill>
          <a:ln>
            <a:solidFill>
              <a:srgbClr val="0A8A5F"/>
            </a:solidFill>
          </a:ln>
        </p:spPr>
        <p:txBody>
          <a:bodyPr wrap="square" lIns="254" tIns="254" rIns="254" bIns="254" rtlCol="0" anchor="ctr"/>
          <a:lstStyle/>
          <a:p>
            <a:pPr algn="ctr" indent="0" marL="0">
              <a:buNone/>
            </a:pPr>
            <a:r>
              <a:rPr lang="en-US" sz="950" b="1" dirty="0">
                <a:solidFill>
                  <a:srgbClr val="FFFFFF"/>
                </a:solidFill>
              </a:rPr>
              <a:t>JAVA 17</a:t>
            </a:r>
            <a:endParaRPr lang="en-US" sz="950" dirty="0"/>
          </a:p>
        </p:txBody>
      </p:sp>
      <p:sp>
        <p:nvSpPr>
          <p:cNvPr id="8" name="Text 6"/>
          <p:cNvSpPr/>
          <p:nvPr/>
        </p:nvSpPr>
        <p:spPr>
          <a:xfrm>
            <a:off x="2057400" y="4069080"/>
            <a:ext cx="1554480" cy="310896"/>
          </a:xfrm>
          <a:prstGeom prst="rect">
            <a:avLst/>
          </a:prstGeom>
          <a:solidFill>
            <a:srgbClr val="0A8A5F"/>
          </a:solidFill>
          <a:ln>
            <a:solidFill>
              <a:srgbClr val="0A8A5F"/>
            </a:solidFill>
          </a:ln>
        </p:spPr>
        <p:txBody>
          <a:bodyPr wrap="square" lIns="254" tIns="254" rIns="254" bIns="254" rtlCol="0" anchor="ctr"/>
          <a:lstStyle/>
          <a:p>
            <a:pPr algn="ctr" indent="0" marL="0">
              <a:buNone/>
            </a:pPr>
            <a:r>
              <a:rPr lang="en-US" sz="950" b="1" dirty="0">
                <a:solidFill>
                  <a:srgbClr val="FFFFFF"/>
                </a:solidFill>
              </a:rPr>
              <a:t>SPRING BOOT</a:t>
            </a:r>
            <a:endParaRPr lang="en-US" sz="950" dirty="0"/>
          </a:p>
        </p:txBody>
      </p:sp>
      <p:sp>
        <p:nvSpPr>
          <p:cNvPr id="9" name="Text 7"/>
          <p:cNvSpPr/>
          <p:nvPr/>
        </p:nvSpPr>
        <p:spPr>
          <a:xfrm>
            <a:off x="3767328" y="4069080"/>
            <a:ext cx="1508760" cy="310896"/>
          </a:xfrm>
          <a:prstGeom prst="rect">
            <a:avLst/>
          </a:prstGeom>
          <a:solidFill>
            <a:srgbClr val="0A8A5F"/>
          </a:solidFill>
          <a:ln>
            <a:solidFill>
              <a:srgbClr val="0A8A5F"/>
            </a:solidFill>
          </a:ln>
        </p:spPr>
        <p:txBody>
          <a:bodyPr wrap="square" lIns="254" tIns="254" rIns="254" bIns="254" rtlCol="0" anchor="ctr"/>
          <a:lstStyle/>
          <a:p>
            <a:pPr algn="ctr" indent="0" marL="0">
              <a:buNone/>
            </a:pPr>
            <a:r>
              <a:rPr lang="en-US" sz="950" b="1" dirty="0">
                <a:solidFill>
                  <a:srgbClr val="FFFFFF"/>
                </a:solidFill>
              </a:rPr>
              <a:t>VIBIUM MCP</a:t>
            </a:r>
            <a:endParaRPr lang="en-US" sz="950" dirty="0"/>
          </a:p>
        </p:txBody>
      </p:sp>
      <p:sp>
        <p:nvSpPr>
          <p:cNvPr id="10" name="Text 8"/>
          <p:cNvSpPr/>
          <p:nvPr/>
        </p:nvSpPr>
        <p:spPr>
          <a:xfrm>
            <a:off x="5440680" y="4069080"/>
            <a:ext cx="1737360" cy="310896"/>
          </a:xfrm>
          <a:prstGeom prst="rect">
            <a:avLst/>
          </a:prstGeom>
          <a:solidFill>
            <a:srgbClr val="0A8A5F"/>
          </a:solidFill>
          <a:ln>
            <a:solidFill>
              <a:srgbClr val="0A8A5F"/>
            </a:solidFill>
          </a:ln>
        </p:spPr>
        <p:txBody>
          <a:bodyPr wrap="square" lIns="254" tIns="254" rIns="254" bIns="254" rtlCol="0" anchor="ctr"/>
          <a:lstStyle/>
          <a:p>
            <a:pPr algn="ctr" indent="0" marL="0">
              <a:buNone/>
            </a:pPr>
            <a:r>
              <a:rPr lang="en-US" sz="950" b="1" dirty="0">
                <a:solidFill>
                  <a:srgbClr val="FFFFFF"/>
                </a:solidFill>
              </a:rPr>
              <a:t>LANGGRAPH4J</a:t>
            </a:r>
            <a:endParaRPr lang="en-US" sz="950" dirty="0"/>
          </a:p>
        </p:txBody>
      </p:sp>
      <p:sp>
        <p:nvSpPr>
          <p:cNvPr id="11" name="Text 9"/>
          <p:cNvSpPr/>
          <p:nvPr/>
        </p:nvSpPr>
        <p:spPr>
          <a:xfrm>
            <a:off x="758952" y="4828032"/>
            <a:ext cx="7132320" cy="365760"/>
          </a:xfrm>
          <a:prstGeom prst="rect">
            <a:avLst/>
          </a:prstGeom>
          <a:noFill/>
          <a:ln/>
        </p:spPr>
        <p:txBody>
          <a:bodyPr wrap="square" lIns="0" tIns="0" rIns="0" bIns="0" rtlCol="0" anchor="ctr"/>
          <a:lstStyle/>
          <a:p>
            <a:pPr indent="0" marL="0">
              <a:buNone/>
            </a:pPr>
            <a:r>
              <a:rPr lang="en-US" sz="1300" b="1" dirty="0">
                <a:solidFill>
                  <a:srgbClr val="BFE2D3"/>
                </a:solidFill>
              </a:rPr>
              <a:t>Complete architecture, feature walkthrough and demo</a:t>
            </a:r>
            <a:endParaRPr lang="en-US" sz="1300" dirty="0"/>
          </a:p>
        </p:txBody>
      </p:sp>
      <p:sp>
        <p:nvSpPr>
          <p:cNvPr id="12" name="Text 10"/>
          <p:cNvSpPr/>
          <p:nvPr/>
        </p:nvSpPr>
        <p:spPr>
          <a:xfrm>
            <a:off x="758952" y="5257800"/>
            <a:ext cx="5029200" cy="274320"/>
          </a:xfrm>
          <a:prstGeom prst="rect">
            <a:avLst/>
          </a:prstGeom>
          <a:noFill/>
          <a:ln/>
        </p:spPr>
        <p:txBody>
          <a:bodyPr wrap="square" lIns="0" tIns="0" rIns="0" bIns="0" rtlCol="0" anchor="ctr"/>
          <a:lstStyle/>
          <a:p>
            <a:pPr indent="0" marL="0">
              <a:buNone/>
            </a:pPr>
            <a:r>
              <a:rPr lang="en-US" sz="1000" dirty="0">
                <a:solidFill>
                  <a:srgbClr val="A9D4C1"/>
                </a:solidFill>
              </a:rPr>
              <a:t>Prepared from the current source package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Presentation roadmap</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From Vibium fundamentals to live framework demo</a:t>
            </a:r>
            <a:endParaRPr lang="en-US" sz="1150" dirty="0"/>
          </a:p>
        </p:txBody>
      </p:sp>
      <p:sp>
        <p:nvSpPr>
          <p:cNvPr id="4" name="Shape 2"/>
          <p:cNvSpPr/>
          <p:nvPr/>
        </p:nvSpPr>
        <p:spPr>
          <a:xfrm>
            <a:off x="640080" y="1417320"/>
            <a:ext cx="5074920" cy="1078992"/>
          </a:xfrm>
          <a:prstGeom prst="roundRect">
            <a:avLst/>
          </a:prstGeom>
          <a:solidFill>
            <a:srgbClr val="FFFFFF"/>
          </a:solidFill>
          <a:ln w="12700">
            <a:solidFill>
              <a:srgbClr val="D8E6DF"/>
            </a:solidFill>
            <a:prstDash val="solid"/>
          </a:ln>
          <a:effectLst>
            <a:outerShdw sx="100000" sy="100000" kx="0" ky="0" algn="bl" rotWithShape="0" blurRad="25400" dist="13970" dir="2700000">
              <a:srgbClr val="000000">
                <a:alpha val="14000"/>
              </a:srgbClr>
            </a:outerShdw>
          </a:effectLst>
        </p:spPr>
      </p:sp>
      <p:sp>
        <p:nvSpPr>
          <p:cNvPr id="5" name="Text 3"/>
          <p:cNvSpPr/>
          <p:nvPr/>
        </p:nvSpPr>
        <p:spPr>
          <a:xfrm>
            <a:off x="868680" y="1600200"/>
            <a:ext cx="502920" cy="502920"/>
          </a:xfrm>
          <a:prstGeom prst="rect">
            <a:avLst/>
          </a:prstGeom>
          <a:noFill/>
          <a:ln/>
        </p:spPr>
        <p:txBody>
          <a:bodyPr wrap="square" lIns="0" tIns="0" rIns="0" bIns="0" rtlCol="0" anchor="ctr"/>
          <a:lstStyle/>
          <a:p>
            <a:pPr indent="0" marL="0">
              <a:buNone/>
            </a:pPr>
            <a:r>
              <a:rPr lang="en-US" sz="2000" b="1" dirty="0">
                <a:solidFill>
                  <a:srgbClr val="007A53"/>
                </a:solidFill>
              </a:rPr>
              <a:t>01</a:t>
            </a:r>
            <a:endParaRPr lang="en-US" sz="2000" dirty="0"/>
          </a:p>
        </p:txBody>
      </p:sp>
      <p:sp>
        <p:nvSpPr>
          <p:cNvPr id="6" name="Text 4"/>
          <p:cNvSpPr/>
          <p:nvPr/>
        </p:nvSpPr>
        <p:spPr>
          <a:xfrm>
            <a:off x="1444752" y="1581912"/>
            <a:ext cx="3886200" cy="274320"/>
          </a:xfrm>
          <a:prstGeom prst="rect">
            <a:avLst/>
          </a:prstGeom>
          <a:noFill/>
          <a:ln/>
        </p:spPr>
        <p:txBody>
          <a:bodyPr wrap="square" lIns="0" tIns="0" rIns="0" bIns="0" rtlCol="0" anchor="ctr"/>
          <a:lstStyle/>
          <a:p>
            <a:pPr indent="0" marL="0">
              <a:buNone/>
            </a:pPr>
            <a:r>
              <a:rPr lang="en-US" sz="1400" b="1" dirty="0">
                <a:solidFill>
                  <a:srgbClr val="18251F"/>
                </a:solidFill>
              </a:rPr>
              <a:t>Vibium &amp; rationale</a:t>
            </a:r>
            <a:endParaRPr lang="en-US" sz="1400" dirty="0"/>
          </a:p>
        </p:txBody>
      </p:sp>
      <p:sp>
        <p:nvSpPr>
          <p:cNvPr id="7" name="Text 5"/>
          <p:cNvSpPr/>
          <p:nvPr/>
        </p:nvSpPr>
        <p:spPr>
          <a:xfrm>
            <a:off x="1444752" y="1920240"/>
            <a:ext cx="3886200" cy="384048"/>
          </a:xfrm>
          <a:prstGeom prst="rect">
            <a:avLst/>
          </a:prstGeom>
          <a:noFill/>
          <a:ln/>
        </p:spPr>
        <p:txBody>
          <a:bodyPr wrap="square" lIns="0" tIns="0" rIns="0" bIns="0" rtlCol="0" anchor="ctr"/>
          <a:lstStyle/>
          <a:p>
            <a:pPr indent="0" marL="0">
              <a:buNone/>
            </a:pPr>
            <a:r>
              <a:rPr lang="en-US" sz="1050" dirty="0">
                <a:solidFill>
                  <a:srgbClr val="66756F"/>
                </a:solidFill>
              </a:rPr>
              <a:t>What Vibium is and why it fits agentic automation</a:t>
            </a:r>
            <a:endParaRPr lang="en-US" sz="1050" dirty="0"/>
          </a:p>
        </p:txBody>
      </p:sp>
      <p:sp>
        <p:nvSpPr>
          <p:cNvPr id="8" name="Shape 6"/>
          <p:cNvSpPr/>
          <p:nvPr/>
        </p:nvSpPr>
        <p:spPr>
          <a:xfrm>
            <a:off x="6263640" y="1417320"/>
            <a:ext cx="5074920" cy="1078992"/>
          </a:xfrm>
          <a:prstGeom prst="roundRect">
            <a:avLst/>
          </a:prstGeom>
          <a:solidFill>
            <a:srgbClr val="FFFFFF"/>
          </a:solidFill>
          <a:ln w="12700">
            <a:solidFill>
              <a:srgbClr val="D8E6DF"/>
            </a:solidFill>
            <a:prstDash val="solid"/>
          </a:ln>
          <a:effectLst>
            <a:outerShdw sx="100000" sy="100000" kx="0" ky="0" algn="bl" rotWithShape="0" blurRad="322580000" dist="177419000" dir="162000000000">
              <a:srgbClr val="000000">
                <a:alpha val="1400000000"/>
              </a:srgbClr>
            </a:outerShdw>
          </a:effectLst>
        </p:spPr>
      </p:sp>
      <p:sp>
        <p:nvSpPr>
          <p:cNvPr id="9" name="Text 7"/>
          <p:cNvSpPr/>
          <p:nvPr/>
        </p:nvSpPr>
        <p:spPr>
          <a:xfrm>
            <a:off x="6492240" y="1600200"/>
            <a:ext cx="502920" cy="502920"/>
          </a:xfrm>
          <a:prstGeom prst="rect">
            <a:avLst/>
          </a:prstGeom>
          <a:noFill/>
          <a:ln/>
        </p:spPr>
        <p:txBody>
          <a:bodyPr wrap="square" lIns="0" tIns="0" rIns="0" bIns="0" rtlCol="0" anchor="ctr"/>
          <a:lstStyle/>
          <a:p>
            <a:pPr indent="0" marL="0">
              <a:buNone/>
            </a:pPr>
            <a:r>
              <a:rPr lang="en-US" sz="2000" b="1" dirty="0">
                <a:solidFill>
                  <a:srgbClr val="007A53"/>
                </a:solidFill>
              </a:rPr>
              <a:t>02</a:t>
            </a:r>
            <a:endParaRPr lang="en-US" sz="2000" dirty="0"/>
          </a:p>
        </p:txBody>
      </p:sp>
      <p:sp>
        <p:nvSpPr>
          <p:cNvPr id="10" name="Text 8"/>
          <p:cNvSpPr/>
          <p:nvPr/>
        </p:nvSpPr>
        <p:spPr>
          <a:xfrm>
            <a:off x="7068312" y="1581912"/>
            <a:ext cx="3886200" cy="274320"/>
          </a:xfrm>
          <a:prstGeom prst="rect">
            <a:avLst/>
          </a:prstGeom>
          <a:noFill/>
          <a:ln/>
        </p:spPr>
        <p:txBody>
          <a:bodyPr wrap="square" lIns="0" tIns="0" rIns="0" bIns="0" rtlCol="0" anchor="ctr"/>
          <a:lstStyle/>
          <a:p>
            <a:pPr indent="0" marL="0">
              <a:buNone/>
            </a:pPr>
            <a:r>
              <a:rPr lang="en-US" sz="1400" b="1" dirty="0">
                <a:solidFill>
                  <a:srgbClr val="18251F"/>
                </a:solidFill>
              </a:rPr>
              <a:t>Solution architecture</a:t>
            </a:r>
            <a:endParaRPr lang="en-US" sz="1400" dirty="0"/>
          </a:p>
        </p:txBody>
      </p:sp>
      <p:sp>
        <p:nvSpPr>
          <p:cNvPr id="11" name="Text 9"/>
          <p:cNvSpPr/>
          <p:nvPr/>
        </p:nvSpPr>
        <p:spPr>
          <a:xfrm>
            <a:off x="7068312" y="1920240"/>
            <a:ext cx="3886200" cy="384048"/>
          </a:xfrm>
          <a:prstGeom prst="rect">
            <a:avLst/>
          </a:prstGeom>
          <a:noFill/>
          <a:ln/>
        </p:spPr>
        <p:txBody>
          <a:bodyPr wrap="square" lIns="0" tIns="0" rIns="0" bIns="0" rtlCol="0" anchor="ctr"/>
          <a:lstStyle/>
          <a:p>
            <a:pPr indent="0" marL="0">
              <a:buNone/>
            </a:pPr>
            <a:r>
              <a:rPr lang="en-US" sz="1050" dirty="0">
                <a:solidFill>
                  <a:srgbClr val="66756F"/>
                </a:solidFill>
              </a:rPr>
              <a:t>How Spring Boot, LangGraph, MCP and the browser connect</a:t>
            </a:r>
            <a:endParaRPr lang="en-US" sz="1050" dirty="0"/>
          </a:p>
        </p:txBody>
      </p:sp>
      <p:sp>
        <p:nvSpPr>
          <p:cNvPr id="12" name="Shape 10"/>
          <p:cNvSpPr/>
          <p:nvPr/>
        </p:nvSpPr>
        <p:spPr>
          <a:xfrm>
            <a:off x="640080" y="2834640"/>
            <a:ext cx="5074920" cy="1078992"/>
          </a:xfrm>
          <a:prstGeom prst="roundRect">
            <a:avLst/>
          </a:prstGeom>
          <a:solidFill>
            <a:srgbClr val="FFFFFF"/>
          </a:solidFill>
          <a:ln w="12700">
            <a:solidFill>
              <a:srgbClr val="D8E6DF"/>
            </a:solidFill>
            <a:prstDash val="solid"/>
          </a:ln>
          <a:effectLst>
            <a:outerShdw sx="100000" sy="100000" kx="0" ky="0" algn="bl" rotWithShape="0" blurRad="4096766000000" dist="2253221300000" dir="9720000000000000">
              <a:srgbClr val="000000">
                <a:alpha val="140000000000000"/>
              </a:srgbClr>
            </a:outerShdw>
          </a:effectLst>
        </p:spPr>
      </p:sp>
      <p:sp>
        <p:nvSpPr>
          <p:cNvPr id="13" name="Text 11"/>
          <p:cNvSpPr/>
          <p:nvPr/>
        </p:nvSpPr>
        <p:spPr>
          <a:xfrm>
            <a:off x="868680" y="3017520"/>
            <a:ext cx="502920" cy="502920"/>
          </a:xfrm>
          <a:prstGeom prst="rect">
            <a:avLst/>
          </a:prstGeom>
          <a:noFill/>
          <a:ln/>
        </p:spPr>
        <p:txBody>
          <a:bodyPr wrap="square" lIns="0" tIns="0" rIns="0" bIns="0" rtlCol="0" anchor="ctr"/>
          <a:lstStyle/>
          <a:p>
            <a:pPr indent="0" marL="0">
              <a:buNone/>
            </a:pPr>
            <a:r>
              <a:rPr lang="en-US" sz="2000" b="1" dirty="0">
                <a:solidFill>
                  <a:srgbClr val="007A53"/>
                </a:solidFill>
              </a:rPr>
              <a:t>03</a:t>
            </a:r>
            <a:endParaRPr lang="en-US" sz="2000" dirty="0"/>
          </a:p>
        </p:txBody>
      </p:sp>
      <p:sp>
        <p:nvSpPr>
          <p:cNvPr id="14" name="Text 12"/>
          <p:cNvSpPr/>
          <p:nvPr/>
        </p:nvSpPr>
        <p:spPr>
          <a:xfrm>
            <a:off x="1444752" y="2999232"/>
            <a:ext cx="3886200" cy="274320"/>
          </a:xfrm>
          <a:prstGeom prst="rect">
            <a:avLst/>
          </a:prstGeom>
          <a:noFill/>
          <a:ln/>
        </p:spPr>
        <p:txBody>
          <a:bodyPr wrap="square" lIns="0" tIns="0" rIns="0" bIns="0" rtlCol="0" anchor="ctr"/>
          <a:lstStyle/>
          <a:p>
            <a:pPr indent="0" marL="0">
              <a:buNone/>
            </a:pPr>
            <a:r>
              <a:rPr lang="en-US" sz="1400" b="1" dirty="0">
                <a:solidFill>
                  <a:srgbClr val="18251F"/>
                </a:solidFill>
              </a:rPr>
              <a:t>Execution mechanics</a:t>
            </a:r>
            <a:endParaRPr lang="en-US" sz="1400" dirty="0"/>
          </a:p>
        </p:txBody>
      </p:sp>
      <p:sp>
        <p:nvSpPr>
          <p:cNvPr id="15" name="Text 13"/>
          <p:cNvSpPr/>
          <p:nvPr/>
        </p:nvSpPr>
        <p:spPr>
          <a:xfrm>
            <a:off x="1444752" y="3337560"/>
            <a:ext cx="3886200" cy="384048"/>
          </a:xfrm>
          <a:prstGeom prst="rect">
            <a:avLst/>
          </a:prstGeom>
          <a:noFill/>
          <a:ln/>
        </p:spPr>
        <p:txBody>
          <a:bodyPr wrap="square" lIns="0" tIns="0" rIns="0" bIns="0" rtlCol="0" anchor="ctr"/>
          <a:lstStyle/>
          <a:p>
            <a:pPr indent="0" marL="0">
              <a:buNone/>
            </a:pPr>
            <a:r>
              <a:rPr lang="en-US" sz="1050" dirty="0">
                <a:solidFill>
                  <a:srgbClr val="66756F"/>
                </a:solidFill>
              </a:rPr>
              <a:t>Scenario parsing, browser modes, self-healing and validation</a:t>
            </a:r>
            <a:endParaRPr lang="en-US" sz="1050" dirty="0"/>
          </a:p>
        </p:txBody>
      </p:sp>
      <p:sp>
        <p:nvSpPr>
          <p:cNvPr id="16" name="Shape 14"/>
          <p:cNvSpPr/>
          <p:nvPr/>
        </p:nvSpPr>
        <p:spPr>
          <a:xfrm>
            <a:off x="6263640" y="2834640"/>
            <a:ext cx="5074920" cy="1078992"/>
          </a:xfrm>
          <a:prstGeom prst="roundRect">
            <a:avLst/>
          </a:prstGeom>
          <a:solidFill>
            <a:srgbClr val="FFFFFF"/>
          </a:solidFill>
          <a:ln w="12700">
            <a:solidFill>
              <a:srgbClr val="D8E6DF"/>
            </a:solidFill>
            <a:prstDash val="solid"/>
          </a:ln>
          <a:effectLst>
            <a:outerShdw sx="100000" sy="100000" kx="0" ky="0" algn="bl" rotWithShape="0" blurRad="52028928200000000" dist="28615910510000000" dir="583200000000000000000">
              <a:srgbClr val="000000">
                <a:alpha val="14000000000000000000"/>
              </a:srgbClr>
            </a:outerShdw>
          </a:effectLst>
        </p:spPr>
      </p:sp>
      <p:sp>
        <p:nvSpPr>
          <p:cNvPr id="17" name="Text 15"/>
          <p:cNvSpPr/>
          <p:nvPr/>
        </p:nvSpPr>
        <p:spPr>
          <a:xfrm>
            <a:off x="6492240" y="3017520"/>
            <a:ext cx="502920" cy="502920"/>
          </a:xfrm>
          <a:prstGeom prst="rect">
            <a:avLst/>
          </a:prstGeom>
          <a:noFill/>
          <a:ln/>
        </p:spPr>
        <p:txBody>
          <a:bodyPr wrap="square" lIns="0" tIns="0" rIns="0" bIns="0" rtlCol="0" anchor="ctr"/>
          <a:lstStyle/>
          <a:p>
            <a:pPr indent="0" marL="0">
              <a:buNone/>
            </a:pPr>
            <a:r>
              <a:rPr lang="en-US" sz="2000" b="1" dirty="0">
                <a:solidFill>
                  <a:srgbClr val="007A53"/>
                </a:solidFill>
              </a:rPr>
              <a:t>04</a:t>
            </a:r>
            <a:endParaRPr lang="en-US" sz="2000" dirty="0"/>
          </a:p>
        </p:txBody>
      </p:sp>
      <p:sp>
        <p:nvSpPr>
          <p:cNvPr id="18" name="Text 16"/>
          <p:cNvSpPr/>
          <p:nvPr/>
        </p:nvSpPr>
        <p:spPr>
          <a:xfrm>
            <a:off x="7068312" y="2999232"/>
            <a:ext cx="3886200" cy="274320"/>
          </a:xfrm>
          <a:prstGeom prst="rect">
            <a:avLst/>
          </a:prstGeom>
          <a:noFill/>
          <a:ln/>
        </p:spPr>
        <p:txBody>
          <a:bodyPr wrap="square" lIns="0" tIns="0" rIns="0" bIns="0" rtlCol="0" anchor="ctr"/>
          <a:lstStyle/>
          <a:p>
            <a:pPr indent="0" marL="0">
              <a:buNone/>
            </a:pPr>
            <a:r>
              <a:rPr lang="en-US" sz="1400" b="1" dirty="0">
                <a:solidFill>
                  <a:srgbClr val="18251F"/>
                </a:solidFill>
              </a:rPr>
              <a:t>Operations &amp; controls</a:t>
            </a:r>
            <a:endParaRPr lang="en-US" sz="1400" dirty="0"/>
          </a:p>
        </p:txBody>
      </p:sp>
      <p:sp>
        <p:nvSpPr>
          <p:cNvPr id="19" name="Text 17"/>
          <p:cNvSpPr/>
          <p:nvPr/>
        </p:nvSpPr>
        <p:spPr>
          <a:xfrm>
            <a:off x="7068312" y="3337560"/>
            <a:ext cx="3886200" cy="384048"/>
          </a:xfrm>
          <a:prstGeom prst="rect">
            <a:avLst/>
          </a:prstGeom>
          <a:noFill/>
          <a:ln/>
        </p:spPr>
        <p:txBody>
          <a:bodyPr wrap="square" lIns="0" tIns="0" rIns="0" bIns="0" rtlCol="0" anchor="ctr"/>
          <a:lstStyle/>
          <a:p>
            <a:pPr indent="0" marL="0">
              <a:buNone/>
            </a:pPr>
            <a:r>
              <a:rPr lang="en-US" sz="1050" dirty="0">
                <a:solidFill>
                  <a:srgbClr val="66756F"/>
                </a:solidFill>
              </a:rPr>
              <a:t>Recorder, cookies, security, reports and diagnostics</a:t>
            </a:r>
            <a:endParaRPr lang="en-US" sz="1050" dirty="0"/>
          </a:p>
        </p:txBody>
      </p:sp>
      <p:sp>
        <p:nvSpPr>
          <p:cNvPr id="20" name="Shape 18"/>
          <p:cNvSpPr/>
          <p:nvPr/>
        </p:nvSpPr>
        <p:spPr>
          <a:xfrm>
            <a:off x="640080" y="4251960"/>
            <a:ext cx="5074920" cy="1078992"/>
          </a:xfrm>
          <a:prstGeom prst="roundRect">
            <a:avLst/>
          </a:prstGeom>
          <a:solidFill>
            <a:srgbClr val="FFFFFF"/>
          </a:solidFill>
          <a:ln w="12700">
            <a:solidFill>
              <a:srgbClr val="D8E6DF"/>
            </a:solidFill>
            <a:prstDash val="solid"/>
          </a:ln>
          <a:effectLst>
            <a:outerShdw sx="100000" sy="100000" kx="0" ky="0" algn="bl" rotWithShape="0" blurRad="660767388140000000000" dist="363422063477000000000" dir="3.4992e+25">
              <a:srgbClr val="000000">
                <a:alpha val="1.4e+24"/>
              </a:srgbClr>
            </a:outerShdw>
          </a:effectLst>
        </p:spPr>
      </p:sp>
      <p:sp>
        <p:nvSpPr>
          <p:cNvPr id="21" name="Text 19"/>
          <p:cNvSpPr/>
          <p:nvPr/>
        </p:nvSpPr>
        <p:spPr>
          <a:xfrm>
            <a:off x="868680" y="4434840"/>
            <a:ext cx="502920" cy="502920"/>
          </a:xfrm>
          <a:prstGeom prst="rect">
            <a:avLst/>
          </a:prstGeom>
          <a:noFill/>
          <a:ln/>
        </p:spPr>
        <p:txBody>
          <a:bodyPr wrap="square" lIns="0" tIns="0" rIns="0" bIns="0" rtlCol="0" anchor="ctr"/>
          <a:lstStyle/>
          <a:p>
            <a:pPr indent="0" marL="0">
              <a:buNone/>
            </a:pPr>
            <a:r>
              <a:rPr lang="en-US" sz="2000" b="1" dirty="0">
                <a:solidFill>
                  <a:srgbClr val="007A53"/>
                </a:solidFill>
              </a:rPr>
              <a:t>05</a:t>
            </a:r>
            <a:endParaRPr lang="en-US" sz="2000" dirty="0"/>
          </a:p>
        </p:txBody>
      </p:sp>
      <p:sp>
        <p:nvSpPr>
          <p:cNvPr id="22" name="Text 20"/>
          <p:cNvSpPr/>
          <p:nvPr/>
        </p:nvSpPr>
        <p:spPr>
          <a:xfrm>
            <a:off x="1444752" y="4416552"/>
            <a:ext cx="3886200" cy="274320"/>
          </a:xfrm>
          <a:prstGeom prst="rect">
            <a:avLst/>
          </a:prstGeom>
          <a:noFill/>
          <a:ln/>
        </p:spPr>
        <p:txBody>
          <a:bodyPr wrap="square" lIns="0" tIns="0" rIns="0" bIns="0" rtlCol="0" anchor="ctr"/>
          <a:lstStyle/>
          <a:p>
            <a:pPr indent="0" marL="0">
              <a:buNone/>
            </a:pPr>
            <a:r>
              <a:rPr lang="en-US" sz="1400" b="1" dirty="0">
                <a:solidFill>
                  <a:srgbClr val="18251F"/>
                </a:solidFill>
              </a:rPr>
              <a:t>Demo</a:t>
            </a:r>
            <a:endParaRPr lang="en-US" sz="1400" dirty="0"/>
          </a:p>
        </p:txBody>
      </p:sp>
      <p:sp>
        <p:nvSpPr>
          <p:cNvPr id="23" name="Text 21"/>
          <p:cNvSpPr/>
          <p:nvPr/>
        </p:nvSpPr>
        <p:spPr>
          <a:xfrm>
            <a:off x="1444752" y="4754880"/>
            <a:ext cx="3886200" cy="384048"/>
          </a:xfrm>
          <a:prstGeom prst="rect">
            <a:avLst/>
          </a:prstGeom>
          <a:noFill/>
          <a:ln/>
        </p:spPr>
        <p:txBody>
          <a:bodyPr wrap="square" lIns="0" tIns="0" rIns="0" bIns="0" rtlCol="0" anchor="ctr"/>
          <a:lstStyle/>
          <a:p>
            <a:pPr indent="0" marL="0">
              <a:buNone/>
            </a:pPr>
            <a:r>
              <a:rPr lang="en-US" sz="1050" dirty="0">
                <a:solidFill>
                  <a:srgbClr val="66756F"/>
                </a:solidFill>
              </a:rPr>
              <a:t>Connection → configure → execute → investigate results</a:t>
            </a:r>
            <a:endParaRPr lang="en-US" sz="1050" dirty="0"/>
          </a:p>
        </p:txBody>
      </p:sp>
      <p:sp>
        <p:nvSpPr>
          <p:cNvPr id="24" name="Shape 22"/>
          <p:cNvSpPr/>
          <p:nvPr/>
        </p:nvSpPr>
        <p:spPr>
          <a:xfrm>
            <a:off x="6263640" y="4251960"/>
            <a:ext cx="5074920" cy="1078992"/>
          </a:xfrm>
          <a:prstGeom prst="roundRect">
            <a:avLst/>
          </a:prstGeom>
          <a:solidFill>
            <a:srgbClr val="FFFFFF"/>
          </a:solidFill>
          <a:ln w="12700">
            <a:solidFill>
              <a:srgbClr val="D8E6DF"/>
            </a:solidFill>
            <a:prstDash val="solid"/>
          </a:ln>
          <a:effectLst>
            <a:outerShdw sx="100000" sy="100000" kx="0" ky="0" algn="bl" rotWithShape="0" blurRad="8.391745829378e+24" dist="4.6154602061579e+24" dir="2.09952e+30">
              <a:srgbClr val="000000">
                <a:alpha val="1.4000000000000002e+29"/>
              </a:srgbClr>
            </a:outerShdw>
          </a:effectLst>
        </p:spPr>
      </p:sp>
      <p:sp>
        <p:nvSpPr>
          <p:cNvPr id="25" name="Text 23"/>
          <p:cNvSpPr/>
          <p:nvPr/>
        </p:nvSpPr>
        <p:spPr>
          <a:xfrm>
            <a:off x="6492240" y="4434840"/>
            <a:ext cx="502920" cy="502920"/>
          </a:xfrm>
          <a:prstGeom prst="rect">
            <a:avLst/>
          </a:prstGeom>
          <a:noFill/>
          <a:ln/>
        </p:spPr>
        <p:txBody>
          <a:bodyPr wrap="square" lIns="0" tIns="0" rIns="0" bIns="0" rtlCol="0" anchor="ctr"/>
          <a:lstStyle/>
          <a:p>
            <a:pPr indent="0" marL="0">
              <a:buNone/>
            </a:pPr>
            <a:r>
              <a:rPr lang="en-US" sz="2000" b="1" dirty="0">
                <a:solidFill>
                  <a:srgbClr val="007A53"/>
                </a:solidFill>
              </a:rPr>
              <a:t>06</a:t>
            </a:r>
            <a:endParaRPr lang="en-US" sz="2000" dirty="0"/>
          </a:p>
        </p:txBody>
      </p:sp>
      <p:sp>
        <p:nvSpPr>
          <p:cNvPr id="26" name="Text 24"/>
          <p:cNvSpPr/>
          <p:nvPr/>
        </p:nvSpPr>
        <p:spPr>
          <a:xfrm>
            <a:off x="7068312" y="4416552"/>
            <a:ext cx="3886200" cy="274320"/>
          </a:xfrm>
          <a:prstGeom prst="rect">
            <a:avLst/>
          </a:prstGeom>
          <a:noFill/>
          <a:ln/>
        </p:spPr>
        <p:txBody>
          <a:bodyPr wrap="square" lIns="0" tIns="0" rIns="0" bIns="0" rtlCol="0" anchor="ctr"/>
          <a:lstStyle/>
          <a:p>
            <a:pPr indent="0" marL="0">
              <a:buNone/>
            </a:pPr>
            <a:r>
              <a:rPr lang="en-US" sz="1400" b="1" dirty="0">
                <a:solidFill>
                  <a:srgbClr val="18251F"/>
                </a:solidFill>
              </a:rPr>
              <a:t>Quality &amp; roadmap</a:t>
            </a:r>
            <a:endParaRPr lang="en-US" sz="1400" dirty="0"/>
          </a:p>
        </p:txBody>
      </p:sp>
      <p:sp>
        <p:nvSpPr>
          <p:cNvPr id="27" name="Text 25"/>
          <p:cNvSpPr/>
          <p:nvPr/>
        </p:nvSpPr>
        <p:spPr>
          <a:xfrm>
            <a:off x="7068312" y="4754880"/>
            <a:ext cx="3886200" cy="384048"/>
          </a:xfrm>
          <a:prstGeom prst="rect">
            <a:avLst/>
          </a:prstGeom>
          <a:noFill/>
          <a:ln/>
        </p:spPr>
        <p:txBody>
          <a:bodyPr wrap="square" lIns="0" tIns="0" rIns="0" bIns="0" rtlCol="0" anchor="ctr"/>
          <a:lstStyle/>
          <a:p>
            <a:pPr indent="0" marL="0">
              <a:buNone/>
            </a:pPr>
            <a:r>
              <a:rPr lang="en-US" sz="1050" dirty="0">
                <a:solidFill>
                  <a:srgbClr val="66756F"/>
                </a:solidFill>
              </a:rPr>
              <a:t>Unit tests, limitations and next improvements</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What is Vibium?</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The browser-control layer underneath this framework</a:t>
            </a:r>
            <a:endParaRPr lang="en-US" sz="1150" dirty="0"/>
          </a:p>
        </p:txBody>
      </p:sp>
      <p:sp>
        <p:nvSpPr>
          <p:cNvPr id="4" name="Shape 2"/>
          <p:cNvSpPr/>
          <p:nvPr/>
        </p:nvSpPr>
        <p:spPr>
          <a:xfrm>
            <a:off x="594360" y="1325880"/>
            <a:ext cx="3657600" cy="4297680"/>
          </a:xfrm>
          <a:prstGeom prst="roundRect">
            <a:avLst>
              <a:gd name="adj" fmla="val 3000"/>
            </a:avLst>
          </a:prstGeom>
          <a:solidFill>
            <a:srgbClr val="FFFFFF"/>
          </a:solidFill>
          <a:ln w="12700">
            <a:solidFill>
              <a:srgbClr val="D8E6DF"/>
            </a:solidFill>
            <a:prstDash val="solid"/>
          </a:ln>
          <a:effectLst>
            <a:outerShdw sx="100000" sy="100000" kx="0" ky="0" algn="bl" rotWithShape="0" blurRad="1.0657517203310059e+29" dist="5.861634461820533e+28" dir="1.259712e+35">
              <a:srgbClr val="000000">
                <a:alpha val="1.4000000000000003e+34"/>
              </a:srgbClr>
            </a:outerShdw>
          </a:effectLst>
        </p:spPr>
      </p:sp>
      <p:sp>
        <p:nvSpPr>
          <p:cNvPr id="5" name="Shape 3"/>
          <p:cNvSpPr/>
          <p:nvPr/>
        </p:nvSpPr>
        <p:spPr>
          <a:xfrm>
            <a:off x="795528" y="1527048"/>
            <a:ext cx="384048" cy="384048"/>
          </a:xfrm>
          <a:prstGeom prst="ellipse">
            <a:avLst/>
          </a:prstGeom>
          <a:solidFill>
            <a:srgbClr val="E9F6F0"/>
          </a:solidFill>
          <a:ln w="12700">
            <a:solidFill>
              <a:srgbClr val="E9F6F0"/>
            </a:solidFill>
            <a:prstDash val="solid"/>
          </a:ln>
        </p:spPr>
      </p:sp>
      <p:sp>
        <p:nvSpPr>
          <p:cNvPr id="6" name="Text 4"/>
          <p:cNvSpPr/>
          <p:nvPr/>
        </p:nvSpPr>
        <p:spPr>
          <a:xfrm>
            <a:off x="79552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V</a:t>
            </a:r>
            <a:endParaRPr lang="en-US" sz="1100" dirty="0"/>
          </a:p>
        </p:txBody>
      </p:sp>
      <p:sp>
        <p:nvSpPr>
          <p:cNvPr id="7" name="Text 5"/>
          <p:cNvSpPr/>
          <p:nvPr/>
        </p:nvSpPr>
        <p:spPr>
          <a:xfrm>
            <a:off x="1289304" y="1508760"/>
            <a:ext cx="2743200" cy="292608"/>
          </a:xfrm>
          <a:prstGeom prst="rect">
            <a:avLst/>
          </a:prstGeom>
          <a:noFill/>
          <a:ln/>
        </p:spPr>
        <p:txBody>
          <a:bodyPr wrap="square" lIns="0" tIns="0" rIns="0" bIns="0" rtlCol="0" anchor="ctr"/>
          <a:lstStyle/>
          <a:p>
            <a:pPr indent="0" marL="0">
              <a:buNone/>
            </a:pPr>
            <a:r>
              <a:rPr lang="en-US" sz="1400" b="1" dirty="0">
                <a:solidFill>
                  <a:srgbClr val="18251F"/>
                </a:solidFill>
              </a:rPr>
              <a:t>Official positioning</a:t>
            </a:r>
            <a:endParaRPr lang="en-US" sz="1400" dirty="0"/>
          </a:p>
        </p:txBody>
      </p:sp>
      <p:sp>
        <p:nvSpPr>
          <p:cNvPr id="8" name="Text 6"/>
          <p:cNvSpPr/>
          <p:nvPr/>
        </p:nvSpPr>
        <p:spPr>
          <a:xfrm>
            <a:off x="813816" y="1892808"/>
            <a:ext cx="3218688" cy="3566160"/>
          </a:xfrm>
          <a:prstGeom prst="rect">
            <a:avLst/>
          </a:prstGeom>
          <a:noFill/>
          <a:ln/>
        </p:spPr>
        <p:txBody>
          <a:bodyPr wrap="square" lIns="381" tIns="381" rIns="381" bIns="381" rtlCol="0" anchor="t"/>
          <a:lstStyle/>
          <a:p>
            <a:pPr indent="0" marL="0">
              <a:buNone/>
            </a:pPr>
            <a:r>
              <a:rPr lang="en-US" sz="1050" dirty="0">
                <a:solidFill>
                  <a:srgbClr val="66756F"/>
                </a:solidFill>
              </a:rPr>
              <a:t>Vibium describes itself as a verification layer for coding agents. It provides browser automation through simple CLI commands, an MCP server, and client libraries. The browser-control path is built on WebDriver BiDi.</a:t>
            </a:r>
            <a:endParaRPr lang="en-US" sz="1050" dirty="0"/>
          </a:p>
        </p:txBody>
      </p:sp>
      <p:sp>
        <p:nvSpPr>
          <p:cNvPr id="9" name="Shape 7"/>
          <p:cNvSpPr/>
          <p:nvPr/>
        </p:nvSpPr>
        <p:spPr>
          <a:xfrm>
            <a:off x="4617720" y="1325880"/>
            <a:ext cx="6903720" cy="4297680"/>
          </a:xfrm>
          <a:prstGeom prst="roundRect">
            <a:avLst/>
          </a:prstGeom>
          <a:solidFill>
            <a:srgbClr val="FFFFFF"/>
          </a:solidFill>
          <a:ln w="12700">
            <a:solidFill>
              <a:srgbClr val="D8E6DF"/>
            </a:solidFill>
            <a:prstDash val="solid"/>
          </a:ln>
          <a:effectLst>
            <a:outerShdw sx="100000" sy="100000" kx="0" ky="0" algn="bl" rotWithShape="0" blurRad="1.3535046848203775e+33" dist="7.444275766512077e+32" dir="7.558272e+39">
              <a:srgbClr val="000000">
                <a:alpha val="1.4000000000000003e+39"/>
              </a:srgbClr>
            </a:outerShdw>
          </a:effectLst>
        </p:spPr>
      </p:sp>
      <p:sp>
        <p:nvSpPr>
          <p:cNvPr id="10" name="Shape 8"/>
          <p:cNvSpPr/>
          <p:nvPr/>
        </p:nvSpPr>
        <p:spPr>
          <a:xfrm>
            <a:off x="5074920" y="1828800"/>
            <a:ext cx="1645920" cy="713232"/>
          </a:xfrm>
          <a:prstGeom prst="roundRect">
            <a:avLst/>
          </a:prstGeom>
          <a:solidFill>
            <a:srgbClr val="E9F6F0"/>
          </a:solidFill>
          <a:ln w="12700">
            <a:solidFill>
              <a:srgbClr val="D8E6DF"/>
            </a:solidFill>
            <a:prstDash val="solid"/>
          </a:ln>
        </p:spPr>
      </p:sp>
      <p:sp>
        <p:nvSpPr>
          <p:cNvPr id="11" name="Text 9"/>
          <p:cNvSpPr/>
          <p:nvPr/>
        </p:nvSpPr>
        <p:spPr>
          <a:xfrm>
            <a:off x="5074920" y="2039112"/>
            <a:ext cx="1645920" cy="228600"/>
          </a:xfrm>
          <a:prstGeom prst="rect">
            <a:avLst/>
          </a:prstGeom>
          <a:noFill/>
          <a:ln/>
        </p:spPr>
        <p:txBody>
          <a:bodyPr wrap="square" lIns="0" tIns="0" rIns="0" bIns="0" rtlCol="0" anchor="ctr"/>
          <a:lstStyle/>
          <a:p>
            <a:pPr algn="ctr" indent="0" marL="0">
              <a:buNone/>
            </a:pPr>
            <a:r>
              <a:rPr lang="en-US" sz="1200" b="1" dirty="0">
                <a:solidFill>
                  <a:srgbClr val="18251F"/>
                </a:solidFill>
              </a:rPr>
              <a:t>AI / Agent</a:t>
            </a:r>
            <a:endParaRPr lang="en-US" sz="1200" dirty="0"/>
          </a:p>
        </p:txBody>
      </p:sp>
      <p:sp>
        <p:nvSpPr>
          <p:cNvPr id="12" name="Shape 10"/>
          <p:cNvSpPr/>
          <p:nvPr/>
        </p:nvSpPr>
        <p:spPr>
          <a:xfrm>
            <a:off x="7315200" y="1828800"/>
            <a:ext cx="1645920" cy="713232"/>
          </a:xfrm>
          <a:prstGeom prst="roundRect">
            <a:avLst/>
          </a:prstGeom>
          <a:solidFill>
            <a:srgbClr val="DFF3E9"/>
          </a:solidFill>
          <a:ln w="12700">
            <a:solidFill>
              <a:srgbClr val="D8E6DF"/>
            </a:solidFill>
            <a:prstDash val="solid"/>
          </a:ln>
        </p:spPr>
      </p:sp>
      <p:sp>
        <p:nvSpPr>
          <p:cNvPr id="13" name="Text 11"/>
          <p:cNvSpPr/>
          <p:nvPr/>
        </p:nvSpPr>
        <p:spPr>
          <a:xfrm>
            <a:off x="7315200" y="2039112"/>
            <a:ext cx="1645920" cy="228600"/>
          </a:xfrm>
          <a:prstGeom prst="rect">
            <a:avLst/>
          </a:prstGeom>
          <a:noFill/>
          <a:ln/>
        </p:spPr>
        <p:txBody>
          <a:bodyPr wrap="square" lIns="0" tIns="0" rIns="0" bIns="0" rtlCol="0" anchor="ctr"/>
          <a:lstStyle/>
          <a:p>
            <a:pPr algn="ctr" indent="0" marL="0">
              <a:buNone/>
            </a:pPr>
            <a:r>
              <a:rPr lang="en-US" sz="1200" b="1" dirty="0">
                <a:solidFill>
                  <a:srgbClr val="18251F"/>
                </a:solidFill>
              </a:rPr>
              <a:t>Vibium MCP</a:t>
            </a:r>
            <a:endParaRPr lang="en-US" sz="1200" dirty="0"/>
          </a:p>
        </p:txBody>
      </p:sp>
      <p:sp>
        <p:nvSpPr>
          <p:cNvPr id="14" name="Shape 12"/>
          <p:cNvSpPr/>
          <p:nvPr/>
        </p:nvSpPr>
        <p:spPr>
          <a:xfrm>
            <a:off x="9555480" y="1828800"/>
            <a:ext cx="1554480" cy="713232"/>
          </a:xfrm>
          <a:prstGeom prst="roundRect">
            <a:avLst/>
          </a:prstGeom>
          <a:solidFill>
            <a:srgbClr val="F6FBF8"/>
          </a:solidFill>
          <a:ln w="12700">
            <a:solidFill>
              <a:srgbClr val="D8E6DF"/>
            </a:solidFill>
            <a:prstDash val="solid"/>
          </a:ln>
        </p:spPr>
      </p:sp>
      <p:sp>
        <p:nvSpPr>
          <p:cNvPr id="15" name="Text 13"/>
          <p:cNvSpPr/>
          <p:nvPr/>
        </p:nvSpPr>
        <p:spPr>
          <a:xfrm>
            <a:off x="9555480" y="2039112"/>
            <a:ext cx="1554480" cy="228600"/>
          </a:xfrm>
          <a:prstGeom prst="rect">
            <a:avLst/>
          </a:prstGeom>
          <a:noFill/>
          <a:ln/>
        </p:spPr>
        <p:txBody>
          <a:bodyPr wrap="square" lIns="0" tIns="0" rIns="0" bIns="0" rtlCol="0" anchor="ctr"/>
          <a:lstStyle/>
          <a:p>
            <a:pPr algn="ctr" indent="0" marL="0">
              <a:buNone/>
            </a:pPr>
            <a:r>
              <a:rPr lang="en-US" sz="1200" b="1" dirty="0">
                <a:solidFill>
                  <a:srgbClr val="18251F"/>
                </a:solidFill>
              </a:rPr>
              <a:t>WebDriver BiDi</a:t>
            </a:r>
            <a:endParaRPr lang="en-US" sz="1200" dirty="0"/>
          </a:p>
        </p:txBody>
      </p:sp>
      <p:sp>
        <p:nvSpPr>
          <p:cNvPr id="16" name="Shape 14"/>
          <p:cNvSpPr/>
          <p:nvPr/>
        </p:nvSpPr>
        <p:spPr>
          <a:xfrm>
            <a:off x="7315200" y="3703320"/>
            <a:ext cx="1645920" cy="713232"/>
          </a:xfrm>
          <a:prstGeom prst="roundRect">
            <a:avLst/>
          </a:prstGeom>
          <a:solidFill>
            <a:srgbClr val="F6FBF8"/>
          </a:solidFill>
          <a:ln w="12700">
            <a:solidFill>
              <a:srgbClr val="D8E6DF"/>
            </a:solidFill>
            <a:prstDash val="solid"/>
          </a:ln>
        </p:spPr>
      </p:sp>
      <p:sp>
        <p:nvSpPr>
          <p:cNvPr id="17" name="Text 15"/>
          <p:cNvSpPr/>
          <p:nvPr/>
        </p:nvSpPr>
        <p:spPr>
          <a:xfrm>
            <a:off x="7315200" y="3913632"/>
            <a:ext cx="1645920" cy="228600"/>
          </a:xfrm>
          <a:prstGeom prst="rect">
            <a:avLst/>
          </a:prstGeom>
          <a:noFill/>
          <a:ln/>
        </p:spPr>
        <p:txBody>
          <a:bodyPr wrap="square" lIns="0" tIns="0" rIns="0" bIns="0" rtlCol="0" anchor="ctr"/>
          <a:lstStyle/>
          <a:p>
            <a:pPr algn="ctr" indent="0" marL="0">
              <a:buNone/>
            </a:pPr>
            <a:r>
              <a:rPr lang="en-US" sz="1200" b="1" dirty="0">
                <a:solidFill>
                  <a:srgbClr val="18251F"/>
                </a:solidFill>
              </a:rPr>
              <a:t>Browser</a:t>
            </a:r>
            <a:endParaRPr lang="en-US" sz="1200" dirty="0"/>
          </a:p>
        </p:txBody>
      </p:sp>
      <p:sp>
        <p:nvSpPr>
          <p:cNvPr id="18" name="Shape 16"/>
          <p:cNvSpPr/>
          <p:nvPr/>
        </p:nvSpPr>
        <p:spPr>
          <a:xfrm>
            <a:off x="6720840" y="2185416"/>
            <a:ext cx="548640" cy="0"/>
          </a:xfrm>
          <a:prstGeom prst="line">
            <a:avLst/>
          </a:prstGeom>
          <a:noFill/>
          <a:ln w="25400">
            <a:solidFill>
              <a:srgbClr val="007A53"/>
            </a:solidFill>
            <a:prstDash val="solid"/>
            <a:headEnd type="none"/>
            <a:tailEnd type="triangle"/>
          </a:ln>
        </p:spPr>
      </p:sp>
      <p:sp>
        <p:nvSpPr>
          <p:cNvPr id="19" name="Shape 17"/>
          <p:cNvSpPr/>
          <p:nvPr/>
        </p:nvSpPr>
        <p:spPr>
          <a:xfrm>
            <a:off x="9006840" y="2185416"/>
            <a:ext cx="502920" cy="0"/>
          </a:xfrm>
          <a:prstGeom prst="line">
            <a:avLst/>
          </a:prstGeom>
          <a:noFill/>
          <a:ln w="25400">
            <a:solidFill>
              <a:srgbClr val="007A53"/>
            </a:solidFill>
            <a:prstDash val="solid"/>
            <a:headEnd type="none"/>
            <a:tailEnd type="triangle"/>
          </a:ln>
        </p:spPr>
      </p:sp>
      <p:sp>
        <p:nvSpPr>
          <p:cNvPr id="20" name="Shape 18"/>
          <p:cNvSpPr/>
          <p:nvPr/>
        </p:nvSpPr>
        <p:spPr>
          <a:xfrm>
            <a:off x="10332720" y="2587752"/>
            <a:ext cx="-2103120" cy="1069848"/>
          </a:xfrm>
          <a:prstGeom prst="line">
            <a:avLst/>
          </a:prstGeom>
          <a:noFill/>
          <a:ln w="25400">
            <a:solidFill>
              <a:srgbClr val="007A53"/>
            </a:solidFill>
            <a:prstDash val="solid"/>
            <a:headEnd type="none"/>
            <a:tailEnd type="triangle"/>
          </a:ln>
        </p:spPr>
      </p:sp>
      <p:sp>
        <p:nvSpPr>
          <p:cNvPr id="21" name="Text 19"/>
          <p:cNvSpPr/>
          <p:nvPr/>
        </p:nvSpPr>
        <p:spPr>
          <a:xfrm>
            <a:off x="4983480" y="4572000"/>
            <a:ext cx="6080760" cy="868680"/>
          </a:xfrm>
          <a:prstGeom prst="rect">
            <a:avLst/>
          </a:prstGeom>
          <a:noFill/>
          <a:ln/>
        </p:spPr>
        <p:txBody>
          <a:bodyPr wrap="square" lIns="254" tIns="254" rIns="254" bIns="254" rtlCol="0" anchor="t"/>
          <a:lstStyle/>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Structured browser tools are easy for an agent to call.</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Visible browser interaction can be observed and audited.</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MCP allows the framework to keep browser execution separate from LLM reasoning.</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The current framework uses Vibium as the actuation layer, not as the test-management layer.</a:t>
            </a:r>
            <a:endParaRPr lang="en-US" sz="1050" dirty="0"/>
          </a:p>
        </p:txBody>
      </p:sp>
      <p:sp>
        <p:nvSpPr>
          <p:cNvPr id="22" name="Text 20"/>
          <p:cNvSpPr/>
          <p:nvPr/>
        </p:nvSpPr>
        <p:spPr>
          <a:xfrm>
            <a:off x="548640" y="6199632"/>
            <a:ext cx="10972800" cy="219456"/>
          </a:xfrm>
          <a:prstGeom prst="rect">
            <a:avLst/>
          </a:prstGeom>
          <a:noFill/>
          <a:ln/>
        </p:spPr>
        <p:txBody>
          <a:bodyPr wrap="square" lIns="0" tIns="0" rIns="0" bIns="0" rtlCol="0" anchor="ctr"/>
          <a:lstStyle/>
          <a:p>
            <a:pPr indent="0" marL="0">
              <a:buNone/>
            </a:pPr>
            <a:r>
              <a:rPr lang="en-US" sz="750" i="1" dirty="0">
                <a:solidFill>
                  <a:srgbClr val="7C8A85"/>
                </a:solidFill>
              </a:rPr>
              <a:t>Source: VibiumDev/vibium official GitHub README and WebDriver BiDi documentation (accessed Sep 2026).</a:t>
            </a:r>
            <a:endParaRPr lang="en-US" sz="7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Why Vibium in this framework?</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Agent-friendly browser control without moving test orchestration into the browser library</a:t>
            </a:r>
            <a:endParaRPr lang="en-US" sz="1150" dirty="0"/>
          </a:p>
        </p:txBody>
      </p:sp>
      <p:sp>
        <p:nvSpPr>
          <p:cNvPr id="4" name="Shape 2"/>
          <p:cNvSpPr/>
          <p:nvPr/>
        </p:nvSpPr>
        <p:spPr>
          <a:xfrm>
            <a:off x="594360" y="132588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1.7189509497218795e+37" dist="9.454230223470338e+36" dir="4.5349632000000006e+44">
              <a:srgbClr val="000000">
                <a:alpha val="1.4000000000000002e+44"/>
              </a:srgbClr>
            </a:outerShdw>
          </a:effectLst>
        </p:spPr>
      </p:sp>
      <p:sp>
        <p:nvSpPr>
          <p:cNvPr id="5" name="Shape 3"/>
          <p:cNvSpPr/>
          <p:nvPr/>
        </p:nvSpPr>
        <p:spPr>
          <a:xfrm>
            <a:off x="795528" y="1527048"/>
            <a:ext cx="384048" cy="384048"/>
          </a:xfrm>
          <a:prstGeom prst="ellipse">
            <a:avLst/>
          </a:prstGeom>
          <a:solidFill>
            <a:srgbClr val="E9F6F0"/>
          </a:solidFill>
          <a:ln w="12700">
            <a:solidFill>
              <a:srgbClr val="E9F6F0"/>
            </a:solidFill>
            <a:prstDash val="solid"/>
          </a:ln>
        </p:spPr>
      </p:sp>
      <p:sp>
        <p:nvSpPr>
          <p:cNvPr id="6" name="Text 4"/>
          <p:cNvSpPr/>
          <p:nvPr/>
        </p:nvSpPr>
        <p:spPr>
          <a:xfrm>
            <a:off x="79552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M</a:t>
            </a:r>
            <a:endParaRPr lang="en-US" sz="1100" dirty="0"/>
          </a:p>
        </p:txBody>
      </p:sp>
      <p:sp>
        <p:nvSpPr>
          <p:cNvPr id="7" name="Text 5"/>
          <p:cNvSpPr/>
          <p:nvPr/>
        </p:nvSpPr>
        <p:spPr>
          <a:xfrm>
            <a:off x="1289304" y="150876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MCP-native</a:t>
            </a:r>
            <a:endParaRPr lang="en-US" sz="1400" dirty="0"/>
          </a:p>
        </p:txBody>
      </p:sp>
      <p:sp>
        <p:nvSpPr>
          <p:cNvPr id="8" name="Text 6"/>
          <p:cNvSpPr/>
          <p:nvPr/>
        </p:nvSpPr>
        <p:spPr>
          <a:xfrm>
            <a:off x="813816" y="189280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Structured tool calls fit naturally into LLM planning and healing.</a:t>
            </a:r>
            <a:endParaRPr lang="en-US" sz="1050" dirty="0"/>
          </a:p>
        </p:txBody>
      </p:sp>
      <p:sp>
        <p:nvSpPr>
          <p:cNvPr id="9" name="Shape 7"/>
          <p:cNvSpPr/>
          <p:nvPr/>
        </p:nvSpPr>
        <p:spPr>
          <a:xfrm>
            <a:off x="4416552" y="132588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2.183067706146787e+41" dist="1.2006872383807329e+41" dir="2.72097792e+49">
              <a:srgbClr val="000000">
                <a:alpha val="1.4000000000000002e+49"/>
              </a:srgbClr>
            </a:outerShdw>
          </a:effectLst>
        </p:spPr>
      </p:sp>
      <p:sp>
        <p:nvSpPr>
          <p:cNvPr id="10" name="Shape 8"/>
          <p:cNvSpPr/>
          <p:nvPr/>
        </p:nvSpPr>
        <p:spPr>
          <a:xfrm>
            <a:off x="4617720" y="1527048"/>
            <a:ext cx="384048" cy="384048"/>
          </a:xfrm>
          <a:prstGeom prst="ellipse">
            <a:avLst/>
          </a:prstGeom>
          <a:solidFill>
            <a:srgbClr val="E9F6F0"/>
          </a:solidFill>
          <a:ln w="12700">
            <a:solidFill>
              <a:srgbClr val="E9F6F0"/>
            </a:solidFill>
            <a:prstDash val="solid"/>
          </a:ln>
        </p:spPr>
      </p:sp>
      <p:sp>
        <p:nvSpPr>
          <p:cNvPr id="11" name="Text 9"/>
          <p:cNvSpPr/>
          <p:nvPr/>
        </p:nvSpPr>
        <p:spPr>
          <a:xfrm>
            <a:off x="4617720"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B</a:t>
            </a:r>
            <a:endParaRPr lang="en-US" sz="1100" dirty="0"/>
          </a:p>
        </p:txBody>
      </p:sp>
      <p:sp>
        <p:nvSpPr>
          <p:cNvPr id="12" name="Text 10"/>
          <p:cNvSpPr/>
          <p:nvPr/>
        </p:nvSpPr>
        <p:spPr>
          <a:xfrm>
            <a:off x="5111496" y="150876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Standards-based</a:t>
            </a:r>
            <a:endParaRPr lang="en-US" sz="1400" dirty="0"/>
          </a:p>
        </p:txBody>
      </p:sp>
      <p:sp>
        <p:nvSpPr>
          <p:cNvPr id="13" name="Text 11"/>
          <p:cNvSpPr/>
          <p:nvPr/>
        </p:nvSpPr>
        <p:spPr>
          <a:xfrm>
            <a:off x="4636008" y="189280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Vibium is built around WebDriver BiDi for browser automation.</a:t>
            </a:r>
            <a:endParaRPr lang="en-US" sz="1050" dirty="0"/>
          </a:p>
        </p:txBody>
      </p:sp>
      <p:sp>
        <p:nvSpPr>
          <p:cNvPr id="14" name="Shape 12"/>
          <p:cNvSpPr/>
          <p:nvPr/>
        </p:nvSpPr>
        <p:spPr>
          <a:xfrm>
            <a:off x="8238744" y="132588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2.7724959868064195e+45" dist="1.5248727927435308e+45" dir="1.6325867520000003e+54">
              <a:srgbClr val="000000">
                <a:alpha val="1.4e+54"/>
              </a:srgbClr>
            </a:outerShdw>
          </a:effectLst>
        </p:spPr>
      </p:sp>
      <p:sp>
        <p:nvSpPr>
          <p:cNvPr id="15" name="Shape 13"/>
          <p:cNvSpPr/>
          <p:nvPr/>
        </p:nvSpPr>
        <p:spPr>
          <a:xfrm>
            <a:off x="8439912" y="1527048"/>
            <a:ext cx="384048" cy="384048"/>
          </a:xfrm>
          <a:prstGeom prst="ellipse">
            <a:avLst/>
          </a:prstGeom>
          <a:solidFill>
            <a:srgbClr val="E9F6F0"/>
          </a:solidFill>
          <a:ln w="12700">
            <a:solidFill>
              <a:srgbClr val="E9F6F0"/>
            </a:solidFill>
            <a:prstDash val="solid"/>
          </a:ln>
        </p:spPr>
      </p:sp>
      <p:sp>
        <p:nvSpPr>
          <p:cNvPr id="16" name="Text 14"/>
          <p:cNvSpPr/>
          <p:nvPr/>
        </p:nvSpPr>
        <p:spPr>
          <a:xfrm>
            <a:off x="8439912"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O</a:t>
            </a:r>
            <a:endParaRPr lang="en-US" sz="1100" dirty="0"/>
          </a:p>
        </p:txBody>
      </p:sp>
      <p:sp>
        <p:nvSpPr>
          <p:cNvPr id="17" name="Text 15"/>
          <p:cNvSpPr/>
          <p:nvPr/>
        </p:nvSpPr>
        <p:spPr>
          <a:xfrm>
            <a:off x="8933688" y="150876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Observable</a:t>
            </a:r>
            <a:endParaRPr lang="en-US" sz="1400" dirty="0"/>
          </a:p>
        </p:txBody>
      </p:sp>
      <p:sp>
        <p:nvSpPr>
          <p:cNvPr id="18" name="Text 16"/>
          <p:cNvSpPr/>
          <p:nvPr/>
        </p:nvSpPr>
        <p:spPr>
          <a:xfrm>
            <a:off x="8458200" y="189280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Screenshots, page maps, text and DOM probes support evidence-based validation.</a:t>
            </a:r>
            <a:endParaRPr lang="en-US" sz="1050" dirty="0"/>
          </a:p>
        </p:txBody>
      </p:sp>
      <p:sp>
        <p:nvSpPr>
          <p:cNvPr id="19" name="Shape 17"/>
          <p:cNvSpPr/>
          <p:nvPr/>
        </p:nvSpPr>
        <p:spPr>
          <a:xfrm>
            <a:off x="594360" y="347472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3.5210699032441527e+49" dist="1.936588446784284e+49" dir="9.795520512000002e+58">
              <a:srgbClr val="000000">
                <a:alpha val="1.4000000000000001e+59"/>
              </a:srgbClr>
            </a:outerShdw>
          </a:effectLst>
        </p:spPr>
      </p:sp>
      <p:sp>
        <p:nvSpPr>
          <p:cNvPr id="20" name="Shape 18"/>
          <p:cNvSpPr/>
          <p:nvPr/>
        </p:nvSpPr>
        <p:spPr>
          <a:xfrm>
            <a:off x="795528" y="3675888"/>
            <a:ext cx="384048" cy="384048"/>
          </a:xfrm>
          <a:prstGeom prst="ellipse">
            <a:avLst/>
          </a:prstGeom>
          <a:solidFill>
            <a:srgbClr val="E9F6F0"/>
          </a:solidFill>
          <a:ln w="12700">
            <a:solidFill>
              <a:srgbClr val="E9F6F0"/>
            </a:solidFill>
            <a:prstDash val="solid"/>
          </a:ln>
        </p:spPr>
      </p:sp>
      <p:sp>
        <p:nvSpPr>
          <p:cNvPr id="21" name="Text 19"/>
          <p:cNvSpPr/>
          <p:nvPr/>
        </p:nvSpPr>
        <p:spPr>
          <a:xfrm>
            <a:off x="795528" y="37444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F</a:t>
            </a:r>
            <a:endParaRPr lang="en-US" sz="1100" dirty="0"/>
          </a:p>
        </p:txBody>
      </p:sp>
      <p:sp>
        <p:nvSpPr>
          <p:cNvPr id="22" name="Text 20"/>
          <p:cNvSpPr/>
          <p:nvPr/>
        </p:nvSpPr>
        <p:spPr>
          <a:xfrm>
            <a:off x="1289304" y="365760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Flexible execution</a:t>
            </a:r>
            <a:endParaRPr lang="en-US" sz="1400" dirty="0"/>
          </a:p>
        </p:txBody>
      </p:sp>
      <p:sp>
        <p:nvSpPr>
          <p:cNvPr id="23" name="Text 21"/>
          <p:cNvSpPr/>
          <p:nvPr/>
        </p:nvSpPr>
        <p:spPr>
          <a:xfrm>
            <a:off x="813816" y="404164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Shared browser, direct MCP processes and parallel workers can be orchestrated by Java.</a:t>
            </a:r>
            <a:endParaRPr lang="en-US" sz="1050" dirty="0"/>
          </a:p>
        </p:txBody>
      </p:sp>
      <p:sp>
        <p:nvSpPr>
          <p:cNvPr id="24" name="Shape 22"/>
          <p:cNvSpPr/>
          <p:nvPr/>
        </p:nvSpPr>
        <p:spPr>
          <a:xfrm>
            <a:off x="4416552" y="347472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4.471758777120074e+53" dist="2.4594673274160405e+53" dir="5.877312307200001e+63">
              <a:srgbClr val="000000">
                <a:alpha val="1.4e+64"/>
              </a:srgbClr>
            </a:outerShdw>
          </a:effectLst>
        </p:spPr>
      </p:sp>
      <p:sp>
        <p:nvSpPr>
          <p:cNvPr id="25" name="Shape 23"/>
          <p:cNvSpPr/>
          <p:nvPr/>
        </p:nvSpPr>
        <p:spPr>
          <a:xfrm>
            <a:off x="4617720" y="3675888"/>
            <a:ext cx="384048" cy="384048"/>
          </a:xfrm>
          <a:prstGeom prst="ellipse">
            <a:avLst/>
          </a:prstGeom>
          <a:solidFill>
            <a:srgbClr val="E9F6F0"/>
          </a:solidFill>
          <a:ln w="12700">
            <a:solidFill>
              <a:srgbClr val="E9F6F0"/>
            </a:solidFill>
            <a:prstDash val="solid"/>
          </a:ln>
        </p:spPr>
      </p:sp>
      <p:sp>
        <p:nvSpPr>
          <p:cNvPr id="26" name="Text 24"/>
          <p:cNvSpPr/>
          <p:nvPr/>
        </p:nvSpPr>
        <p:spPr>
          <a:xfrm>
            <a:off x="4617720" y="37444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D</a:t>
            </a:r>
            <a:endParaRPr lang="en-US" sz="1100" dirty="0"/>
          </a:p>
        </p:txBody>
      </p:sp>
      <p:sp>
        <p:nvSpPr>
          <p:cNvPr id="27" name="Text 25"/>
          <p:cNvSpPr/>
          <p:nvPr/>
        </p:nvSpPr>
        <p:spPr>
          <a:xfrm>
            <a:off x="5111496" y="365760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Deterministic + agentic</a:t>
            </a:r>
            <a:endParaRPr lang="en-US" sz="1400" dirty="0"/>
          </a:p>
        </p:txBody>
      </p:sp>
      <p:sp>
        <p:nvSpPr>
          <p:cNvPr id="28" name="Text 26"/>
          <p:cNvSpPr/>
          <p:nvPr/>
        </p:nvSpPr>
        <p:spPr>
          <a:xfrm>
            <a:off x="4636008" y="404164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The framework can prefer exact selectors first, then use LLM planning only when needed.</a:t>
            </a:r>
            <a:endParaRPr lang="en-US" sz="1050" dirty="0"/>
          </a:p>
        </p:txBody>
      </p:sp>
      <p:sp>
        <p:nvSpPr>
          <p:cNvPr id="29" name="Shape 27"/>
          <p:cNvSpPr/>
          <p:nvPr/>
        </p:nvSpPr>
        <p:spPr>
          <a:xfrm>
            <a:off x="8238744" y="347472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5.679133646942494e+57" dist="3.1235235058183716e+57" dir="3.526387384320001e+68">
              <a:srgbClr val="000000">
                <a:alpha val="1.4000000000000001e+69"/>
              </a:srgbClr>
            </a:outerShdw>
          </a:effectLst>
        </p:spPr>
      </p:sp>
      <p:sp>
        <p:nvSpPr>
          <p:cNvPr id="30" name="Shape 28"/>
          <p:cNvSpPr/>
          <p:nvPr/>
        </p:nvSpPr>
        <p:spPr>
          <a:xfrm>
            <a:off x="8439912" y="3675888"/>
            <a:ext cx="384048" cy="384048"/>
          </a:xfrm>
          <a:prstGeom prst="ellipse">
            <a:avLst/>
          </a:prstGeom>
          <a:solidFill>
            <a:srgbClr val="E9F6F0"/>
          </a:solidFill>
          <a:ln w="12700">
            <a:solidFill>
              <a:srgbClr val="E9F6F0"/>
            </a:solidFill>
            <a:prstDash val="solid"/>
          </a:ln>
        </p:spPr>
      </p:sp>
      <p:sp>
        <p:nvSpPr>
          <p:cNvPr id="31" name="Text 29"/>
          <p:cNvSpPr/>
          <p:nvPr/>
        </p:nvSpPr>
        <p:spPr>
          <a:xfrm>
            <a:off x="8439912" y="37444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A</a:t>
            </a:r>
            <a:endParaRPr lang="en-US" sz="1100" dirty="0"/>
          </a:p>
        </p:txBody>
      </p:sp>
      <p:sp>
        <p:nvSpPr>
          <p:cNvPr id="32" name="Text 30"/>
          <p:cNvSpPr/>
          <p:nvPr/>
        </p:nvSpPr>
        <p:spPr>
          <a:xfrm>
            <a:off x="8933688" y="365760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Auditable</a:t>
            </a:r>
            <a:endParaRPr lang="en-US" sz="1400" dirty="0"/>
          </a:p>
        </p:txBody>
      </p:sp>
      <p:sp>
        <p:nvSpPr>
          <p:cNvPr id="33" name="Text 31"/>
          <p:cNvSpPr/>
          <p:nvPr/>
        </p:nvSpPr>
        <p:spPr>
          <a:xfrm>
            <a:off x="8458200" y="404164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JSON-RPC transcripts and artifacts make agent decisions easier to investigate.</a:t>
            </a:r>
            <a:endParaRPr lang="en-US" sz="1050" dirty="0"/>
          </a:p>
        </p:txBody>
      </p:sp>
      <p:sp>
        <p:nvSpPr>
          <p:cNvPr id="34" name="Text 32"/>
          <p:cNvSpPr/>
          <p:nvPr/>
        </p:nvSpPr>
        <p:spPr>
          <a:xfrm>
            <a:off x="548640" y="6199632"/>
            <a:ext cx="10972800" cy="219456"/>
          </a:xfrm>
          <a:prstGeom prst="rect">
            <a:avLst/>
          </a:prstGeom>
          <a:noFill/>
          <a:ln/>
        </p:spPr>
        <p:txBody>
          <a:bodyPr wrap="square" lIns="0" tIns="0" rIns="0" bIns="0" rtlCol="0" anchor="ctr"/>
          <a:lstStyle/>
          <a:p>
            <a:pPr indent="0" marL="0">
              <a:buNone/>
            </a:pPr>
            <a:r>
              <a:rPr lang="en-US" sz="750" i="1" dirty="0">
                <a:solidFill>
                  <a:srgbClr val="7C8A85"/>
                </a:solidFill>
              </a:rPr>
              <a:t>Vibium capability statements sourced from the official Vibium repository; framework behavior sourced from the current project codebase.</a:t>
            </a:r>
            <a:endParaRPr lang="en-US" sz="7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The problem this tool solves</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Traditional UI automation is reliable when locators and flows are stable; real applications are not always stable.</a:t>
            </a:r>
            <a:endParaRPr lang="en-US" sz="1150" dirty="0"/>
          </a:p>
        </p:txBody>
      </p:sp>
      <p:sp>
        <p:nvSpPr>
          <p:cNvPr id="4" name="Shape 2"/>
          <p:cNvSpPr/>
          <p:nvPr/>
        </p:nvSpPr>
        <p:spPr>
          <a:xfrm>
            <a:off x="640080" y="1325880"/>
            <a:ext cx="5166360" cy="4526280"/>
          </a:xfrm>
          <a:prstGeom prst="roundRect">
            <a:avLst/>
          </a:prstGeom>
          <a:solidFill>
            <a:srgbClr val="FFFDFC"/>
          </a:solidFill>
          <a:ln w="12700">
            <a:solidFill>
              <a:srgbClr val="F1D8D4"/>
            </a:solidFill>
            <a:prstDash val="solid"/>
          </a:ln>
          <a:effectLst>
            <a:outerShdw sx="100000" sy="100000" kx="0" ky="0" algn="bl" rotWithShape="0" blurRad="7.212499731616968e+61" dist="3.966874852389332e+61" dir="2.1158324305920003e+73">
              <a:srgbClr val="000000">
                <a:alpha val="1.4e+74"/>
              </a:srgbClr>
            </a:outerShdw>
          </a:effectLst>
        </p:spPr>
      </p:sp>
      <p:sp>
        <p:nvSpPr>
          <p:cNvPr id="5" name="Text 3"/>
          <p:cNvSpPr/>
          <p:nvPr/>
        </p:nvSpPr>
        <p:spPr>
          <a:xfrm>
            <a:off x="914400" y="1627632"/>
            <a:ext cx="4480560" cy="384048"/>
          </a:xfrm>
          <a:prstGeom prst="rect">
            <a:avLst/>
          </a:prstGeom>
          <a:noFill/>
          <a:ln/>
        </p:spPr>
        <p:txBody>
          <a:bodyPr wrap="square" lIns="0" tIns="0" rIns="0" bIns="0" rtlCol="0" anchor="ctr"/>
          <a:lstStyle/>
          <a:p>
            <a:pPr indent="0" marL="0">
              <a:buNone/>
            </a:pPr>
            <a:r>
              <a:rPr lang="en-US" sz="1800" b="1" dirty="0">
                <a:solidFill>
                  <a:srgbClr val="B42318"/>
                </a:solidFill>
              </a:rPr>
              <a:t>Common automation pain points</a:t>
            </a:r>
            <a:endParaRPr lang="en-US" sz="1800" dirty="0"/>
          </a:p>
        </p:txBody>
      </p:sp>
      <p:sp>
        <p:nvSpPr>
          <p:cNvPr id="6" name="Text 4"/>
          <p:cNvSpPr/>
          <p:nvPr/>
        </p:nvSpPr>
        <p:spPr>
          <a:xfrm>
            <a:off x="932688" y="2148840"/>
            <a:ext cx="4480560" cy="3246120"/>
          </a:xfrm>
          <a:prstGeom prst="rect">
            <a:avLst/>
          </a:prstGeom>
          <a:noFill/>
          <a:ln/>
        </p:spPr>
        <p:txBody>
          <a:bodyPr wrap="square" lIns="254" tIns="254" rIns="254" bIns="254" rtlCol="0" anchor="t"/>
          <a:lstStyle/>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Locator drift and dynamic UI components cause avoidable failures.</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Generated locators may be syntactically valid but semantically wrong.</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A successful click/fill call does not prove the intended state changed.</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Parallel browser execution can create lifecycle, session and port conflicts.</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Recovery logic is often scattered across tests instead of centralized.</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Investigating failures requires screenshots, tool logs and attempt history.</a:t>
            </a:r>
            <a:endParaRPr lang="en-US" sz="1250" dirty="0"/>
          </a:p>
        </p:txBody>
      </p:sp>
      <p:sp>
        <p:nvSpPr>
          <p:cNvPr id="7" name="Shape 5"/>
          <p:cNvSpPr/>
          <p:nvPr/>
        </p:nvSpPr>
        <p:spPr>
          <a:xfrm>
            <a:off x="6172200" y="1325880"/>
            <a:ext cx="5349240" cy="4526280"/>
          </a:xfrm>
          <a:prstGeom prst="roundRect">
            <a:avLst/>
          </a:prstGeom>
          <a:solidFill>
            <a:srgbClr val="FFFFFF"/>
          </a:solidFill>
          <a:ln w="12700">
            <a:solidFill>
              <a:srgbClr val="D8E6DF"/>
            </a:solidFill>
            <a:prstDash val="solid"/>
          </a:ln>
          <a:effectLst>
            <a:outerShdw sx="100000" sy="100000" kx="0" ky="0" algn="bl" rotWithShape="0" blurRad="9.15987465915355e+65" dist="5.037931062534451e+65" dir="1.2694994583552002e+78">
              <a:srgbClr val="000000">
                <a:alpha val="1.4e+79"/>
              </a:srgbClr>
            </a:outerShdw>
          </a:effectLst>
        </p:spPr>
      </p:sp>
      <p:sp>
        <p:nvSpPr>
          <p:cNvPr id="8" name="Text 6"/>
          <p:cNvSpPr/>
          <p:nvPr/>
        </p:nvSpPr>
        <p:spPr>
          <a:xfrm>
            <a:off x="6446520" y="1627632"/>
            <a:ext cx="4389120" cy="384048"/>
          </a:xfrm>
          <a:prstGeom prst="rect">
            <a:avLst/>
          </a:prstGeom>
          <a:noFill/>
          <a:ln/>
        </p:spPr>
        <p:txBody>
          <a:bodyPr wrap="square" lIns="0" tIns="0" rIns="0" bIns="0" rtlCol="0" anchor="ctr"/>
          <a:lstStyle/>
          <a:p>
            <a:pPr indent="0" marL="0">
              <a:buNone/>
            </a:pPr>
            <a:r>
              <a:rPr lang="en-US" sz="1800" b="1" dirty="0">
                <a:solidFill>
                  <a:srgbClr val="007A53"/>
                </a:solidFill>
              </a:rPr>
              <a:t>Framework response</a:t>
            </a:r>
            <a:endParaRPr lang="en-US" sz="1800" dirty="0"/>
          </a:p>
        </p:txBody>
      </p:sp>
      <p:sp>
        <p:nvSpPr>
          <p:cNvPr id="9" name="Text 7"/>
          <p:cNvSpPr/>
          <p:nvPr/>
        </p:nvSpPr>
        <p:spPr>
          <a:xfrm>
            <a:off x="6473952" y="2148840"/>
            <a:ext cx="4480560" cy="3246120"/>
          </a:xfrm>
          <a:prstGeom prst="rect">
            <a:avLst/>
          </a:prstGeom>
          <a:noFill/>
          <a:ln/>
        </p:spPr>
        <p:txBody>
          <a:bodyPr wrap="square" lIns="254" tIns="254" rIns="254" bIns="254" rtlCol="0" anchor="t"/>
          <a:lstStyle/>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Deterministic-first action resolution with agentic fallback.</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Closed-loop Plan → Execute → Validate → Heal orchestration.</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Fixed 2/3/4-browser worker pool for controlled parallelism.</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Evidence checks after actions instead of trusting tool success alone.</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Built-in recorder, cookies, reruns, reports and MCP diagnostics.</a:t>
            </a:r>
            <a:endParaRPr lang="en-US" sz="1250" dirty="0"/>
          </a:p>
          <a:p>
            <a:pPr marL="203200" indent="-203200">
              <a:buSzPct val="100000"/>
              <a:buChar char="•"/>
            </a:pPr>
            <a:r>
              <a:rPr lang="en-US" sz="1250" dirty="0">
                <a:solidFill>
                  <a:srgbClr val="18251F"/>
                </a:solidFill>
                <a:latin typeface="Noto Sans" pitchFamily="34" charset="0"/>
                <a:ea typeface="Noto Sans" pitchFamily="34" charset="-122"/>
                <a:cs typeface="Noto Sans" pitchFamily="34" charset="-120"/>
              </a:rPr>
              <a:t>AI connection gate so endpoint/model/key are validated before use.</a:t>
            </a:r>
            <a:endParaRPr lang="en-US" sz="12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Solution overview</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A local Spring Boot application that combines deterministic automation with bounded agentic recovery</a:t>
            </a:r>
            <a:endParaRPr lang="en-US" sz="1150" dirty="0"/>
          </a:p>
        </p:txBody>
      </p:sp>
      <p:sp>
        <p:nvSpPr>
          <p:cNvPr id="4" name="Shape 2"/>
          <p:cNvSpPr/>
          <p:nvPr/>
        </p:nvSpPr>
        <p:spPr>
          <a:xfrm>
            <a:off x="548640" y="1828800"/>
            <a:ext cx="1508760" cy="914400"/>
          </a:xfrm>
          <a:prstGeom prst="roundRect">
            <a:avLst/>
          </a:prstGeom>
          <a:solidFill>
            <a:srgbClr val="FFFFFF"/>
          </a:solidFill>
          <a:ln w="12700">
            <a:solidFill>
              <a:srgbClr val="D8E6DF"/>
            </a:solidFill>
            <a:prstDash val="solid"/>
          </a:ln>
          <a:effectLst>
            <a:outerShdw sx="100000" sy="100000" kx="0" ky="0" algn="bl" rotWithShape="0" blurRad="1.1633040817125008e+70" dist="6.398172449418753e+69" dir="7.616996750131201e+82">
              <a:srgbClr val="000000">
                <a:alpha val="1.4000000000000001e+84"/>
              </a:srgbClr>
            </a:outerShdw>
          </a:effectLst>
        </p:spPr>
      </p:sp>
      <p:sp>
        <p:nvSpPr>
          <p:cNvPr id="5" name="Text 3"/>
          <p:cNvSpPr/>
          <p:nvPr/>
        </p:nvSpPr>
        <p:spPr>
          <a:xfrm>
            <a:off x="621792" y="2066544"/>
            <a:ext cx="1362456" cy="411480"/>
          </a:xfrm>
          <a:prstGeom prst="rect">
            <a:avLst/>
          </a:prstGeom>
          <a:noFill/>
          <a:ln/>
        </p:spPr>
        <p:txBody>
          <a:bodyPr wrap="square" lIns="0" tIns="0" rIns="0" bIns="0" rtlCol="0" anchor="ctr"/>
          <a:lstStyle/>
          <a:p>
            <a:pPr algn="ctr" indent="0" marL="0">
              <a:buNone/>
            </a:pPr>
            <a:r>
              <a:rPr lang="en-US" sz="1200" b="1" dirty="0">
                <a:solidFill>
                  <a:srgbClr val="18251F"/>
                </a:solidFill>
              </a:rPr>
              <a:t>Scenario</a:t>
            </a:r>
            <a:endParaRPr lang="en-US" sz="1200" dirty="0"/>
          </a:p>
          <a:p>
            <a:pPr algn="ctr" indent="0" marL="0">
              <a:buNone/>
            </a:pPr>
            <a:r>
              <a:rPr lang="en-US" sz="1200" b="1" dirty="0">
                <a:solidFill>
                  <a:srgbClr val="18251F"/>
                </a:solidFill>
              </a:rPr>
              <a:t>Excel / JSON</a:t>
            </a:r>
            <a:endParaRPr lang="en-US" sz="1200" dirty="0"/>
          </a:p>
        </p:txBody>
      </p:sp>
      <p:sp>
        <p:nvSpPr>
          <p:cNvPr id="6" name="Shape 4"/>
          <p:cNvSpPr/>
          <p:nvPr/>
        </p:nvSpPr>
        <p:spPr>
          <a:xfrm>
            <a:off x="2084832" y="2286000"/>
            <a:ext cx="475488" cy="0"/>
          </a:xfrm>
          <a:prstGeom prst="line">
            <a:avLst/>
          </a:prstGeom>
          <a:noFill/>
          <a:ln w="25400">
            <a:solidFill>
              <a:srgbClr val="007A53"/>
            </a:solidFill>
            <a:prstDash val="solid"/>
            <a:headEnd type="none"/>
            <a:tailEnd type="triangle"/>
          </a:ln>
        </p:spPr>
      </p:sp>
      <p:sp>
        <p:nvSpPr>
          <p:cNvPr id="7" name="Shape 5"/>
          <p:cNvSpPr/>
          <p:nvPr/>
        </p:nvSpPr>
        <p:spPr>
          <a:xfrm>
            <a:off x="2606040" y="1828800"/>
            <a:ext cx="1508760" cy="914400"/>
          </a:xfrm>
          <a:prstGeom prst="roundRect">
            <a:avLst/>
          </a:prstGeom>
          <a:solidFill>
            <a:srgbClr val="FFFFFF"/>
          </a:solidFill>
          <a:ln w="12700">
            <a:solidFill>
              <a:srgbClr val="D8E6DF"/>
            </a:solidFill>
            <a:prstDash val="solid"/>
          </a:ln>
          <a:effectLst>
            <a:outerShdw sx="100000" sy="100000" kx="0" ky="0" algn="bl" rotWithShape="0" blurRad="1.477396183774876e+74" dist="8.125679010761816e+73" dir="4.57019805007872e+87">
              <a:srgbClr val="000000">
                <a:alpha val="1.4000000000000002e+89"/>
              </a:srgbClr>
            </a:outerShdw>
          </a:effectLst>
        </p:spPr>
      </p:sp>
      <p:sp>
        <p:nvSpPr>
          <p:cNvPr id="8" name="Text 6"/>
          <p:cNvSpPr/>
          <p:nvPr/>
        </p:nvSpPr>
        <p:spPr>
          <a:xfrm>
            <a:off x="2679192" y="2066544"/>
            <a:ext cx="1362456" cy="411480"/>
          </a:xfrm>
          <a:prstGeom prst="rect">
            <a:avLst/>
          </a:prstGeom>
          <a:noFill/>
          <a:ln/>
        </p:spPr>
        <p:txBody>
          <a:bodyPr wrap="square" lIns="0" tIns="0" rIns="0" bIns="0" rtlCol="0" anchor="ctr"/>
          <a:lstStyle/>
          <a:p>
            <a:pPr algn="ctr" indent="0" marL="0">
              <a:buNone/>
            </a:pPr>
            <a:r>
              <a:rPr lang="en-US" sz="1200" b="1" dirty="0">
                <a:solidFill>
                  <a:srgbClr val="18251F"/>
                </a:solidFill>
              </a:rPr>
              <a:t>Spring Boot</a:t>
            </a:r>
            <a:endParaRPr lang="en-US" sz="1200" dirty="0"/>
          </a:p>
          <a:p>
            <a:pPr algn="ctr" indent="0" marL="0">
              <a:buNone/>
            </a:pPr>
            <a:r>
              <a:rPr lang="en-US" sz="1200" b="1" dirty="0">
                <a:solidFill>
                  <a:srgbClr val="18251F"/>
                </a:solidFill>
              </a:rPr>
              <a:t>UI + APIs</a:t>
            </a:r>
            <a:endParaRPr lang="en-US" sz="1200" dirty="0"/>
          </a:p>
        </p:txBody>
      </p:sp>
      <p:sp>
        <p:nvSpPr>
          <p:cNvPr id="9" name="Shape 7"/>
          <p:cNvSpPr/>
          <p:nvPr/>
        </p:nvSpPr>
        <p:spPr>
          <a:xfrm>
            <a:off x="4142232" y="2286000"/>
            <a:ext cx="521208" cy="0"/>
          </a:xfrm>
          <a:prstGeom prst="line">
            <a:avLst/>
          </a:prstGeom>
          <a:noFill/>
          <a:ln w="25400">
            <a:solidFill>
              <a:srgbClr val="007A53"/>
            </a:solidFill>
            <a:prstDash val="solid"/>
            <a:headEnd type="none"/>
            <a:tailEnd type="triangle"/>
          </a:ln>
        </p:spPr>
      </p:sp>
      <p:sp>
        <p:nvSpPr>
          <p:cNvPr id="10" name="Shape 8"/>
          <p:cNvSpPr/>
          <p:nvPr/>
        </p:nvSpPr>
        <p:spPr>
          <a:xfrm>
            <a:off x="4709160" y="1828800"/>
            <a:ext cx="1508760" cy="914400"/>
          </a:xfrm>
          <a:prstGeom prst="roundRect">
            <a:avLst/>
          </a:prstGeom>
          <a:solidFill>
            <a:srgbClr val="DFF3E9"/>
          </a:solidFill>
          <a:ln w="12700">
            <a:solidFill>
              <a:srgbClr val="D8E6DF"/>
            </a:solidFill>
            <a:prstDash val="solid"/>
          </a:ln>
          <a:effectLst>
            <a:outerShdw sx="100000" sy="100000" kx="0" ky="0" algn="bl" rotWithShape="0" blurRad="1.8762931533940924e+78" dist="1.0319612343667507e+78" dir="2.742118830047232e+92">
              <a:srgbClr val="000000">
                <a:alpha val="1.4000000000000002e+94"/>
              </a:srgbClr>
            </a:outerShdw>
          </a:effectLst>
        </p:spPr>
      </p:sp>
      <p:sp>
        <p:nvSpPr>
          <p:cNvPr id="11" name="Text 9"/>
          <p:cNvSpPr/>
          <p:nvPr/>
        </p:nvSpPr>
        <p:spPr>
          <a:xfrm>
            <a:off x="4782312" y="2066544"/>
            <a:ext cx="1362456" cy="411480"/>
          </a:xfrm>
          <a:prstGeom prst="rect">
            <a:avLst/>
          </a:prstGeom>
          <a:noFill/>
          <a:ln/>
        </p:spPr>
        <p:txBody>
          <a:bodyPr wrap="square" lIns="0" tIns="0" rIns="0" bIns="0" rtlCol="0" anchor="ctr"/>
          <a:lstStyle/>
          <a:p>
            <a:pPr algn="ctr" indent="0" marL="0">
              <a:buNone/>
            </a:pPr>
            <a:r>
              <a:rPr lang="en-US" sz="1200" b="1" dirty="0">
                <a:solidFill>
                  <a:srgbClr val="18251F"/>
                </a:solidFill>
              </a:rPr>
              <a:t>LangGraph</a:t>
            </a:r>
            <a:endParaRPr lang="en-US" sz="1200" dirty="0"/>
          </a:p>
          <a:p>
            <a:pPr algn="ctr" indent="0" marL="0">
              <a:buNone/>
            </a:pPr>
            <a:r>
              <a:rPr lang="en-US" sz="1200" b="1" dirty="0">
                <a:solidFill>
                  <a:srgbClr val="18251F"/>
                </a:solidFill>
              </a:rPr>
              <a:t>Agentic Step</a:t>
            </a:r>
            <a:endParaRPr lang="en-US" sz="1200" dirty="0"/>
          </a:p>
        </p:txBody>
      </p:sp>
      <p:sp>
        <p:nvSpPr>
          <p:cNvPr id="12" name="Shape 10"/>
          <p:cNvSpPr/>
          <p:nvPr/>
        </p:nvSpPr>
        <p:spPr>
          <a:xfrm>
            <a:off x="6245352" y="2286000"/>
            <a:ext cx="612648" cy="0"/>
          </a:xfrm>
          <a:prstGeom prst="line">
            <a:avLst/>
          </a:prstGeom>
          <a:noFill/>
          <a:ln w="25400">
            <a:solidFill>
              <a:srgbClr val="007A53"/>
            </a:solidFill>
            <a:prstDash val="solid"/>
            <a:headEnd type="none"/>
            <a:tailEnd type="triangle"/>
          </a:ln>
        </p:spPr>
      </p:sp>
      <p:sp>
        <p:nvSpPr>
          <p:cNvPr id="13" name="Shape 11"/>
          <p:cNvSpPr/>
          <p:nvPr/>
        </p:nvSpPr>
        <p:spPr>
          <a:xfrm>
            <a:off x="6903720" y="1828800"/>
            <a:ext cx="1508760" cy="914400"/>
          </a:xfrm>
          <a:prstGeom prst="roundRect">
            <a:avLst/>
          </a:prstGeom>
          <a:solidFill>
            <a:srgbClr val="DFF3E9"/>
          </a:solidFill>
          <a:ln w="12700">
            <a:solidFill>
              <a:srgbClr val="D8E6DF"/>
            </a:solidFill>
            <a:prstDash val="solid"/>
          </a:ln>
          <a:effectLst>
            <a:outerShdw sx="100000" sy="100000" kx="0" ky="0" algn="bl" rotWithShape="0" blurRad="2.3828923048104974e+82" dist="1.3105907676457734e+82" dir="1.6452712980283393e+97">
              <a:srgbClr val="000000">
                <a:alpha val="1.4000000000000001e+99"/>
              </a:srgbClr>
            </a:outerShdw>
          </a:effectLst>
        </p:spPr>
      </p:sp>
      <p:sp>
        <p:nvSpPr>
          <p:cNvPr id="14" name="Text 12"/>
          <p:cNvSpPr/>
          <p:nvPr/>
        </p:nvSpPr>
        <p:spPr>
          <a:xfrm>
            <a:off x="6976872" y="2066544"/>
            <a:ext cx="1362456" cy="411480"/>
          </a:xfrm>
          <a:prstGeom prst="rect">
            <a:avLst/>
          </a:prstGeom>
          <a:noFill/>
          <a:ln/>
        </p:spPr>
        <p:txBody>
          <a:bodyPr wrap="square" lIns="0" tIns="0" rIns="0" bIns="0" rtlCol="0" anchor="ctr"/>
          <a:lstStyle/>
          <a:p>
            <a:pPr algn="ctr" indent="0" marL="0">
              <a:buNone/>
            </a:pPr>
            <a:r>
              <a:rPr lang="en-US" sz="1200" b="1" dirty="0">
                <a:solidFill>
                  <a:srgbClr val="18251F"/>
                </a:solidFill>
              </a:rPr>
              <a:t>Vibium</a:t>
            </a:r>
            <a:endParaRPr lang="en-US" sz="1200" dirty="0"/>
          </a:p>
          <a:p>
            <a:pPr algn="ctr" indent="0" marL="0">
              <a:buNone/>
            </a:pPr>
            <a:r>
              <a:rPr lang="en-US" sz="1200" b="1" dirty="0">
                <a:solidFill>
                  <a:srgbClr val="18251F"/>
                </a:solidFill>
              </a:rPr>
              <a:t>MCP</a:t>
            </a:r>
            <a:endParaRPr lang="en-US" sz="1200" dirty="0"/>
          </a:p>
        </p:txBody>
      </p:sp>
      <p:sp>
        <p:nvSpPr>
          <p:cNvPr id="15" name="Shape 13"/>
          <p:cNvSpPr/>
          <p:nvPr/>
        </p:nvSpPr>
        <p:spPr>
          <a:xfrm>
            <a:off x="8439912" y="2286000"/>
            <a:ext cx="521208" cy="0"/>
          </a:xfrm>
          <a:prstGeom prst="line">
            <a:avLst/>
          </a:prstGeom>
          <a:noFill/>
          <a:ln w="25400">
            <a:solidFill>
              <a:srgbClr val="007A53"/>
            </a:solidFill>
            <a:prstDash val="solid"/>
            <a:headEnd type="none"/>
            <a:tailEnd type="triangle"/>
          </a:ln>
        </p:spPr>
      </p:sp>
      <p:sp>
        <p:nvSpPr>
          <p:cNvPr id="16" name="Shape 14"/>
          <p:cNvSpPr/>
          <p:nvPr/>
        </p:nvSpPr>
        <p:spPr>
          <a:xfrm>
            <a:off x="9006840" y="1828800"/>
            <a:ext cx="1508760" cy="914400"/>
          </a:xfrm>
          <a:prstGeom prst="roundRect">
            <a:avLst/>
          </a:prstGeom>
          <a:solidFill>
            <a:srgbClr val="FFFFFF"/>
          </a:solidFill>
          <a:ln w="12700">
            <a:solidFill>
              <a:srgbClr val="D8E6DF"/>
            </a:solidFill>
            <a:prstDash val="solid"/>
          </a:ln>
          <a:effectLst>
            <a:outerShdw sx="100000" sy="100000" kx="0" ky="0" algn="bl" rotWithShape="0" blurRad="3.0262732271093317e+86" dist="1.6644502749101323e+86" dir="9.871627788170037e+101">
              <a:srgbClr val="000000">
                <a:alpha val="1.4000000000000002e+104"/>
              </a:srgbClr>
            </a:outerShdw>
          </a:effectLst>
        </p:spPr>
      </p:sp>
      <p:sp>
        <p:nvSpPr>
          <p:cNvPr id="17" name="Text 15"/>
          <p:cNvSpPr/>
          <p:nvPr/>
        </p:nvSpPr>
        <p:spPr>
          <a:xfrm>
            <a:off x="9079992" y="2066544"/>
            <a:ext cx="1362456" cy="411480"/>
          </a:xfrm>
          <a:prstGeom prst="rect">
            <a:avLst/>
          </a:prstGeom>
          <a:noFill/>
          <a:ln/>
        </p:spPr>
        <p:txBody>
          <a:bodyPr wrap="square" lIns="0" tIns="0" rIns="0" bIns="0" rtlCol="0" anchor="ctr"/>
          <a:lstStyle/>
          <a:p>
            <a:pPr algn="ctr" indent="0" marL="0">
              <a:buNone/>
            </a:pPr>
            <a:r>
              <a:rPr lang="en-US" sz="1200" b="1" dirty="0">
                <a:solidFill>
                  <a:srgbClr val="18251F"/>
                </a:solidFill>
              </a:rPr>
              <a:t>Browser</a:t>
            </a:r>
            <a:endParaRPr lang="en-US" sz="1200" dirty="0"/>
          </a:p>
          <a:p>
            <a:pPr algn="ctr" indent="0" marL="0">
              <a:buNone/>
            </a:pPr>
            <a:r>
              <a:rPr lang="en-US" sz="1200" b="1" dirty="0">
                <a:solidFill>
                  <a:srgbClr val="18251F"/>
                </a:solidFill>
              </a:rPr>
              <a:t>AUT</a:t>
            </a:r>
            <a:endParaRPr lang="en-US" sz="1200" dirty="0"/>
          </a:p>
        </p:txBody>
      </p:sp>
      <p:sp>
        <p:nvSpPr>
          <p:cNvPr id="18" name="Shape 16"/>
          <p:cNvSpPr/>
          <p:nvPr/>
        </p:nvSpPr>
        <p:spPr>
          <a:xfrm>
            <a:off x="10543032" y="2286000"/>
            <a:ext cx="-118872" cy="0"/>
          </a:xfrm>
          <a:prstGeom prst="line">
            <a:avLst/>
          </a:prstGeom>
          <a:noFill/>
          <a:ln w="25400">
            <a:solidFill>
              <a:srgbClr val="007A53"/>
            </a:solidFill>
            <a:prstDash val="solid"/>
            <a:headEnd type="none"/>
            <a:tailEnd type="triangle"/>
          </a:ln>
        </p:spPr>
      </p:sp>
      <p:sp>
        <p:nvSpPr>
          <p:cNvPr id="19" name="Shape 17"/>
          <p:cNvSpPr/>
          <p:nvPr/>
        </p:nvSpPr>
        <p:spPr>
          <a:xfrm>
            <a:off x="10469880" y="1828800"/>
            <a:ext cx="1234440" cy="914400"/>
          </a:xfrm>
          <a:prstGeom prst="roundRect">
            <a:avLst/>
          </a:prstGeom>
          <a:solidFill>
            <a:srgbClr val="FFFFFF"/>
          </a:solidFill>
          <a:ln w="12700">
            <a:solidFill>
              <a:srgbClr val="D8E6DF"/>
            </a:solidFill>
            <a:prstDash val="solid"/>
          </a:ln>
          <a:effectLst>
            <a:outerShdw sx="100000" sy="100000" kx="0" ky="0" algn="bl" rotWithShape="0" blurRad="3.8433669984288512e+90" dist="2.113851849135868e+90" dir="5.9229766729020215e+106">
              <a:srgbClr val="000000">
                <a:alpha val="1.4e+109"/>
              </a:srgbClr>
            </a:outerShdw>
          </a:effectLst>
        </p:spPr>
      </p:sp>
      <p:sp>
        <p:nvSpPr>
          <p:cNvPr id="20" name="Text 18"/>
          <p:cNvSpPr/>
          <p:nvPr/>
        </p:nvSpPr>
        <p:spPr>
          <a:xfrm>
            <a:off x="10543032" y="2066544"/>
            <a:ext cx="1088136" cy="411480"/>
          </a:xfrm>
          <a:prstGeom prst="rect">
            <a:avLst/>
          </a:prstGeom>
          <a:noFill/>
          <a:ln/>
        </p:spPr>
        <p:txBody>
          <a:bodyPr wrap="square" lIns="0" tIns="0" rIns="0" bIns="0" rtlCol="0" anchor="ctr"/>
          <a:lstStyle/>
          <a:p>
            <a:pPr algn="ctr" indent="0" marL="0">
              <a:buNone/>
            </a:pPr>
            <a:r>
              <a:rPr lang="en-US" sz="1200" b="1" dirty="0">
                <a:solidFill>
                  <a:srgbClr val="18251F"/>
                </a:solidFill>
              </a:rPr>
              <a:t>Reports &amp;</a:t>
            </a:r>
            <a:endParaRPr lang="en-US" sz="1200" dirty="0"/>
          </a:p>
          <a:p>
            <a:pPr algn="ctr" indent="0" marL="0">
              <a:buNone/>
            </a:pPr>
            <a:r>
              <a:rPr lang="en-US" sz="1200" b="1" dirty="0">
                <a:solidFill>
                  <a:srgbClr val="18251F"/>
                </a:solidFill>
              </a:rPr>
              <a:t>Diagnostics</a:t>
            </a:r>
            <a:endParaRPr lang="en-US" sz="1200" dirty="0"/>
          </a:p>
        </p:txBody>
      </p:sp>
      <p:sp>
        <p:nvSpPr>
          <p:cNvPr id="21" name="Shape 19"/>
          <p:cNvSpPr/>
          <p:nvPr/>
        </p:nvSpPr>
        <p:spPr>
          <a:xfrm>
            <a:off x="731520" y="3703320"/>
            <a:ext cx="3383280" cy="1508760"/>
          </a:xfrm>
          <a:prstGeom prst="roundRect">
            <a:avLst>
              <a:gd name="adj" fmla="val 7273"/>
            </a:avLst>
          </a:prstGeom>
          <a:solidFill>
            <a:srgbClr val="FFFFFF"/>
          </a:solidFill>
          <a:ln w="12700">
            <a:solidFill>
              <a:srgbClr val="D8E6DF"/>
            </a:solidFill>
            <a:prstDash val="solid"/>
          </a:ln>
          <a:effectLst>
            <a:outerShdw sx="100000" sy="100000" kx="0" ky="0" algn="bl" rotWithShape="0" blurRad="4.8810760880046414e+94" dist="2.6845918484025524e+94" dir="3.553786003741213e+111">
              <a:srgbClr val="000000">
                <a:alpha val="1.4e+114"/>
              </a:srgbClr>
            </a:outerShdw>
          </a:effectLst>
        </p:spPr>
      </p:sp>
      <p:sp>
        <p:nvSpPr>
          <p:cNvPr id="22" name="Shape 20"/>
          <p:cNvSpPr/>
          <p:nvPr/>
        </p:nvSpPr>
        <p:spPr>
          <a:xfrm>
            <a:off x="932688" y="3904488"/>
            <a:ext cx="384048" cy="384048"/>
          </a:xfrm>
          <a:prstGeom prst="ellipse">
            <a:avLst/>
          </a:prstGeom>
          <a:solidFill>
            <a:srgbClr val="E9F6F0"/>
          </a:solidFill>
          <a:ln w="12700">
            <a:solidFill>
              <a:srgbClr val="E9F6F0"/>
            </a:solidFill>
            <a:prstDash val="solid"/>
          </a:ln>
        </p:spPr>
      </p:sp>
      <p:sp>
        <p:nvSpPr>
          <p:cNvPr id="23" name="Text 21"/>
          <p:cNvSpPr/>
          <p:nvPr/>
        </p:nvSpPr>
        <p:spPr>
          <a:xfrm>
            <a:off x="932688" y="39730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1</a:t>
            </a:r>
            <a:endParaRPr lang="en-US" sz="1100" dirty="0"/>
          </a:p>
        </p:txBody>
      </p:sp>
      <p:sp>
        <p:nvSpPr>
          <p:cNvPr id="24" name="Text 22"/>
          <p:cNvSpPr/>
          <p:nvPr/>
        </p:nvSpPr>
        <p:spPr>
          <a:xfrm>
            <a:off x="1426464" y="3886200"/>
            <a:ext cx="2468880" cy="292608"/>
          </a:xfrm>
          <a:prstGeom prst="rect">
            <a:avLst/>
          </a:prstGeom>
          <a:noFill/>
          <a:ln/>
        </p:spPr>
        <p:txBody>
          <a:bodyPr wrap="square" lIns="0" tIns="0" rIns="0" bIns="0" rtlCol="0" anchor="ctr"/>
          <a:lstStyle/>
          <a:p>
            <a:pPr indent="0" marL="0">
              <a:buNone/>
            </a:pPr>
            <a:r>
              <a:rPr lang="en-US" sz="1400" b="1" dirty="0">
                <a:solidFill>
                  <a:srgbClr val="18251F"/>
                </a:solidFill>
              </a:rPr>
              <a:t>Configure</a:t>
            </a:r>
            <a:endParaRPr lang="en-US" sz="1400" dirty="0"/>
          </a:p>
        </p:txBody>
      </p:sp>
      <p:sp>
        <p:nvSpPr>
          <p:cNvPr id="25" name="Text 23"/>
          <p:cNvSpPr/>
          <p:nvPr/>
        </p:nvSpPr>
        <p:spPr>
          <a:xfrm>
            <a:off x="950976" y="4270248"/>
            <a:ext cx="2944368" cy="777240"/>
          </a:xfrm>
          <a:prstGeom prst="rect">
            <a:avLst/>
          </a:prstGeom>
          <a:noFill/>
          <a:ln/>
        </p:spPr>
        <p:txBody>
          <a:bodyPr wrap="square" lIns="381" tIns="381" rIns="381" bIns="381" rtlCol="0" anchor="t"/>
          <a:lstStyle/>
          <a:p>
            <a:pPr indent="0" marL="0">
              <a:buNone/>
            </a:pPr>
            <a:r>
              <a:rPr lang="en-US" sz="1050" dirty="0">
                <a:solidFill>
                  <a:srgbClr val="66756F"/>
                </a:solidFill>
              </a:rPr>
              <a:t>Validate AI connection, choose scenario sheets, browser, parallelism, zoom, screenshots, retries and cookies.</a:t>
            </a:r>
            <a:endParaRPr lang="en-US" sz="1050" dirty="0"/>
          </a:p>
        </p:txBody>
      </p:sp>
      <p:sp>
        <p:nvSpPr>
          <p:cNvPr id="26" name="Shape 24"/>
          <p:cNvSpPr/>
          <p:nvPr/>
        </p:nvSpPr>
        <p:spPr>
          <a:xfrm>
            <a:off x="4407408" y="3703320"/>
            <a:ext cx="3383280" cy="1508760"/>
          </a:xfrm>
          <a:prstGeom prst="roundRect">
            <a:avLst>
              <a:gd name="adj" fmla="val 7273"/>
            </a:avLst>
          </a:prstGeom>
          <a:solidFill>
            <a:srgbClr val="FFFFFF"/>
          </a:solidFill>
          <a:ln w="12700">
            <a:solidFill>
              <a:srgbClr val="D8E6DF"/>
            </a:solidFill>
            <a:prstDash val="solid"/>
          </a:ln>
          <a:effectLst>
            <a:outerShdw sx="100000" sy="100000" kx="0" ky="0" algn="bl" rotWithShape="0" blurRad="6.198966631765894e+98" dist="3.4094316474712416e+98" dir="2.1322716022447277e+116">
              <a:srgbClr val="000000">
                <a:alpha val="1.4e+119"/>
              </a:srgbClr>
            </a:outerShdw>
          </a:effectLst>
        </p:spPr>
      </p:sp>
      <p:sp>
        <p:nvSpPr>
          <p:cNvPr id="27" name="Shape 25"/>
          <p:cNvSpPr/>
          <p:nvPr/>
        </p:nvSpPr>
        <p:spPr>
          <a:xfrm>
            <a:off x="4608576" y="3904488"/>
            <a:ext cx="384048" cy="384048"/>
          </a:xfrm>
          <a:prstGeom prst="ellipse">
            <a:avLst/>
          </a:prstGeom>
          <a:solidFill>
            <a:srgbClr val="E9F6F0"/>
          </a:solidFill>
          <a:ln w="12700">
            <a:solidFill>
              <a:srgbClr val="E9F6F0"/>
            </a:solidFill>
            <a:prstDash val="solid"/>
          </a:ln>
        </p:spPr>
      </p:sp>
      <p:sp>
        <p:nvSpPr>
          <p:cNvPr id="28" name="Text 26"/>
          <p:cNvSpPr/>
          <p:nvPr/>
        </p:nvSpPr>
        <p:spPr>
          <a:xfrm>
            <a:off x="4608576" y="39730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2</a:t>
            </a:r>
            <a:endParaRPr lang="en-US" sz="1100" dirty="0"/>
          </a:p>
        </p:txBody>
      </p:sp>
      <p:sp>
        <p:nvSpPr>
          <p:cNvPr id="29" name="Text 27"/>
          <p:cNvSpPr/>
          <p:nvPr/>
        </p:nvSpPr>
        <p:spPr>
          <a:xfrm>
            <a:off x="5102352" y="3886200"/>
            <a:ext cx="2468880" cy="292608"/>
          </a:xfrm>
          <a:prstGeom prst="rect">
            <a:avLst/>
          </a:prstGeom>
          <a:noFill/>
          <a:ln/>
        </p:spPr>
        <p:txBody>
          <a:bodyPr wrap="square" lIns="0" tIns="0" rIns="0" bIns="0" rtlCol="0" anchor="ctr"/>
          <a:lstStyle/>
          <a:p>
            <a:pPr indent="0" marL="0">
              <a:buNone/>
            </a:pPr>
            <a:r>
              <a:rPr lang="en-US" sz="1400" b="1" dirty="0">
                <a:solidFill>
                  <a:srgbClr val="18251F"/>
                </a:solidFill>
              </a:rPr>
              <a:t>Execute</a:t>
            </a:r>
            <a:endParaRPr lang="en-US" sz="1400" dirty="0"/>
          </a:p>
        </p:txBody>
      </p:sp>
      <p:sp>
        <p:nvSpPr>
          <p:cNvPr id="30" name="Text 28"/>
          <p:cNvSpPr/>
          <p:nvPr/>
        </p:nvSpPr>
        <p:spPr>
          <a:xfrm>
            <a:off x="4626864" y="4270248"/>
            <a:ext cx="2944368" cy="777240"/>
          </a:xfrm>
          <a:prstGeom prst="rect">
            <a:avLst/>
          </a:prstGeom>
          <a:noFill/>
          <a:ln/>
        </p:spPr>
        <p:txBody>
          <a:bodyPr wrap="square" lIns="381" tIns="381" rIns="381" bIns="381" rtlCol="0" anchor="t"/>
          <a:lstStyle/>
          <a:p>
            <a:pPr indent="0" marL="0">
              <a:buNone/>
            </a:pPr>
            <a:r>
              <a:rPr lang="en-US" sz="1050" dirty="0">
                <a:solidFill>
                  <a:srgbClr val="66756F"/>
                </a:solidFill>
              </a:rPr>
              <a:t>Each step is orchestrated through LangGraph with deterministic-first action handling and Vibium MCP.</a:t>
            </a:r>
            <a:endParaRPr lang="en-US" sz="1050" dirty="0"/>
          </a:p>
        </p:txBody>
      </p:sp>
      <p:sp>
        <p:nvSpPr>
          <p:cNvPr id="31" name="Shape 29"/>
          <p:cNvSpPr/>
          <p:nvPr/>
        </p:nvSpPr>
        <p:spPr>
          <a:xfrm>
            <a:off x="8083296" y="3703320"/>
            <a:ext cx="3383280" cy="1508760"/>
          </a:xfrm>
          <a:prstGeom prst="roundRect">
            <a:avLst>
              <a:gd name="adj" fmla="val 7273"/>
            </a:avLst>
          </a:prstGeom>
          <a:solidFill>
            <a:srgbClr val="FFFFFF"/>
          </a:solidFill>
          <a:ln w="12700">
            <a:solidFill>
              <a:srgbClr val="D8E6DF"/>
            </a:solidFill>
            <a:prstDash val="solid"/>
          </a:ln>
          <a:effectLst>
            <a:outerShdw sx="100000" sy="100000" kx="0" ky="0" algn="bl" rotWithShape="0" blurRad="7.872687622342685e+102" dist="4.329978192288477e+102" dir="1.2793629613468366e+121">
              <a:srgbClr val="000000">
                <a:alpha val="1.4e+124"/>
              </a:srgbClr>
            </a:outerShdw>
          </a:effectLst>
        </p:spPr>
      </p:sp>
      <p:sp>
        <p:nvSpPr>
          <p:cNvPr id="32" name="Shape 30"/>
          <p:cNvSpPr/>
          <p:nvPr/>
        </p:nvSpPr>
        <p:spPr>
          <a:xfrm>
            <a:off x="8284464" y="3904488"/>
            <a:ext cx="384048" cy="384048"/>
          </a:xfrm>
          <a:prstGeom prst="ellipse">
            <a:avLst/>
          </a:prstGeom>
          <a:solidFill>
            <a:srgbClr val="E9F6F0"/>
          </a:solidFill>
          <a:ln w="12700">
            <a:solidFill>
              <a:srgbClr val="E9F6F0"/>
            </a:solidFill>
            <a:prstDash val="solid"/>
          </a:ln>
        </p:spPr>
      </p:sp>
      <p:sp>
        <p:nvSpPr>
          <p:cNvPr id="33" name="Text 31"/>
          <p:cNvSpPr/>
          <p:nvPr/>
        </p:nvSpPr>
        <p:spPr>
          <a:xfrm>
            <a:off x="8284464" y="39730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3</a:t>
            </a:r>
            <a:endParaRPr lang="en-US" sz="1100" dirty="0"/>
          </a:p>
        </p:txBody>
      </p:sp>
      <p:sp>
        <p:nvSpPr>
          <p:cNvPr id="34" name="Text 32"/>
          <p:cNvSpPr/>
          <p:nvPr/>
        </p:nvSpPr>
        <p:spPr>
          <a:xfrm>
            <a:off x="8778240" y="3886200"/>
            <a:ext cx="2468880" cy="292608"/>
          </a:xfrm>
          <a:prstGeom prst="rect">
            <a:avLst/>
          </a:prstGeom>
          <a:noFill/>
          <a:ln/>
        </p:spPr>
        <p:txBody>
          <a:bodyPr wrap="square" lIns="0" tIns="0" rIns="0" bIns="0" rtlCol="0" anchor="ctr"/>
          <a:lstStyle/>
          <a:p>
            <a:pPr indent="0" marL="0">
              <a:buNone/>
            </a:pPr>
            <a:r>
              <a:rPr lang="en-US" sz="1400" b="1" dirty="0">
                <a:solidFill>
                  <a:srgbClr val="18251F"/>
                </a:solidFill>
              </a:rPr>
              <a:t>Investigate</a:t>
            </a:r>
            <a:endParaRPr lang="en-US" sz="1400" dirty="0"/>
          </a:p>
        </p:txBody>
      </p:sp>
      <p:sp>
        <p:nvSpPr>
          <p:cNvPr id="35" name="Text 33"/>
          <p:cNvSpPr/>
          <p:nvPr/>
        </p:nvSpPr>
        <p:spPr>
          <a:xfrm>
            <a:off x="8302752" y="4270248"/>
            <a:ext cx="2944368" cy="777240"/>
          </a:xfrm>
          <a:prstGeom prst="rect">
            <a:avLst/>
          </a:prstGeom>
          <a:noFill/>
          <a:ln/>
        </p:spPr>
        <p:txBody>
          <a:bodyPr wrap="square" lIns="381" tIns="381" rIns="381" bIns="381" rtlCol="0" anchor="t"/>
          <a:lstStyle/>
          <a:p>
            <a:pPr indent="0" marL="0">
              <a:buNone/>
            </a:pPr>
            <a:r>
              <a:rPr lang="en-US" sz="1050" dirty="0">
                <a:solidFill>
                  <a:srgbClr val="66756F"/>
                </a:solidFill>
              </a:rPr>
              <a:t>Live status, rerun controls, detailed HTML/Excel/JSON, screenshot report and MCP diagnostics.</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Current capability map</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What is implemented in the current source package</a:t>
            </a:r>
            <a:endParaRPr lang="en-US" sz="1150" dirty="0"/>
          </a:p>
        </p:txBody>
      </p:sp>
      <p:sp>
        <p:nvSpPr>
          <p:cNvPr id="4" name="Shape 2"/>
          <p:cNvSpPr/>
          <p:nvPr/>
        </p:nvSpPr>
        <p:spPr>
          <a:xfrm>
            <a:off x="548640" y="1325880"/>
            <a:ext cx="3502152" cy="1965960"/>
          </a:xfrm>
          <a:prstGeom prst="roundRect">
            <a:avLst>
              <a:gd name="adj" fmla="val 5581"/>
            </a:avLst>
          </a:prstGeom>
          <a:solidFill>
            <a:srgbClr val="FFFFFF"/>
          </a:solidFill>
          <a:ln w="12700">
            <a:solidFill>
              <a:srgbClr val="D8E6DF"/>
            </a:solidFill>
            <a:prstDash val="solid"/>
          </a:ln>
        </p:spPr>
      </p:sp>
      <p:sp>
        <p:nvSpPr>
          <p:cNvPr id="5" name="Shape 3"/>
          <p:cNvSpPr/>
          <p:nvPr/>
        </p:nvSpPr>
        <p:spPr>
          <a:xfrm>
            <a:off x="749808" y="1527048"/>
            <a:ext cx="384048" cy="384048"/>
          </a:xfrm>
          <a:prstGeom prst="ellipse">
            <a:avLst/>
          </a:prstGeom>
          <a:solidFill>
            <a:srgbClr val="E9F6F0"/>
          </a:solidFill>
          <a:ln w="12700">
            <a:solidFill>
              <a:srgbClr val="E9F6F0"/>
            </a:solidFill>
            <a:prstDash val="solid"/>
          </a:ln>
        </p:spPr>
      </p:sp>
      <p:sp>
        <p:nvSpPr>
          <p:cNvPr id="6" name="Text 4"/>
          <p:cNvSpPr/>
          <p:nvPr/>
        </p:nvSpPr>
        <p:spPr>
          <a:xfrm>
            <a:off x="74980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1</a:t>
            </a:r>
            <a:endParaRPr lang="en-US" sz="1100" dirty="0"/>
          </a:p>
        </p:txBody>
      </p:sp>
      <p:sp>
        <p:nvSpPr>
          <p:cNvPr id="7" name="Text 5"/>
          <p:cNvSpPr/>
          <p:nvPr/>
        </p:nvSpPr>
        <p:spPr>
          <a:xfrm>
            <a:off x="1243584" y="1508760"/>
            <a:ext cx="2587752" cy="292608"/>
          </a:xfrm>
          <a:prstGeom prst="rect">
            <a:avLst/>
          </a:prstGeom>
          <a:noFill/>
          <a:ln/>
        </p:spPr>
        <p:txBody>
          <a:bodyPr wrap="square" lIns="0" tIns="0" rIns="0" bIns="0" rtlCol="0" anchor="ctr"/>
          <a:lstStyle/>
          <a:p>
            <a:pPr indent="0" marL="0">
              <a:buNone/>
            </a:pPr>
            <a:r>
              <a:rPr lang="en-US" sz="1400" b="1" dirty="0">
                <a:solidFill>
                  <a:srgbClr val="18251F"/>
                </a:solidFill>
              </a:rPr>
              <a:t>Input &amp; authoring</a:t>
            </a:r>
            <a:endParaRPr lang="en-US" sz="1400" dirty="0"/>
          </a:p>
        </p:txBody>
      </p:sp>
      <p:sp>
        <p:nvSpPr>
          <p:cNvPr id="8" name="Text 6"/>
          <p:cNvSpPr/>
          <p:nvPr/>
        </p:nvSpPr>
        <p:spPr>
          <a:xfrm>
            <a:off x="768096" y="1892808"/>
            <a:ext cx="3063240" cy="1234440"/>
          </a:xfrm>
          <a:prstGeom prst="rect">
            <a:avLst/>
          </a:prstGeom>
          <a:noFill/>
          <a:ln/>
        </p:spPr>
        <p:txBody>
          <a:bodyPr wrap="square" lIns="381" tIns="381" rIns="381" bIns="381" rtlCol="0" anchor="t"/>
          <a:lstStyle/>
          <a:p>
            <a:pPr indent="0" marL="0">
              <a:buNone/>
            </a:pPr>
            <a:r>
              <a:rPr lang="en-US" sz="1050" dirty="0">
                <a:solidFill>
                  <a:srgbClr val="66756F"/>
                </a:solidFill>
              </a:rPr>
              <a:t>• Excel / JSON scenarios</a:t>
            </a:r>
            <a:endParaRPr lang="en-US" sz="1050" dirty="0"/>
          </a:p>
          <a:p>
            <a:pPr indent="0" marL="0">
              <a:buNone/>
            </a:pPr>
            <a:r>
              <a:rPr lang="en-US" sz="1050" dirty="0">
                <a:solidFill>
                  <a:srgbClr val="66756F"/>
                </a:solidFill>
              </a:rPr>
              <a:t>• Multi-sheet selection</a:t>
            </a:r>
            <a:endParaRPr lang="en-US" sz="1050" dirty="0"/>
          </a:p>
          <a:p>
            <a:pPr indent="0" marL="0">
              <a:buNone/>
            </a:pPr>
            <a:r>
              <a:rPr lang="en-US" sz="1050" dirty="0">
                <a:solidFill>
                  <a:srgbClr val="66756F"/>
                </a:solidFill>
              </a:rPr>
              <a:t>• Run-column filtering</a:t>
            </a:r>
            <a:endParaRPr lang="en-US" sz="1050" dirty="0"/>
          </a:p>
          <a:p>
            <a:pPr indent="0" marL="0">
              <a:buNone/>
            </a:pPr>
            <a:r>
              <a:rPr lang="en-US" sz="1050" dirty="0">
                <a:solidFill>
                  <a:srgbClr val="66756F"/>
                </a:solidFill>
              </a:rPr>
              <a:t>• Data substitution</a:t>
            </a:r>
            <a:endParaRPr lang="en-US" sz="1050" dirty="0"/>
          </a:p>
          <a:p>
            <a:pPr indent="0" marL="0">
              <a:buNone/>
            </a:pPr>
            <a:r>
              <a:rPr lang="en-US" sz="1050" dirty="0">
                <a:solidFill>
                  <a:srgbClr val="66756F"/>
                </a:solidFill>
              </a:rPr>
              <a:t>• UI action recorder</a:t>
            </a:r>
            <a:endParaRPr lang="en-US" sz="1050" dirty="0"/>
          </a:p>
        </p:txBody>
      </p:sp>
      <p:sp>
        <p:nvSpPr>
          <p:cNvPr id="9" name="Shape 7"/>
          <p:cNvSpPr/>
          <p:nvPr/>
        </p:nvSpPr>
        <p:spPr>
          <a:xfrm>
            <a:off x="4407408" y="1325880"/>
            <a:ext cx="3502152" cy="1965960"/>
          </a:xfrm>
          <a:prstGeom prst="roundRect">
            <a:avLst>
              <a:gd name="adj" fmla="val 5581"/>
            </a:avLst>
          </a:prstGeom>
          <a:solidFill>
            <a:srgbClr val="FBFDFC"/>
          </a:solidFill>
          <a:ln w="12700">
            <a:solidFill>
              <a:srgbClr val="D8E6DF"/>
            </a:solidFill>
            <a:prstDash val="solid"/>
          </a:ln>
        </p:spPr>
      </p:sp>
      <p:sp>
        <p:nvSpPr>
          <p:cNvPr id="10" name="Shape 8"/>
          <p:cNvSpPr/>
          <p:nvPr/>
        </p:nvSpPr>
        <p:spPr>
          <a:xfrm>
            <a:off x="4608576" y="1527048"/>
            <a:ext cx="384048" cy="384048"/>
          </a:xfrm>
          <a:prstGeom prst="ellipse">
            <a:avLst/>
          </a:prstGeom>
          <a:solidFill>
            <a:srgbClr val="E9F6F0"/>
          </a:solidFill>
          <a:ln w="12700">
            <a:solidFill>
              <a:srgbClr val="E9F6F0"/>
            </a:solidFill>
            <a:prstDash val="solid"/>
          </a:ln>
        </p:spPr>
      </p:sp>
      <p:sp>
        <p:nvSpPr>
          <p:cNvPr id="11" name="Text 9"/>
          <p:cNvSpPr/>
          <p:nvPr/>
        </p:nvSpPr>
        <p:spPr>
          <a:xfrm>
            <a:off x="4608576"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2</a:t>
            </a:r>
            <a:endParaRPr lang="en-US" sz="1100" dirty="0"/>
          </a:p>
        </p:txBody>
      </p:sp>
      <p:sp>
        <p:nvSpPr>
          <p:cNvPr id="12" name="Text 10"/>
          <p:cNvSpPr/>
          <p:nvPr/>
        </p:nvSpPr>
        <p:spPr>
          <a:xfrm>
            <a:off x="5102352" y="1508760"/>
            <a:ext cx="2587752" cy="292608"/>
          </a:xfrm>
          <a:prstGeom prst="rect">
            <a:avLst/>
          </a:prstGeom>
          <a:noFill/>
          <a:ln/>
        </p:spPr>
        <p:txBody>
          <a:bodyPr wrap="square" lIns="0" tIns="0" rIns="0" bIns="0" rtlCol="0" anchor="ctr"/>
          <a:lstStyle/>
          <a:p>
            <a:pPr indent="0" marL="0">
              <a:buNone/>
            </a:pPr>
            <a:r>
              <a:rPr lang="en-US" sz="1400" b="1" dirty="0">
                <a:solidFill>
                  <a:srgbClr val="18251F"/>
                </a:solidFill>
              </a:rPr>
              <a:t>Execution</a:t>
            </a:r>
            <a:endParaRPr lang="en-US" sz="1400" dirty="0"/>
          </a:p>
        </p:txBody>
      </p:sp>
      <p:sp>
        <p:nvSpPr>
          <p:cNvPr id="13" name="Text 11"/>
          <p:cNvSpPr/>
          <p:nvPr/>
        </p:nvSpPr>
        <p:spPr>
          <a:xfrm>
            <a:off x="4626864" y="1892808"/>
            <a:ext cx="3063240" cy="1234440"/>
          </a:xfrm>
          <a:prstGeom prst="rect">
            <a:avLst/>
          </a:prstGeom>
          <a:noFill/>
          <a:ln/>
        </p:spPr>
        <p:txBody>
          <a:bodyPr wrap="square" lIns="381" tIns="381" rIns="381" bIns="381" rtlCol="0" anchor="t"/>
          <a:lstStyle/>
          <a:p>
            <a:pPr indent="0" marL="0">
              <a:buNone/>
            </a:pPr>
            <a:r>
              <a:rPr lang="en-US" sz="1050" dirty="0">
                <a:solidFill>
                  <a:srgbClr val="66756F"/>
                </a:solidFill>
              </a:rPr>
              <a:t>• Shared browser</a:t>
            </a:r>
            <a:endParaRPr lang="en-US" sz="1050" dirty="0"/>
          </a:p>
          <a:p>
            <a:pPr indent="0" marL="0">
              <a:buNone/>
            </a:pPr>
            <a:r>
              <a:rPr lang="en-US" sz="1050" dirty="0">
                <a:solidFill>
                  <a:srgbClr val="66756F"/>
                </a:solidFill>
              </a:rPr>
              <a:t>• Separate browser/test</a:t>
            </a:r>
            <a:endParaRPr lang="en-US" sz="1050" dirty="0"/>
          </a:p>
          <a:p>
            <a:pPr indent="0" marL="0">
              <a:buNone/>
            </a:pPr>
            <a:r>
              <a:rPr lang="en-US" sz="1050" dirty="0">
                <a:solidFill>
                  <a:srgbClr val="66756F"/>
                </a:solidFill>
              </a:rPr>
              <a:t>• 2–4 browser pool</a:t>
            </a:r>
            <a:endParaRPr lang="en-US" sz="1050" dirty="0"/>
          </a:p>
          <a:p>
            <a:pPr indent="0" marL="0">
              <a:buNone/>
            </a:pPr>
            <a:r>
              <a:rPr lang="en-US" sz="1050" dirty="0">
                <a:solidFill>
                  <a:srgbClr val="66756F"/>
                </a:solidFill>
              </a:rPr>
              <a:t>• Headless / headed</a:t>
            </a:r>
            <a:endParaRPr lang="en-US" sz="1050" dirty="0"/>
          </a:p>
          <a:p>
            <a:pPr indent="0" marL="0">
              <a:buNone/>
            </a:pPr>
            <a:r>
              <a:rPr lang="en-US" sz="1050" dirty="0">
                <a:solidFill>
                  <a:srgbClr val="66756F"/>
                </a:solidFill>
              </a:rPr>
              <a:t>• Immediate scenario reruns</a:t>
            </a:r>
            <a:endParaRPr lang="en-US" sz="1050" dirty="0"/>
          </a:p>
        </p:txBody>
      </p:sp>
      <p:sp>
        <p:nvSpPr>
          <p:cNvPr id="14" name="Shape 12"/>
          <p:cNvSpPr/>
          <p:nvPr/>
        </p:nvSpPr>
        <p:spPr>
          <a:xfrm>
            <a:off x="8266176" y="1325880"/>
            <a:ext cx="3502152" cy="1965960"/>
          </a:xfrm>
          <a:prstGeom prst="roundRect">
            <a:avLst>
              <a:gd name="adj" fmla="val 5581"/>
            </a:avLst>
          </a:prstGeom>
          <a:solidFill>
            <a:srgbClr val="FFFFFF"/>
          </a:solidFill>
          <a:ln w="12700">
            <a:solidFill>
              <a:srgbClr val="D8E6DF"/>
            </a:solidFill>
            <a:prstDash val="solid"/>
          </a:ln>
        </p:spPr>
      </p:sp>
      <p:sp>
        <p:nvSpPr>
          <p:cNvPr id="15" name="Shape 13"/>
          <p:cNvSpPr/>
          <p:nvPr/>
        </p:nvSpPr>
        <p:spPr>
          <a:xfrm>
            <a:off x="8467344" y="1527048"/>
            <a:ext cx="384048" cy="384048"/>
          </a:xfrm>
          <a:prstGeom prst="ellipse">
            <a:avLst/>
          </a:prstGeom>
          <a:solidFill>
            <a:srgbClr val="E9F6F0"/>
          </a:solidFill>
          <a:ln w="12700">
            <a:solidFill>
              <a:srgbClr val="E9F6F0"/>
            </a:solidFill>
            <a:prstDash val="solid"/>
          </a:ln>
        </p:spPr>
      </p:sp>
      <p:sp>
        <p:nvSpPr>
          <p:cNvPr id="16" name="Text 14"/>
          <p:cNvSpPr/>
          <p:nvPr/>
        </p:nvSpPr>
        <p:spPr>
          <a:xfrm>
            <a:off x="8467344"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3</a:t>
            </a:r>
            <a:endParaRPr lang="en-US" sz="1100" dirty="0"/>
          </a:p>
        </p:txBody>
      </p:sp>
      <p:sp>
        <p:nvSpPr>
          <p:cNvPr id="17" name="Text 15"/>
          <p:cNvSpPr/>
          <p:nvPr/>
        </p:nvSpPr>
        <p:spPr>
          <a:xfrm>
            <a:off x="8961120" y="1508760"/>
            <a:ext cx="2587752" cy="292608"/>
          </a:xfrm>
          <a:prstGeom prst="rect">
            <a:avLst/>
          </a:prstGeom>
          <a:noFill/>
          <a:ln/>
        </p:spPr>
        <p:txBody>
          <a:bodyPr wrap="square" lIns="0" tIns="0" rIns="0" bIns="0" rtlCol="0" anchor="ctr"/>
          <a:lstStyle/>
          <a:p>
            <a:pPr indent="0" marL="0">
              <a:buNone/>
            </a:pPr>
            <a:r>
              <a:rPr lang="en-US" sz="1400" b="1" dirty="0">
                <a:solidFill>
                  <a:srgbClr val="18251F"/>
                </a:solidFill>
              </a:rPr>
              <a:t>Agentic</a:t>
            </a:r>
            <a:endParaRPr lang="en-US" sz="1400" dirty="0"/>
          </a:p>
        </p:txBody>
      </p:sp>
      <p:sp>
        <p:nvSpPr>
          <p:cNvPr id="18" name="Text 16"/>
          <p:cNvSpPr/>
          <p:nvPr/>
        </p:nvSpPr>
        <p:spPr>
          <a:xfrm>
            <a:off x="8485632" y="1892808"/>
            <a:ext cx="3063240" cy="1234440"/>
          </a:xfrm>
          <a:prstGeom prst="rect">
            <a:avLst/>
          </a:prstGeom>
          <a:noFill/>
          <a:ln/>
        </p:spPr>
        <p:txBody>
          <a:bodyPr wrap="square" lIns="381" tIns="381" rIns="381" bIns="381" rtlCol="0" anchor="t"/>
          <a:lstStyle/>
          <a:p>
            <a:pPr indent="0" marL="0">
              <a:buNone/>
            </a:pPr>
            <a:r>
              <a:rPr lang="en-US" sz="1050" dirty="0">
                <a:solidFill>
                  <a:srgbClr val="66756F"/>
                </a:solidFill>
              </a:rPr>
              <a:t>• LangGraph4j state machine</a:t>
            </a:r>
            <a:endParaRPr lang="en-US" sz="1050" dirty="0"/>
          </a:p>
          <a:p>
            <a:pPr indent="0" marL="0">
              <a:buNone/>
            </a:pPr>
            <a:r>
              <a:rPr lang="en-US" sz="1050" dirty="0">
                <a:solidFill>
                  <a:srgbClr val="66756F"/>
                </a:solidFill>
              </a:rPr>
              <a:t>• LLM planning</a:t>
            </a:r>
            <a:endParaRPr lang="en-US" sz="1050" dirty="0"/>
          </a:p>
          <a:p>
            <a:pPr indent="0" marL="0">
              <a:buNone/>
            </a:pPr>
            <a:r>
              <a:rPr lang="en-US" sz="1050" dirty="0">
                <a:solidFill>
                  <a:srgbClr val="66756F"/>
                </a:solidFill>
              </a:rPr>
              <a:t>• Fresh-observation healing</a:t>
            </a:r>
            <a:endParaRPr lang="en-US" sz="1050" dirty="0"/>
          </a:p>
          <a:p>
            <a:pPr indent="0" marL="0">
              <a:buNone/>
            </a:pPr>
            <a:r>
              <a:rPr lang="en-US" sz="1050" dirty="0">
                <a:solidFill>
                  <a:srgbClr val="66756F"/>
                </a:solidFill>
              </a:rPr>
              <a:t>• Confidence threshold</a:t>
            </a:r>
            <a:endParaRPr lang="en-US" sz="1050" dirty="0"/>
          </a:p>
          <a:p>
            <a:pPr indent="0" marL="0">
              <a:buNone/>
            </a:pPr>
            <a:r>
              <a:rPr lang="en-US" sz="1050" dirty="0">
                <a:solidFill>
                  <a:srgbClr val="66756F"/>
                </a:solidFill>
              </a:rPr>
              <a:t>• Strict evidence validation</a:t>
            </a:r>
            <a:endParaRPr lang="en-US" sz="1050" dirty="0"/>
          </a:p>
        </p:txBody>
      </p:sp>
      <p:sp>
        <p:nvSpPr>
          <p:cNvPr id="19" name="Shape 17"/>
          <p:cNvSpPr/>
          <p:nvPr/>
        </p:nvSpPr>
        <p:spPr>
          <a:xfrm>
            <a:off x="548640" y="3657600"/>
            <a:ext cx="3502152" cy="1965960"/>
          </a:xfrm>
          <a:prstGeom prst="roundRect">
            <a:avLst>
              <a:gd name="adj" fmla="val 5581"/>
            </a:avLst>
          </a:prstGeom>
          <a:solidFill>
            <a:srgbClr val="FBFDFC"/>
          </a:solidFill>
          <a:ln w="12700">
            <a:solidFill>
              <a:srgbClr val="D8E6DF"/>
            </a:solidFill>
            <a:prstDash val="solid"/>
          </a:ln>
        </p:spPr>
      </p:sp>
      <p:sp>
        <p:nvSpPr>
          <p:cNvPr id="20" name="Shape 18"/>
          <p:cNvSpPr/>
          <p:nvPr/>
        </p:nvSpPr>
        <p:spPr>
          <a:xfrm>
            <a:off x="749808" y="3858768"/>
            <a:ext cx="384048" cy="384048"/>
          </a:xfrm>
          <a:prstGeom prst="ellipse">
            <a:avLst/>
          </a:prstGeom>
          <a:solidFill>
            <a:srgbClr val="E9F6F0"/>
          </a:solidFill>
          <a:ln w="12700">
            <a:solidFill>
              <a:srgbClr val="E9F6F0"/>
            </a:solidFill>
            <a:prstDash val="solid"/>
          </a:ln>
        </p:spPr>
      </p:sp>
      <p:sp>
        <p:nvSpPr>
          <p:cNvPr id="21" name="Text 19"/>
          <p:cNvSpPr/>
          <p:nvPr/>
        </p:nvSpPr>
        <p:spPr>
          <a:xfrm>
            <a:off x="749808" y="3927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4</a:t>
            </a:r>
            <a:endParaRPr lang="en-US" sz="1100" dirty="0"/>
          </a:p>
        </p:txBody>
      </p:sp>
      <p:sp>
        <p:nvSpPr>
          <p:cNvPr id="22" name="Text 20"/>
          <p:cNvSpPr/>
          <p:nvPr/>
        </p:nvSpPr>
        <p:spPr>
          <a:xfrm>
            <a:off x="1243584" y="3840480"/>
            <a:ext cx="2587752" cy="292608"/>
          </a:xfrm>
          <a:prstGeom prst="rect">
            <a:avLst/>
          </a:prstGeom>
          <a:noFill/>
          <a:ln/>
        </p:spPr>
        <p:txBody>
          <a:bodyPr wrap="square" lIns="0" tIns="0" rIns="0" bIns="0" rtlCol="0" anchor="ctr"/>
          <a:lstStyle/>
          <a:p>
            <a:pPr indent="0" marL="0">
              <a:buNone/>
            </a:pPr>
            <a:r>
              <a:rPr lang="en-US" sz="1400" b="1" dirty="0">
                <a:solidFill>
                  <a:srgbClr val="18251F"/>
                </a:solidFill>
              </a:rPr>
              <a:t>Controls</a:t>
            </a:r>
            <a:endParaRPr lang="en-US" sz="1400" dirty="0"/>
          </a:p>
        </p:txBody>
      </p:sp>
      <p:sp>
        <p:nvSpPr>
          <p:cNvPr id="23" name="Text 21"/>
          <p:cNvSpPr/>
          <p:nvPr/>
        </p:nvSpPr>
        <p:spPr>
          <a:xfrm>
            <a:off x="768096" y="4224528"/>
            <a:ext cx="3063240" cy="1234440"/>
          </a:xfrm>
          <a:prstGeom prst="rect">
            <a:avLst/>
          </a:prstGeom>
          <a:noFill/>
          <a:ln/>
        </p:spPr>
        <p:txBody>
          <a:bodyPr wrap="square" lIns="381" tIns="381" rIns="381" bIns="381" rtlCol="0" anchor="t"/>
          <a:lstStyle/>
          <a:p>
            <a:pPr indent="0" marL="0">
              <a:buNone/>
            </a:pPr>
            <a:r>
              <a:rPr lang="en-US" sz="1050" dirty="0">
                <a:solidFill>
                  <a:srgbClr val="66756F"/>
                </a:solidFill>
              </a:rPr>
              <a:t>• Cookie replacement</a:t>
            </a:r>
            <a:endParaRPr lang="en-US" sz="1050" dirty="0"/>
          </a:p>
          <a:p>
            <a:pPr indent="0" marL="0">
              <a:buNone/>
            </a:pPr>
            <a:r>
              <a:rPr lang="en-US" sz="1050" dirty="0">
                <a:solidFill>
                  <a:srgbClr val="66756F"/>
                </a:solidFill>
              </a:rPr>
              <a:t>• Additional cookies</a:t>
            </a:r>
            <a:endParaRPr lang="en-US" sz="1050" dirty="0"/>
          </a:p>
          <a:p>
            <a:pPr indent="0" marL="0">
              <a:buNone/>
            </a:pPr>
            <a:r>
              <a:rPr lang="en-US" sz="1050" dirty="0">
                <a:solidFill>
                  <a:srgbClr val="66756F"/>
                </a:solidFill>
              </a:rPr>
              <a:t>• Self-signed cert recovery</a:t>
            </a:r>
            <a:endParaRPr lang="en-US" sz="1050" dirty="0"/>
          </a:p>
          <a:p>
            <a:pPr indent="0" marL="0">
              <a:buNone/>
            </a:pPr>
            <a:r>
              <a:rPr lang="en-US" sz="1050" dirty="0">
                <a:solidFill>
                  <a:srgbClr val="66756F"/>
                </a:solidFill>
              </a:rPr>
              <a:t>• Optional custom zoom</a:t>
            </a:r>
            <a:endParaRPr lang="en-US" sz="1050" dirty="0"/>
          </a:p>
          <a:p>
            <a:pPr indent="0" marL="0">
              <a:buNone/>
            </a:pPr>
            <a:r>
              <a:rPr lang="en-US" sz="1050" dirty="0">
                <a:solidFill>
                  <a:srgbClr val="66756F"/>
                </a:solidFill>
              </a:rPr>
              <a:t>• Automatic maximize</a:t>
            </a:r>
            <a:endParaRPr lang="en-US" sz="1050" dirty="0"/>
          </a:p>
        </p:txBody>
      </p:sp>
      <p:sp>
        <p:nvSpPr>
          <p:cNvPr id="24" name="Shape 22"/>
          <p:cNvSpPr/>
          <p:nvPr/>
        </p:nvSpPr>
        <p:spPr>
          <a:xfrm>
            <a:off x="4407408" y="3657600"/>
            <a:ext cx="3502152" cy="1965960"/>
          </a:xfrm>
          <a:prstGeom prst="roundRect">
            <a:avLst>
              <a:gd name="adj" fmla="val 5581"/>
            </a:avLst>
          </a:prstGeom>
          <a:solidFill>
            <a:srgbClr val="FFFFFF"/>
          </a:solidFill>
          <a:ln w="12700">
            <a:solidFill>
              <a:srgbClr val="D8E6DF"/>
            </a:solidFill>
            <a:prstDash val="solid"/>
          </a:ln>
        </p:spPr>
      </p:sp>
      <p:sp>
        <p:nvSpPr>
          <p:cNvPr id="25" name="Shape 23"/>
          <p:cNvSpPr/>
          <p:nvPr/>
        </p:nvSpPr>
        <p:spPr>
          <a:xfrm>
            <a:off x="4608576" y="3858768"/>
            <a:ext cx="384048" cy="384048"/>
          </a:xfrm>
          <a:prstGeom prst="ellipse">
            <a:avLst/>
          </a:prstGeom>
          <a:solidFill>
            <a:srgbClr val="E9F6F0"/>
          </a:solidFill>
          <a:ln w="12700">
            <a:solidFill>
              <a:srgbClr val="E9F6F0"/>
            </a:solidFill>
            <a:prstDash val="solid"/>
          </a:ln>
        </p:spPr>
      </p:sp>
      <p:sp>
        <p:nvSpPr>
          <p:cNvPr id="26" name="Text 24"/>
          <p:cNvSpPr/>
          <p:nvPr/>
        </p:nvSpPr>
        <p:spPr>
          <a:xfrm>
            <a:off x="4608576" y="3927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5</a:t>
            </a:r>
            <a:endParaRPr lang="en-US" sz="1100" dirty="0"/>
          </a:p>
        </p:txBody>
      </p:sp>
      <p:sp>
        <p:nvSpPr>
          <p:cNvPr id="27" name="Text 25"/>
          <p:cNvSpPr/>
          <p:nvPr/>
        </p:nvSpPr>
        <p:spPr>
          <a:xfrm>
            <a:off x="5102352" y="3840480"/>
            <a:ext cx="2587752" cy="292608"/>
          </a:xfrm>
          <a:prstGeom prst="rect">
            <a:avLst/>
          </a:prstGeom>
          <a:noFill/>
          <a:ln/>
        </p:spPr>
        <p:txBody>
          <a:bodyPr wrap="square" lIns="0" tIns="0" rIns="0" bIns="0" rtlCol="0" anchor="ctr"/>
          <a:lstStyle/>
          <a:p>
            <a:pPr indent="0" marL="0">
              <a:buNone/>
            </a:pPr>
            <a:r>
              <a:rPr lang="en-US" sz="1400" b="1" dirty="0">
                <a:solidFill>
                  <a:srgbClr val="18251F"/>
                </a:solidFill>
              </a:rPr>
              <a:t>Observability</a:t>
            </a:r>
            <a:endParaRPr lang="en-US" sz="1400" dirty="0"/>
          </a:p>
        </p:txBody>
      </p:sp>
      <p:sp>
        <p:nvSpPr>
          <p:cNvPr id="28" name="Text 26"/>
          <p:cNvSpPr/>
          <p:nvPr/>
        </p:nvSpPr>
        <p:spPr>
          <a:xfrm>
            <a:off x="4626864" y="4224528"/>
            <a:ext cx="3063240" cy="1234440"/>
          </a:xfrm>
          <a:prstGeom prst="rect">
            <a:avLst/>
          </a:prstGeom>
          <a:noFill/>
          <a:ln/>
        </p:spPr>
        <p:txBody>
          <a:bodyPr wrap="square" lIns="381" tIns="381" rIns="381" bIns="381" rtlCol="0" anchor="t"/>
          <a:lstStyle/>
          <a:p>
            <a:pPr indent="0" marL="0">
              <a:buNone/>
            </a:pPr>
            <a:r>
              <a:rPr lang="en-US" sz="1050" dirty="0">
                <a:solidFill>
                  <a:srgbClr val="66756F"/>
                </a:solidFill>
              </a:rPr>
              <a:t>• Live KPIs</a:t>
            </a:r>
            <a:endParaRPr lang="en-US" sz="1050" dirty="0"/>
          </a:p>
          <a:p>
            <a:pPr indent="0" marL="0">
              <a:buNone/>
            </a:pPr>
            <a:r>
              <a:rPr lang="en-US" sz="1050" dirty="0">
                <a:solidFill>
                  <a:srgbClr val="66756F"/>
                </a:solidFill>
              </a:rPr>
              <a:t>• HTML / Outlook report</a:t>
            </a:r>
            <a:endParaRPr lang="en-US" sz="1050" dirty="0"/>
          </a:p>
          <a:p>
            <a:pPr indent="0" marL="0">
              <a:buNone/>
            </a:pPr>
            <a:r>
              <a:rPr lang="en-US" sz="1050" dirty="0">
                <a:solidFill>
                  <a:srgbClr val="66756F"/>
                </a:solidFill>
              </a:rPr>
              <a:t>• Excel / JSON</a:t>
            </a:r>
            <a:endParaRPr lang="en-US" sz="1050" dirty="0"/>
          </a:p>
          <a:p>
            <a:pPr indent="0" marL="0">
              <a:buNone/>
            </a:pPr>
            <a:r>
              <a:rPr lang="en-US" sz="1050" dirty="0">
                <a:solidFill>
                  <a:srgbClr val="66756F"/>
                </a:solidFill>
              </a:rPr>
              <a:t>• Screenshot report / ZIP</a:t>
            </a:r>
            <a:endParaRPr lang="en-US" sz="1050" dirty="0"/>
          </a:p>
          <a:p>
            <a:pPr indent="0" marL="0">
              <a:buNone/>
            </a:pPr>
            <a:r>
              <a:rPr lang="en-US" sz="1050" dirty="0">
                <a:solidFill>
                  <a:srgbClr val="66756F"/>
                </a:solidFill>
              </a:rPr>
              <a:t>• MCP manifest / transcript / logs</a:t>
            </a:r>
            <a:endParaRPr lang="en-US" sz="1050" dirty="0"/>
          </a:p>
        </p:txBody>
      </p:sp>
      <p:sp>
        <p:nvSpPr>
          <p:cNvPr id="29" name="Shape 27"/>
          <p:cNvSpPr/>
          <p:nvPr/>
        </p:nvSpPr>
        <p:spPr>
          <a:xfrm>
            <a:off x="8266176" y="3657600"/>
            <a:ext cx="3502152" cy="1965960"/>
          </a:xfrm>
          <a:prstGeom prst="roundRect">
            <a:avLst>
              <a:gd name="adj" fmla="val 5581"/>
            </a:avLst>
          </a:prstGeom>
          <a:solidFill>
            <a:srgbClr val="FBFDFC"/>
          </a:solidFill>
          <a:ln w="12700">
            <a:solidFill>
              <a:srgbClr val="D8E6DF"/>
            </a:solidFill>
            <a:prstDash val="solid"/>
          </a:ln>
        </p:spPr>
      </p:sp>
      <p:sp>
        <p:nvSpPr>
          <p:cNvPr id="30" name="Shape 28"/>
          <p:cNvSpPr/>
          <p:nvPr/>
        </p:nvSpPr>
        <p:spPr>
          <a:xfrm>
            <a:off x="8467344" y="3858768"/>
            <a:ext cx="384048" cy="384048"/>
          </a:xfrm>
          <a:prstGeom prst="ellipse">
            <a:avLst/>
          </a:prstGeom>
          <a:solidFill>
            <a:srgbClr val="E9F6F0"/>
          </a:solidFill>
          <a:ln w="12700">
            <a:solidFill>
              <a:srgbClr val="E9F6F0"/>
            </a:solidFill>
            <a:prstDash val="solid"/>
          </a:ln>
        </p:spPr>
      </p:sp>
      <p:sp>
        <p:nvSpPr>
          <p:cNvPr id="31" name="Text 29"/>
          <p:cNvSpPr/>
          <p:nvPr/>
        </p:nvSpPr>
        <p:spPr>
          <a:xfrm>
            <a:off x="8467344" y="3927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6</a:t>
            </a:r>
            <a:endParaRPr lang="en-US" sz="1100" dirty="0"/>
          </a:p>
        </p:txBody>
      </p:sp>
      <p:sp>
        <p:nvSpPr>
          <p:cNvPr id="32" name="Text 30"/>
          <p:cNvSpPr/>
          <p:nvPr/>
        </p:nvSpPr>
        <p:spPr>
          <a:xfrm>
            <a:off x="8961120" y="3840480"/>
            <a:ext cx="2587752" cy="292608"/>
          </a:xfrm>
          <a:prstGeom prst="rect">
            <a:avLst/>
          </a:prstGeom>
          <a:noFill/>
          <a:ln/>
        </p:spPr>
        <p:txBody>
          <a:bodyPr wrap="square" lIns="0" tIns="0" rIns="0" bIns="0" rtlCol="0" anchor="ctr"/>
          <a:lstStyle/>
          <a:p>
            <a:pPr indent="0" marL="0">
              <a:buNone/>
            </a:pPr>
            <a:r>
              <a:rPr lang="en-US" sz="1400" b="1" dirty="0">
                <a:solidFill>
                  <a:srgbClr val="18251F"/>
                </a:solidFill>
              </a:rPr>
              <a:t>Safety</a:t>
            </a:r>
            <a:endParaRPr lang="en-US" sz="1400" dirty="0"/>
          </a:p>
        </p:txBody>
      </p:sp>
      <p:sp>
        <p:nvSpPr>
          <p:cNvPr id="33" name="Text 31"/>
          <p:cNvSpPr/>
          <p:nvPr/>
        </p:nvSpPr>
        <p:spPr>
          <a:xfrm>
            <a:off x="8485632" y="4224528"/>
            <a:ext cx="3063240" cy="1234440"/>
          </a:xfrm>
          <a:prstGeom prst="rect">
            <a:avLst/>
          </a:prstGeom>
          <a:noFill/>
          <a:ln/>
        </p:spPr>
        <p:txBody>
          <a:bodyPr wrap="square" lIns="381" tIns="381" rIns="381" bIns="381" rtlCol="0" anchor="t"/>
          <a:lstStyle/>
          <a:p>
            <a:pPr indent="0" marL="0">
              <a:buNone/>
            </a:pPr>
            <a:r>
              <a:rPr lang="en-US" sz="1050" dirty="0">
                <a:solidFill>
                  <a:srgbClr val="66756F"/>
                </a:solidFill>
              </a:rPr>
              <a:t>• AI connection gate</a:t>
            </a:r>
            <a:endParaRPr lang="en-US" sz="1050" dirty="0"/>
          </a:p>
          <a:p>
            <a:pPr indent="0" marL="0">
              <a:buNone/>
            </a:pPr>
            <a:r>
              <a:rPr lang="en-US" sz="1050" dirty="0">
                <a:solidFill>
                  <a:srgbClr val="66756F"/>
                </a:solidFill>
              </a:rPr>
              <a:t>• API key masking</a:t>
            </a:r>
            <a:endParaRPr lang="en-US" sz="1050" dirty="0"/>
          </a:p>
          <a:p>
            <a:pPr indent="0" marL="0">
              <a:buNone/>
            </a:pPr>
            <a:r>
              <a:rPr lang="en-US" sz="1050" dirty="0">
                <a:solidFill>
                  <a:srgbClr val="66756F"/>
                </a:solidFill>
              </a:rPr>
              <a:t>• Cookie value redaction</a:t>
            </a:r>
            <a:endParaRPr lang="en-US" sz="1050" dirty="0"/>
          </a:p>
          <a:p>
            <a:pPr indent="0" marL="0">
              <a:buNone/>
            </a:pPr>
            <a:r>
              <a:rPr lang="en-US" sz="1050" dirty="0">
                <a:solidFill>
                  <a:srgbClr val="66756F"/>
                </a:solidFill>
              </a:rPr>
              <a:t>• Bounded healing retries</a:t>
            </a:r>
            <a:endParaRPr lang="en-US" sz="1050" dirty="0"/>
          </a:p>
          <a:p>
            <a:pPr indent="0" marL="0">
              <a:buNone/>
            </a:pPr>
            <a:r>
              <a:rPr lang="en-US" sz="1050" dirty="0">
                <a:solidFill>
                  <a:srgbClr val="66756F"/>
                </a:solidFill>
              </a:rPr>
              <a:t>• Unsupported zoom fallback to 100%</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5B3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5B3E"/>
          </a:solidFill>
          <a:ln w="12700">
            <a:solidFill>
              <a:srgbClr val="005B3E"/>
            </a:solidFill>
            <a:prstDash val="solid"/>
          </a:ln>
        </p:spPr>
      </p:sp>
      <p:sp>
        <p:nvSpPr>
          <p:cNvPr id="3" name="Shape 1"/>
          <p:cNvSpPr/>
          <p:nvPr/>
        </p:nvSpPr>
        <p:spPr>
          <a:xfrm>
            <a:off x="594360" y="1188720"/>
            <a:ext cx="1005840" cy="109728"/>
          </a:xfrm>
          <a:prstGeom prst="rect">
            <a:avLst/>
          </a:prstGeom>
          <a:solidFill>
            <a:srgbClr val="82C9AA"/>
          </a:solidFill>
          <a:ln w="12700">
            <a:solidFill>
              <a:srgbClr val="82C9AA"/>
            </a:solidFill>
            <a:prstDash val="solid"/>
          </a:ln>
        </p:spPr>
      </p:sp>
      <p:sp>
        <p:nvSpPr>
          <p:cNvPr id="4" name="Text 2"/>
          <p:cNvSpPr/>
          <p:nvPr/>
        </p:nvSpPr>
        <p:spPr>
          <a:xfrm>
            <a:off x="621792" y="1554480"/>
            <a:ext cx="10424160" cy="731520"/>
          </a:xfrm>
          <a:prstGeom prst="rect">
            <a:avLst/>
          </a:prstGeom>
          <a:noFill/>
          <a:ln/>
        </p:spPr>
        <p:txBody>
          <a:bodyPr wrap="square" lIns="0" tIns="0" rIns="0" bIns="0" rtlCol="0" anchor="ctr"/>
          <a:lstStyle/>
          <a:p>
            <a:pPr indent="0" marL="0">
              <a:buNone/>
            </a:pPr>
            <a:r>
              <a:rPr lang="en-US" sz="3200" b="1" dirty="0">
                <a:solidFill>
                  <a:srgbClr val="FFFFFF"/>
                </a:solidFill>
              </a:rPr>
              <a:t>Architecture</a:t>
            </a:r>
            <a:endParaRPr lang="en-US" sz="3200" dirty="0"/>
          </a:p>
        </p:txBody>
      </p:sp>
      <p:sp>
        <p:nvSpPr>
          <p:cNvPr id="5" name="Text 3"/>
          <p:cNvSpPr/>
          <p:nvPr/>
        </p:nvSpPr>
        <p:spPr>
          <a:xfrm>
            <a:off x="640080" y="2423160"/>
            <a:ext cx="9509760" cy="594360"/>
          </a:xfrm>
          <a:prstGeom prst="rect">
            <a:avLst/>
          </a:prstGeom>
          <a:noFill/>
          <a:ln/>
        </p:spPr>
        <p:txBody>
          <a:bodyPr wrap="square" lIns="0" tIns="0" rIns="0" bIns="0" rtlCol="0" anchor="ctr"/>
          <a:lstStyle/>
          <a:p>
            <a:pPr indent="0" marL="0">
              <a:buNone/>
            </a:pPr>
            <a:r>
              <a:rPr lang="en-US" sz="1600" dirty="0">
                <a:solidFill>
                  <a:srgbClr val="D9EEE5"/>
                </a:solidFill>
              </a:rPr>
              <a:t>How the local application, agentic engine, Vibium MCP and browser fit together</a:t>
            </a:r>
            <a:endParaRPr lang="en-US" sz="1600" dirty="0"/>
          </a:p>
        </p:txBody>
      </p:sp>
      <p:sp>
        <p:nvSpPr>
          <p:cNvPr id="6" name="Text 4"/>
          <p:cNvSpPr/>
          <p:nvPr/>
        </p:nvSpPr>
        <p:spPr>
          <a:xfrm>
            <a:off x="640080" y="6172200"/>
            <a:ext cx="3657600" cy="228600"/>
          </a:xfrm>
          <a:prstGeom prst="rect">
            <a:avLst/>
          </a:prstGeom>
          <a:noFill/>
          <a:ln/>
        </p:spPr>
        <p:txBody>
          <a:bodyPr wrap="square" lIns="0" tIns="0" rIns="0" bIns="0" rtlCol="0" anchor="ctr"/>
          <a:lstStyle/>
          <a:p>
            <a:pPr indent="0" marL="0">
              <a:buNone/>
            </a:pPr>
            <a:r>
              <a:rPr lang="en-US" sz="900" dirty="0">
                <a:solidFill>
                  <a:srgbClr val="B9DDCD"/>
                </a:solidFill>
              </a:rPr>
              <a:t>ITPS VIBIUM Framework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High-level architecture</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The Java application owns orchestration; Vibium owns browser actuation</a:t>
            </a:r>
            <a:endParaRPr lang="en-US" sz="1150" dirty="0"/>
          </a:p>
        </p:txBody>
      </p:sp>
      <p:sp>
        <p:nvSpPr>
          <p:cNvPr id="4" name="Shape 2"/>
          <p:cNvSpPr/>
          <p:nvPr/>
        </p:nvSpPr>
        <p:spPr>
          <a:xfrm>
            <a:off x="502920" y="1325880"/>
            <a:ext cx="1737360" cy="731520"/>
          </a:xfrm>
          <a:prstGeom prst="roundRect">
            <a:avLst/>
          </a:prstGeom>
          <a:solidFill>
            <a:srgbClr val="FFFFFF"/>
          </a:solidFill>
          <a:ln w="12700">
            <a:solidFill>
              <a:srgbClr val="D8E6DF"/>
            </a:solidFill>
            <a:prstDash val="solid"/>
          </a:ln>
          <a:effectLst>
            <a:outerShdw sx="100000" sy="100000" kx="0" ky="0" algn="bl" rotWithShape="0" blurRad="9.998313280375211e+106" dist="5.499072304206365e+106" dir="7.67617776808102e+125">
              <a:srgbClr val="000000">
                <a:alpha val="1.4e+129"/>
              </a:srgbClr>
            </a:outerShdw>
          </a:effectLst>
        </p:spPr>
      </p:sp>
      <p:sp>
        <p:nvSpPr>
          <p:cNvPr id="5" name="Text 3"/>
          <p:cNvSpPr/>
          <p:nvPr/>
        </p:nvSpPr>
        <p:spPr>
          <a:xfrm>
            <a:off x="576072" y="1536192"/>
            <a:ext cx="1591056" cy="256032"/>
          </a:xfrm>
          <a:prstGeom prst="rect">
            <a:avLst/>
          </a:prstGeom>
          <a:noFill/>
          <a:ln/>
        </p:spPr>
        <p:txBody>
          <a:bodyPr wrap="square" lIns="0" tIns="0" rIns="0" bIns="0" rtlCol="0" anchor="ctr"/>
          <a:lstStyle/>
          <a:p>
            <a:pPr algn="ctr" indent="0" marL="0">
              <a:buNone/>
            </a:pPr>
            <a:r>
              <a:rPr lang="en-US" sz="1150" b="1" dirty="0">
                <a:solidFill>
                  <a:srgbClr val="18251F"/>
                </a:solidFill>
              </a:rPr>
              <a:t>QA / Automation User</a:t>
            </a:r>
            <a:endParaRPr lang="en-US" sz="1150" dirty="0"/>
          </a:p>
        </p:txBody>
      </p:sp>
      <p:sp>
        <p:nvSpPr>
          <p:cNvPr id="6" name="Shape 4"/>
          <p:cNvSpPr/>
          <p:nvPr/>
        </p:nvSpPr>
        <p:spPr>
          <a:xfrm>
            <a:off x="2286000" y="1691640"/>
            <a:ext cx="182880" cy="0"/>
          </a:xfrm>
          <a:prstGeom prst="line">
            <a:avLst/>
          </a:prstGeom>
          <a:noFill/>
          <a:ln w="25400">
            <a:solidFill>
              <a:srgbClr val="007A53"/>
            </a:solidFill>
            <a:prstDash val="solid"/>
            <a:headEnd type="none"/>
            <a:tailEnd type="triangle"/>
          </a:ln>
        </p:spPr>
      </p:sp>
      <p:sp>
        <p:nvSpPr>
          <p:cNvPr id="7" name="Shape 5"/>
          <p:cNvSpPr/>
          <p:nvPr/>
        </p:nvSpPr>
        <p:spPr>
          <a:xfrm>
            <a:off x="2514600" y="1325880"/>
            <a:ext cx="1737360" cy="731520"/>
          </a:xfrm>
          <a:prstGeom prst="roundRect">
            <a:avLst/>
          </a:prstGeom>
          <a:solidFill>
            <a:srgbClr val="FFFFFF"/>
          </a:solidFill>
          <a:ln w="12700">
            <a:solidFill>
              <a:srgbClr val="D8E6DF"/>
            </a:solidFill>
            <a:prstDash val="solid"/>
          </a:ln>
          <a:effectLst>
            <a:outerShdw sx="100000" sy="100000" kx="0" ky="0" algn="bl" rotWithShape="0" blurRad="1.2697857866076517e+111" dist="6.983821826342084e+110" dir="4.605706660848612e+130">
              <a:srgbClr val="000000">
                <a:alpha val="1.4e+134"/>
              </a:srgbClr>
            </a:outerShdw>
          </a:effectLst>
        </p:spPr>
      </p:sp>
      <p:sp>
        <p:nvSpPr>
          <p:cNvPr id="8" name="Text 6"/>
          <p:cNvSpPr/>
          <p:nvPr/>
        </p:nvSpPr>
        <p:spPr>
          <a:xfrm>
            <a:off x="2587752" y="1536192"/>
            <a:ext cx="1591056" cy="256032"/>
          </a:xfrm>
          <a:prstGeom prst="rect">
            <a:avLst/>
          </a:prstGeom>
          <a:noFill/>
          <a:ln/>
        </p:spPr>
        <p:txBody>
          <a:bodyPr wrap="square" lIns="0" tIns="0" rIns="0" bIns="0" rtlCol="0" anchor="ctr"/>
          <a:lstStyle/>
          <a:p>
            <a:pPr algn="ctr" indent="0" marL="0">
              <a:buNone/>
            </a:pPr>
            <a:r>
              <a:rPr lang="en-US" sz="1150" b="1" dirty="0">
                <a:solidFill>
                  <a:srgbClr val="18251F"/>
                </a:solidFill>
              </a:rPr>
              <a:t>Spring Boot Web UI</a:t>
            </a:r>
            <a:endParaRPr lang="en-US" sz="1150" dirty="0"/>
          </a:p>
        </p:txBody>
      </p:sp>
      <p:sp>
        <p:nvSpPr>
          <p:cNvPr id="9" name="Shape 7"/>
          <p:cNvSpPr/>
          <p:nvPr/>
        </p:nvSpPr>
        <p:spPr>
          <a:xfrm>
            <a:off x="4297680" y="1691640"/>
            <a:ext cx="274320" cy="0"/>
          </a:xfrm>
          <a:prstGeom prst="line">
            <a:avLst/>
          </a:prstGeom>
          <a:noFill/>
          <a:ln w="25400">
            <a:solidFill>
              <a:srgbClr val="007A53"/>
            </a:solidFill>
            <a:prstDash val="solid"/>
            <a:headEnd type="none"/>
            <a:tailEnd type="triangle"/>
          </a:ln>
        </p:spPr>
      </p:sp>
      <p:sp>
        <p:nvSpPr>
          <p:cNvPr id="10" name="Shape 8"/>
          <p:cNvSpPr/>
          <p:nvPr/>
        </p:nvSpPr>
        <p:spPr>
          <a:xfrm>
            <a:off x="4617720" y="1325880"/>
            <a:ext cx="1737360" cy="731520"/>
          </a:xfrm>
          <a:prstGeom prst="roundRect">
            <a:avLst/>
          </a:prstGeom>
          <a:solidFill>
            <a:srgbClr val="FFFFFF"/>
          </a:solidFill>
          <a:ln w="12700">
            <a:solidFill>
              <a:srgbClr val="D8E6DF"/>
            </a:solidFill>
            <a:prstDash val="solid"/>
          </a:ln>
          <a:effectLst>
            <a:outerShdw sx="100000" sy="100000" kx="0" ky="0" algn="bl" rotWithShape="0" blurRad="1.6126279489917177e+115" dist="8.869453719454447e+114" dir="2.763423996509167e+135">
              <a:srgbClr val="000000">
                <a:alpha val="1.4e+139"/>
              </a:srgbClr>
            </a:outerShdw>
          </a:effectLst>
        </p:spPr>
      </p:sp>
      <p:sp>
        <p:nvSpPr>
          <p:cNvPr id="11" name="Text 9"/>
          <p:cNvSpPr/>
          <p:nvPr/>
        </p:nvSpPr>
        <p:spPr>
          <a:xfrm>
            <a:off x="4690872" y="1536192"/>
            <a:ext cx="1591056" cy="256032"/>
          </a:xfrm>
          <a:prstGeom prst="rect">
            <a:avLst/>
          </a:prstGeom>
          <a:noFill/>
          <a:ln/>
        </p:spPr>
        <p:txBody>
          <a:bodyPr wrap="square" lIns="0" tIns="0" rIns="0" bIns="0" rtlCol="0" anchor="ctr"/>
          <a:lstStyle/>
          <a:p>
            <a:pPr algn="ctr" indent="0" marL="0">
              <a:buNone/>
            </a:pPr>
            <a:r>
              <a:rPr lang="en-US" sz="1150" b="1" dirty="0">
                <a:solidFill>
                  <a:srgbClr val="18251F"/>
                </a:solidFill>
              </a:rPr>
              <a:t>TestRunService / Runner</a:t>
            </a:r>
            <a:endParaRPr lang="en-US" sz="1150" dirty="0"/>
          </a:p>
        </p:txBody>
      </p:sp>
      <p:sp>
        <p:nvSpPr>
          <p:cNvPr id="12" name="Shape 10"/>
          <p:cNvSpPr/>
          <p:nvPr/>
        </p:nvSpPr>
        <p:spPr>
          <a:xfrm>
            <a:off x="6400800" y="1691640"/>
            <a:ext cx="457200" cy="0"/>
          </a:xfrm>
          <a:prstGeom prst="line">
            <a:avLst/>
          </a:prstGeom>
          <a:noFill/>
          <a:ln w="25400">
            <a:solidFill>
              <a:srgbClr val="007A53"/>
            </a:solidFill>
            <a:prstDash val="solid"/>
            <a:headEnd type="none"/>
            <a:tailEnd type="triangle"/>
          </a:ln>
        </p:spPr>
      </p:sp>
      <p:sp>
        <p:nvSpPr>
          <p:cNvPr id="13" name="Shape 11"/>
          <p:cNvSpPr/>
          <p:nvPr/>
        </p:nvSpPr>
        <p:spPr>
          <a:xfrm>
            <a:off x="6903720" y="1325880"/>
            <a:ext cx="2331720" cy="731520"/>
          </a:xfrm>
          <a:prstGeom prst="roundRect">
            <a:avLst/>
          </a:prstGeom>
          <a:solidFill>
            <a:srgbClr val="DFF3E9"/>
          </a:solidFill>
          <a:ln w="12700">
            <a:solidFill>
              <a:srgbClr val="D8E6DF"/>
            </a:solidFill>
            <a:prstDash val="solid"/>
          </a:ln>
          <a:effectLst>
            <a:outerShdw sx="100000" sy="100000" kx="0" ky="0" algn="bl" rotWithShape="0" blurRad="2.0480374952194813e+119" dist="1.1264206223707147e+119" dir="1.6580543979055002e+140">
              <a:srgbClr val="000000">
                <a:alpha val="1.3999999999999999e+144"/>
              </a:srgbClr>
            </a:outerShdw>
          </a:effectLst>
        </p:spPr>
      </p:sp>
      <p:sp>
        <p:nvSpPr>
          <p:cNvPr id="14" name="Text 12"/>
          <p:cNvSpPr/>
          <p:nvPr/>
        </p:nvSpPr>
        <p:spPr>
          <a:xfrm>
            <a:off x="6976872" y="1536192"/>
            <a:ext cx="2185416" cy="256032"/>
          </a:xfrm>
          <a:prstGeom prst="rect">
            <a:avLst/>
          </a:prstGeom>
          <a:noFill/>
          <a:ln/>
        </p:spPr>
        <p:txBody>
          <a:bodyPr wrap="square" lIns="0" tIns="0" rIns="0" bIns="0" rtlCol="0" anchor="ctr"/>
          <a:lstStyle/>
          <a:p>
            <a:pPr algn="ctr" indent="0" marL="0">
              <a:buNone/>
            </a:pPr>
            <a:r>
              <a:rPr lang="en-US" sz="1150" b="1" dirty="0">
                <a:solidFill>
                  <a:srgbClr val="18251F"/>
                </a:solidFill>
              </a:rPr>
              <a:t>LangGraph4j Agentic Step</a:t>
            </a:r>
            <a:endParaRPr lang="en-US" sz="1150" dirty="0"/>
          </a:p>
        </p:txBody>
      </p:sp>
      <p:sp>
        <p:nvSpPr>
          <p:cNvPr id="15" name="Shape 13"/>
          <p:cNvSpPr/>
          <p:nvPr/>
        </p:nvSpPr>
        <p:spPr>
          <a:xfrm>
            <a:off x="502920" y="4023360"/>
            <a:ext cx="1645920" cy="749808"/>
          </a:xfrm>
          <a:prstGeom prst="roundRect">
            <a:avLst/>
          </a:prstGeom>
          <a:solidFill>
            <a:srgbClr val="FFFFFF"/>
          </a:solidFill>
          <a:ln w="12700">
            <a:solidFill>
              <a:srgbClr val="D8E6DF"/>
            </a:solidFill>
            <a:prstDash val="solid"/>
          </a:ln>
          <a:effectLst>
            <a:outerShdw sx="100000" sy="100000" kx="0" ky="0" algn="bl" rotWithShape="0" blurRad="2.6010076189287412e+123" dist="1.4305541904108077e+123" dir="9.948326387433002e+144">
              <a:srgbClr val="000000">
                <a:alpha val="1.4e+149"/>
              </a:srgbClr>
            </a:outerShdw>
          </a:effectLst>
        </p:spPr>
      </p:sp>
      <p:sp>
        <p:nvSpPr>
          <p:cNvPr id="16" name="Text 14"/>
          <p:cNvSpPr/>
          <p:nvPr/>
        </p:nvSpPr>
        <p:spPr>
          <a:xfrm>
            <a:off x="576072" y="4242816"/>
            <a:ext cx="1499616" cy="274320"/>
          </a:xfrm>
          <a:prstGeom prst="rect">
            <a:avLst/>
          </a:prstGeom>
          <a:noFill/>
          <a:ln/>
        </p:spPr>
        <p:txBody>
          <a:bodyPr wrap="square" lIns="0" tIns="0" rIns="0" bIns="0" rtlCol="0" anchor="ctr"/>
          <a:lstStyle/>
          <a:p>
            <a:pPr algn="ctr" indent="0" marL="0">
              <a:buNone/>
            </a:pPr>
            <a:r>
              <a:rPr lang="en-US" sz="1050" b="1" dirty="0">
                <a:solidFill>
                  <a:srgbClr val="18251F"/>
                </a:solidFill>
              </a:rPr>
              <a:t>MCP Client</a:t>
            </a:r>
            <a:endParaRPr lang="en-US" sz="1050" dirty="0"/>
          </a:p>
        </p:txBody>
      </p:sp>
      <p:sp>
        <p:nvSpPr>
          <p:cNvPr id="17" name="Shape 15"/>
          <p:cNvSpPr/>
          <p:nvPr/>
        </p:nvSpPr>
        <p:spPr>
          <a:xfrm>
            <a:off x="2176272" y="4398264"/>
            <a:ext cx="201168" cy="0"/>
          </a:xfrm>
          <a:prstGeom prst="line">
            <a:avLst/>
          </a:prstGeom>
          <a:noFill/>
          <a:ln w="25400">
            <a:solidFill>
              <a:srgbClr val="007A53"/>
            </a:solidFill>
            <a:prstDash val="solid"/>
            <a:headEnd type="none"/>
            <a:tailEnd type="triangle"/>
          </a:ln>
        </p:spPr>
      </p:sp>
      <p:sp>
        <p:nvSpPr>
          <p:cNvPr id="18" name="Shape 16"/>
          <p:cNvSpPr/>
          <p:nvPr/>
        </p:nvSpPr>
        <p:spPr>
          <a:xfrm>
            <a:off x="2423160" y="4023360"/>
            <a:ext cx="1645920" cy="749808"/>
          </a:xfrm>
          <a:prstGeom prst="roundRect">
            <a:avLst/>
          </a:prstGeom>
          <a:solidFill>
            <a:srgbClr val="DFF3E9"/>
          </a:solidFill>
          <a:ln w="12700">
            <a:solidFill>
              <a:srgbClr val="D8E6DF"/>
            </a:solidFill>
            <a:prstDash val="solid"/>
          </a:ln>
          <a:effectLst>
            <a:outerShdw sx="100000" sy="100000" kx="0" ky="0" algn="bl" rotWithShape="0" blurRad="3.303279676039501e+127" dist="1.816803821821726e+127" dir="5.968995832459801e+149">
              <a:srgbClr val="000000">
                <a:alpha val="1.4e+154"/>
              </a:srgbClr>
            </a:outerShdw>
          </a:effectLst>
        </p:spPr>
      </p:sp>
      <p:sp>
        <p:nvSpPr>
          <p:cNvPr id="19" name="Text 17"/>
          <p:cNvSpPr/>
          <p:nvPr/>
        </p:nvSpPr>
        <p:spPr>
          <a:xfrm>
            <a:off x="2496312" y="4242816"/>
            <a:ext cx="1499616" cy="274320"/>
          </a:xfrm>
          <a:prstGeom prst="rect">
            <a:avLst/>
          </a:prstGeom>
          <a:noFill/>
          <a:ln/>
        </p:spPr>
        <p:txBody>
          <a:bodyPr wrap="square" lIns="0" tIns="0" rIns="0" bIns="0" rtlCol="0" anchor="ctr"/>
          <a:lstStyle/>
          <a:p>
            <a:pPr algn="ctr" indent="0" marL="0">
              <a:buNone/>
            </a:pPr>
            <a:r>
              <a:rPr lang="en-US" sz="1050" b="1" dirty="0">
                <a:solidFill>
                  <a:srgbClr val="18251F"/>
                </a:solidFill>
              </a:rPr>
              <a:t>Vibium MCP</a:t>
            </a:r>
            <a:endParaRPr lang="en-US" sz="1050" dirty="0"/>
          </a:p>
        </p:txBody>
      </p:sp>
      <p:sp>
        <p:nvSpPr>
          <p:cNvPr id="20" name="Shape 18"/>
          <p:cNvSpPr/>
          <p:nvPr/>
        </p:nvSpPr>
        <p:spPr>
          <a:xfrm>
            <a:off x="4096512" y="4398264"/>
            <a:ext cx="201168" cy="0"/>
          </a:xfrm>
          <a:prstGeom prst="line">
            <a:avLst/>
          </a:prstGeom>
          <a:noFill/>
          <a:ln w="25400">
            <a:solidFill>
              <a:srgbClr val="007A53"/>
            </a:solidFill>
            <a:prstDash val="solid"/>
            <a:headEnd type="none"/>
            <a:tailEnd type="triangle"/>
          </a:ln>
        </p:spPr>
      </p:sp>
      <p:sp>
        <p:nvSpPr>
          <p:cNvPr id="21" name="Shape 19"/>
          <p:cNvSpPr/>
          <p:nvPr/>
        </p:nvSpPr>
        <p:spPr>
          <a:xfrm>
            <a:off x="4343400" y="4023360"/>
            <a:ext cx="1645920" cy="749808"/>
          </a:xfrm>
          <a:prstGeom prst="roundRect">
            <a:avLst/>
          </a:prstGeom>
          <a:solidFill>
            <a:srgbClr val="FFFFFF"/>
          </a:solidFill>
          <a:ln w="12700">
            <a:solidFill>
              <a:srgbClr val="D8E6DF"/>
            </a:solidFill>
            <a:prstDash val="solid"/>
          </a:ln>
          <a:effectLst>
            <a:outerShdw sx="100000" sy="100000" kx="0" ky="0" algn="bl" rotWithShape="0" blurRad="4.195165188570166e+131" dist="2.307340853713592e+131" dir="3.581397499475881e+154">
              <a:srgbClr val="000000">
                <a:alpha val="1.4e+159"/>
              </a:srgbClr>
            </a:outerShdw>
          </a:effectLst>
        </p:spPr>
      </p:sp>
      <p:sp>
        <p:nvSpPr>
          <p:cNvPr id="22" name="Text 20"/>
          <p:cNvSpPr/>
          <p:nvPr/>
        </p:nvSpPr>
        <p:spPr>
          <a:xfrm>
            <a:off x="4416552" y="4242816"/>
            <a:ext cx="1499616" cy="274320"/>
          </a:xfrm>
          <a:prstGeom prst="rect">
            <a:avLst/>
          </a:prstGeom>
          <a:noFill/>
          <a:ln/>
        </p:spPr>
        <p:txBody>
          <a:bodyPr wrap="square" lIns="0" tIns="0" rIns="0" bIns="0" rtlCol="0" anchor="ctr"/>
          <a:lstStyle/>
          <a:p>
            <a:pPr algn="ctr" indent="0" marL="0">
              <a:buNone/>
            </a:pPr>
            <a:r>
              <a:rPr lang="en-US" sz="1050" b="1" dirty="0">
                <a:solidFill>
                  <a:srgbClr val="18251F"/>
                </a:solidFill>
              </a:rPr>
              <a:t>WebDriver BiDi</a:t>
            </a:r>
            <a:endParaRPr lang="en-US" sz="1050" dirty="0"/>
          </a:p>
        </p:txBody>
      </p:sp>
      <p:sp>
        <p:nvSpPr>
          <p:cNvPr id="23" name="Shape 21"/>
          <p:cNvSpPr/>
          <p:nvPr/>
        </p:nvSpPr>
        <p:spPr>
          <a:xfrm>
            <a:off x="6016752" y="4398264"/>
            <a:ext cx="201168" cy="0"/>
          </a:xfrm>
          <a:prstGeom prst="line">
            <a:avLst/>
          </a:prstGeom>
          <a:noFill/>
          <a:ln w="25400">
            <a:solidFill>
              <a:srgbClr val="007A53"/>
            </a:solidFill>
            <a:prstDash val="solid"/>
            <a:headEnd type="none"/>
            <a:tailEnd type="triangle"/>
          </a:ln>
        </p:spPr>
      </p:sp>
      <p:sp>
        <p:nvSpPr>
          <p:cNvPr id="24" name="Shape 22"/>
          <p:cNvSpPr/>
          <p:nvPr/>
        </p:nvSpPr>
        <p:spPr>
          <a:xfrm>
            <a:off x="6263640" y="4023360"/>
            <a:ext cx="1645920" cy="749808"/>
          </a:xfrm>
          <a:prstGeom prst="roundRect">
            <a:avLst/>
          </a:prstGeom>
          <a:solidFill>
            <a:srgbClr val="FFFFFF"/>
          </a:solidFill>
          <a:ln w="12700">
            <a:solidFill>
              <a:srgbClr val="D8E6DF"/>
            </a:solidFill>
            <a:prstDash val="solid"/>
          </a:ln>
          <a:effectLst>
            <a:outerShdw sx="100000" sy="100000" kx="0" ky="0" algn="bl" rotWithShape="0" blurRad="5.327859789484111e+135" dist="2.930322884216262e+135" dir="2.1488384996855287e+159">
              <a:srgbClr val="000000">
                <a:alpha val="1.4e+164"/>
              </a:srgbClr>
            </a:outerShdw>
          </a:effectLst>
        </p:spPr>
      </p:sp>
      <p:sp>
        <p:nvSpPr>
          <p:cNvPr id="25" name="Text 23"/>
          <p:cNvSpPr/>
          <p:nvPr/>
        </p:nvSpPr>
        <p:spPr>
          <a:xfrm>
            <a:off x="6336792" y="4242816"/>
            <a:ext cx="1499616" cy="274320"/>
          </a:xfrm>
          <a:prstGeom prst="rect">
            <a:avLst/>
          </a:prstGeom>
          <a:noFill/>
          <a:ln/>
        </p:spPr>
        <p:txBody>
          <a:bodyPr wrap="square" lIns="0" tIns="0" rIns="0" bIns="0" rtlCol="0" anchor="ctr"/>
          <a:lstStyle/>
          <a:p>
            <a:pPr algn="ctr" indent="0" marL="0">
              <a:buNone/>
            </a:pPr>
            <a:r>
              <a:rPr lang="en-US" sz="1050" b="1" dirty="0">
                <a:solidFill>
                  <a:srgbClr val="18251F"/>
                </a:solidFill>
              </a:rPr>
              <a:t>Chrome / Browser</a:t>
            </a:r>
            <a:endParaRPr lang="en-US" sz="1050" dirty="0"/>
          </a:p>
        </p:txBody>
      </p:sp>
      <p:sp>
        <p:nvSpPr>
          <p:cNvPr id="26" name="Shape 24"/>
          <p:cNvSpPr/>
          <p:nvPr/>
        </p:nvSpPr>
        <p:spPr>
          <a:xfrm>
            <a:off x="7936992" y="4398264"/>
            <a:ext cx="201168" cy="0"/>
          </a:xfrm>
          <a:prstGeom prst="line">
            <a:avLst/>
          </a:prstGeom>
          <a:noFill/>
          <a:ln w="25400">
            <a:solidFill>
              <a:srgbClr val="007A53"/>
            </a:solidFill>
            <a:prstDash val="solid"/>
            <a:headEnd type="none"/>
            <a:tailEnd type="triangle"/>
          </a:ln>
        </p:spPr>
      </p:sp>
      <p:sp>
        <p:nvSpPr>
          <p:cNvPr id="27" name="Shape 25"/>
          <p:cNvSpPr/>
          <p:nvPr/>
        </p:nvSpPr>
        <p:spPr>
          <a:xfrm>
            <a:off x="8183880" y="4023360"/>
            <a:ext cx="1645920" cy="749808"/>
          </a:xfrm>
          <a:prstGeom prst="roundRect">
            <a:avLst/>
          </a:prstGeom>
          <a:solidFill>
            <a:srgbClr val="FFFFFF"/>
          </a:solidFill>
          <a:ln w="12700">
            <a:solidFill>
              <a:srgbClr val="D8E6DF"/>
            </a:solidFill>
            <a:prstDash val="solid"/>
          </a:ln>
          <a:effectLst>
            <a:outerShdw sx="100000" sy="100000" kx="0" ky="0" algn="bl" rotWithShape="0" blurRad="6.766381932644821e+139" dist="3.721510062954652e+139" dir="1.2893030998113172e+164">
              <a:srgbClr val="000000">
                <a:alpha val="1.4e+169"/>
              </a:srgbClr>
            </a:outerShdw>
          </a:effectLst>
        </p:spPr>
      </p:sp>
      <p:sp>
        <p:nvSpPr>
          <p:cNvPr id="28" name="Text 26"/>
          <p:cNvSpPr/>
          <p:nvPr/>
        </p:nvSpPr>
        <p:spPr>
          <a:xfrm>
            <a:off x="8257032" y="4242816"/>
            <a:ext cx="1499616" cy="274320"/>
          </a:xfrm>
          <a:prstGeom prst="rect">
            <a:avLst/>
          </a:prstGeom>
          <a:noFill/>
          <a:ln/>
        </p:spPr>
        <p:txBody>
          <a:bodyPr wrap="square" lIns="0" tIns="0" rIns="0" bIns="0" rtlCol="0" anchor="ctr"/>
          <a:lstStyle/>
          <a:p>
            <a:pPr algn="ctr" indent="0" marL="0">
              <a:buNone/>
            </a:pPr>
            <a:r>
              <a:rPr lang="en-US" sz="1050" b="1" dirty="0">
                <a:solidFill>
                  <a:srgbClr val="18251F"/>
                </a:solidFill>
              </a:rPr>
              <a:t>Application Under Test</a:t>
            </a:r>
            <a:endParaRPr lang="en-US" sz="1050" dirty="0"/>
          </a:p>
        </p:txBody>
      </p:sp>
      <p:sp>
        <p:nvSpPr>
          <p:cNvPr id="29" name="Shape 27"/>
          <p:cNvSpPr/>
          <p:nvPr/>
        </p:nvSpPr>
        <p:spPr>
          <a:xfrm>
            <a:off x="10104120" y="4023360"/>
            <a:ext cx="1600200" cy="749808"/>
          </a:xfrm>
          <a:prstGeom prst="roundRect">
            <a:avLst/>
          </a:prstGeom>
          <a:solidFill>
            <a:srgbClr val="FFFFFF"/>
          </a:solidFill>
          <a:ln w="12700">
            <a:solidFill>
              <a:srgbClr val="D8E6DF"/>
            </a:solidFill>
            <a:prstDash val="solid"/>
          </a:ln>
          <a:effectLst>
            <a:outerShdw sx="100000" sy="100000" kx="0" ky="0" algn="bl" rotWithShape="0" blurRad="8.593305054458923e+143" dist="4.7263177799524085e+143" dir="7.735818598867904e+168">
              <a:srgbClr val="000000">
                <a:alpha val="1.4000000000000002e+174"/>
              </a:srgbClr>
            </a:outerShdw>
          </a:effectLst>
        </p:spPr>
      </p:sp>
      <p:sp>
        <p:nvSpPr>
          <p:cNvPr id="30" name="Text 28"/>
          <p:cNvSpPr/>
          <p:nvPr/>
        </p:nvSpPr>
        <p:spPr>
          <a:xfrm>
            <a:off x="10177272" y="4242816"/>
            <a:ext cx="1453896" cy="274320"/>
          </a:xfrm>
          <a:prstGeom prst="rect">
            <a:avLst/>
          </a:prstGeom>
          <a:noFill/>
          <a:ln/>
        </p:spPr>
        <p:txBody>
          <a:bodyPr wrap="square" lIns="0" tIns="0" rIns="0" bIns="0" rtlCol="0" anchor="ctr"/>
          <a:lstStyle/>
          <a:p>
            <a:pPr algn="ctr" indent="0" marL="0">
              <a:buNone/>
            </a:pPr>
            <a:r>
              <a:rPr lang="en-US" sz="1050" b="1" dirty="0">
                <a:solidFill>
                  <a:srgbClr val="18251F"/>
                </a:solidFill>
              </a:rPr>
              <a:t>Reports &amp; Diagnostics</a:t>
            </a:r>
            <a:endParaRPr lang="en-US" sz="1050" dirty="0"/>
          </a:p>
        </p:txBody>
      </p:sp>
      <p:sp>
        <p:nvSpPr>
          <p:cNvPr id="31" name="Shape 29"/>
          <p:cNvSpPr/>
          <p:nvPr/>
        </p:nvSpPr>
        <p:spPr>
          <a:xfrm>
            <a:off x="8046720" y="2084832"/>
            <a:ext cx="-6720840" cy="1892808"/>
          </a:xfrm>
          <a:prstGeom prst="line">
            <a:avLst/>
          </a:prstGeom>
          <a:noFill/>
          <a:ln w="25400">
            <a:solidFill>
              <a:srgbClr val="007A53"/>
            </a:solidFill>
            <a:prstDash val="solid"/>
            <a:headEnd type="none"/>
            <a:tailEnd type="triangle"/>
          </a:ln>
        </p:spPr>
      </p:sp>
      <p:sp>
        <p:nvSpPr>
          <p:cNvPr id="32" name="Shape 30"/>
          <p:cNvSpPr/>
          <p:nvPr/>
        </p:nvSpPr>
        <p:spPr>
          <a:xfrm>
            <a:off x="9052560" y="2240280"/>
            <a:ext cx="2240280" cy="841248"/>
          </a:xfrm>
          <a:prstGeom prst="roundRect">
            <a:avLst/>
          </a:prstGeom>
          <a:solidFill>
            <a:srgbClr val="FFF4D6"/>
          </a:solidFill>
          <a:ln w="12700">
            <a:solidFill>
              <a:srgbClr val="E4C36E"/>
            </a:solidFill>
            <a:prstDash val="solid"/>
          </a:ln>
        </p:spPr>
      </p:sp>
      <p:sp>
        <p:nvSpPr>
          <p:cNvPr id="33" name="Text 31"/>
          <p:cNvSpPr/>
          <p:nvPr/>
        </p:nvSpPr>
        <p:spPr>
          <a:xfrm>
            <a:off x="9162288" y="2441448"/>
            <a:ext cx="2011680" cy="365760"/>
          </a:xfrm>
          <a:prstGeom prst="rect">
            <a:avLst/>
          </a:prstGeom>
          <a:noFill/>
          <a:ln/>
        </p:spPr>
        <p:txBody>
          <a:bodyPr wrap="square" lIns="0" tIns="0" rIns="0" bIns="0" rtlCol="0" anchor="ctr"/>
          <a:lstStyle/>
          <a:p>
            <a:pPr algn="ctr" indent="0" marL="0">
              <a:buNone/>
            </a:pPr>
            <a:r>
              <a:rPr lang="en-US" sz="1050" b="1" dirty="0">
                <a:solidFill>
                  <a:srgbClr val="A36A00"/>
                </a:solidFill>
              </a:rPr>
              <a:t>OpenAI-compatible LLM</a:t>
            </a:r>
            <a:endParaRPr lang="en-US" sz="1050" dirty="0"/>
          </a:p>
          <a:p>
            <a:pPr algn="ctr" indent="0" marL="0">
              <a:buNone/>
            </a:pPr>
            <a:r>
              <a:rPr lang="en-US" sz="1050" b="1" dirty="0">
                <a:solidFill>
                  <a:srgbClr val="A36A00"/>
                </a:solidFill>
              </a:rPr>
              <a:t>Endpoint • Model • Key</a:t>
            </a:r>
            <a:endParaRPr lang="en-US" sz="1050" dirty="0"/>
          </a:p>
        </p:txBody>
      </p:sp>
      <p:sp>
        <p:nvSpPr>
          <p:cNvPr id="34" name="Shape 32"/>
          <p:cNvSpPr/>
          <p:nvPr/>
        </p:nvSpPr>
        <p:spPr>
          <a:xfrm>
            <a:off x="9006840" y="2670048"/>
            <a:ext cx="-777240" cy="-795528"/>
          </a:xfrm>
          <a:prstGeom prst="line">
            <a:avLst/>
          </a:prstGeom>
          <a:noFill/>
          <a:ln w="25400">
            <a:solidFill>
              <a:srgbClr val="A36A00"/>
            </a:solidFill>
            <a:prstDash val="solid"/>
            <a:headEnd type="none"/>
            <a:tailEnd type="triangle"/>
          </a:ln>
        </p:spPr>
      </p:sp>
      <p:sp>
        <p:nvSpPr>
          <p:cNvPr id="35" name="Shape 33"/>
          <p:cNvSpPr/>
          <p:nvPr/>
        </p:nvSpPr>
        <p:spPr>
          <a:xfrm>
            <a:off x="7086600" y="2084832"/>
            <a:ext cx="3749040" cy="1892808"/>
          </a:xfrm>
          <a:prstGeom prst="line">
            <a:avLst/>
          </a:prstGeom>
          <a:noFill/>
          <a:ln w="25400">
            <a:solidFill>
              <a:srgbClr val="007A53"/>
            </a:solidFill>
            <a:prstDash val="solid"/>
            <a:headEnd type="none"/>
            <a:tailEnd type="triangle"/>
          </a:ln>
        </p:spPr>
      </p:sp>
      <p:sp>
        <p:nvSpPr>
          <p:cNvPr id="36" name="Text 34"/>
          <p:cNvSpPr/>
          <p:nvPr/>
        </p:nvSpPr>
        <p:spPr>
          <a:xfrm>
            <a:off x="822960" y="5257800"/>
            <a:ext cx="10561320" cy="502920"/>
          </a:xfrm>
          <a:prstGeom prst="rect">
            <a:avLst/>
          </a:prstGeom>
          <a:noFill/>
          <a:ln/>
        </p:spPr>
        <p:txBody>
          <a:bodyPr wrap="square" lIns="0" tIns="0" rIns="0" bIns="0" rtlCol="0" anchor="ctr"/>
          <a:lstStyle/>
          <a:p>
            <a:pPr algn="ctr" indent="0" marL="0">
              <a:buNone/>
            </a:pPr>
            <a:r>
              <a:rPr lang="en-US" sz="1130" dirty="0">
                <a:solidFill>
                  <a:srgbClr val="66756F"/>
                </a:solidFill>
              </a:rPr>
              <a:t>Scenario files &amp; recorder feed the Java orchestration layer. Browser actions travel through MCP → Vibium → WebDriver BiDi. Results flow back into reports and diagnostics.</a:t>
            </a:r>
            <a:endParaRPr lang="en-US" sz="113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Component architecture</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Main source modules and their responsibilities</a:t>
            </a:r>
            <a:endParaRPr lang="en-US" sz="1150" dirty="0"/>
          </a:p>
        </p:txBody>
      </p:sp>
      <p:sp>
        <p:nvSpPr>
          <p:cNvPr id="4" name="Shape 2"/>
          <p:cNvSpPr/>
          <p:nvPr/>
        </p:nvSpPr>
        <p:spPr>
          <a:xfrm>
            <a:off x="594360" y="1417320"/>
            <a:ext cx="2286000" cy="4297680"/>
          </a:xfrm>
          <a:prstGeom prst="roundRect">
            <a:avLst/>
          </a:prstGeom>
          <a:solidFill>
            <a:srgbClr val="FBFDFC"/>
          </a:solidFill>
          <a:ln w="12700">
            <a:solidFill>
              <a:srgbClr val="D8E6DF"/>
            </a:solidFill>
            <a:prstDash val="solid"/>
          </a:ln>
          <a:effectLst>
            <a:outerShdw sx="100000" sy="100000" kx="0" ky="0" algn="bl" rotWithShape="0" blurRad="1.0913497419162833e+148" dist="6.002423580539559e+147" dir="4.6414911593207425e+173">
              <a:srgbClr val="000000">
                <a:alpha val="1.4000000000000003e+179"/>
              </a:srgbClr>
            </a:outerShdw>
          </a:effectLst>
        </p:spPr>
      </p:sp>
      <p:sp>
        <p:nvSpPr>
          <p:cNvPr id="5" name="Text 3"/>
          <p:cNvSpPr/>
          <p:nvPr/>
        </p:nvSpPr>
        <p:spPr>
          <a:xfrm>
            <a:off x="777240" y="1664208"/>
            <a:ext cx="1920240" cy="320040"/>
          </a:xfrm>
          <a:prstGeom prst="rect">
            <a:avLst/>
          </a:prstGeom>
          <a:noFill/>
          <a:ln/>
        </p:spPr>
        <p:txBody>
          <a:bodyPr wrap="square" lIns="0" tIns="0" rIns="0" bIns="0" rtlCol="0" anchor="ctr"/>
          <a:lstStyle/>
          <a:p>
            <a:pPr indent="0" marL="0">
              <a:buNone/>
            </a:pPr>
            <a:r>
              <a:rPr lang="en-US" sz="1600" b="1" dirty="0">
                <a:solidFill>
                  <a:srgbClr val="007A53"/>
                </a:solidFill>
              </a:rPr>
              <a:t>Web UI</a:t>
            </a:r>
            <a:endParaRPr lang="en-US" sz="1600" dirty="0"/>
          </a:p>
        </p:txBody>
      </p:sp>
      <p:sp>
        <p:nvSpPr>
          <p:cNvPr id="6" name="Text 4"/>
          <p:cNvSpPr/>
          <p:nvPr/>
        </p:nvSpPr>
        <p:spPr>
          <a:xfrm>
            <a:off x="795528" y="2148840"/>
            <a:ext cx="1883664" cy="2560320"/>
          </a:xfrm>
          <a:prstGeom prst="rect">
            <a:avLst/>
          </a:prstGeom>
          <a:noFill/>
          <a:ln/>
        </p:spPr>
        <p:txBody>
          <a:bodyPr wrap="square" lIns="254" tIns="254" rIns="254" bIns="254" rtlCol="0" anchor="t"/>
          <a:lstStyle/>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Connection gate</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Recorder</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Run configuration</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Live results</a:t>
            </a:r>
            <a:endParaRPr lang="en-US" sz="1080" dirty="0"/>
          </a:p>
        </p:txBody>
      </p:sp>
      <p:sp>
        <p:nvSpPr>
          <p:cNvPr id="7" name="Shape 5"/>
          <p:cNvSpPr/>
          <p:nvPr/>
        </p:nvSpPr>
        <p:spPr>
          <a:xfrm>
            <a:off x="3017520" y="1417320"/>
            <a:ext cx="2331720" cy="4297680"/>
          </a:xfrm>
          <a:prstGeom prst="roundRect">
            <a:avLst/>
          </a:prstGeom>
          <a:solidFill>
            <a:srgbClr val="FFFFFF"/>
          </a:solidFill>
          <a:ln w="12700">
            <a:solidFill>
              <a:srgbClr val="D8E6DF"/>
            </a:solidFill>
            <a:prstDash val="solid"/>
          </a:ln>
          <a:effectLst>
            <a:outerShdw sx="100000" sy="100000" kx="0" ky="0" algn="bl" rotWithShape="0" blurRad="1.38601417223368e+152" dist="7.62307794728524e+151" dir="2.7848946955924455e+178">
              <a:srgbClr val="000000">
                <a:alpha val="1.4000000000000003e+184"/>
              </a:srgbClr>
            </a:outerShdw>
          </a:effectLst>
        </p:spPr>
      </p:sp>
      <p:sp>
        <p:nvSpPr>
          <p:cNvPr id="8" name="Text 6"/>
          <p:cNvSpPr/>
          <p:nvPr/>
        </p:nvSpPr>
        <p:spPr>
          <a:xfrm>
            <a:off x="3200400" y="1664208"/>
            <a:ext cx="1965960" cy="320040"/>
          </a:xfrm>
          <a:prstGeom prst="rect">
            <a:avLst/>
          </a:prstGeom>
          <a:noFill/>
          <a:ln/>
        </p:spPr>
        <p:txBody>
          <a:bodyPr wrap="square" lIns="0" tIns="0" rIns="0" bIns="0" rtlCol="0" anchor="ctr"/>
          <a:lstStyle/>
          <a:p>
            <a:pPr indent="0" marL="0">
              <a:buNone/>
            </a:pPr>
            <a:r>
              <a:rPr lang="en-US" sz="1600" b="1" dirty="0">
                <a:solidFill>
                  <a:srgbClr val="007A53"/>
                </a:solidFill>
              </a:rPr>
              <a:t>Controllers</a:t>
            </a:r>
            <a:endParaRPr lang="en-US" sz="1600" dirty="0"/>
          </a:p>
        </p:txBody>
      </p:sp>
      <p:sp>
        <p:nvSpPr>
          <p:cNvPr id="9" name="Text 7"/>
          <p:cNvSpPr/>
          <p:nvPr/>
        </p:nvSpPr>
        <p:spPr>
          <a:xfrm>
            <a:off x="3218688" y="2148840"/>
            <a:ext cx="1929384" cy="2560320"/>
          </a:xfrm>
          <a:prstGeom prst="rect">
            <a:avLst/>
          </a:prstGeom>
          <a:noFill/>
          <a:ln/>
        </p:spPr>
        <p:txBody>
          <a:bodyPr wrap="square" lIns="254" tIns="254" rIns="254" bIns="254" rtlCol="0" anchor="t"/>
          <a:lstStyle/>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ConnectionController</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RunController</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RecorderController</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BrowserController</a:t>
            </a:r>
            <a:endParaRPr lang="en-US" sz="1080" dirty="0"/>
          </a:p>
        </p:txBody>
      </p:sp>
      <p:sp>
        <p:nvSpPr>
          <p:cNvPr id="10" name="Shape 8"/>
          <p:cNvSpPr/>
          <p:nvPr/>
        </p:nvSpPr>
        <p:spPr>
          <a:xfrm>
            <a:off x="5486400" y="1417320"/>
            <a:ext cx="2788920" cy="4297680"/>
          </a:xfrm>
          <a:prstGeom prst="roundRect">
            <a:avLst/>
          </a:prstGeom>
          <a:solidFill>
            <a:srgbClr val="FBFDFC"/>
          </a:solidFill>
          <a:ln w="12700">
            <a:solidFill>
              <a:srgbClr val="D8E6DF"/>
            </a:solidFill>
            <a:prstDash val="solid"/>
          </a:ln>
          <a:effectLst>
            <a:outerShdw sx="100000" sy="100000" kx="0" ky="0" algn="bl" rotWithShape="0" blurRad="1.7602379987367734e+156" dist="9.681308993052254e+155" dir="1.6709368173554673e+183">
              <a:srgbClr val="000000">
                <a:alpha val="1.4000000000000003e+189"/>
              </a:srgbClr>
            </a:outerShdw>
          </a:effectLst>
        </p:spPr>
      </p:sp>
      <p:sp>
        <p:nvSpPr>
          <p:cNvPr id="11" name="Text 9"/>
          <p:cNvSpPr/>
          <p:nvPr/>
        </p:nvSpPr>
        <p:spPr>
          <a:xfrm>
            <a:off x="5669280" y="1664208"/>
            <a:ext cx="2423160" cy="320040"/>
          </a:xfrm>
          <a:prstGeom prst="rect">
            <a:avLst/>
          </a:prstGeom>
          <a:noFill/>
          <a:ln/>
        </p:spPr>
        <p:txBody>
          <a:bodyPr wrap="square" lIns="0" tIns="0" rIns="0" bIns="0" rtlCol="0" anchor="ctr"/>
          <a:lstStyle/>
          <a:p>
            <a:pPr indent="0" marL="0">
              <a:buNone/>
            </a:pPr>
            <a:r>
              <a:rPr lang="en-US" sz="1600" b="1" dirty="0">
                <a:solidFill>
                  <a:srgbClr val="007A53"/>
                </a:solidFill>
              </a:rPr>
              <a:t>Core services</a:t>
            </a:r>
            <a:endParaRPr lang="en-US" sz="1600" dirty="0"/>
          </a:p>
        </p:txBody>
      </p:sp>
      <p:sp>
        <p:nvSpPr>
          <p:cNvPr id="12" name="Text 10"/>
          <p:cNvSpPr/>
          <p:nvPr/>
        </p:nvSpPr>
        <p:spPr>
          <a:xfrm>
            <a:off x="5687568" y="2148840"/>
            <a:ext cx="2386584" cy="2560320"/>
          </a:xfrm>
          <a:prstGeom prst="rect">
            <a:avLst/>
          </a:prstGeom>
          <a:noFill/>
          <a:ln/>
        </p:spPr>
        <p:txBody>
          <a:bodyPr wrap="square" lIns="254" tIns="254" rIns="254" bIns="254" rtlCol="0" anchor="t"/>
          <a:lstStyle/>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TestRunService</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ItpsMcpRunner</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AgenticActionGraph</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ScenarioFileParser</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ReportService</a:t>
            </a:r>
            <a:endParaRPr lang="en-US" sz="1080" dirty="0"/>
          </a:p>
        </p:txBody>
      </p:sp>
      <p:sp>
        <p:nvSpPr>
          <p:cNvPr id="13" name="Shape 11"/>
          <p:cNvSpPr/>
          <p:nvPr/>
        </p:nvSpPr>
        <p:spPr>
          <a:xfrm>
            <a:off x="8458200" y="1417320"/>
            <a:ext cx="3108960" cy="4297680"/>
          </a:xfrm>
          <a:prstGeom prst="roundRect">
            <a:avLst/>
          </a:prstGeom>
          <a:solidFill>
            <a:srgbClr val="FFFFFF"/>
          </a:solidFill>
          <a:ln w="12700">
            <a:solidFill>
              <a:srgbClr val="D8E6DF"/>
            </a:solidFill>
            <a:prstDash val="solid"/>
          </a:ln>
          <a:effectLst>
            <a:outerShdw sx="100000" sy="100000" kx="0" ky="0" algn="bl" rotWithShape="0" blurRad="2.235502258395702e+160" dist="1.2295262421176363e+160" dir="1.0025620904132804e+188">
              <a:srgbClr val="000000">
                <a:alpha val="1.4000000000000002e+194"/>
              </a:srgbClr>
            </a:outerShdw>
          </a:effectLst>
        </p:spPr>
      </p:sp>
      <p:sp>
        <p:nvSpPr>
          <p:cNvPr id="14" name="Text 12"/>
          <p:cNvSpPr/>
          <p:nvPr/>
        </p:nvSpPr>
        <p:spPr>
          <a:xfrm>
            <a:off x="8641080" y="1664208"/>
            <a:ext cx="2743200" cy="320040"/>
          </a:xfrm>
          <a:prstGeom prst="rect">
            <a:avLst/>
          </a:prstGeom>
          <a:noFill/>
          <a:ln/>
        </p:spPr>
        <p:txBody>
          <a:bodyPr wrap="square" lIns="0" tIns="0" rIns="0" bIns="0" rtlCol="0" anchor="ctr"/>
          <a:lstStyle/>
          <a:p>
            <a:pPr indent="0" marL="0">
              <a:buNone/>
            </a:pPr>
            <a:r>
              <a:rPr lang="en-US" sz="1600" b="1" dirty="0">
                <a:solidFill>
                  <a:srgbClr val="007A53"/>
                </a:solidFill>
              </a:rPr>
              <a:t>Integration services</a:t>
            </a:r>
            <a:endParaRPr lang="en-US" sz="1600" dirty="0"/>
          </a:p>
        </p:txBody>
      </p:sp>
      <p:sp>
        <p:nvSpPr>
          <p:cNvPr id="15" name="Text 13"/>
          <p:cNvSpPr/>
          <p:nvPr/>
        </p:nvSpPr>
        <p:spPr>
          <a:xfrm>
            <a:off x="8659368" y="2148840"/>
            <a:ext cx="2706624" cy="2560320"/>
          </a:xfrm>
          <a:prstGeom prst="rect">
            <a:avLst/>
          </a:prstGeom>
          <a:noFill/>
          <a:ln/>
        </p:spPr>
        <p:txBody>
          <a:bodyPr wrap="square" lIns="254" tIns="254" rIns="254" bIns="254" rtlCol="0" anchor="t"/>
          <a:lstStyle/>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McpClient / ToolCatalog</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LlmClient</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CookieSessionManager</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BrowserZoomSupport</a:t>
            </a:r>
            <a:endParaRPr lang="en-US" sz="1080" dirty="0"/>
          </a:p>
          <a:p>
            <a:pPr marL="203200" indent="-203200">
              <a:buSzPct val="100000"/>
              <a:buChar char="•"/>
            </a:pPr>
            <a:r>
              <a:rPr lang="en-US" sz="1080" dirty="0">
                <a:solidFill>
                  <a:srgbClr val="18251F"/>
                </a:solidFill>
                <a:latin typeface="Noto Sans" pitchFamily="34" charset="0"/>
                <a:ea typeface="Noto Sans" pitchFamily="34" charset="-122"/>
                <a:cs typeface="Noto Sans" pitchFamily="34" charset="-120"/>
              </a:rPr>
              <a:t>InsecureCertificateRecovery</a:t>
            </a:r>
            <a:endParaRPr lang="en-US" sz="1080" dirty="0"/>
          </a:p>
        </p:txBody>
      </p:sp>
      <p:sp>
        <p:nvSpPr>
          <p:cNvPr id="16" name="Text 14"/>
          <p:cNvSpPr/>
          <p:nvPr/>
        </p:nvSpPr>
        <p:spPr>
          <a:xfrm>
            <a:off x="685800" y="5870448"/>
            <a:ext cx="10789920" cy="292608"/>
          </a:xfrm>
          <a:prstGeom prst="rect">
            <a:avLst/>
          </a:prstGeom>
          <a:noFill/>
          <a:ln/>
        </p:spPr>
        <p:txBody>
          <a:bodyPr wrap="square" lIns="0" tIns="0" rIns="0" bIns="0" rtlCol="0" anchor="ctr"/>
          <a:lstStyle/>
          <a:p>
            <a:pPr algn="ctr" indent="0" marL="0">
              <a:buNone/>
            </a:pPr>
            <a:r>
              <a:rPr lang="en-US" sz="1000" dirty="0">
                <a:solidFill>
                  <a:srgbClr val="66756F"/>
                </a:solidFill>
              </a:rPr>
              <a:t>Cross-cutting models: RunConfig • RunStatus • TestScenario • ScenarioResult • ScenarioAttemptResult • StepResult</a:t>
            </a:r>
            <a:endParaRPr lang="en-US" sz="100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Startup AI connection gate</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Home is inaccessible until endpoint, model and API key are validated</a:t>
            </a:r>
            <a:endParaRPr lang="en-US" sz="1150" dirty="0"/>
          </a:p>
        </p:txBody>
      </p:sp>
      <p:sp>
        <p:nvSpPr>
          <p:cNvPr id="4" name="Shape 2"/>
          <p:cNvSpPr/>
          <p:nvPr/>
        </p:nvSpPr>
        <p:spPr>
          <a:xfrm>
            <a:off x="603504" y="1289304"/>
            <a:ext cx="5742432" cy="4553712"/>
          </a:xfrm>
          <a:prstGeom prst="roundRect">
            <a:avLst/>
          </a:prstGeom>
          <a:solidFill>
            <a:srgbClr val="FFFFFF"/>
          </a:solidFill>
          <a:ln w="12700">
            <a:solidFill>
              <a:srgbClr val="D8E6DF"/>
            </a:solidFill>
            <a:prstDash val="solid"/>
          </a:ln>
          <a:effectLst>
            <a:outerShdw sx="100000" sy="100000" kx="0" ky="0" algn="bl" rotWithShape="0" blurRad="2.8390878681625417e+164" dist="1.561498327489398e+164" dir="6.015372542479682e+192">
              <a:srgbClr val="000000">
                <a:alpha val="1.4000000000000003e+199"/>
              </a:srgbClr>
            </a:outerShdw>
          </a:effectLst>
        </p:spPr>
      </p:sp>
      <p:pic>
        <p:nvPicPr>
          <p:cNvPr id="5" name="Image 0" descr="/mnt/data/vibium_diagrams/startup.png">    </p:cNvPr>
          <p:cNvPicPr>
            <a:picLocks noChangeAspect="1"/>
          </p:cNvPicPr>
          <p:nvPr/>
        </p:nvPicPr>
        <p:blipFill>
          <a:blip r:embed="rId1"/>
          <a:stretch>
            <a:fillRect/>
          </a:stretch>
        </p:blipFill>
        <p:spPr>
          <a:xfrm>
            <a:off x="909666" y="1325880"/>
            <a:ext cx="5130109" cy="4480560"/>
          </a:xfrm>
          <a:prstGeom prst="rect">
            <a:avLst/>
          </a:prstGeom>
        </p:spPr>
      </p:pic>
      <p:sp>
        <p:nvSpPr>
          <p:cNvPr id="6" name="Shape 3"/>
          <p:cNvSpPr/>
          <p:nvPr/>
        </p:nvSpPr>
        <p:spPr>
          <a:xfrm>
            <a:off x="6547104" y="1289304"/>
            <a:ext cx="5056632" cy="4553712"/>
          </a:xfrm>
          <a:prstGeom prst="roundRect">
            <a:avLst/>
          </a:prstGeom>
          <a:solidFill>
            <a:srgbClr val="FFFFFF"/>
          </a:solidFill>
          <a:ln w="12700">
            <a:solidFill>
              <a:srgbClr val="D8E6DF"/>
            </a:solidFill>
            <a:prstDash val="solid"/>
          </a:ln>
          <a:effectLst>
            <a:outerShdw sx="100000" sy="100000" kx="0" ky="0" algn="bl" rotWithShape="0" blurRad="3.605641592566428e+168" dist="1.9831028759115356e+168" dir="3.6092235254878095e+197">
              <a:srgbClr val="000000">
                <a:alpha val="1.4000000000000004e+204"/>
              </a:srgbClr>
            </a:outerShdw>
          </a:effectLst>
        </p:spPr>
      </p:sp>
      <p:pic>
        <p:nvPicPr>
          <p:cNvPr id="7" name="Image 1" descr="/mnt/data/vibium_assets/connection.png">    </p:cNvPr>
          <p:cNvPicPr>
            <a:picLocks noChangeAspect="1"/>
          </p:cNvPicPr>
          <p:nvPr/>
        </p:nvPicPr>
        <p:blipFill>
          <a:blip r:embed="rId2"/>
          <a:stretch>
            <a:fillRect/>
          </a:stretch>
        </p:blipFill>
        <p:spPr>
          <a:xfrm>
            <a:off x="6583680" y="1835785"/>
            <a:ext cx="4983480" cy="3460750"/>
          </a:xfrm>
          <a:prstGeom prst="rect">
            <a:avLst/>
          </a:prstGeom>
        </p:spPr>
      </p:pic>
      <p:sp>
        <p:nvSpPr>
          <p:cNvPr id="8" name="Text 4"/>
          <p:cNvSpPr/>
          <p:nvPr/>
        </p:nvSpPr>
        <p:spPr>
          <a:xfrm>
            <a:off x="548640" y="6199632"/>
            <a:ext cx="10972800" cy="219456"/>
          </a:xfrm>
          <a:prstGeom prst="rect">
            <a:avLst/>
          </a:prstGeom>
          <a:noFill/>
          <a:ln/>
        </p:spPr>
        <p:txBody>
          <a:bodyPr wrap="square" lIns="0" tIns="0" rIns="0" bIns="0" rtlCol="0" anchor="ctr"/>
          <a:lstStyle/>
          <a:p>
            <a:pPr indent="0" marL="0">
              <a:buNone/>
            </a:pPr>
            <a:r>
              <a:rPr lang="en-US" sz="750" i="1" dirty="0">
                <a:solidFill>
                  <a:srgbClr val="7C8A85"/>
                </a:solidFill>
              </a:rPr>
              <a:t>Current implementation: POST /api/connection/validate; 10 s connect timeout, 30 s read timeout; OpenAI-compatible chat completion required.</a:t>
            </a:r>
            <a:endParaRPr lang="en-US" sz="7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End-to-end user journey</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A guided path from connection validation to downloadable evidence</a:t>
            </a:r>
            <a:endParaRPr lang="en-US" sz="1150" dirty="0"/>
          </a:p>
        </p:txBody>
      </p:sp>
      <p:sp>
        <p:nvSpPr>
          <p:cNvPr id="4" name="Shape 2"/>
          <p:cNvSpPr/>
          <p:nvPr/>
        </p:nvSpPr>
        <p:spPr>
          <a:xfrm>
            <a:off x="868680" y="1874520"/>
            <a:ext cx="594360" cy="594360"/>
          </a:xfrm>
          <a:prstGeom prst="ellipse">
            <a:avLst/>
          </a:prstGeom>
          <a:solidFill>
            <a:srgbClr val="007A53"/>
          </a:solidFill>
          <a:ln w="12700">
            <a:solidFill>
              <a:srgbClr val="007A53"/>
            </a:solidFill>
            <a:prstDash val="solid"/>
          </a:ln>
        </p:spPr>
      </p:sp>
      <p:sp>
        <p:nvSpPr>
          <p:cNvPr id="5" name="Text 3"/>
          <p:cNvSpPr/>
          <p:nvPr/>
        </p:nvSpPr>
        <p:spPr>
          <a:xfrm>
            <a:off x="868680" y="2048256"/>
            <a:ext cx="594360" cy="18288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Shape 4"/>
          <p:cNvSpPr/>
          <p:nvPr/>
        </p:nvSpPr>
        <p:spPr>
          <a:xfrm>
            <a:off x="1481328" y="2167128"/>
            <a:ext cx="603504" cy="0"/>
          </a:xfrm>
          <a:prstGeom prst="line">
            <a:avLst/>
          </a:prstGeom>
          <a:noFill/>
          <a:ln w="25400">
            <a:solidFill>
              <a:srgbClr val="007A53"/>
            </a:solidFill>
            <a:prstDash val="solid"/>
            <a:headEnd type="none"/>
            <a:tailEnd type="triangle"/>
          </a:ln>
        </p:spPr>
      </p:sp>
      <p:sp>
        <p:nvSpPr>
          <p:cNvPr id="7" name="Text 5"/>
          <p:cNvSpPr/>
          <p:nvPr/>
        </p:nvSpPr>
        <p:spPr>
          <a:xfrm>
            <a:off x="502920" y="2697480"/>
            <a:ext cx="1371600" cy="256032"/>
          </a:xfrm>
          <a:prstGeom prst="rect">
            <a:avLst/>
          </a:prstGeom>
          <a:noFill/>
          <a:ln/>
        </p:spPr>
        <p:txBody>
          <a:bodyPr wrap="square" lIns="0" tIns="0" rIns="0" bIns="0" rtlCol="0" anchor="ctr"/>
          <a:lstStyle/>
          <a:p>
            <a:pPr algn="ctr" indent="0" marL="0">
              <a:buNone/>
            </a:pPr>
            <a:r>
              <a:rPr lang="en-US" sz="1100" b="1" dirty="0">
                <a:solidFill>
                  <a:srgbClr val="18251F"/>
                </a:solidFill>
              </a:rPr>
              <a:t>Connect AI</a:t>
            </a:r>
            <a:endParaRPr lang="en-US" sz="1100" dirty="0"/>
          </a:p>
        </p:txBody>
      </p:sp>
      <p:sp>
        <p:nvSpPr>
          <p:cNvPr id="8" name="Text 6"/>
          <p:cNvSpPr/>
          <p:nvPr/>
        </p:nvSpPr>
        <p:spPr>
          <a:xfrm>
            <a:off x="457200" y="3017520"/>
            <a:ext cx="1463040" cy="640080"/>
          </a:xfrm>
          <a:prstGeom prst="rect">
            <a:avLst/>
          </a:prstGeom>
          <a:noFill/>
          <a:ln/>
        </p:spPr>
        <p:txBody>
          <a:bodyPr wrap="square" lIns="0" tIns="0" rIns="0" bIns="0" rtlCol="0" anchor="ctr"/>
          <a:lstStyle/>
          <a:p>
            <a:pPr algn="ctr" indent="0" marL="0">
              <a:buNone/>
            </a:pPr>
            <a:r>
              <a:rPr lang="en-US" sz="950" dirty="0">
                <a:solidFill>
                  <a:srgbClr val="66756F"/>
                </a:solidFill>
              </a:rPr>
              <a:t>Endpoint + model + key</a:t>
            </a:r>
            <a:endParaRPr lang="en-US" sz="950" dirty="0"/>
          </a:p>
        </p:txBody>
      </p:sp>
      <p:sp>
        <p:nvSpPr>
          <p:cNvPr id="9" name="Shape 7"/>
          <p:cNvSpPr/>
          <p:nvPr/>
        </p:nvSpPr>
        <p:spPr>
          <a:xfrm>
            <a:off x="2532888" y="1874520"/>
            <a:ext cx="594360" cy="594360"/>
          </a:xfrm>
          <a:prstGeom prst="ellipse">
            <a:avLst/>
          </a:prstGeom>
          <a:solidFill>
            <a:srgbClr val="007A53"/>
          </a:solidFill>
          <a:ln w="12700">
            <a:solidFill>
              <a:srgbClr val="007A53"/>
            </a:solidFill>
            <a:prstDash val="solid"/>
          </a:ln>
        </p:spPr>
      </p:sp>
      <p:sp>
        <p:nvSpPr>
          <p:cNvPr id="10" name="Text 8"/>
          <p:cNvSpPr/>
          <p:nvPr/>
        </p:nvSpPr>
        <p:spPr>
          <a:xfrm>
            <a:off x="2532888" y="2048256"/>
            <a:ext cx="594360" cy="18288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Shape 9"/>
          <p:cNvSpPr/>
          <p:nvPr/>
        </p:nvSpPr>
        <p:spPr>
          <a:xfrm>
            <a:off x="3145536" y="2167128"/>
            <a:ext cx="603504" cy="0"/>
          </a:xfrm>
          <a:prstGeom prst="line">
            <a:avLst/>
          </a:prstGeom>
          <a:noFill/>
          <a:ln w="25400">
            <a:solidFill>
              <a:srgbClr val="007A53"/>
            </a:solidFill>
            <a:prstDash val="solid"/>
            <a:headEnd type="none"/>
            <a:tailEnd type="triangle"/>
          </a:ln>
        </p:spPr>
      </p:sp>
      <p:sp>
        <p:nvSpPr>
          <p:cNvPr id="12" name="Text 10"/>
          <p:cNvSpPr/>
          <p:nvPr/>
        </p:nvSpPr>
        <p:spPr>
          <a:xfrm>
            <a:off x="2167128" y="2697480"/>
            <a:ext cx="1371600" cy="256032"/>
          </a:xfrm>
          <a:prstGeom prst="rect">
            <a:avLst/>
          </a:prstGeom>
          <a:noFill/>
          <a:ln/>
        </p:spPr>
        <p:txBody>
          <a:bodyPr wrap="square" lIns="0" tIns="0" rIns="0" bIns="0" rtlCol="0" anchor="ctr"/>
          <a:lstStyle/>
          <a:p>
            <a:pPr algn="ctr" indent="0" marL="0">
              <a:buNone/>
            </a:pPr>
            <a:r>
              <a:rPr lang="en-US" sz="1100" b="1" dirty="0">
                <a:solidFill>
                  <a:srgbClr val="18251F"/>
                </a:solidFill>
              </a:rPr>
              <a:t>Choose tests</a:t>
            </a:r>
            <a:endParaRPr lang="en-US" sz="1100" dirty="0"/>
          </a:p>
        </p:txBody>
      </p:sp>
      <p:sp>
        <p:nvSpPr>
          <p:cNvPr id="13" name="Text 11"/>
          <p:cNvSpPr/>
          <p:nvPr/>
        </p:nvSpPr>
        <p:spPr>
          <a:xfrm>
            <a:off x="2121408" y="3017520"/>
            <a:ext cx="1463040" cy="640080"/>
          </a:xfrm>
          <a:prstGeom prst="rect">
            <a:avLst/>
          </a:prstGeom>
          <a:noFill/>
          <a:ln/>
        </p:spPr>
        <p:txBody>
          <a:bodyPr wrap="square" lIns="0" tIns="0" rIns="0" bIns="0" rtlCol="0" anchor="ctr"/>
          <a:lstStyle/>
          <a:p>
            <a:pPr algn="ctr" indent="0" marL="0">
              <a:buNone/>
            </a:pPr>
            <a:r>
              <a:rPr lang="en-US" sz="950" dirty="0">
                <a:solidFill>
                  <a:srgbClr val="66756F"/>
                </a:solidFill>
              </a:rPr>
              <a:t>Excel/JSON + sheets</a:t>
            </a:r>
            <a:endParaRPr lang="en-US" sz="950" dirty="0"/>
          </a:p>
        </p:txBody>
      </p:sp>
      <p:sp>
        <p:nvSpPr>
          <p:cNvPr id="14" name="Shape 12"/>
          <p:cNvSpPr/>
          <p:nvPr/>
        </p:nvSpPr>
        <p:spPr>
          <a:xfrm>
            <a:off x="4197096" y="1874520"/>
            <a:ext cx="594360" cy="594360"/>
          </a:xfrm>
          <a:prstGeom prst="ellipse">
            <a:avLst/>
          </a:prstGeom>
          <a:solidFill>
            <a:srgbClr val="007A53"/>
          </a:solidFill>
          <a:ln w="12700">
            <a:solidFill>
              <a:srgbClr val="007A53"/>
            </a:solidFill>
            <a:prstDash val="solid"/>
          </a:ln>
        </p:spPr>
      </p:sp>
      <p:sp>
        <p:nvSpPr>
          <p:cNvPr id="15" name="Text 13"/>
          <p:cNvSpPr/>
          <p:nvPr/>
        </p:nvSpPr>
        <p:spPr>
          <a:xfrm>
            <a:off x="4197096" y="2048256"/>
            <a:ext cx="594360" cy="18288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Shape 14"/>
          <p:cNvSpPr/>
          <p:nvPr/>
        </p:nvSpPr>
        <p:spPr>
          <a:xfrm>
            <a:off x="4809744" y="2167128"/>
            <a:ext cx="603504" cy="0"/>
          </a:xfrm>
          <a:prstGeom prst="line">
            <a:avLst/>
          </a:prstGeom>
          <a:noFill/>
          <a:ln w="25400">
            <a:solidFill>
              <a:srgbClr val="007A53"/>
            </a:solidFill>
            <a:prstDash val="solid"/>
            <a:headEnd type="none"/>
            <a:tailEnd type="triangle"/>
          </a:ln>
        </p:spPr>
      </p:sp>
      <p:sp>
        <p:nvSpPr>
          <p:cNvPr id="17" name="Text 15"/>
          <p:cNvSpPr/>
          <p:nvPr/>
        </p:nvSpPr>
        <p:spPr>
          <a:xfrm>
            <a:off x="3831336" y="2697480"/>
            <a:ext cx="1371600" cy="256032"/>
          </a:xfrm>
          <a:prstGeom prst="rect">
            <a:avLst/>
          </a:prstGeom>
          <a:noFill/>
          <a:ln/>
        </p:spPr>
        <p:txBody>
          <a:bodyPr wrap="square" lIns="0" tIns="0" rIns="0" bIns="0" rtlCol="0" anchor="ctr"/>
          <a:lstStyle/>
          <a:p>
            <a:pPr algn="ctr" indent="0" marL="0">
              <a:buNone/>
            </a:pPr>
            <a:r>
              <a:rPr lang="en-US" sz="1100" b="1" dirty="0">
                <a:solidFill>
                  <a:srgbClr val="18251F"/>
                </a:solidFill>
              </a:rPr>
              <a:t>Choose browser</a:t>
            </a:r>
            <a:endParaRPr lang="en-US" sz="1100" dirty="0"/>
          </a:p>
        </p:txBody>
      </p:sp>
      <p:sp>
        <p:nvSpPr>
          <p:cNvPr id="18" name="Text 16"/>
          <p:cNvSpPr/>
          <p:nvPr/>
        </p:nvSpPr>
        <p:spPr>
          <a:xfrm>
            <a:off x="3785616" y="3017520"/>
            <a:ext cx="1463040" cy="640080"/>
          </a:xfrm>
          <a:prstGeom prst="rect">
            <a:avLst/>
          </a:prstGeom>
          <a:noFill/>
          <a:ln/>
        </p:spPr>
        <p:txBody>
          <a:bodyPr wrap="square" lIns="0" tIns="0" rIns="0" bIns="0" rtlCol="0" anchor="ctr"/>
          <a:lstStyle/>
          <a:p>
            <a:pPr algn="ctr" indent="0" marL="0">
              <a:buNone/>
            </a:pPr>
            <a:r>
              <a:rPr lang="en-US" sz="950" dirty="0">
                <a:solidFill>
                  <a:srgbClr val="66756F"/>
                </a:solidFill>
              </a:rPr>
              <a:t>Managed/installed + zoom</a:t>
            </a:r>
            <a:endParaRPr lang="en-US" sz="950" dirty="0"/>
          </a:p>
        </p:txBody>
      </p:sp>
      <p:sp>
        <p:nvSpPr>
          <p:cNvPr id="19" name="Shape 17"/>
          <p:cNvSpPr/>
          <p:nvPr/>
        </p:nvSpPr>
        <p:spPr>
          <a:xfrm>
            <a:off x="5861304" y="1874520"/>
            <a:ext cx="594360" cy="594360"/>
          </a:xfrm>
          <a:prstGeom prst="ellipse">
            <a:avLst/>
          </a:prstGeom>
          <a:solidFill>
            <a:srgbClr val="007A53"/>
          </a:solidFill>
          <a:ln w="12700">
            <a:solidFill>
              <a:srgbClr val="007A53"/>
            </a:solidFill>
            <a:prstDash val="solid"/>
          </a:ln>
        </p:spPr>
      </p:sp>
      <p:sp>
        <p:nvSpPr>
          <p:cNvPr id="20" name="Text 18"/>
          <p:cNvSpPr/>
          <p:nvPr/>
        </p:nvSpPr>
        <p:spPr>
          <a:xfrm>
            <a:off x="5861304" y="2048256"/>
            <a:ext cx="594360" cy="18288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Shape 19"/>
          <p:cNvSpPr/>
          <p:nvPr/>
        </p:nvSpPr>
        <p:spPr>
          <a:xfrm>
            <a:off x="6473952" y="2167128"/>
            <a:ext cx="603504" cy="0"/>
          </a:xfrm>
          <a:prstGeom prst="line">
            <a:avLst/>
          </a:prstGeom>
          <a:noFill/>
          <a:ln w="25400">
            <a:solidFill>
              <a:srgbClr val="007A53"/>
            </a:solidFill>
            <a:prstDash val="solid"/>
            <a:headEnd type="none"/>
            <a:tailEnd type="triangle"/>
          </a:ln>
        </p:spPr>
      </p:sp>
      <p:sp>
        <p:nvSpPr>
          <p:cNvPr id="22" name="Text 20"/>
          <p:cNvSpPr/>
          <p:nvPr/>
        </p:nvSpPr>
        <p:spPr>
          <a:xfrm>
            <a:off x="5495544" y="2697480"/>
            <a:ext cx="1371600" cy="256032"/>
          </a:xfrm>
          <a:prstGeom prst="rect">
            <a:avLst/>
          </a:prstGeom>
          <a:noFill/>
          <a:ln/>
        </p:spPr>
        <p:txBody>
          <a:bodyPr wrap="square" lIns="0" tIns="0" rIns="0" bIns="0" rtlCol="0" anchor="ctr"/>
          <a:lstStyle/>
          <a:p>
            <a:pPr algn="ctr" indent="0" marL="0">
              <a:buNone/>
            </a:pPr>
            <a:r>
              <a:rPr lang="en-US" sz="1100" b="1" dirty="0">
                <a:solidFill>
                  <a:srgbClr val="18251F"/>
                </a:solidFill>
              </a:rPr>
              <a:t>Configure run</a:t>
            </a:r>
            <a:endParaRPr lang="en-US" sz="1100" dirty="0"/>
          </a:p>
        </p:txBody>
      </p:sp>
      <p:sp>
        <p:nvSpPr>
          <p:cNvPr id="23" name="Text 21"/>
          <p:cNvSpPr/>
          <p:nvPr/>
        </p:nvSpPr>
        <p:spPr>
          <a:xfrm>
            <a:off x="5449824" y="3017520"/>
            <a:ext cx="1463040" cy="640080"/>
          </a:xfrm>
          <a:prstGeom prst="rect">
            <a:avLst/>
          </a:prstGeom>
          <a:noFill/>
          <a:ln/>
        </p:spPr>
        <p:txBody>
          <a:bodyPr wrap="square" lIns="0" tIns="0" rIns="0" bIns="0" rtlCol="0" anchor="ctr"/>
          <a:lstStyle/>
          <a:p>
            <a:pPr algn="ctr" indent="0" marL="0">
              <a:buNone/>
            </a:pPr>
            <a:r>
              <a:rPr lang="en-US" sz="950" dirty="0">
                <a:solidFill>
                  <a:srgbClr val="66756F"/>
                </a:solidFill>
              </a:rPr>
              <a:t>Parallelism, healing, screenshots, cookies</a:t>
            </a:r>
            <a:endParaRPr lang="en-US" sz="950" dirty="0"/>
          </a:p>
        </p:txBody>
      </p:sp>
      <p:sp>
        <p:nvSpPr>
          <p:cNvPr id="24" name="Shape 22"/>
          <p:cNvSpPr/>
          <p:nvPr/>
        </p:nvSpPr>
        <p:spPr>
          <a:xfrm>
            <a:off x="7525512" y="1874520"/>
            <a:ext cx="594360" cy="594360"/>
          </a:xfrm>
          <a:prstGeom prst="ellipse">
            <a:avLst/>
          </a:prstGeom>
          <a:solidFill>
            <a:srgbClr val="007A53"/>
          </a:solidFill>
          <a:ln w="12700">
            <a:solidFill>
              <a:srgbClr val="007A53"/>
            </a:solidFill>
            <a:prstDash val="solid"/>
          </a:ln>
        </p:spPr>
      </p:sp>
      <p:sp>
        <p:nvSpPr>
          <p:cNvPr id="25" name="Text 23"/>
          <p:cNvSpPr/>
          <p:nvPr/>
        </p:nvSpPr>
        <p:spPr>
          <a:xfrm>
            <a:off x="7525512" y="2048256"/>
            <a:ext cx="594360" cy="18288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Shape 24"/>
          <p:cNvSpPr/>
          <p:nvPr/>
        </p:nvSpPr>
        <p:spPr>
          <a:xfrm>
            <a:off x="8138160" y="2167128"/>
            <a:ext cx="603504" cy="0"/>
          </a:xfrm>
          <a:prstGeom prst="line">
            <a:avLst/>
          </a:prstGeom>
          <a:noFill/>
          <a:ln w="25400">
            <a:solidFill>
              <a:srgbClr val="A8CDBC"/>
            </a:solidFill>
            <a:prstDash val="solid"/>
            <a:headEnd type="none"/>
            <a:tailEnd type="triangle"/>
          </a:ln>
        </p:spPr>
      </p:sp>
      <p:sp>
        <p:nvSpPr>
          <p:cNvPr id="27" name="Text 25"/>
          <p:cNvSpPr/>
          <p:nvPr/>
        </p:nvSpPr>
        <p:spPr>
          <a:xfrm>
            <a:off x="7159752" y="2697480"/>
            <a:ext cx="1371600" cy="256032"/>
          </a:xfrm>
          <a:prstGeom prst="rect">
            <a:avLst/>
          </a:prstGeom>
          <a:noFill/>
          <a:ln/>
        </p:spPr>
        <p:txBody>
          <a:bodyPr wrap="square" lIns="0" tIns="0" rIns="0" bIns="0" rtlCol="0" anchor="ctr"/>
          <a:lstStyle/>
          <a:p>
            <a:pPr algn="ctr" indent="0" marL="0">
              <a:buNone/>
            </a:pPr>
            <a:r>
              <a:rPr lang="en-US" sz="1100" b="1" dirty="0">
                <a:solidFill>
                  <a:srgbClr val="18251F"/>
                </a:solidFill>
              </a:rPr>
              <a:t>Execute</a:t>
            </a:r>
            <a:endParaRPr lang="en-US" sz="1100" dirty="0"/>
          </a:p>
        </p:txBody>
      </p:sp>
      <p:sp>
        <p:nvSpPr>
          <p:cNvPr id="28" name="Text 26"/>
          <p:cNvSpPr/>
          <p:nvPr/>
        </p:nvSpPr>
        <p:spPr>
          <a:xfrm>
            <a:off x="7114032" y="3017520"/>
            <a:ext cx="1463040" cy="640080"/>
          </a:xfrm>
          <a:prstGeom prst="rect">
            <a:avLst/>
          </a:prstGeom>
          <a:noFill/>
          <a:ln/>
        </p:spPr>
        <p:txBody>
          <a:bodyPr wrap="square" lIns="0" tIns="0" rIns="0" bIns="0" rtlCol="0" anchor="ctr"/>
          <a:lstStyle/>
          <a:p>
            <a:pPr algn="ctr" indent="0" marL="0">
              <a:buNone/>
            </a:pPr>
            <a:r>
              <a:rPr lang="en-US" sz="950" dirty="0">
                <a:solidFill>
                  <a:srgbClr val="66756F"/>
                </a:solidFill>
              </a:rPr>
              <a:t>LangGraph + Vibium MCP</a:t>
            </a:r>
            <a:endParaRPr lang="en-US" sz="950" dirty="0"/>
          </a:p>
        </p:txBody>
      </p:sp>
      <p:sp>
        <p:nvSpPr>
          <p:cNvPr id="29" name="Shape 27"/>
          <p:cNvSpPr/>
          <p:nvPr/>
        </p:nvSpPr>
        <p:spPr>
          <a:xfrm>
            <a:off x="9189720" y="1874520"/>
            <a:ext cx="594360" cy="594360"/>
          </a:xfrm>
          <a:prstGeom prst="ellipse">
            <a:avLst/>
          </a:prstGeom>
          <a:solidFill>
            <a:srgbClr val="A8CDBC"/>
          </a:solidFill>
          <a:ln w="12700">
            <a:solidFill>
              <a:srgbClr val="A8CDBC"/>
            </a:solidFill>
            <a:prstDash val="solid"/>
          </a:ln>
        </p:spPr>
      </p:sp>
      <p:sp>
        <p:nvSpPr>
          <p:cNvPr id="30" name="Text 28"/>
          <p:cNvSpPr/>
          <p:nvPr/>
        </p:nvSpPr>
        <p:spPr>
          <a:xfrm>
            <a:off x="9189720" y="2048256"/>
            <a:ext cx="594360" cy="182880"/>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1" name="Shape 29"/>
          <p:cNvSpPr/>
          <p:nvPr/>
        </p:nvSpPr>
        <p:spPr>
          <a:xfrm>
            <a:off x="9802368" y="2167128"/>
            <a:ext cx="603504" cy="0"/>
          </a:xfrm>
          <a:prstGeom prst="line">
            <a:avLst/>
          </a:prstGeom>
          <a:noFill/>
          <a:ln w="25400">
            <a:solidFill>
              <a:srgbClr val="A8CDBC"/>
            </a:solidFill>
            <a:prstDash val="solid"/>
            <a:headEnd type="none"/>
            <a:tailEnd type="triangle"/>
          </a:ln>
        </p:spPr>
      </p:sp>
      <p:sp>
        <p:nvSpPr>
          <p:cNvPr id="32" name="Text 30"/>
          <p:cNvSpPr/>
          <p:nvPr/>
        </p:nvSpPr>
        <p:spPr>
          <a:xfrm>
            <a:off x="8823960" y="2697480"/>
            <a:ext cx="1371600" cy="256032"/>
          </a:xfrm>
          <a:prstGeom prst="rect">
            <a:avLst/>
          </a:prstGeom>
          <a:noFill/>
          <a:ln/>
        </p:spPr>
        <p:txBody>
          <a:bodyPr wrap="square" lIns="0" tIns="0" rIns="0" bIns="0" rtlCol="0" anchor="ctr"/>
          <a:lstStyle/>
          <a:p>
            <a:pPr algn="ctr" indent="0" marL="0">
              <a:buNone/>
            </a:pPr>
            <a:r>
              <a:rPr lang="en-US" sz="1100" b="1" dirty="0">
                <a:solidFill>
                  <a:srgbClr val="18251F"/>
                </a:solidFill>
              </a:rPr>
              <a:t>Review</a:t>
            </a:r>
            <a:endParaRPr lang="en-US" sz="1100" dirty="0"/>
          </a:p>
        </p:txBody>
      </p:sp>
      <p:sp>
        <p:nvSpPr>
          <p:cNvPr id="33" name="Text 31"/>
          <p:cNvSpPr/>
          <p:nvPr/>
        </p:nvSpPr>
        <p:spPr>
          <a:xfrm>
            <a:off x="8778240" y="3017520"/>
            <a:ext cx="1463040" cy="640080"/>
          </a:xfrm>
          <a:prstGeom prst="rect">
            <a:avLst/>
          </a:prstGeom>
          <a:noFill/>
          <a:ln/>
        </p:spPr>
        <p:txBody>
          <a:bodyPr wrap="square" lIns="0" tIns="0" rIns="0" bIns="0" rtlCol="0" anchor="ctr"/>
          <a:lstStyle/>
          <a:p>
            <a:pPr algn="ctr" indent="0" marL="0">
              <a:buNone/>
            </a:pPr>
            <a:r>
              <a:rPr lang="en-US" sz="950" dirty="0">
                <a:solidFill>
                  <a:srgbClr val="66756F"/>
                </a:solidFill>
              </a:rPr>
              <a:t>Live status + reruns</a:t>
            </a:r>
            <a:endParaRPr lang="en-US" sz="950" dirty="0"/>
          </a:p>
        </p:txBody>
      </p:sp>
      <p:sp>
        <p:nvSpPr>
          <p:cNvPr id="34" name="Shape 32"/>
          <p:cNvSpPr/>
          <p:nvPr/>
        </p:nvSpPr>
        <p:spPr>
          <a:xfrm>
            <a:off x="10853928" y="1874520"/>
            <a:ext cx="594360" cy="594360"/>
          </a:xfrm>
          <a:prstGeom prst="ellipse">
            <a:avLst/>
          </a:prstGeom>
          <a:solidFill>
            <a:srgbClr val="A8CDBC"/>
          </a:solidFill>
          <a:ln w="12700">
            <a:solidFill>
              <a:srgbClr val="A8CDBC"/>
            </a:solidFill>
            <a:prstDash val="solid"/>
          </a:ln>
        </p:spPr>
      </p:sp>
      <p:sp>
        <p:nvSpPr>
          <p:cNvPr id="35" name="Text 33"/>
          <p:cNvSpPr/>
          <p:nvPr/>
        </p:nvSpPr>
        <p:spPr>
          <a:xfrm>
            <a:off x="10853928" y="2048256"/>
            <a:ext cx="594360" cy="182880"/>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36" name="Text 34"/>
          <p:cNvSpPr/>
          <p:nvPr/>
        </p:nvSpPr>
        <p:spPr>
          <a:xfrm>
            <a:off x="10488168" y="2697480"/>
            <a:ext cx="1371600" cy="256032"/>
          </a:xfrm>
          <a:prstGeom prst="rect">
            <a:avLst/>
          </a:prstGeom>
          <a:noFill/>
          <a:ln/>
        </p:spPr>
        <p:txBody>
          <a:bodyPr wrap="square" lIns="0" tIns="0" rIns="0" bIns="0" rtlCol="0" anchor="ctr"/>
          <a:lstStyle/>
          <a:p>
            <a:pPr algn="ctr" indent="0" marL="0">
              <a:buNone/>
            </a:pPr>
            <a:r>
              <a:rPr lang="en-US" sz="1100" b="1" dirty="0">
                <a:solidFill>
                  <a:srgbClr val="18251F"/>
                </a:solidFill>
              </a:rPr>
              <a:t>Download</a:t>
            </a:r>
            <a:endParaRPr lang="en-US" sz="1100" dirty="0"/>
          </a:p>
        </p:txBody>
      </p:sp>
      <p:sp>
        <p:nvSpPr>
          <p:cNvPr id="37" name="Text 35"/>
          <p:cNvSpPr/>
          <p:nvPr/>
        </p:nvSpPr>
        <p:spPr>
          <a:xfrm>
            <a:off x="10442448" y="3017520"/>
            <a:ext cx="1463040" cy="640080"/>
          </a:xfrm>
          <a:prstGeom prst="rect">
            <a:avLst/>
          </a:prstGeom>
          <a:noFill/>
          <a:ln/>
        </p:spPr>
        <p:txBody>
          <a:bodyPr wrap="square" lIns="0" tIns="0" rIns="0" bIns="0" rtlCol="0" anchor="ctr"/>
          <a:lstStyle/>
          <a:p>
            <a:pPr algn="ctr" indent="0" marL="0">
              <a:buNone/>
            </a:pPr>
            <a:r>
              <a:rPr lang="en-US" sz="950" dirty="0">
                <a:solidFill>
                  <a:srgbClr val="66756F"/>
                </a:solidFill>
              </a:rPr>
              <a:t>Reports + diagnostics</a:t>
            </a:r>
            <a:endParaRPr lang="en-US" sz="950" dirty="0"/>
          </a:p>
        </p:txBody>
      </p:sp>
      <p:sp>
        <p:nvSpPr>
          <p:cNvPr id="38" name="Shape 36"/>
          <p:cNvSpPr/>
          <p:nvPr/>
        </p:nvSpPr>
        <p:spPr>
          <a:xfrm>
            <a:off x="1609344" y="3941064"/>
            <a:ext cx="8988552" cy="1993392"/>
          </a:xfrm>
          <a:prstGeom prst="roundRect">
            <a:avLst/>
          </a:prstGeom>
          <a:solidFill>
            <a:srgbClr val="FFFFFF"/>
          </a:solidFill>
          <a:ln w="12700">
            <a:solidFill>
              <a:srgbClr val="D8E6DF"/>
            </a:solidFill>
            <a:prstDash val="solid"/>
          </a:ln>
          <a:effectLst>
            <a:outerShdw sx="100000" sy="100000" kx="0" ky="0" algn="bl" rotWithShape="0" blurRad="4.579164822559364e+172" dist="2.5185406524076503e+172" dir="2.1655341152926858e+202">
              <a:srgbClr val="000000">
                <a:alpha val="1.4000000000000004e+209"/>
              </a:srgbClr>
            </a:outerShdw>
          </a:effectLst>
        </p:spPr>
      </p:sp>
      <p:pic>
        <p:nvPicPr>
          <p:cNvPr id="39" name="Image 0" descr="/mnt/data/vibium_assets/home_top.png">    </p:cNvPr>
          <p:cNvPicPr>
            <a:picLocks noChangeAspect="1"/>
          </p:cNvPicPr>
          <p:nvPr/>
        </p:nvPicPr>
        <p:blipFill>
          <a:blip r:embed="rId1"/>
          <a:srcRect l="0" r="0" t="33676" b="33676"/>
          <a:stretch/>
        </p:blipFill>
        <p:spPr>
          <a:xfrm>
            <a:off x="1645920" y="3977640"/>
            <a:ext cx="8915400" cy="1920240"/>
          </a:xfrm>
          <a:prstGeom prst="rect">
            <a:avLst/>
          </a:prstGeom>
        </p:spPr>
      </p:pic>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Scenario input and data model</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Designed for non-code test authoring while preserving deterministic selectors when available</a:t>
            </a:r>
            <a:endParaRPr lang="en-US" sz="1150" dirty="0"/>
          </a:p>
        </p:txBody>
      </p:sp>
      <p:sp>
        <p:nvSpPr>
          <p:cNvPr id="4" name="Shape 2"/>
          <p:cNvSpPr/>
          <p:nvPr/>
        </p:nvSpPr>
        <p:spPr>
          <a:xfrm>
            <a:off x="640080" y="1325880"/>
            <a:ext cx="3383280" cy="4389120"/>
          </a:xfrm>
          <a:prstGeom prst="roundRect">
            <a:avLst>
              <a:gd name="adj" fmla="val 3243"/>
            </a:avLst>
          </a:prstGeom>
          <a:solidFill>
            <a:srgbClr val="FFFFFF"/>
          </a:solidFill>
          <a:ln w="12700">
            <a:solidFill>
              <a:srgbClr val="D8E6DF"/>
            </a:solidFill>
            <a:prstDash val="solid"/>
          </a:ln>
          <a:effectLst>
            <a:outerShdw sx="100000" sy="100000" kx="0" ky="0" algn="bl" rotWithShape="0" blurRad="5.815539324650392e+176" dist="3.1985466285577157e+176" dir="1.2993204691756116e+207">
              <a:srgbClr val="000000">
                <a:alpha val="1.4000000000000004e+214"/>
              </a:srgbClr>
            </a:outerShdw>
          </a:effectLst>
        </p:spPr>
      </p:sp>
      <p:sp>
        <p:nvSpPr>
          <p:cNvPr id="5" name="Shape 3"/>
          <p:cNvSpPr/>
          <p:nvPr/>
        </p:nvSpPr>
        <p:spPr>
          <a:xfrm>
            <a:off x="841248" y="1527048"/>
            <a:ext cx="384048" cy="384048"/>
          </a:xfrm>
          <a:prstGeom prst="ellipse">
            <a:avLst/>
          </a:prstGeom>
          <a:solidFill>
            <a:srgbClr val="E9F6F0"/>
          </a:solidFill>
          <a:ln w="12700">
            <a:solidFill>
              <a:srgbClr val="E9F6F0"/>
            </a:solidFill>
            <a:prstDash val="solid"/>
          </a:ln>
        </p:spPr>
      </p:sp>
      <p:sp>
        <p:nvSpPr>
          <p:cNvPr id="6" name="Text 4"/>
          <p:cNvSpPr/>
          <p:nvPr/>
        </p:nvSpPr>
        <p:spPr>
          <a:xfrm>
            <a:off x="84124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I</a:t>
            </a:r>
            <a:endParaRPr lang="en-US" sz="1100" dirty="0"/>
          </a:p>
        </p:txBody>
      </p:sp>
      <p:sp>
        <p:nvSpPr>
          <p:cNvPr id="7" name="Text 5"/>
          <p:cNvSpPr/>
          <p:nvPr/>
        </p:nvSpPr>
        <p:spPr>
          <a:xfrm>
            <a:off x="1335024" y="1508760"/>
            <a:ext cx="2468880" cy="292608"/>
          </a:xfrm>
          <a:prstGeom prst="rect">
            <a:avLst/>
          </a:prstGeom>
          <a:noFill/>
          <a:ln/>
        </p:spPr>
        <p:txBody>
          <a:bodyPr wrap="square" lIns="0" tIns="0" rIns="0" bIns="0" rtlCol="0" anchor="ctr"/>
          <a:lstStyle/>
          <a:p>
            <a:pPr indent="0" marL="0">
              <a:buNone/>
            </a:pPr>
            <a:r>
              <a:rPr lang="en-US" sz="1400" b="1" dirty="0">
                <a:solidFill>
                  <a:srgbClr val="18251F"/>
                </a:solidFill>
              </a:rPr>
              <a:t>Excel / JSON</a:t>
            </a:r>
            <a:endParaRPr lang="en-US" sz="1400" dirty="0"/>
          </a:p>
        </p:txBody>
      </p:sp>
      <p:sp>
        <p:nvSpPr>
          <p:cNvPr id="8" name="Text 6"/>
          <p:cNvSpPr/>
          <p:nvPr/>
        </p:nvSpPr>
        <p:spPr>
          <a:xfrm>
            <a:off x="859536" y="1892808"/>
            <a:ext cx="2944368" cy="3657600"/>
          </a:xfrm>
          <a:prstGeom prst="rect">
            <a:avLst/>
          </a:prstGeom>
          <a:noFill/>
          <a:ln/>
        </p:spPr>
        <p:txBody>
          <a:bodyPr wrap="square" lIns="381" tIns="381" rIns="381" bIns="381" rtlCol="0" anchor="t"/>
          <a:lstStyle/>
          <a:p>
            <a:pPr indent="0" marL="0">
              <a:buNone/>
            </a:pPr>
            <a:r>
              <a:rPr lang="en-US" sz="1050" dirty="0">
                <a:solidFill>
                  <a:srgbClr val="66756F"/>
                </a:solidFill>
              </a:rPr>
              <a:t>Supported inputs:</a:t>
            </a:r>
            <a:endParaRPr lang="en-US" sz="1050" dirty="0"/>
          </a:p>
          <a:p>
            <a:pPr indent="0" marL="0">
              <a:buNone/>
            </a:pPr>
            <a:endParaRPr lang="en-US" sz="1050" dirty="0"/>
          </a:p>
          <a:p>
            <a:pPr indent="0" marL="0">
              <a:buNone/>
            </a:pPr>
            <a:r>
              <a:rPr lang="en-US" sz="1050" dirty="0">
                <a:solidFill>
                  <a:srgbClr val="66756F"/>
                </a:solidFill>
              </a:rPr>
              <a:t>• .xlsx / .xls</a:t>
            </a:r>
            <a:endParaRPr lang="en-US" sz="1050" dirty="0"/>
          </a:p>
          <a:p>
            <a:pPr indent="0" marL="0">
              <a:buNone/>
            </a:pPr>
            <a:r>
              <a:rPr lang="en-US" sz="1050" dirty="0">
                <a:solidFill>
                  <a:srgbClr val="66756F"/>
                </a:solidFill>
              </a:rPr>
              <a:t>• JSON array</a:t>
            </a:r>
            <a:endParaRPr lang="en-US" sz="1050" dirty="0"/>
          </a:p>
          <a:p>
            <a:pPr indent="0" marL="0">
              <a:buNone/>
            </a:pPr>
            <a:r>
              <a:rPr lang="en-US" sz="1050" dirty="0">
                <a:solidFill>
                  <a:srgbClr val="66756F"/>
                </a:solidFill>
              </a:rPr>
              <a:t>• { scenarios: [...] }</a:t>
            </a:r>
            <a:endParaRPr lang="en-US" sz="1050" dirty="0"/>
          </a:p>
          <a:p>
            <a:pPr indent="0" marL="0">
              <a:buNone/>
            </a:pPr>
            <a:r>
              <a:rPr lang="en-US" sz="1050" dirty="0">
                <a:solidFill>
                  <a:srgbClr val="66756F"/>
                </a:solidFill>
              </a:rPr>
              <a:t>• Multiple Excel worksheets</a:t>
            </a:r>
            <a:endParaRPr lang="en-US" sz="1050" dirty="0"/>
          </a:p>
          <a:p>
            <a:pPr indent="0" marL="0">
              <a:buNone/>
            </a:pPr>
            <a:r>
              <a:rPr lang="en-US" sz="1050" dirty="0">
                <a:solidFill>
                  <a:srgbClr val="66756F"/>
                </a:solidFill>
              </a:rPr>
              <a:t>• Duplicate test IDs made unique when sheets are combined</a:t>
            </a:r>
            <a:endParaRPr lang="en-US" sz="1050" dirty="0"/>
          </a:p>
        </p:txBody>
      </p:sp>
      <p:sp>
        <p:nvSpPr>
          <p:cNvPr id="9" name="Shape 7"/>
          <p:cNvSpPr/>
          <p:nvPr/>
        </p:nvSpPr>
        <p:spPr>
          <a:xfrm>
            <a:off x="4407408" y="1325880"/>
            <a:ext cx="3383280" cy="4389120"/>
          </a:xfrm>
          <a:prstGeom prst="roundRect">
            <a:avLst>
              <a:gd name="adj" fmla="val 3243"/>
            </a:avLst>
          </a:prstGeom>
          <a:solidFill>
            <a:srgbClr val="FFFFFF"/>
          </a:solidFill>
          <a:ln w="12700">
            <a:solidFill>
              <a:srgbClr val="D8E6DF"/>
            </a:solidFill>
            <a:prstDash val="solid"/>
          </a:ln>
          <a:effectLst>
            <a:outerShdw sx="100000" sy="100000" kx="0" ky="0" algn="bl" rotWithShape="0" blurRad="7.385734942305998e+180" dist="4.0621542182682987e+180" dir="7.795922815053669e+211">
              <a:srgbClr val="000000">
                <a:alpha val="1.4000000000000004e+219"/>
              </a:srgbClr>
            </a:outerShdw>
          </a:effectLst>
        </p:spPr>
      </p:sp>
      <p:sp>
        <p:nvSpPr>
          <p:cNvPr id="10" name="Shape 8"/>
          <p:cNvSpPr/>
          <p:nvPr/>
        </p:nvSpPr>
        <p:spPr>
          <a:xfrm>
            <a:off x="4608576" y="1527048"/>
            <a:ext cx="384048" cy="384048"/>
          </a:xfrm>
          <a:prstGeom prst="ellipse">
            <a:avLst/>
          </a:prstGeom>
          <a:solidFill>
            <a:srgbClr val="E9F6F0"/>
          </a:solidFill>
          <a:ln w="12700">
            <a:solidFill>
              <a:srgbClr val="E9F6F0"/>
            </a:solidFill>
            <a:prstDash val="solid"/>
          </a:ln>
        </p:spPr>
      </p:sp>
      <p:sp>
        <p:nvSpPr>
          <p:cNvPr id="11" name="Text 9"/>
          <p:cNvSpPr/>
          <p:nvPr/>
        </p:nvSpPr>
        <p:spPr>
          <a:xfrm>
            <a:off x="4608576"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D</a:t>
            </a:r>
            <a:endParaRPr lang="en-US" sz="1100" dirty="0"/>
          </a:p>
        </p:txBody>
      </p:sp>
      <p:sp>
        <p:nvSpPr>
          <p:cNvPr id="12" name="Text 10"/>
          <p:cNvSpPr/>
          <p:nvPr/>
        </p:nvSpPr>
        <p:spPr>
          <a:xfrm>
            <a:off x="5102352" y="1508760"/>
            <a:ext cx="2468880" cy="292608"/>
          </a:xfrm>
          <a:prstGeom prst="rect">
            <a:avLst/>
          </a:prstGeom>
          <a:noFill/>
          <a:ln/>
        </p:spPr>
        <p:txBody>
          <a:bodyPr wrap="square" lIns="0" tIns="0" rIns="0" bIns="0" rtlCol="0" anchor="ctr"/>
          <a:lstStyle/>
          <a:p>
            <a:pPr indent="0" marL="0">
              <a:buNone/>
            </a:pPr>
            <a:r>
              <a:rPr lang="en-US" sz="1400" b="1" dirty="0">
                <a:solidFill>
                  <a:srgbClr val="18251F"/>
                </a:solidFill>
              </a:rPr>
              <a:t>Row &amp; data handling</a:t>
            </a:r>
            <a:endParaRPr lang="en-US" sz="1400" dirty="0"/>
          </a:p>
        </p:txBody>
      </p:sp>
      <p:sp>
        <p:nvSpPr>
          <p:cNvPr id="13" name="Text 11"/>
          <p:cNvSpPr/>
          <p:nvPr/>
        </p:nvSpPr>
        <p:spPr>
          <a:xfrm>
            <a:off x="4626864" y="1892808"/>
            <a:ext cx="2944368" cy="3657600"/>
          </a:xfrm>
          <a:prstGeom prst="rect">
            <a:avLst/>
          </a:prstGeom>
          <a:noFill/>
          <a:ln/>
        </p:spPr>
        <p:txBody>
          <a:bodyPr wrap="square" lIns="381" tIns="381" rIns="381" bIns="381" rtlCol="0" anchor="t"/>
          <a:lstStyle/>
          <a:p>
            <a:pPr indent="0" marL="0">
              <a:buNone/>
            </a:pPr>
            <a:r>
              <a:rPr lang="en-US" sz="1050" dirty="0">
                <a:solidFill>
                  <a:srgbClr val="66756F"/>
                </a:solidFill>
              </a:rPr>
              <a:t>Optional Run column accepts true / yes / y / 1 / run / execute / enabled.</a:t>
            </a:r>
            <a:endParaRPr lang="en-US" sz="1050" dirty="0"/>
          </a:p>
          <a:p>
            <a:pPr indent="0" marL="0">
              <a:buNone/>
            </a:pPr>
            <a:endParaRPr lang="en-US" sz="1050" dirty="0"/>
          </a:p>
          <a:p>
            <a:pPr indent="0" marL="0">
              <a:buNone/>
            </a:pPr>
            <a:r>
              <a:rPr lang="en-US" sz="1050" dirty="0">
                <a:solidFill>
                  <a:srgbClr val="66756F"/>
                </a:solidFill>
              </a:rPr>
              <a:t>Data columns can be supplied with data.* or JSON test-data objects. Placeholders such as {{username}} and ${accountId} are resolved before execution.</a:t>
            </a:r>
            <a:endParaRPr lang="en-US" sz="1050" dirty="0"/>
          </a:p>
        </p:txBody>
      </p:sp>
      <p:sp>
        <p:nvSpPr>
          <p:cNvPr id="14" name="Shape 12"/>
          <p:cNvSpPr/>
          <p:nvPr/>
        </p:nvSpPr>
        <p:spPr>
          <a:xfrm>
            <a:off x="8174736" y="1325880"/>
            <a:ext cx="3383280" cy="4389120"/>
          </a:xfrm>
          <a:prstGeom prst="roundRect">
            <a:avLst>
              <a:gd name="adj" fmla="val 3243"/>
            </a:avLst>
          </a:prstGeom>
          <a:solidFill>
            <a:srgbClr val="FFFFFF"/>
          </a:solidFill>
          <a:ln w="12700">
            <a:solidFill>
              <a:srgbClr val="D8E6DF"/>
            </a:solidFill>
            <a:prstDash val="solid"/>
          </a:ln>
          <a:effectLst>
            <a:outerShdw sx="100000" sy="100000" kx="0" ky="0" algn="bl" rotWithShape="0" blurRad="9.379883376728618e+184" dist="5.15893585720074e+184" dir="4.677553689032201e+216">
              <a:srgbClr val="000000">
                <a:alpha val="1.4000000000000005e+224"/>
              </a:srgbClr>
            </a:outerShdw>
          </a:effectLst>
        </p:spPr>
      </p:sp>
      <p:sp>
        <p:nvSpPr>
          <p:cNvPr id="15" name="Shape 13"/>
          <p:cNvSpPr/>
          <p:nvPr/>
        </p:nvSpPr>
        <p:spPr>
          <a:xfrm>
            <a:off x="8375904" y="1527048"/>
            <a:ext cx="384048" cy="384048"/>
          </a:xfrm>
          <a:prstGeom prst="ellipse">
            <a:avLst/>
          </a:prstGeom>
          <a:solidFill>
            <a:srgbClr val="E9F6F0"/>
          </a:solidFill>
          <a:ln w="12700">
            <a:solidFill>
              <a:srgbClr val="E9F6F0"/>
            </a:solidFill>
            <a:prstDash val="solid"/>
          </a:ln>
        </p:spPr>
      </p:sp>
      <p:sp>
        <p:nvSpPr>
          <p:cNvPr id="16" name="Text 14"/>
          <p:cNvSpPr/>
          <p:nvPr/>
        </p:nvSpPr>
        <p:spPr>
          <a:xfrm>
            <a:off x="8375904"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S</a:t>
            </a:r>
            <a:endParaRPr lang="en-US" sz="1100" dirty="0"/>
          </a:p>
        </p:txBody>
      </p:sp>
      <p:sp>
        <p:nvSpPr>
          <p:cNvPr id="17" name="Text 15"/>
          <p:cNvSpPr/>
          <p:nvPr/>
        </p:nvSpPr>
        <p:spPr>
          <a:xfrm>
            <a:off x="8869680" y="1508760"/>
            <a:ext cx="2468880" cy="292608"/>
          </a:xfrm>
          <a:prstGeom prst="rect">
            <a:avLst/>
          </a:prstGeom>
          <a:noFill/>
          <a:ln/>
        </p:spPr>
        <p:txBody>
          <a:bodyPr wrap="square" lIns="0" tIns="0" rIns="0" bIns="0" rtlCol="0" anchor="ctr"/>
          <a:lstStyle/>
          <a:p>
            <a:pPr indent="0" marL="0">
              <a:buNone/>
            </a:pPr>
            <a:r>
              <a:rPr lang="en-US" sz="1400" b="1" dirty="0">
                <a:solidFill>
                  <a:srgbClr val="18251F"/>
                </a:solidFill>
              </a:rPr>
              <a:t>Step styles</a:t>
            </a:r>
            <a:endParaRPr lang="en-US" sz="1400" dirty="0"/>
          </a:p>
        </p:txBody>
      </p:sp>
      <p:sp>
        <p:nvSpPr>
          <p:cNvPr id="18" name="Text 16"/>
          <p:cNvSpPr/>
          <p:nvPr/>
        </p:nvSpPr>
        <p:spPr>
          <a:xfrm>
            <a:off x="8394192" y="1892808"/>
            <a:ext cx="2944368" cy="3657600"/>
          </a:xfrm>
          <a:prstGeom prst="rect">
            <a:avLst/>
          </a:prstGeom>
          <a:noFill/>
          <a:ln/>
        </p:spPr>
        <p:txBody>
          <a:bodyPr wrap="square" lIns="381" tIns="381" rIns="381" bIns="381" rtlCol="0" anchor="t"/>
          <a:lstStyle/>
          <a:p>
            <a:pPr indent="0" marL="0">
              <a:buNone/>
            </a:pPr>
            <a:r>
              <a:rPr lang="en-US" sz="1050" dirty="0">
                <a:solidFill>
                  <a:srgbClr val="66756F"/>
                </a:solidFill>
              </a:rPr>
              <a:t>Steps may be natural-language instructions, explicit XPath/CSS, or direct MCP JSON calls. Deterministic selectors get first priority; natural-language steps can be planned through the connected LLM.</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Browser and session modes</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Choose state continuity or isolation based on the test design</a:t>
            </a:r>
            <a:endParaRPr lang="en-US" sz="1150" dirty="0"/>
          </a:p>
        </p:txBody>
      </p:sp>
      <p:sp>
        <p:nvSpPr>
          <p:cNvPr id="4" name="Shape 2"/>
          <p:cNvSpPr/>
          <p:nvPr/>
        </p:nvSpPr>
        <p:spPr>
          <a:xfrm>
            <a:off x="640080" y="1371600"/>
            <a:ext cx="3429000" cy="4297680"/>
          </a:xfrm>
          <a:prstGeom prst="roundRect">
            <a:avLst>
              <a:gd name="adj" fmla="val 3200"/>
            </a:avLst>
          </a:prstGeom>
          <a:solidFill>
            <a:srgbClr val="FFFFFF"/>
          </a:solidFill>
          <a:ln w="12700">
            <a:solidFill>
              <a:srgbClr val="D8E6DF"/>
            </a:solidFill>
            <a:prstDash val="solid"/>
          </a:ln>
          <a:effectLst>
            <a:outerShdw sx="100000" sy="100000" kx="0" ky="0" algn="bl" rotWithShape="0" blurRad="1.1912451888445345e+189" dist="6.55184853864494e+188" dir="2.806532213419321e+221">
              <a:srgbClr val="000000">
                <a:alpha val="1.4000000000000004e+229"/>
              </a:srgbClr>
            </a:outerShdw>
          </a:effectLst>
        </p:spPr>
      </p:sp>
      <p:sp>
        <p:nvSpPr>
          <p:cNvPr id="5" name="Shape 3"/>
          <p:cNvSpPr/>
          <p:nvPr/>
        </p:nvSpPr>
        <p:spPr>
          <a:xfrm>
            <a:off x="841248" y="1572768"/>
            <a:ext cx="384048" cy="384048"/>
          </a:xfrm>
          <a:prstGeom prst="ellipse">
            <a:avLst/>
          </a:prstGeom>
          <a:solidFill>
            <a:srgbClr val="E9F6F0"/>
          </a:solidFill>
          <a:ln w="12700">
            <a:solidFill>
              <a:srgbClr val="E9F6F0"/>
            </a:solidFill>
            <a:prstDash val="solid"/>
          </a:ln>
        </p:spPr>
      </p:sp>
      <p:sp>
        <p:nvSpPr>
          <p:cNvPr id="6" name="Text 4"/>
          <p:cNvSpPr/>
          <p:nvPr/>
        </p:nvSpPr>
        <p:spPr>
          <a:xfrm>
            <a:off x="841248" y="1641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1</a:t>
            </a:r>
            <a:endParaRPr lang="en-US" sz="1100" dirty="0"/>
          </a:p>
        </p:txBody>
      </p:sp>
      <p:sp>
        <p:nvSpPr>
          <p:cNvPr id="7" name="Text 5"/>
          <p:cNvSpPr/>
          <p:nvPr/>
        </p:nvSpPr>
        <p:spPr>
          <a:xfrm>
            <a:off x="1335024" y="1554480"/>
            <a:ext cx="2514600" cy="292608"/>
          </a:xfrm>
          <a:prstGeom prst="rect">
            <a:avLst/>
          </a:prstGeom>
          <a:noFill/>
          <a:ln/>
        </p:spPr>
        <p:txBody>
          <a:bodyPr wrap="square" lIns="0" tIns="0" rIns="0" bIns="0" rtlCol="0" anchor="ctr"/>
          <a:lstStyle/>
          <a:p>
            <a:pPr indent="0" marL="0">
              <a:buNone/>
            </a:pPr>
            <a:r>
              <a:rPr lang="en-US" sz="1400" b="1" dirty="0">
                <a:solidFill>
                  <a:srgbClr val="18251F"/>
                </a:solidFill>
              </a:rPr>
              <a:t>Shared browser</a:t>
            </a:r>
            <a:endParaRPr lang="en-US" sz="1400" dirty="0"/>
          </a:p>
        </p:txBody>
      </p:sp>
      <p:sp>
        <p:nvSpPr>
          <p:cNvPr id="8" name="Text 6"/>
          <p:cNvSpPr/>
          <p:nvPr/>
        </p:nvSpPr>
        <p:spPr>
          <a:xfrm>
            <a:off x="859536" y="1938528"/>
            <a:ext cx="2990088" cy="3566160"/>
          </a:xfrm>
          <a:prstGeom prst="rect">
            <a:avLst/>
          </a:prstGeom>
          <a:noFill/>
          <a:ln/>
        </p:spPr>
        <p:txBody>
          <a:bodyPr wrap="square" lIns="381" tIns="381" rIns="381" bIns="381" rtlCol="0" anchor="t"/>
          <a:lstStyle/>
          <a:p>
            <a:pPr indent="0" marL="0">
              <a:buNone/>
            </a:pPr>
            <a:r>
              <a:rPr lang="en-US" sz="1050" dirty="0">
                <a:solidFill>
                  <a:srgbClr val="66756F"/>
                </a:solidFill>
              </a:rPr>
              <a:t>One browser for the complete run. Tests execute sequentially and preserve cookies, storage, tabs and authenticated state. Best when scenarios depend on one session.</a:t>
            </a:r>
            <a:endParaRPr lang="en-US" sz="1050" dirty="0"/>
          </a:p>
        </p:txBody>
      </p:sp>
      <p:sp>
        <p:nvSpPr>
          <p:cNvPr id="9" name="Shape 7"/>
          <p:cNvSpPr/>
          <p:nvPr/>
        </p:nvSpPr>
        <p:spPr>
          <a:xfrm>
            <a:off x="4389120" y="1371600"/>
            <a:ext cx="3429000" cy="4297680"/>
          </a:xfrm>
          <a:prstGeom prst="roundRect">
            <a:avLst>
              <a:gd name="adj" fmla="val 3200"/>
            </a:avLst>
          </a:prstGeom>
          <a:solidFill>
            <a:srgbClr val="FFFFFF"/>
          </a:solidFill>
          <a:ln w="12700">
            <a:solidFill>
              <a:srgbClr val="D8E6DF"/>
            </a:solidFill>
            <a:prstDash val="solid"/>
          </a:ln>
          <a:effectLst>
            <a:outerShdw sx="100000" sy="100000" kx="0" ky="0" algn="bl" rotWithShape="0" blurRad="1.5128813898325588e+193" dist="8.320847644079074e+192" dir="1.6839193280515925e+226">
              <a:srgbClr val="000000">
                <a:alpha val="1.4000000000000004e+234"/>
              </a:srgbClr>
            </a:outerShdw>
          </a:effectLst>
        </p:spPr>
      </p:sp>
      <p:sp>
        <p:nvSpPr>
          <p:cNvPr id="10" name="Shape 8"/>
          <p:cNvSpPr/>
          <p:nvPr/>
        </p:nvSpPr>
        <p:spPr>
          <a:xfrm>
            <a:off x="4590288" y="1572768"/>
            <a:ext cx="384048" cy="384048"/>
          </a:xfrm>
          <a:prstGeom prst="ellipse">
            <a:avLst/>
          </a:prstGeom>
          <a:solidFill>
            <a:srgbClr val="E9F6F0"/>
          </a:solidFill>
          <a:ln w="12700">
            <a:solidFill>
              <a:srgbClr val="E9F6F0"/>
            </a:solidFill>
            <a:prstDash val="solid"/>
          </a:ln>
        </p:spPr>
      </p:sp>
      <p:sp>
        <p:nvSpPr>
          <p:cNvPr id="11" name="Text 9"/>
          <p:cNvSpPr/>
          <p:nvPr/>
        </p:nvSpPr>
        <p:spPr>
          <a:xfrm>
            <a:off x="4590288" y="1641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2</a:t>
            </a:r>
            <a:endParaRPr lang="en-US" sz="1100" dirty="0"/>
          </a:p>
        </p:txBody>
      </p:sp>
      <p:sp>
        <p:nvSpPr>
          <p:cNvPr id="12" name="Text 10"/>
          <p:cNvSpPr/>
          <p:nvPr/>
        </p:nvSpPr>
        <p:spPr>
          <a:xfrm>
            <a:off x="5084064" y="1554480"/>
            <a:ext cx="2514600" cy="292608"/>
          </a:xfrm>
          <a:prstGeom prst="rect">
            <a:avLst/>
          </a:prstGeom>
          <a:noFill/>
          <a:ln/>
        </p:spPr>
        <p:txBody>
          <a:bodyPr wrap="square" lIns="0" tIns="0" rIns="0" bIns="0" rtlCol="0" anchor="ctr"/>
          <a:lstStyle/>
          <a:p>
            <a:pPr indent="0" marL="0">
              <a:buNone/>
            </a:pPr>
            <a:r>
              <a:rPr lang="en-US" sz="1400" b="1" dirty="0">
                <a:solidFill>
                  <a:srgbClr val="18251F"/>
                </a:solidFill>
              </a:rPr>
              <a:t>Separate browser/test</a:t>
            </a:r>
            <a:endParaRPr lang="en-US" sz="1400" dirty="0"/>
          </a:p>
        </p:txBody>
      </p:sp>
      <p:sp>
        <p:nvSpPr>
          <p:cNvPr id="13" name="Text 11"/>
          <p:cNvSpPr/>
          <p:nvPr/>
        </p:nvSpPr>
        <p:spPr>
          <a:xfrm>
            <a:off x="4608576" y="1938528"/>
            <a:ext cx="2990088" cy="3566160"/>
          </a:xfrm>
          <a:prstGeom prst="rect">
            <a:avLst/>
          </a:prstGeom>
          <a:noFill/>
          <a:ln/>
        </p:spPr>
        <p:txBody>
          <a:bodyPr wrap="square" lIns="381" tIns="381" rIns="381" bIns="381" rtlCol="0" anchor="t"/>
          <a:lstStyle/>
          <a:p>
            <a:pPr indent="0" marL="0">
              <a:buNone/>
            </a:pPr>
            <a:r>
              <a:rPr lang="en-US" sz="1050" dirty="0">
                <a:solidFill>
                  <a:srgbClr val="66756F"/>
                </a:solidFill>
              </a:rPr>
              <a:t>Sequential mode only. Each scenario gets a fresh MCP process and browser. Best for independent tests that need hard isolation.</a:t>
            </a:r>
            <a:endParaRPr lang="en-US" sz="1050" dirty="0"/>
          </a:p>
        </p:txBody>
      </p:sp>
      <p:sp>
        <p:nvSpPr>
          <p:cNvPr id="14" name="Shape 12"/>
          <p:cNvSpPr/>
          <p:nvPr/>
        </p:nvSpPr>
        <p:spPr>
          <a:xfrm>
            <a:off x="8138160" y="1371600"/>
            <a:ext cx="3429000" cy="4297680"/>
          </a:xfrm>
          <a:prstGeom prst="roundRect">
            <a:avLst>
              <a:gd name="adj" fmla="val 3200"/>
            </a:avLst>
          </a:prstGeom>
          <a:solidFill>
            <a:srgbClr val="DFF3E9"/>
          </a:solidFill>
          <a:ln w="12700">
            <a:solidFill>
              <a:srgbClr val="D8E6DF"/>
            </a:solidFill>
            <a:prstDash val="solid"/>
          </a:ln>
          <a:effectLst>
            <a:outerShdw sx="100000" sy="100000" kx="0" ky="0" algn="bl" rotWithShape="0" blurRad="1.9213593650873497e+197" dist="1.0567476507980424e+197" dir="1.0103515968309554e+231">
              <a:srgbClr val="000000">
                <a:alpha val="1.4000000000000005e+239"/>
              </a:srgbClr>
            </a:outerShdw>
          </a:effectLst>
        </p:spPr>
      </p:sp>
      <p:sp>
        <p:nvSpPr>
          <p:cNvPr id="15" name="Shape 13"/>
          <p:cNvSpPr/>
          <p:nvPr/>
        </p:nvSpPr>
        <p:spPr>
          <a:xfrm>
            <a:off x="8339328" y="1572768"/>
            <a:ext cx="384048" cy="384048"/>
          </a:xfrm>
          <a:prstGeom prst="ellipse">
            <a:avLst/>
          </a:prstGeom>
          <a:solidFill>
            <a:srgbClr val="E9F6F0"/>
          </a:solidFill>
          <a:ln w="12700">
            <a:solidFill>
              <a:srgbClr val="E9F6F0"/>
            </a:solidFill>
            <a:prstDash val="solid"/>
          </a:ln>
        </p:spPr>
      </p:sp>
      <p:sp>
        <p:nvSpPr>
          <p:cNvPr id="16" name="Text 14"/>
          <p:cNvSpPr/>
          <p:nvPr/>
        </p:nvSpPr>
        <p:spPr>
          <a:xfrm>
            <a:off x="8339328" y="1641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3</a:t>
            </a:r>
            <a:endParaRPr lang="en-US" sz="1100" dirty="0"/>
          </a:p>
        </p:txBody>
      </p:sp>
      <p:sp>
        <p:nvSpPr>
          <p:cNvPr id="17" name="Text 15"/>
          <p:cNvSpPr/>
          <p:nvPr/>
        </p:nvSpPr>
        <p:spPr>
          <a:xfrm>
            <a:off x="8833104" y="1554480"/>
            <a:ext cx="2514600" cy="292608"/>
          </a:xfrm>
          <a:prstGeom prst="rect">
            <a:avLst/>
          </a:prstGeom>
          <a:noFill/>
          <a:ln/>
        </p:spPr>
        <p:txBody>
          <a:bodyPr wrap="square" lIns="0" tIns="0" rIns="0" bIns="0" rtlCol="0" anchor="ctr"/>
          <a:lstStyle/>
          <a:p>
            <a:pPr indent="0" marL="0">
              <a:buNone/>
            </a:pPr>
            <a:r>
              <a:rPr lang="en-US" sz="1400" b="1" dirty="0">
                <a:solidFill>
                  <a:srgbClr val="18251F"/>
                </a:solidFill>
              </a:rPr>
              <a:t>Parallel browser pool</a:t>
            </a:r>
            <a:endParaRPr lang="en-US" sz="1400" dirty="0"/>
          </a:p>
        </p:txBody>
      </p:sp>
      <p:sp>
        <p:nvSpPr>
          <p:cNvPr id="18" name="Text 16"/>
          <p:cNvSpPr/>
          <p:nvPr/>
        </p:nvSpPr>
        <p:spPr>
          <a:xfrm>
            <a:off x="8357616" y="1938528"/>
            <a:ext cx="2990088" cy="3566160"/>
          </a:xfrm>
          <a:prstGeom prst="rect">
            <a:avLst/>
          </a:prstGeom>
          <a:noFill/>
          <a:ln/>
        </p:spPr>
        <p:txBody>
          <a:bodyPr wrap="square" lIns="381" tIns="381" rIns="381" bIns="381" rtlCol="0" anchor="t"/>
          <a:lstStyle/>
          <a:p>
            <a:pPr indent="0" marL="0">
              <a:buNone/>
            </a:pPr>
            <a:r>
              <a:rPr lang="en-US" sz="1050" dirty="0">
                <a:solidFill>
                  <a:srgbClr val="66756F"/>
                </a:solidFill>
              </a:rPr>
              <a:t>Creates only the selected 2, 3 or 4 worker browsers and reuses them across the scenario queue. Immediate scenario reruns stay on the same worker.</a:t>
            </a:r>
            <a:endParaRPr lang="en-US" sz="1050" dirty="0"/>
          </a:p>
        </p:txBody>
      </p:sp>
      <p:sp>
        <p:nvSpPr>
          <p:cNvPr id="19" name="Text 17"/>
          <p:cNvSpPr/>
          <p:nvPr/>
        </p:nvSpPr>
        <p:spPr>
          <a:xfrm>
            <a:off x="1417320" y="5285232"/>
            <a:ext cx="1828800" cy="310896"/>
          </a:xfrm>
          <a:prstGeom prst="rect">
            <a:avLst/>
          </a:prstGeom>
          <a:solidFill>
            <a:srgbClr val="E9F6F0"/>
          </a:solidFill>
          <a:ln>
            <a:solidFill>
              <a:srgbClr val="E9F6F0"/>
            </a:solidFill>
          </a:ln>
        </p:spPr>
        <p:txBody>
          <a:bodyPr wrap="square" lIns="254" tIns="254" rIns="254" bIns="254" rtlCol="0" anchor="ctr"/>
          <a:lstStyle/>
          <a:p>
            <a:pPr algn="ctr" indent="0" marL="0">
              <a:buNone/>
            </a:pPr>
            <a:r>
              <a:rPr lang="en-US" sz="950" b="1" dirty="0">
                <a:solidFill>
                  <a:srgbClr val="007A53"/>
                </a:solidFill>
              </a:rPr>
              <a:t>Shared = stateful</a:t>
            </a:r>
            <a:endParaRPr lang="en-US" sz="950" dirty="0"/>
          </a:p>
        </p:txBody>
      </p:sp>
      <p:sp>
        <p:nvSpPr>
          <p:cNvPr id="20" name="Text 18"/>
          <p:cNvSpPr/>
          <p:nvPr/>
        </p:nvSpPr>
        <p:spPr>
          <a:xfrm>
            <a:off x="5138928" y="5285232"/>
            <a:ext cx="1828800" cy="310896"/>
          </a:xfrm>
          <a:prstGeom prst="rect">
            <a:avLst/>
          </a:prstGeom>
          <a:solidFill>
            <a:srgbClr val="E9F6F0"/>
          </a:solidFill>
          <a:ln>
            <a:solidFill>
              <a:srgbClr val="E9F6F0"/>
            </a:solidFill>
          </a:ln>
        </p:spPr>
        <p:txBody>
          <a:bodyPr wrap="square" lIns="254" tIns="254" rIns="254" bIns="254" rtlCol="0" anchor="ctr"/>
          <a:lstStyle/>
          <a:p>
            <a:pPr algn="ctr" indent="0" marL="0">
              <a:buNone/>
            </a:pPr>
            <a:r>
              <a:rPr lang="en-US" sz="950" b="1" dirty="0">
                <a:solidFill>
                  <a:srgbClr val="007A53"/>
                </a:solidFill>
              </a:rPr>
              <a:t>Separate = isolated</a:t>
            </a:r>
            <a:endParaRPr lang="en-US" sz="950" dirty="0"/>
          </a:p>
        </p:txBody>
      </p:sp>
      <p:sp>
        <p:nvSpPr>
          <p:cNvPr id="21" name="Text 19"/>
          <p:cNvSpPr/>
          <p:nvPr/>
        </p:nvSpPr>
        <p:spPr>
          <a:xfrm>
            <a:off x="8805672" y="5285232"/>
            <a:ext cx="2057400" cy="310896"/>
          </a:xfrm>
          <a:prstGeom prst="rect">
            <a:avLst/>
          </a:prstGeom>
          <a:solidFill>
            <a:srgbClr val="E9F6F0"/>
          </a:solidFill>
          <a:ln>
            <a:solidFill>
              <a:srgbClr val="E9F6F0"/>
            </a:solidFill>
          </a:ln>
        </p:spPr>
        <p:txBody>
          <a:bodyPr wrap="square" lIns="254" tIns="254" rIns="254" bIns="254" rtlCol="0" anchor="ctr"/>
          <a:lstStyle/>
          <a:p>
            <a:pPr algn="ctr" indent="0" marL="0">
              <a:buNone/>
            </a:pPr>
            <a:r>
              <a:rPr lang="en-US" sz="950" b="1" dirty="0">
                <a:solidFill>
                  <a:srgbClr val="007A53"/>
                </a:solidFill>
              </a:rPr>
              <a:t>Parallel = bounded pool</a:t>
            </a:r>
            <a:endParaRPr lang="en-US" sz="9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Parallel execution design</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Bounded concurrency avoids one-browser-per-test explosion</a:t>
            </a:r>
            <a:endParaRPr lang="en-US" sz="1150" dirty="0"/>
          </a:p>
        </p:txBody>
      </p:sp>
      <p:sp>
        <p:nvSpPr>
          <p:cNvPr id="4" name="Shape 2"/>
          <p:cNvSpPr/>
          <p:nvPr/>
        </p:nvSpPr>
        <p:spPr>
          <a:xfrm>
            <a:off x="603504" y="1289304"/>
            <a:ext cx="6656832" cy="4553712"/>
          </a:xfrm>
          <a:prstGeom prst="roundRect">
            <a:avLst/>
          </a:prstGeom>
          <a:solidFill>
            <a:srgbClr val="FFFFFF"/>
          </a:solidFill>
          <a:ln w="12700">
            <a:solidFill>
              <a:srgbClr val="D8E6DF"/>
            </a:solidFill>
            <a:prstDash val="solid"/>
          </a:ln>
          <a:effectLst>
            <a:outerShdw sx="100000" sy="100000" kx="0" ky="0" algn="bl" rotWithShape="0" blurRad="2.440126393660934e+201" dist="1.3420695165135138e+201" dir="6.062109580985733e+235">
              <a:srgbClr val="000000">
                <a:alpha val="1.4000000000000006e+244"/>
              </a:srgbClr>
            </a:outerShdw>
          </a:effectLst>
        </p:spPr>
      </p:sp>
      <p:pic>
        <p:nvPicPr>
          <p:cNvPr id="5" name="Image 0" descr="/mnt/data/vibium_diagrams/parallel.png">    </p:cNvPr>
          <p:cNvPicPr>
            <a:picLocks noChangeAspect="1"/>
          </p:cNvPicPr>
          <p:nvPr/>
        </p:nvPicPr>
        <p:blipFill>
          <a:blip r:embed="rId1"/>
          <a:stretch>
            <a:fillRect/>
          </a:stretch>
        </p:blipFill>
        <p:spPr>
          <a:xfrm>
            <a:off x="640080" y="2666417"/>
            <a:ext cx="6583680" cy="1799487"/>
          </a:xfrm>
          <a:prstGeom prst="rect">
            <a:avLst/>
          </a:prstGeom>
        </p:spPr>
      </p:pic>
      <p:sp>
        <p:nvSpPr>
          <p:cNvPr id="6" name="Shape 3"/>
          <p:cNvSpPr/>
          <p:nvPr/>
        </p:nvSpPr>
        <p:spPr>
          <a:xfrm>
            <a:off x="7589520" y="1417320"/>
            <a:ext cx="3977640" cy="1508760"/>
          </a:xfrm>
          <a:prstGeom prst="roundRect">
            <a:avLst>
              <a:gd name="adj" fmla="val 7273"/>
            </a:avLst>
          </a:prstGeom>
          <a:solidFill>
            <a:srgbClr val="FFFFFF"/>
          </a:solidFill>
          <a:ln w="12700">
            <a:solidFill>
              <a:srgbClr val="D8E6DF"/>
            </a:solidFill>
            <a:prstDash val="solid"/>
          </a:ln>
          <a:effectLst>
            <a:outerShdw sx="100000" sy="100000" kx="0" ky="0" algn="bl" rotWithShape="0" blurRad="3.0989605199493864e+205" dist="1.7044282859721625e+205" dir="3.63726574859144e+240">
              <a:srgbClr val="000000">
                <a:alpha val="1.4000000000000005e+249"/>
              </a:srgbClr>
            </a:outerShdw>
          </a:effectLst>
        </p:spPr>
      </p:sp>
      <p:sp>
        <p:nvSpPr>
          <p:cNvPr id="7" name="Shape 4"/>
          <p:cNvSpPr/>
          <p:nvPr/>
        </p:nvSpPr>
        <p:spPr>
          <a:xfrm>
            <a:off x="7790688" y="1618488"/>
            <a:ext cx="384048" cy="384048"/>
          </a:xfrm>
          <a:prstGeom prst="ellipse">
            <a:avLst/>
          </a:prstGeom>
          <a:solidFill>
            <a:srgbClr val="E9F6F0"/>
          </a:solidFill>
          <a:ln w="12700">
            <a:solidFill>
              <a:srgbClr val="E9F6F0"/>
            </a:solidFill>
            <a:prstDash val="solid"/>
          </a:ln>
        </p:spPr>
      </p:sp>
      <p:sp>
        <p:nvSpPr>
          <p:cNvPr id="8" name="Text 5"/>
          <p:cNvSpPr/>
          <p:nvPr/>
        </p:nvSpPr>
        <p:spPr>
          <a:xfrm>
            <a:off x="7790688" y="16870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P</a:t>
            </a:r>
            <a:endParaRPr lang="en-US" sz="1100" dirty="0"/>
          </a:p>
        </p:txBody>
      </p:sp>
      <p:sp>
        <p:nvSpPr>
          <p:cNvPr id="9" name="Text 6"/>
          <p:cNvSpPr/>
          <p:nvPr/>
        </p:nvSpPr>
        <p:spPr>
          <a:xfrm>
            <a:off x="8284464" y="1600200"/>
            <a:ext cx="3063240" cy="292608"/>
          </a:xfrm>
          <a:prstGeom prst="rect">
            <a:avLst/>
          </a:prstGeom>
          <a:noFill/>
          <a:ln/>
        </p:spPr>
        <p:txBody>
          <a:bodyPr wrap="square" lIns="0" tIns="0" rIns="0" bIns="0" rtlCol="0" anchor="ctr"/>
          <a:lstStyle/>
          <a:p>
            <a:pPr indent="0" marL="0">
              <a:buNone/>
            </a:pPr>
            <a:r>
              <a:rPr lang="en-US" sz="1400" b="1" dirty="0">
                <a:solidFill>
                  <a:srgbClr val="18251F"/>
                </a:solidFill>
              </a:rPr>
              <a:t>Why this matters</a:t>
            </a:r>
            <a:endParaRPr lang="en-US" sz="1400" dirty="0"/>
          </a:p>
        </p:txBody>
      </p:sp>
      <p:sp>
        <p:nvSpPr>
          <p:cNvPr id="10" name="Text 7"/>
          <p:cNvSpPr/>
          <p:nvPr/>
        </p:nvSpPr>
        <p:spPr>
          <a:xfrm>
            <a:off x="7808976" y="1984248"/>
            <a:ext cx="3538728" cy="777240"/>
          </a:xfrm>
          <a:prstGeom prst="rect">
            <a:avLst/>
          </a:prstGeom>
          <a:noFill/>
          <a:ln/>
        </p:spPr>
        <p:txBody>
          <a:bodyPr wrap="square" lIns="381" tIns="381" rIns="381" bIns="381" rtlCol="0" anchor="t"/>
          <a:lstStyle/>
          <a:p>
            <a:pPr indent="0" marL="0">
              <a:buNone/>
            </a:pPr>
            <a:r>
              <a:rPr lang="en-US" sz="1050" dirty="0">
                <a:solidFill>
                  <a:srgbClr val="66756F"/>
                </a:solidFill>
              </a:rPr>
              <a:t>Ten scenarios with three browsers create three MCP/browser workers—not ten. Workers pull scenarios from the queue and are reused.</a:t>
            </a:r>
            <a:endParaRPr lang="en-US" sz="1050" dirty="0"/>
          </a:p>
        </p:txBody>
      </p:sp>
      <p:sp>
        <p:nvSpPr>
          <p:cNvPr id="11" name="Shape 8"/>
          <p:cNvSpPr/>
          <p:nvPr/>
        </p:nvSpPr>
        <p:spPr>
          <a:xfrm>
            <a:off x="7589520" y="3246120"/>
            <a:ext cx="3977640" cy="1508760"/>
          </a:xfrm>
          <a:prstGeom prst="roundRect">
            <a:avLst>
              <a:gd name="adj" fmla="val 7273"/>
            </a:avLst>
          </a:prstGeom>
          <a:solidFill>
            <a:srgbClr val="FFFFFF"/>
          </a:solidFill>
          <a:ln w="12700">
            <a:solidFill>
              <a:srgbClr val="D8E6DF"/>
            </a:solidFill>
            <a:prstDash val="solid"/>
          </a:ln>
          <a:effectLst>
            <a:outerShdw sx="100000" sy="100000" kx="0" ky="0" algn="bl" rotWithShape="0" blurRad="3.9356798603357206e+209" dist="2.1646239231846464e+209" dir="2.182359449154864e+245">
              <a:srgbClr val="000000">
                <a:alpha val="1.4000000000000004e+254"/>
              </a:srgbClr>
            </a:outerShdw>
          </a:effectLst>
        </p:spPr>
      </p:sp>
      <p:sp>
        <p:nvSpPr>
          <p:cNvPr id="12" name="Shape 9"/>
          <p:cNvSpPr/>
          <p:nvPr/>
        </p:nvSpPr>
        <p:spPr>
          <a:xfrm>
            <a:off x="7790688" y="3447288"/>
            <a:ext cx="384048" cy="384048"/>
          </a:xfrm>
          <a:prstGeom prst="ellipse">
            <a:avLst/>
          </a:prstGeom>
          <a:solidFill>
            <a:srgbClr val="E9F6F0"/>
          </a:solidFill>
          <a:ln w="12700">
            <a:solidFill>
              <a:srgbClr val="E9F6F0"/>
            </a:solidFill>
            <a:prstDash val="solid"/>
          </a:ln>
        </p:spPr>
      </p:sp>
      <p:sp>
        <p:nvSpPr>
          <p:cNvPr id="13" name="Text 10"/>
          <p:cNvSpPr/>
          <p:nvPr/>
        </p:nvSpPr>
        <p:spPr>
          <a:xfrm>
            <a:off x="7790688" y="35158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R</a:t>
            </a:r>
            <a:endParaRPr lang="en-US" sz="1100" dirty="0"/>
          </a:p>
        </p:txBody>
      </p:sp>
      <p:sp>
        <p:nvSpPr>
          <p:cNvPr id="14" name="Text 11"/>
          <p:cNvSpPr/>
          <p:nvPr/>
        </p:nvSpPr>
        <p:spPr>
          <a:xfrm>
            <a:off x="8284464" y="3429000"/>
            <a:ext cx="3063240" cy="292608"/>
          </a:xfrm>
          <a:prstGeom prst="rect">
            <a:avLst/>
          </a:prstGeom>
          <a:noFill/>
          <a:ln/>
        </p:spPr>
        <p:txBody>
          <a:bodyPr wrap="square" lIns="0" tIns="0" rIns="0" bIns="0" rtlCol="0" anchor="ctr"/>
          <a:lstStyle/>
          <a:p>
            <a:pPr indent="0" marL="0">
              <a:buNone/>
            </a:pPr>
            <a:r>
              <a:rPr lang="en-US" sz="1400" b="1" dirty="0">
                <a:solidFill>
                  <a:srgbClr val="18251F"/>
                </a:solidFill>
              </a:rPr>
              <a:t>Rerun behavior</a:t>
            </a:r>
            <a:endParaRPr lang="en-US" sz="1400" dirty="0"/>
          </a:p>
        </p:txBody>
      </p:sp>
      <p:sp>
        <p:nvSpPr>
          <p:cNvPr id="15" name="Text 12"/>
          <p:cNvSpPr/>
          <p:nvPr/>
        </p:nvSpPr>
        <p:spPr>
          <a:xfrm>
            <a:off x="7808976" y="3813048"/>
            <a:ext cx="3538728" cy="777240"/>
          </a:xfrm>
          <a:prstGeom prst="rect">
            <a:avLst/>
          </a:prstGeom>
          <a:noFill/>
          <a:ln/>
        </p:spPr>
        <p:txBody>
          <a:bodyPr wrap="square" lIns="381" tIns="381" rIns="381" bIns="381" rtlCol="0" anchor="t"/>
          <a:lstStyle/>
          <a:p>
            <a:pPr indent="0" marL="0">
              <a:buNone/>
            </a:pPr>
            <a:r>
              <a:rPr lang="en-US" sz="1050" dirty="0">
                <a:solidFill>
                  <a:srgbClr val="66756F"/>
                </a:solidFill>
              </a:rPr>
              <a:t>A failed scenario can be rerun immediately inside the same worker/browser, preserving the worker lifecycle and avoiding another browser startup.</a:t>
            </a:r>
            <a:endParaRPr lang="en-US" sz="1050" dirty="0"/>
          </a:p>
        </p:txBody>
      </p:sp>
      <p:sp>
        <p:nvSpPr>
          <p:cNvPr id="16" name="Shape 13"/>
          <p:cNvSpPr/>
          <p:nvPr/>
        </p:nvSpPr>
        <p:spPr>
          <a:xfrm>
            <a:off x="7589520" y="5074920"/>
            <a:ext cx="3977640" cy="658368"/>
          </a:xfrm>
          <a:prstGeom prst="roundRect">
            <a:avLst>
              <a:gd name="adj" fmla="val 16667"/>
            </a:avLst>
          </a:prstGeom>
          <a:solidFill>
            <a:srgbClr val="FFFFFF"/>
          </a:solidFill>
          <a:ln w="12700">
            <a:solidFill>
              <a:srgbClr val="D8E6DF"/>
            </a:solidFill>
            <a:prstDash val="solid"/>
          </a:ln>
        </p:spPr>
      </p:sp>
      <p:sp>
        <p:nvSpPr>
          <p:cNvPr id="17" name="Shape 14"/>
          <p:cNvSpPr/>
          <p:nvPr/>
        </p:nvSpPr>
        <p:spPr>
          <a:xfrm>
            <a:off x="7790688" y="5276088"/>
            <a:ext cx="384048" cy="384048"/>
          </a:xfrm>
          <a:prstGeom prst="ellipse">
            <a:avLst/>
          </a:prstGeom>
          <a:solidFill>
            <a:srgbClr val="E9F6F0"/>
          </a:solidFill>
          <a:ln w="12700">
            <a:solidFill>
              <a:srgbClr val="E9F6F0"/>
            </a:solidFill>
            <a:prstDash val="solid"/>
          </a:ln>
        </p:spPr>
      </p:sp>
      <p:sp>
        <p:nvSpPr>
          <p:cNvPr id="18" name="Text 15"/>
          <p:cNvSpPr/>
          <p:nvPr/>
        </p:nvSpPr>
        <p:spPr>
          <a:xfrm>
            <a:off x="7790688" y="53446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C</a:t>
            </a:r>
            <a:endParaRPr lang="en-US" sz="1100" dirty="0"/>
          </a:p>
        </p:txBody>
      </p:sp>
      <p:sp>
        <p:nvSpPr>
          <p:cNvPr id="19" name="Text 16"/>
          <p:cNvSpPr/>
          <p:nvPr/>
        </p:nvSpPr>
        <p:spPr>
          <a:xfrm>
            <a:off x="8284464" y="5257800"/>
            <a:ext cx="3063240" cy="292608"/>
          </a:xfrm>
          <a:prstGeom prst="rect">
            <a:avLst/>
          </a:prstGeom>
          <a:noFill/>
          <a:ln/>
        </p:spPr>
        <p:txBody>
          <a:bodyPr wrap="square" lIns="0" tIns="0" rIns="0" bIns="0" rtlCol="0" anchor="ctr"/>
          <a:lstStyle/>
          <a:p>
            <a:pPr indent="0" marL="0">
              <a:buNone/>
            </a:pPr>
            <a:r>
              <a:rPr lang="en-US" sz="1400" b="1" dirty="0">
                <a:solidFill>
                  <a:srgbClr val="18251F"/>
                </a:solidFill>
              </a:rPr>
              <a:t>Capacity</a:t>
            </a:r>
            <a:endParaRPr lang="en-US" sz="1400" dirty="0"/>
          </a:p>
        </p:txBody>
      </p:sp>
      <p:sp>
        <p:nvSpPr>
          <p:cNvPr id="20" name="Text 17"/>
          <p:cNvSpPr/>
          <p:nvPr/>
        </p:nvSpPr>
        <p:spPr>
          <a:xfrm>
            <a:off x="7808976" y="5641848"/>
            <a:ext cx="3538728" cy="-73152"/>
          </a:xfrm>
          <a:prstGeom prst="rect">
            <a:avLst/>
          </a:prstGeom>
          <a:noFill/>
          <a:ln/>
        </p:spPr>
        <p:txBody>
          <a:bodyPr wrap="square" lIns="381" tIns="381" rIns="381" bIns="381" rtlCol="0" anchor="t"/>
          <a:lstStyle/>
          <a:p>
            <a:pPr indent="0" marL="0">
              <a:buNone/>
            </a:pPr>
            <a:r>
              <a:rPr lang="en-US" sz="1050" dirty="0">
                <a:solidFill>
                  <a:srgbClr val="66756F"/>
                </a:solidFill>
              </a:rPr>
              <a:t>UI intentionally limits the pool to 2 / 3 / 4 browsers.</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Agentic execution engine</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LangGraph4j is the only step-orchestration engine in the current build</a:t>
            </a:r>
            <a:endParaRPr lang="en-US" sz="1150" dirty="0"/>
          </a:p>
        </p:txBody>
      </p:sp>
      <p:sp>
        <p:nvSpPr>
          <p:cNvPr id="4" name="Shape 2"/>
          <p:cNvSpPr/>
          <p:nvPr/>
        </p:nvSpPr>
        <p:spPr>
          <a:xfrm>
            <a:off x="420624" y="1243584"/>
            <a:ext cx="11320272" cy="4370832"/>
          </a:xfrm>
          <a:prstGeom prst="roundRect">
            <a:avLst/>
          </a:prstGeom>
          <a:solidFill>
            <a:srgbClr val="FFFFFF"/>
          </a:solidFill>
          <a:ln w="12700">
            <a:solidFill>
              <a:srgbClr val="D8E6DF"/>
            </a:solidFill>
            <a:prstDash val="solid"/>
          </a:ln>
          <a:effectLst>
            <a:outerShdw sx="100000" sy="100000" kx="0" ky="0" algn="bl" rotWithShape="0" blurRad="4.9983134226263654e+213" dist="2.749072382444501e+213" dir="1.3094156694929184e+250">
              <a:srgbClr val="000000">
                <a:alpha val="1.4000000000000004e+259"/>
              </a:srgbClr>
            </a:outerShdw>
          </a:effectLst>
        </p:spPr>
      </p:sp>
      <p:pic>
        <p:nvPicPr>
          <p:cNvPr id="5" name="Image 0" descr="/mnt/data/vibium_diagrams/agentic.png">    </p:cNvPr>
          <p:cNvPicPr>
            <a:picLocks noChangeAspect="1"/>
          </p:cNvPicPr>
          <p:nvPr/>
        </p:nvPicPr>
        <p:blipFill>
          <a:blip r:embed="rId1"/>
          <a:stretch>
            <a:fillRect/>
          </a:stretch>
        </p:blipFill>
        <p:spPr>
          <a:xfrm>
            <a:off x="457200" y="2848552"/>
            <a:ext cx="11247120" cy="1160896"/>
          </a:xfrm>
          <a:prstGeom prst="rect">
            <a:avLst/>
          </a:prstGeom>
        </p:spPr>
      </p:pic>
      <p:sp>
        <p:nvSpPr>
          <p:cNvPr id="6" name="Shape 3"/>
          <p:cNvSpPr/>
          <p:nvPr/>
        </p:nvSpPr>
        <p:spPr>
          <a:xfrm>
            <a:off x="777240" y="5532120"/>
            <a:ext cx="10561320" cy="512064"/>
          </a:xfrm>
          <a:prstGeom prst="roundRect">
            <a:avLst/>
          </a:prstGeom>
          <a:solidFill>
            <a:srgbClr val="E9F6F0"/>
          </a:solidFill>
          <a:ln w="12700">
            <a:solidFill>
              <a:srgbClr val="D8E6DF"/>
            </a:solidFill>
            <a:prstDash val="solid"/>
          </a:ln>
        </p:spPr>
      </p:sp>
      <p:sp>
        <p:nvSpPr>
          <p:cNvPr id="7" name="Text 4"/>
          <p:cNvSpPr/>
          <p:nvPr/>
        </p:nvSpPr>
        <p:spPr>
          <a:xfrm>
            <a:off x="960120" y="5687568"/>
            <a:ext cx="10195560" cy="219456"/>
          </a:xfrm>
          <a:prstGeom prst="rect">
            <a:avLst/>
          </a:prstGeom>
          <a:noFill/>
          <a:ln/>
        </p:spPr>
        <p:txBody>
          <a:bodyPr wrap="square" lIns="0" tIns="0" rIns="0" bIns="0" rtlCol="0" anchor="ctr"/>
          <a:lstStyle/>
          <a:p>
            <a:pPr algn="ctr" indent="0" marL="0">
              <a:buNone/>
            </a:pPr>
            <a:r>
              <a:rPr lang="en-US" sz="1080" b="1" dirty="0">
                <a:solidFill>
                  <a:srgbClr val="005B3E"/>
                </a:solidFill>
              </a:rPr>
              <a:t>Two retry levels: step healing retries one failed action • scenario rerun restarts the complete scenario only after it still ends in failure</a:t>
            </a:r>
            <a:endParaRPr lang="en-US" sz="108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Deterministic-first action strategy</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Use exact evidence when the step already tells us what to target</a:t>
            </a:r>
            <a:endParaRPr lang="en-US" sz="1150" dirty="0"/>
          </a:p>
        </p:txBody>
      </p:sp>
      <p:sp>
        <p:nvSpPr>
          <p:cNvPr id="4" name="Shape 2"/>
          <p:cNvSpPr/>
          <p:nvPr/>
        </p:nvSpPr>
        <p:spPr>
          <a:xfrm>
            <a:off x="731520" y="1325880"/>
            <a:ext cx="10607040" cy="658368"/>
          </a:xfrm>
          <a:prstGeom prst="roundRect">
            <a:avLst/>
          </a:prstGeom>
          <a:solidFill>
            <a:srgbClr val="FFFFFF"/>
          </a:solidFill>
          <a:ln w="12700">
            <a:solidFill>
              <a:srgbClr val="D8E6DF"/>
            </a:solidFill>
            <a:prstDash val="solid"/>
          </a:ln>
          <a:effectLst>
            <a:outerShdw sx="100000" sy="100000" kx="0" ky="0" algn="bl" rotWithShape="0" blurRad="6.347858046735484e+217" dist="3.491321925704516e+217" dir="7.85649401695751e+254">
              <a:srgbClr val="000000">
                <a:alpha val="1.4000000000000004e+264"/>
              </a:srgbClr>
            </a:outerShdw>
          </a:effectLst>
        </p:spPr>
      </p:sp>
      <p:sp>
        <p:nvSpPr>
          <p:cNvPr id="5" name="Text 3"/>
          <p:cNvSpPr/>
          <p:nvPr/>
        </p:nvSpPr>
        <p:spPr>
          <a:xfrm>
            <a:off x="914400" y="1508760"/>
            <a:ext cx="365760" cy="201168"/>
          </a:xfrm>
          <a:prstGeom prst="rect">
            <a:avLst/>
          </a:prstGeom>
          <a:noFill/>
          <a:ln/>
        </p:spPr>
        <p:txBody>
          <a:bodyPr wrap="square" lIns="0" tIns="0" rIns="0" bIns="0" rtlCol="0" anchor="ctr"/>
          <a:lstStyle/>
          <a:p>
            <a:pPr indent="0" marL="0">
              <a:buNone/>
            </a:pPr>
            <a:r>
              <a:rPr lang="en-US" sz="1200" b="1" dirty="0">
                <a:solidFill>
                  <a:srgbClr val="007A53"/>
                </a:solidFill>
              </a:rPr>
              <a:t>1</a:t>
            </a:r>
            <a:endParaRPr lang="en-US" sz="1200" dirty="0"/>
          </a:p>
        </p:txBody>
      </p:sp>
      <p:sp>
        <p:nvSpPr>
          <p:cNvPr id="6" name="Text 4"/>
          <p:cNvSpPr/>
          <p:nvPr/>
        </p:nvSpPr>
        <p:spPr>
          <a:xfrm>
            <a:off x="1353312" y="1472184"/>
            <a:ext cx="2743200" cy="237744"/>
          </a:xfrm>
          <a:prstGeom prst="rect">
            <a:avLst/>
          </a:prstGeom>
          <a:noFill/>
          <a:ln/>
        </p:spPr>
        <p:txBody>
          <a:bodyPr wrap="square" lIns="0" tIns="0" rIns="0" bIns="0" rtlCol="0" anchor="ctr"/>
          <a:lstStyle/>
          <a:p>
            <a:pPr indent="0" marL="0">
              <a:buNone/>
            </a:pPr>
            <a:r>
              <a:rPr lang="en-US" sz="1250" b="1" dirty="0">
                <a:solidFill>
                  <a:srgbClr val="18251F"/>
                </a:solidFill>
              </a:rPr>
              <a:t>Explicit XPath / CSS</a:t>
            </a:r>
            <a:endParaRPr lang="en-US" sz="1250" dirty="0"/>
          </a:p>
        </p:txBody>
      </p:sp>
      <p:sp>
        <p:nvSpPr>
          <p:cNvPr id="7" name="Text 5"/>
          <p:cNvSpPr/>
          <p:nvPr/>
        </p:nvSpPr>
        <p:spPr>
          <a:xfrm>
            <a:off x="4160520" y="1481328"/>
            <a:ext cx="6949440" cy="256032"/>
          </a:xfrm>
          <a:prstGeom prst="rect">
            <a:avLst/>
          </a:prstGeom>
          <a:noFill/>
          <a:ln/>
        </p:spPr>
        <p:txBody>
          <a:bodyPr wrap="square" lIns="0" tIns="0" rIns="0" bIns="0" rtlCol="0" anchor="ctr"/>
          <a:lstStyle/>
          <a:p>
            <a:pPr indent="0" marL="0">
              <a:buNone/>
            </a:pPr>
            <a:r>
              <a:rPr lang="en-US" sz="1050" dirty="0">
                <a:solidFill>
                  <a:srgbClr val="66756F"/>
                </a:solidFill>
              </a:rPr>
              <a:t>Resolve against current DOM first</a:t>
            </a:r>
            <a:endParaRPr lang="en-US" sz="1050" dirty="0"/>
          </a:p>
        </p:txBody>
      </p:sp>
      <p:sp>
        <p:nvSpPr>
          <p:cNvPr id="8" name="Shape 6"/>
          <p:cNvSpPr/>
          <p:nvPr/>
        </p:nvSpPr>
        <p:spPr>
          <a:xfrm>
            <a:off x="1078992" y="2240280"/>
            <a:ext cx="9921240" cy="658368"/>
          </a:xfrm>
          <a:prstGeom prst="roundRect">
            <a:avLst/>
          </a:prstGeom>
          <a:solidFill>
            <a:srgbClr val="FFFFFF"/>
          </a:solidFill>
          <a:ln w="12700">
            <a:solidFill>
              <a:srgbClr val="D8E6DF"/>
            </a:solidFill>
            <a:prstDash val="solid"/>
          </a:ln>
          <a:effectLst>
            <a:outerShdw sx="100000" sy="100000" kx="0" ky="0" algn="bl" rotWithShape="0" blurRad="8.061779719354066e+221" dist="4.433978845644736e+221" dir="4.713896410174506e+259">
              <a:srgbClr val="000000">
                <a:alpha val="1.4000000000000005e+269"/>
              </a:srgbClr>
            </a:outerShdw>
          </a:effectLst>
        </p:spPr>
      </p:sp>
      <p:sp>
        <p:nvSpPr>
          <p:cNvPr id="9" name="Text 7"/>
          <p:cNvSpPr/>
          <p:nvPr/>
        </p:nvSpPr>
        <p:spPr>
          <a:xfrm>
            <a:off x="1261872" y="2423160"/>
            <a:ext cx="365760" cy="201168"/>
          </a:xfrm>
          <a:prstGeom prst="rect">
            <a:avLst/>
          </a:prstGeom>
          <a:noFill/>
          <a:ln/>
        </p:spPr>
        <p:txBody>
          <a:bodyPr wrap="square" lIns="0" tIns="0" rIns="0" bIns="0" rtlCol="0" anchor="ctr"/>
          <a:lstStyle/>
          <a:p>
            <a:pPr indent="0" marL="0">
              <a:buNone/>
            </a:pPr>
            <a:r>
              <a:rPr lang="en-US" sz="1200" b="1" dirty="0">
                <a:solidFill>
                  <a:srgbClr val="007A53"/>
                </a:solidFill>
              </a:rPr>
              <a:t>2</a:t>
            </a:r>
            <a:endParaRPr lang="en-US" sz="1200" dirty="0"/>
          </a:p>
        </p:txBody>
      </p:sp>
      <p:sp>
        <p:nvSpPr>
          <p:cNvPr id="10" name="Text 8"/>
          <p:cNvSpPr/>
          <p:nvPr/>
        </p:nvSpPr>
        <p:spPr>
          <a:xfrm>
            <a:off x="1700784" y="2386584"/>
            <a:ext cx="2743200" cy="237744"/>
          </a:xfrm>
          <a:prstGeom prst="rect">
            <a:avLst/>
          </a:prstGeom>
          <a:noFill/>
          <a:ln/>
        </p:spPr>
        <p:txBody>
          <a:bodyPr wrap="square" lIns="0" tIns="0" rIns="0" bIns="0" rtlCol="0" anchor="ctr"/>
          <a:lstStyle/>
          <a:p>
            <a:pPr indent="0" marL="0">
              <a:buNone/>
            </a:pPr>
            <a:r>
              <a:rPr lang="en-US" sz="1250" b="1" dirty="0">
                <a:solidFill>
                  <a:srgbClr val="18251F"/>
                </a:solidFill>
              </a:rPr>
              <a:t>Focused-input / visible text</a:t>
            </a:r>
            <a:endParaRPr lang="en-US" sz="1250" dirty="0"/>
          </a:p>
        </p:txBody>
      </p:sp>
      <p:sp>
        <p:nvSpPr>
          <p:cNvPr id="11" name="Text 9"/>
          <p:cNvSpPr/>
          <p:nvPr/>
        </p:nvSpPr>
        <p:spPr>
          <a:xfrm>
            <a:off x="4507992" y="2395728"/>
            <a:ext cx="6263640" cy="256032"/>
          </a:xfrm>
          <a:prstGeom prst="rect">
            <a:avLst/>
          </a:prstGeom>
          <a:noFill/>
          <a:ln/>
        </p:spPr>
        <p:txBody>
          <a:bodyPr wrap="square" lIns="0" tIns="0" rIns="0" bIns="0" rtlCol="0" anchor="ctr"/>
          <a:lstStyle/>
          <a:p>
            <a:pPr indent="0" marL="0">
              <a:buNone/>
            </a:pPr>
            <a:r>
              <a:rPr lang="en-US" sz="1050" dirty="0">
                <a:solidFill>
                  <a:srgbClr val="66756F"/>
                </a:solidFill>
              </a:rPr>
              <a:t>Use purpose-built deterministic executors</a:t>
            </a:r>
            <a:endParaRPr lang="en-US" sz="1050" dirty="0"/>
          </a:p>
        </p:txBody>
      </p:sp>
      <p:sp>
        <p:nvSpPr>
          <p:cNvPr id="12" name="Shape 10"/>
          <p:cNvSpPr/>
          <p:nvPr/>
        </p:nvSpPr>
        <p:spPr>
          <a:xfrm>
            <a:off x="1426464" y="3154680"/>
            <a:ext cx="9235440" cy="658368"/>
          </a:xfrm>
          <a:prstGeom prst="roundRect">
            <a:avLst/>
          </a:prstGeom>
          <a:solidFill>
            <a:srgbClr val="FFFFFF"/>
          </a:solidFill>
          <a:ln w="12700">
            <a:solidFill>
              <a:srgbClr val="D8E6DF"/>
            </a:solidFill>
            <a:prstDash val="solid"/>
          </a:ln>
        </p:spPr>
      </p:sp>
      <p:sp>
        <p:nvSpPr>
          <p:cNvPr id="13" name="Text 11"/>
          <p:cNvSpPr/>
          <p:nvPr/>
        </p:nvSpPr>
        <p:spPr>
          <a:xfrm>
            <a:off x="1609344" y="3337560"/>
            <a:ext cx="365760" cy="201168"/>
          </a:xfrm>
          <a:prstGeom prst="rect">
            <a:avLst/>
          </a:prstGeom>
          <a:noFill/>
          <a:ln/>
        </p:spPr>
        <p:txBody>
          <a:bodyPr wrap="square" lIns="0" tIns="0" rIns="0" bIns="0" rtlCol="0" anchor="ctr"/>
          <a:lstStyle/>
          <a:p>
            <a:pPr indent="0" marL="0">
              <a:buNone/>
            </a:pPr>
            <a:r>
              <a:rPr lang="en-US" sz="1200" b="1" dirty="0">
                <a:solidFill>
                  <a:srgbClr val="007A53"/>
                </a:solidFill>
              </a:rPr>
              <a:t>3</a:t>
            </a:r>
            <a:endParaRPr lang="en-US" sz="1200" dirty="0"/>
          </a:p>
        </p:txBody>
      </p:sp>
      <p:sp>
        <p:nvSpPr>
          <p:cNvPr id="14" name="Text 12"/>
          <p:cNvSpPr/>
          <p:nvPr/>
        </p:nvSpPr>
        <p:spPr>
          <a:xfrm>
            <a:off x="2048256" y="3300984"/>
            <a:ext cx="2743200" cy="237744"/>
          </a:xfrm>
          <a:prstGeom prst="rect">
            <a:avLst/>
          </a:prstGeom>
          <a:noFill/>
          <a:ln/>
        </p:spPr>
        <p:txBody>
          <a:bodyPr wrap="square" lIns="0" tIns="0" rIns="0" bIns="0" rtlCol="0" anchor="ctr"/>
          <a:lstStyle/>
          <a:p>
            <a:pPr indent="0" marL="0">
              <a:buNone/>
            </a:pPr>
            <a:r>
              <a:rPr lang="en-US" sz="1250" b="1" dirty="0">
                <a:solidFill>
                  <a:srgbClr val="18251F"/>
                </a:solidFill>
              </a:rPr>
              <a:t>Enterprise dropdown flow</a:t>
            </a:r>
            <a:endParaRPr lang="en-US" sz="1250" dirty="0"/>
          </a:p>
        </p:txBody>
      </p:sp>
      <p:sp>
        <p:nvSpPr>
          <p:cNvPr id="15" name="Text 13"/>
          <p:cNvSpPr/>
          <p:nvPr/>
        </p:nvSpPr>
        <p:spPr>
          <a:xfrm>
            <a:off x="4855464" y="3310128"/>
            <a:ext cx="5577840" cy="256032"/>
          </a:xfrm>
          <a:prstGeom prst="rect">
            <a:avLst/>
          </a:prstGeom>
          <a:noFill/>
          <a:ln/>
        </p:spPr>
        <p:txBody>
          <a:bodyPr wrap="square" lIns="0" tIns="0" rIns="0" bIns="0" rtlCol="0" anchor="ctr"/>
          <a:lstStyle/>
          <a:p>
            <a:pPr indent="0" marL="0">
              <a:buNone/>
            </a:pPr>
            <a:r>
              <a:rPr lang="en-US" sz="1050" dirty="0">
                <a:solidFill>
                  <a:srgbClr val="66756F"/>
                </a:solidFill>
              </a:rPr>
              <a:t>Open → re-observe → select → verify</a:t>
            </a:r>
            <a:endParaRPr lang="en-US" sz="1050" dirty="0"/>
          </a:p>
        </p:txBody>
      </p:sp>
      <p:sp>
        <p:nvSpPr>
          <p:cNvPr id="16" name="Shape 14"/>
          <p:cNvSpPr/>
          <p:nvPr/>
        </p:nvSpPr>
        <p:spPr>
          <a:xfrm>
            <a:off x="1773936" y="4069080"/>
            <a:ext cx="8549640" cy="658368"/>
          </a:xfrm>
          <a:prstGeom prst="roundRect">
            <a:avLst/>
          </a:prstGeom>
          <a:solidFill>
            <a:srgbClr val="E9F6F0"/>
          </a:solidFill>
          <a:ln w="12700">
            <a:solidFill>
              <a:srgbClr val="D8E6DF"/>
            </a:solidFill>
            <a:prstDash val="solid"/>
          </a:ln>
        </p:spPr>
      </p:sp>
      <p:sp>
        <p:nvSpPr>
          <p:cNvPr id="17" name="Text 15"/>
          <p:cNvSpPr/>
          <p:nvPr/>
        </p:nvSpPr>
        <p:spPr>
          <a:xfrm>
            <a:off x="1956816" y="4251960"/>
            <a:ext cx="365760" cy="201168"/>
          </a:xfrm>
          <a:prstGeom prst="rect">
            <a:avLst/>
          </a:prstGeom>
          <a:noFill/>
          <a:ln/>
        </p:spPr>
        <p:txBody>
          <a:bodyPr wrap="square" lIns="0" tIns="0" rIns="0" bIns="0" rtlCol="0" anchor="ctr"/>
          <a:lstStyle/>
          <a:p>
            <a:pPr indent="0" marL="0">
              <a:buNone/>
            </a:pPr>
            <a:r>
              <a:rPr lang="en-US" sz="1200" b="1" dirty="0">
                <a:solidFill>
                  <a:srgbClr val="007A53"/>
                </a:solidFill>
              </a:rPr>
              <a:t>4</a:t>
            </a:r>
            <a:endParaRPr lang="en-US" sz="1200" dirty="0"/>
          </a:p>
        </p:txBody>
      </p:sp>
      <p:sp>
        <p:nvSpPr>
          <p:cNvPr id="18" name="Text 16"/>
          <p:cNvSpPr/>
          <p:nvPr/>
        </p:nvSpPr>
        <p:spPr>
          <a:xfrm>
            <a:off x="2395728" y="4215384"/>
            <a:ext cx="2743200" cy="237744"/>
          </a:xfrm>
          <a:prstGeom prst="rect">
            <a:avLst/>
          </a:prstGeom>
          <a:noFill/>
          <a:ln/>
        </p:spPr>
        <p:txBody>
          <a:bodyPr wrap="square" lIns="0" tIns="0" rIns="0" bIns="0" rtlCol="0" anchor="ctr"/>
          <a:lstStyle/>
          <a:p>
            <a:pPr indent="0" marL="0">
              <a:buNone/>
            </a:pPr>
            <a:r>
              <a:rPr lang="en-US" sz="1250" b="1" dirty="0">
                <a:solidFill>
                  <a:srgbClr val="18251F"/>
                </a:solidFill>
              </a:rPr>
              <a:t>Vibium page map / semantic refs</a:t>
            </a:r>
            <a:endParaRPr lang="en-US" sz="1250" dirty="0"/>
          </a:p>
        </p:txBody>
      </p:sp>
      <p:sp>
        <p:nvSpPr>
          <p:cNvPr id="19" name="Text 17"/>
          <p:cNvSpPr/>
          <p:nvPr/>
        </p:nvSpPr>
        <p:spPr>
          <a:xfrm>
            <a:off x="5202936" y="4224528"/>
            <a:ext cx="4892040" cy="256032"/>
          </a:xfrm>
          <a:prstGeom prst="rect">
            <a:avLst/>
          </a:prstGeom>
          <a:noFill/>
          <a:ln/>
        </p:spPr>
        <p:txBody>
          <a:bodyPr wrap="square" lIns="0" tIns="0" rIns="0" bIns="0" rtlCol="0" anchor="ctr"/>
          <a:lstStyle/>
          <a:p>
            <a:pPr indent="0" marL="0">
              <a:buNone/>
            </a:pPr>
            <a:r>
              <a:rPr lang="en-US" sz="1050" dirty="0">
                <a:solidFill>
                  <a:srgbClr val="66756F"/>
                </a:solidFill>
              </a:rPr>
              <a:t>Use live mapped element references</a:t>
            </a:r>
            <a:endParaRPr lang="en-US" sz="1050" dirty="0"/>
          </a:p>
        </p:txBody>
      </p:sp>
      <p:sp>
        <p:nvSpPr>
          <p:cNvPr id="20" name="Shape 18"/>
          <p:cNvSpPr/>
          <p:nvPr/>
        </p:nvSpPr>
        <p:spPr>
          <a:xfrm>
            <a:off x="2121408" y="4983480"/>
            <a:ext cx="7863840" cy="658368"/>
          </a:xfrm>
          <a:prstGeom prst="roundRect">
            <a:avLst/>
          </a:prstGeom>
          <a:solidFill>
            <a:srgbClr val="DFF3E9"/>
          </a:solidFill>
          <a:ln w="12700">
            <a:solidFill>
              <a:srgbClr val="D8E6DF"/>
            </a:solidFill>
            <a:prstDash val="solid"/>
          </a:ln>
        </p:spPr>
      </p:sp>
      <p:sp>
        <p:nvSpPr>
          <p:cNvPr id="21" name="Text 19"/>
          <p:cNvSpPr/>
          <p:nvPr/>
        </p:nvSpPr>
        <p:spPr>
          <a:xfrm>
            <a:off x="2304288" y="5166360"/>
            <a:ext cx="365760" cy="201168"/>
          </a:xfrm>
          <a:prstGeom prst="rect">
            <a:avLst/>
          </a:prstGeom>
          <a:noFill/>
          <a:ln/>
        </p:spPr>
        <p:txBody>
          <a:bodyPr wrap="square" lIns="0" tIns="0" rIns="0" bIns="0" rtlCol="0" anchor="ctr"/>
          <a:lstStyle/>
          <a:p>
            <a:pPr indent="0" marL="0">
              <a:buNone/>
            </a:pPr>
            <a:r>
              <a:rPr lang="en-US" sz="1200" b="1" dirty="0">
                <a:solidFill>
                  <a:srgbClr val="007A53"/>
                </a:solidFill>
              </a:rPr>
              <a:t>5</a:t>
            </a:r>
            <a:endParaRPr lang="en-US" sz="1200" dirty="0"/>
          </a:p>
        </p:txBody>
      </p:sp>
      <p:sp>
        <p:nvSpPr>
          <p:cNvPr id="22" name="Text 20"/>
          <p:cNvSpPr/>
          <p:nvPr/>
        </p:nvSpPr>
        <p:spPr>
          <a:xfrm>
            <a:off x="2743200" y="5129784"/>
            <a:ext cx="2743200" cy="237744"/>
          </a:xfrm>
          <a:prstGeom prst="rect">
            <a:avLst/>
          </a:prstGeom>
          <a:noFill/>
          <a:ln/>
        </p:spPr>
        <p:txBody>
          <a:bodyPr wrap="square" lIns="0" tIns="0" rIns="0" bIns="0" rtlCol="0" anchor="ctr"/>
          <a:lstStyle/>
          <a:p>
            <a:pPr indent="0" marL="0">
              <a:buNone/>
            </a:pPr>
            <a:r>
              <a:rPr lang="en-US" sz="1250" b="1" dirty="0">
                <a:solidFill>
                  <a:srgbClr val="18251F"/>
                </a:solidFill>
              </a:rPr>
              <a:t>LLM plan</a:t>
            </a:r>
            <a:endParaRPr lang="en-US" sz="1250" dirty="0"/>
          </a:p>
        </p:txBody>
      </p:sp>
      <p:sp>
        <p:nvSpPr>
          <p:cNvPr id="23" name="Text 21"/>
          <p:cNvSpPr/>
          <p:nvPr/>
        </p:nvSpPr>
        <p:spPr>
          <a:xfrm>
            <a:off x="5550408" y="5138928"/>
            <a:ext cx="4206240" cy="256032"/>
          </a:xfrm>
          <a:prstGeom prst="rect">
            <a:avLst/>
          </a:prstGeom>
          <a:noFill/>
          <a:ln/>
        </p:spPr>
        <p:txBody>
          <a:bodyPr wrap="square" lIns="0" tIns="0" rIns="0" bIns="0" rtlCol="0" anchor="ctr"/>
          <a:lstStyle/>
          <a:p>
            <a:pPr indent="0" marL="0">
              <a:buNone/>
            </a:pPr>
            <a:r>
              <a:rPr lang="en-US" sz="1050" dirty="0">
                <a:solidFill>
                  <a:srgbClr val="66756F"/>
                </a:solidFill>
              </a:rPr>
              <a:t>Only when the instruction needs reasoning or recovery</a:t>
            </a:r>
            <a:endParaRPr lang="en-US" sz="1050" dirty="0"/>
          </a:p>
        </p:txBody>
      </p:sp>
      <p:sp>
        <p:nvSpPr>
          <p:cNvPr id="24" name="Text 22"/>
          <p:cNvSpPr/>
          <p:nvPr/>
        </p:nvSpPr>
        <p:spPr>
          <a:xfrm>
            <a:off x="1143000" y="6053328"/>
            <a:ext cx="9875520" cy="256032"/>
          </a:xfrm>
          <a:prstGeom prst="rect">
            <a:avLst/>
          </a:prstGeom>
          <a:noFill/>
          <a:ln/>
        </p:spPr>
        <p:txBody>
          <a:bodyPr wrap="square" lIns="0" tIns="0" rIns="0" bIns="0" rtlCol="0" anchor="ctr"/>
          <a:lstStyle/>
          <a:p>
            <a:pPr algn="ctr" indent="0" marL="0">
              <a:buNone/>
            </a:pPr>
            <a:r>
              <a:rPr lang="en-US" sz="1150" b="1" dirty="0">
                <a:solidFill>
                  <a:srgbClr val="005B3E"/>
                </a:solidFill>
              </a:rPr>
              <a:t>Result: recorder-generated or hand-authored exact locators are not needlessly “reinterpreted” by the LLM.</a:t>
            </a:r>
            <a:endParaRPr lang="en-US" sz="11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Self-healing behavior</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Recovery must be evidence-driven and materially different from the failed strategy</a:t>
            </a:r>
            <a:endParaRPr lang="en-US" sz="1150" dirty="0"/>
          </a:p>
        </p:txBody>
      </p:sp>
      <p:sp>
        <p:nvSpPr>
          <p:cNvPr id="4" name="Shape 2"/>
          <p:cNvSpPr/>
          <p:nvPr/>
        </p:nvSpPr>
        <p:spPr>
          <a:xfrm>
            <a:off x="594360" y="132588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1.0238460243579663e+226" dist="5.6311531339688144e+225" dir="2.8283378461047036e+264">
              <a:srgbClr val="000000">
                <a:alpha val="1.4000000000000004e+274"/>
              </a:srgbClr>
            </a:outerShdw>
          </a:effectLst>
        </p:spPr>
      </p:sp>
      <p:sp>
        <p:nvSpPr>
          <p:cNvPr id="5" name="Shape 3"/>
          <p:cNvSpPr/>
          <p:nvPr/>
        </p:nvSpPr>
        <p:spPr>
          <a:xfrm>
            <a:off x="795528" y="1527048"/>
            <a:ext cx="384048" cy="384048"/>
          </a:xfrm>
          <a:prstGeom prst="ellipse">
            <a:avLst/>
          </a:prstGeom>
          <a:solidFill>
            <a:srgbClr val="E9F6F0"/>
          </a:solidFill>
          <a:ln w="12700">
            <a:solidFill>
              <a:srgbClr val="E9F6F0"/>
            </a:solidFill>
            <a:prstDash val="solid"/>
          </a:ln>
        </p:spPr>
      </p:sp>
      <p:sp>
        <p:nvSpPr>
          <p:cNvPr id="6" name="Text 4"/>
          <p:cNvSpPr/>
          <p:nvPr/>
        </p:nvSpPr>
        <p:spPr>
          <a:xfrm>
            <a:off x="79552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1</a:t>
            </a:r>
            <a:endParaRPr lang="en-US" sz="1100" dirty="0"/>
          </a:p>
        </p:txBody>
      </p:sp>
      <p:sp>
        <p:nvSpPr>
          <p:cNvPr id="7" name="Text 5"/>
          <p:cNvSpPr/>
          <p:nvPr/>
        </p:nvSpPr>
        <p:spPr>
          <a:xfrm>
            <a:off x="1289304" y="150876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Fresh observation</a:t>
            </a:r>
            <a:endParaRPr lang="en-US" sz="1400" dirty="0"/>
          </a:p>
        </p:txBody>
      </p:sp>
      <p:sp>
        <p:nvSpPr>
          <p:cNvPr id="8" name="Text 6"/>
          <p:cNvSpPr/>
          <p:nvPr/>
        </p:nvSpPr>
        <p:spPr>
          <a:xfrm>
            <a:off x="813816" y="189280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Re-read DOM/page map/text after failure rather than healing from stale context.</a:t>
            </a:r>
            <a:endParaRPr lang="en-US" sz="1050" dirty="0"/>
          </a:p>
        </p:txBody>
      </p:sp>
      <p:sp>
        <p:nvSpPr>
          <p:cNvPr id="9" name="Shape 7"/>
          <p:cNvSpPr/>
          <p:nvPr/>
        </p:nvSpPr>
        <p:spPr>
          <a:xfrm>
            <a:off x="4416552" y="132588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1.3002844509346172e+230" dist="7.151564480140394e+229" dir="1.6970027076628222e+269">
              <a:srgbClr val="000000">
                <a:alpha val="1.4000000000000004e+279"/>
              </a:srgbClr>
            </a:outerShdw>
          </a:effectLst>
        </p:spPr>
      </p:sp>
      <p:sp>
        <p:nvSpPr>
          <p:cNvPr id="10" name="Shape 8"/>
          <p:cNvSpPr/>
          <p:nvPr/>
        </p:nvSpPr>
        <p:spPr>
          <a:xfrm>
            <a:off x="4617720" y="1527048"/>
            <a:ext cx="384048" cy="384048"/>
          </a:xfrm>
          <a:prstGeom prst="ellipse">
            <a:avLst/>
          </a:prstGeom>
          <a:solidFill>
            <a:srgbClr val="E9F6F0"/>
          </a:solidFill>
          <a:ln w="12700">
            <a:solidFill>
              <a:srgbClr val="E9F6F0"/>
            </a:solidFill>
            <a:prstDash val="solid"/>
          </a:ln>
        </p:spPr>
      </p:sp>
      <p:sp>
        <p:nvSpPr>
          <p:cNvPr id="11" name="Text 9"/>
          <p:cNvSpPr/>
          <p:nvPr/>
        </p:nvSpPr>
        <p:spPr>
          <a:xfrm>
            <a:off x="4617720"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2</a:t>
            </a:r>
            <a:endParaRPr lang="en-US" sz="1100" dirty="0"/>
          </a:p>
        </p:txBody>
      </p:sp>
      <p:sp>
        <p:nvSpPr>
          <p:cNvPr id="12" name="Text 10"/>
          <p:cNvSpPr/>
          <p:nvPr/>
        </p:nvSpPr>
        <p:spPr>
          <a:xfrm>
            <a:off x="5111496" y="150876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Ranked candidates</a:t>
            </a:r>
            <a:endParaRPr lang="en-US" sz="1400" dirty="0"/>
          </a:p>
        </p:txBody>
      </p:sp>
      <p:sp>
        <p:nvSpPr>
          <p:cNvPr id="13" name="Text 11"/>
          <p:cNvSpPr/>
          <p:nvPr/>
        </p:nvSpPr>
        <p:spPr>
          <a:xfrm>
            <a:off x="4636008" y="189280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Consider accessible names, refs, selectors, ancestors, visibility and hit-test evidence.</a:t>
            </a:r>
            <a:endParaRPr lang="en-US" sz="1050" dirty="0"/>
          </a:p>
        </p:txBody>
      </p:sp>
      <p:sp>
        <p:nvSpPr>
          <p:cNvPr id="14" name="Shape 12"/>
          <p:cNvSpPr/>
          <p:nvPr/>
        </p:nvSpPr>
        <p:spPr>
          <a:xfrm>
            <a:off x="8238744" y="132588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1.6513612526869638e+234" dist="9.082486889778301e+233" dir="1.0182016245976934e+274">
              <a:srgbClr val="000000">
                <a:alpha val="1.4000000000000003e+284"/>
              </a:srgbClr>
            </a:outerShdw>
          </a:effectLst>
        </p:spPr>
      </p:sp>
      <p:sp>
        <p:nvSpPr>
          <p:cNvPr id="15" name="Shape 13"/>
          <p:cNvSpPr/>
          <p:nvPr/>
        </p:nvSpPr>
        <p:spPr>
          <a:xfrm>
            <a:off x="8439912" y="1527048"/>
            <a:ext cx="384048" cy="384048"/>
          </a:xfrm>
          <a:prstGeom prst="ellipse">
            <a:avLst/>
          </a:prstGeom>
          <a:solidFill>
            <a:srgbClr val="E9F6F0"/>
          </a:solidFill>
          <a:ln w="12700">
            <a:solidFill>
              <a:srgbClr val="E9F6F0"/>
            </a:solidFill>
            <a:prstDash val="solid"/>
          </a:ln>
        </p:spPr>
      </p:sp>
      <p:sp>
        <p:nvSpPr>
          <p:cNvPr id="16" name="Text 14"/>
          <p:cNvSpPr/>
          <p:nvPr/>
        </p:nvSpPr>
        <p:spPr>
          <a:xfrm>
            <a:off x="8439912"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3</a:t>
            </a:r>
            <a:endParaRPr lang="en-US" sz="1100" dirty="0"/>
          </a:p>
        </p:txBody>
      </p:sp>
      <p:sp>
        <p:nvSpPr>
          <p:cNvPr id="17" name="Text 15"/>
          <p:cNvSpPr/>
          <p:nvPr/>
        </p:nvSpPr>
        <p:spPr>
          <a:xfrm>
            <a:off x="8933688" y="150876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Different strategy</a:t>
            </a:r>
            <a:endParaRPr lang="en-US" sz="1400" dirty="0"/>
          </a:p>
        </p:txBody>
      </p:sp>
      <p:sp>
        <p:nvSpPr>
          <p:cNvPr id="18" name="Text 16"/>
          <p:cNvSpPr/>
          <p:nvPr/>
        </p:nvSpPr>
        <p:spPr>
          <a:xfrm>
            <a:off x="8458200" y="189280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Healing prompt explicitly tells the model not to repeat the same failed selector or strategy.</a:t>
            </a:r>
            <a:endParaRPr lang="en-US" sz="1050" dirty="0"/>
          </a:p>
        </p:txBody>
      </p:sp>
      <p:sp>
        <p:nvSpPr>
          <p:cNvPr id="19" name="Shape 17"/>
          <p:cNvSpPr/>
          <p:nvPr/>
        </p:nvSpPr>
        <p:spPr>
          <a:xfrm>
            <a:off x="594360" y="347472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2.097228790912444e+238" dist="1.1534758350018443e+238" dir="6.10920974758616e+278">
              <a:srgbClr val="000000">
                <a:alpha val="1.4000000000000004e+289"/>
              </a:srgbClr>
            </a:outerShdw>
          </a:effectLst>
        </p:spPr>
      </p:sp>
      <p:sp>
        <p:nvSpPr>
          <p:cNvPr id="20" name="Shape 18"/>
          <p:cNvSpPr/>
          <p:nvPr/>
        </p:nvSpPr>
        <p:spPr>
          <a:xfrm>
            <a:off x="795528" y="3675888"/>
            <a:ext cx="384048" cy="384048"/>
          </a:xfrm>
          <a:prstGeom prst="ellipse">
            <a:avLst/>
          </a:prstGeom>
          <a:solidFill>
            <a:srgbClr val="E9F6F0"/>
          </a:solidFill>
          <a:ln w="12700">
            <a:solidFill>
              <a:srgbClr val="E9F6F0"/>
            </a:solidFill>
            <a:prstDash val="solid"/>
          </a:ln>
        </p:spPr>
      </p:sp>
      <p:sp>
        <p:nvSpPr>
          <p:cNvPr id="21" name="Text 19"/>
          <p:cNvSpPr/>
          <p:nvPr/>
        </p:nvSpPr>
        <p:spPr>
          <a:xfrm>
            <a:off x="795528" y="37444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4</a:t>
            </a:r>
            <a:endParaRPr lang="en-US" sz="1100" dirty="0"/>
          </a:p>
        </p:txBody>
      </p:sp>
      <p:sp>
        <p:nvSpPr>
          <p:cNvPr id="22" name="Text 20"/>
          <p:cNvSpPr/>
          <p:nvPr/>
        </p:nvSpPr>
        <p:spPr>
          <a:xfrm>
            <a:off x="1289304" y="365760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Confidence gate</a:t>
            </a:r>
            <a:endParaRPr lang="en-US" sz="1400" dirty="0"/>
          </a:p>
        </p:txBody>
      </p:sp>
      <p:sp>
        <p:nvSpPr>
          <p:cNvPr id="23" name="Text 21"/>
          <p:cNvSpPr/>
          <p:nvPr/>
        </p:nvSpPr>
        <p:spPr>
          <a:xfrm>
            <a:off x="813816" y="404164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Healing plan must meet the configured confidence threshold before execution.</a:t>
            </a:r>
            <a:endParaRPr lang="en-US" sz="1050" dirty="0"/>
          </a:p>
        </p:txBody>
      </p:sp>
      <p:sp>
        <p:nvSpPr>
          <p:cNvPr id="24" name="Shape 22"/>
          <p:cNvSpPr/>
          <p:nvPr/>
        </p:nvSpPr>
        <p:spPr>
          <a:xfrm>
            <a:off x="4416552" y="347472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2.663480564458804e+242" dist="1.4649143104523423e+242" dir="3.6655258485516963e+283">
              <a:srgbClr val="000000">
                <a:alpha val="1.4000000000000005e+294"/>
              </a:srgbClr>
            </a:outerShdw>
          </a:effectLst>
        </p:spPr>
      </p:sp>
      <p:sp>
        <p:nvSpPr>
          <p:cNvPr id="25" name="Shape 23"/>
          <p:cNvSpPr/>
          <p:nvPr/>
        </p:nvSpPr>
        <p:spPr>
          <a:xfrm>
            <a:off x="4617720" y="3675888"/>
            <a:ext cx="384048" cy="384048"/>
          </a:xfrm>
          <a:prstGeom prst="ellipse">
            <a:avLst/>
          </a:prstGeom>
          <a:solidFill>
            <a:srgbClr val="E9F6F0"/>
          </a:solidFill>
          <a:ln w="12700">
            <a:solidFill>
              <a:srgbClr val="E9F6F0"/>
            </a:solidFill>
            <a:prstDash val="solid"/>
          </a:ln>
        </p:spPr>
      </p:sp>
      <p:sp>
        <p:nvSpPr>
          <p:cNvPr id="26" name="Text 24"/>
          <p:cNvSpPr/>
          <p:nvPr/>
        </p:nvSpPr>
        <p:spPr>
          <a:xfrm>
            <a:off x="4617720" y="37444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5</a:t>
            </a:r>
            <a:endParaRPr lang="en-US" sz="1100" dirty="0"/>
          </a:p>
        </p:txBody>
      </p:sp>
      <p:sp>
        <p:nvSpPr>
          <p:cNvPr id="27" name="Text 25"/>
          <p:cNvSpPr/>
          <p:nvPr/>
        </p:nvSpPr>
        <p:spPr>
          <a:xfrm>
            <a:off x="5111496" y="365760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Bounded retries</a:t>
            </a:r>
            <a:endParaRPr lang="en-US" sz="1400" dirty="0"/>
          </a:p>
        </p:txBody>
      </p:sp>
      <p:sp>
        <p:nvSpPr>
          <p:cNvPr id="28" name="Text 26"/>
          <p:cNvSpPr/>
          <p:nvPr/>
        </p:nvSpPr>
        <p:spPr>
          <a:xfrm>
            <a:off x="4636008" y="404164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retryCount limits step-level healing; maxAgentTurns limits the graph.</a:t>
            </a:r>
            <a:endParaRPr lang="en-US" sz="1050" dirty="0"/>
          </a:p>
        </p:txBody>
      </p:sp>
      <p:sp>
        <p:nvSpPr>
          <p:cNvPr id="29" name="Shape 27"/>
          <p:cNvSpPr/>
          <p:nvPr/>
        </p:nvSpPr>
        <p:spPr>
          <a:xfrm>
            <a:off x="8238744" y="347472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3.3826203168626813e+246" dist="1.860441174274475e+246" dir="2.1993155091310177e+288">
              <a:srgbClr val="000000">
                <a:alpha val="1.4000000000000004e+299"/>
              </a:srgbClr>
            </a:outerShdw>
          </a:effectLst>
        </p:spPr>
      </p:sp>
      <p:sp>
        <p:nvSpPr>
          <p:cNvPr id="30" name="Shape 28"/>
          <p:cNvSpPr/>
          <p:nvPr/>
        </p:nvSpPr>
        <p:spPr>
          <a:xfrm>
            <a:off x="8439912" y="3675888"/>
            <a:ext cx="384048" cy="384048"/>
          </a:xfrm>
          <a:prstGeom prst="ellipse">
            <a:avLst/>
          </a:prstGeom>
          <a:solidFill>
            <a:srgbClr val="E9F6F0"/>
          </a:solidFill>
          <a:ln w="12700">
            <a:solidFill>
              <a:srgbClr val="E9F6F0"/>
            </a:solidFill>
            <a:prstDash val="solid"/>
          </a:ln>
        </p:spPr>
      </p:sp>
      <p:sp>
        <p:nvSpPr>
          <p:cNvPr id="31" name="Text 29"/>
          <p:cNvSpPr/>
          <p:nvPr/>
        </p:nvSpPr>
        <p:spPr>
          <a:xfrm>
            <a:off x="8439912" y="37444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6</a:t>
            </a:r>
            <a:endParaRPr lang="en-US" sz="1100" dirty="0"/>
          </a:p>
        </p:txBody>
      </p:sp>
      <p:sp>
        <p:nvSpPr>
          <p:cNvPr id="32" name="Text 30"/>
          <p:cNvSpPr/>
          <p:nvPr/>
        </p:nvSpPr>
        <p:spPr>
          <a:xfrm>
            <a:off x="8933688" y="365760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No browser restart</a:t>
            </a:r>
            <a:endParaRPr lang="en-US" sz="1400" dirty="0"/>
          </a:p>
        </p:txBody>
      </p:sp>
      <p:sp>
        <p:nvSpPr>
          <p:cNvPr id="33" name="Text 31"/>
          <p:cNvSpPr/>
          <p:nvPr/>
        </p:nvSpPr>
        <p:spPr>
          <a:xfrm>
            <a:off x="8458200" y="404164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Self-healing is prohibited from calling browser_start.</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Evidence and validation</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A tool returning success is not enough to mark a step as passed</a:t>
            </a:r>
            <a:endParaRPr lang="en-US" sz="1150" dirty="0"/>
          </a:p>
        </p:txBody>
      </p:sp>
      <p:sp>
        <p:nvSpPr>
          <p:cNvPr id="4" name="Shape 2"/>
          <p:cNvSpPr/>
          <p:nvPr/>
        </p:nvSpPr>
        <p:spPr>
          <a:xfrm>
            <a:off x="685800" y="1417320"/>
            <a:ext cx="3703320" cy="4251960"/>
          </a:xfrm>
          <a:prstGeom prst="roundRect">
            <a:avLst/>
          </a:prstGeom>
          <a:solidFill>
            <a:srgbClr val="FFFFFF"/>
          </a:solidFill>
          <a:ln w="12700">
            <a:solidFill>
              <a:srgbClr val="D8E6DF"/>
            </a:solidFill>
            <a:prstDash val="solid"/>
          </a:ln>
          <a:effectLst>
            <a:outerShdw sx="100000" sy="100000" kx="0" ky="0" algn="bl" rotWithShape="0" blurRad="4.295927802415605e+250" dist="2.3627602913285833e+250" dir="1.3195893054786106e+293">
              <a:srgbClr val="000000">
                <a:alpha val="1.4000000000000003e+304"/>
              </a:srgbClr>
            </a:outerShdw>
          </a:effectLst>
        </p:spPr>
      </p:sp>
      <p:sp>
        <p:nvSpPr>
          <p:cNvPr id="5" name="Text 3"/>
          <p:cNvSpPr/>
          <p:nvPr/>
        </p:nvSpPr>
        <p:spPr>
          <a:xfrm>
            <a:off x="960120" y="1737360"/>
            <a:ext cx="3108960" cy="320040"/>
          </a:xfrm>
          <a:prstGeom prst="rect">
            <a:avLst/>
          </a:prstGeom>
          <a:noFill/>
          <a:ln/>
        </p:spPr>
        <p:txBody>
          <a:bodyPr wrap="square" lIns="0" tIns="0" rIns="0" bIns="0" rtlCol="0" anchor="ctr"/>
          <a:lstStyle/>
          <a:p>
            <a:pPr indent="0" marL="0">
              <a:buNone/>
            </a:pPr>
            <a:r>
              <a:rPr lang="en-US" sz="1700" b="1" dirty="0">
                <a:solidFill>
                  <a:srgbClr val="007A53"/>
                </a:solidFill>
              </a:rPr>
              <a:t>What may be checked</a:t>
            </a:r>
            <a:endParaRPr lang="en-US" sz="1700" dirty="0"/>
          </a:p>
        </p:txBody>
      </p:sp>
      <p:sp>
        <p:nvSpPr>
          <p:cNvPr id="6" name="Text 4"/>
          <p:cNvSpPr/>
          <p:nvPr/>
        </p:nvSpPr>
        <p:spPr>
          <a:xfrm>
            <a:off x="960120" y="2240280"/>
            <a:ext cx="2971800" cy="2651760"/>
          </a:xfrm>
          <a:prstGeom prst="rect">
            <a:avLst/>
          </a:prstGeom>
          <a:noFill/>
          <a:ln/>
        </p:spPr>
        <p:txBody>
          <a:bodyPr wrap="square" lIns="254" tIns="254" rIns="254" bIns="254" rtlCol="0" anchor="t"/>
          <a:lstStyle/>
          <a:p>
            <a:pPr marL="203200" indent="-203200">
              <a:buSzPct val="100000"/>
              <a:buChar char="•"/>
            </a:pPr>
            <a:r>
              <a:rPr lang="en-US" sz="1220" dirty="0">
                <a:solidFill>
                  <a:srgbClr val="18251F"/>
                </a:solidFill>
                <a:latin typeface="Noto Sans" pitchFamily="34" charset="0"/>
                <a:ea typeface="Noto Sans" pitchFamily="34" charset="-122"/>
                <a:cs typeface="Noto Sans" pitchFamily="34" charset="-120"/>
              </a:rPr>
              <a:t>URL or navigation state</a:t>
            </a:r>
            <a:endParaRPr lang="en-US" sz="1220" dirty="0"/>
          </a:p>
          <a:p>
            <a:pPr marL="203200" indent="-203200">
              <a:buSzPct val="100000"/>
              <a:buChar char="•"/>
            </a:pPr>
            <a:r>
              <a:rPr lang="en-US" sz="1220" dirty="0">
                <a:solidFill>
                  <a:srgbClr val="18251F"/>
                </a:solidFill>
                <a:latin typeface="Noto Sans" pitchFamily="34" charset="0"/>
                <a:ea typeface="Noto Sans" pitchFamily="34" charset="-122"/>
                <a:cs typeface="Noto Sans" pitchFamily="34" charset="-120"/>
              </a:rPr>
              <a:t>Current DOM / element state</a:t>
            </a:r>
            <a:endParaRPr lang="en-US" sz="1220" dirty="0"/>
          </a:p>
          <a:p>
            <a:pPr marL="203200" indent="-203200">
              <a:buSzPct val="100000"/>
              <a:buChar char="•"/>
            </a:pPr>
            <a:r>
              <a:rPr lang="en-US" sz="1220" dirty="0">
                <a:solidFill>
                  <a:srgbClr val="18251F"/>
                </a:solidFill>
                <a:latin typeface="Noto Sans" pitchFamily="34" charset="0"/>
                <a:ea typeface="Noto Sans" pitchFamily="34" charset="-122"/>
                <a:cs typeface="Noto Sans" pitchFamily="34" charset="-120"/>
              </a:rPr>
              <a:t>Visible text/content</a:t>
            </a:r>
            <a:endParaRPr lang="en-US" sz="1220" dirty="0"/>
          </a:p>
          <a:p>
            <a:pPr marL="203200" indent="-203200">
              <a:buSzPct val="100000"/>
              <a:buChar char="•"/>
            </a:pPr>
            <a:r>
              <a:rPr lang="en-US" sz="1220" dirty="0">
                <a:solidFill>
                  <a:srgbClr val="18251F"/>
                </a:solidFill>
                <a:latin typeface="Noto Sans" pitchFamily="34" charset="0"/>
                <a:ea typeface="Noto Sans" pitchFamily="34" charset="-122"/>
                <a:cs typeface="Noto Sans" pitchFamily="34" charset="-120"/>
              </a:rPr>
              <a:t>Input/select value</a:t>
            </a:r>
            <a:endParaRPr lang="en-US" sz="1220" dirty="0"/>
          </a:p>
          <a:p>
            <a:pPr marL="203200" indent="-203200">
              <a:buSzPct val="100000"/>
              <a:buChar char="•"/>
            </a:pPr>
            <a:r>
              <a:rPr lang="en-US" sz="1220" dirty="0">
                <a:solidFill>
                  <a:srgbClr val="18251F"/>
                </a:solidFill>
                <a:latin typeface="Noto Sans" pitchFamily="34" charset="0"/>
                <a:ea typeface="Noto Sans" pitchFamily="34" charset="-122"/>
                <a:cs typeface="Noto Sans" pitchFamily="34" charset="-120"/>
              </a:rPr>
              <a:t>Screenshot difference/evidence</a:t>
            </a:r>
            <a:endParaRPr lang="en-US" sz="1220" dirty="0"/>
          </a:p>
          <a:p>
            <a:pPr marL="203200" indent="-203200">
              <a:buSzPct val="100000"/>
              <a:buChar char="•"/>
            </a:pPr>
            <a:r>
              <a:rPr lang="en-US" sz="1220" dirty="0">
                <a:solidFill>
                  <a:srgbClr val="18251F"/>
                </a:solidFill>
                <a:latin typeface="Noto Sans" pitchFamily="34" charset="0"/>
                <a:ea typeface="Noto Sans" pitchFamily="34" charset="-122"/>
                <a:cs typeface="Noto Sans" pitchFamily="34" charset="-120"/>
              </a:rPr>
              <a:t>Application-specific expected result</a:t>
            </a:r>
            <a:endParaRPr lang="en-US" sz="1220" dirty="0"/>
          </a:p>
        </p:txBody>
      </p:sp>
      <p:sp>
        <p:nvSpPr>
          <p:cNvPr id="7" name="Shape 5"/>
          <p:cNvSpPr/>
          <p:nvPr/>
        </p:nvSpPr>
        <p:spPr>
          <a:xfrm>
            <a:off x="4800600" y="1417320"/>
            <a:ext cx="6720840" cy="4251960"/>
          </a:xfrm>
          <a:prstGeom prst="roundRect">
            <a:avLst/>
          </a:prstGeom>
          <a:solidFill>
            <a:srgbClr val="FBFDFC"/>
          </a:solidFill>
          <a:ln w="12700">
            <a:solidFill>
              <a:srgbClr val="D8E6DF"/>
            </a:solidFill>
            <a:prstDash val="solid"/>
          </a:ln>
          <a:effectLst>
            <a:outerShdw sx="100000" sy="100000" kx="0" ky="0" algn="bl" rotWithShape="0" blurRad="5.455828309067819e+254" dist="3.0007055699873007e+254" dir="7.917535832871664e+297">
              <a:srgbClr val="000000">
                <a:alpha val="Infinity"/>
              </a:srgbClr>
            </a:outerShdw>
          </a:effectLst>
        </p:spPr>
      </p:sp>
      <p:sp>
        <p:nvSpPr>
          <p:cNvPr id="8" name="Text 6"/>
          <p:cNvSpPr/>
          <p:nvPr/>
        </p:nvSpPr>
        <p:spPr>
          <a:xfrm>
            <a:off x="5120640" y="1737360"/>
            <a:ext cx="3108960" cy="320040"/>
          </a:xfrm>
          <a:prstGeom prst="rect">
            <a:avLst/>
          </a:prstGeom>
          <a:noFill/>
          <a:ln/>
        </p:spPr>
        <p:txBody>
          <a:bodyPr wrap="square" lIns="0" tIns="0" rIns="0" bIns="0" rtlCol="0" anchor="ctr"/>
          <a:lstStyle/>
          <a:p>
            <a:pPr indent="0" marL="0">
              <a:buNone/>
            </a:pPr>
            <a:r>
              <a:rPr lang="en-US" sz="1700" b="1" dirty="0">
                <a:solidFill>
                  <a:srgbClr val="007A53"/>
                </a:solidFill>
              </a:rPr>
              <a:t>Closed-loop principle</a:t>
            </a:r>
            <a:endParaRPr lang="en-US" sz="1700" dirty="0"/>
          </a:p>
        </p:txBody>
      </p:sp>
      <p:sp>
        <p:nvSpPr>
          <p:cNvPr id="9" name="Text 7"/>
          <p:cNvSpPr/>
          <p:nvPr/>
        </p:nvSpPr>
        <p:spPr>
          <a:xfrm>
            <a:off x="5166360" y="2423160"/>
            <a:ext cx="1920240" cy="502920"/>
          </a:xfrm>
          <a:prstGeom prst="rect">
            <a:avLst/>
          </a:prstGeom>
          <a:solidFill>
            <a:srgbClr val="E9F6F0"/>
          </a:solidFill>
          <a:ln>
            <a:solidFill>
              <a:srgbClr val="D8E6DF"/>
            </a:solidFill>
          </a:ln>
        </p:spPr>
        <p:txBody>
          <a:bodyPr wrap="square" lIns="381" tIns="381" rIns="381" bIns="381" rtlCol="0" anchor="ctr"/>
          <a:lstStyle/>
          <a:p>
            <a:pPr algn="ctr" indent="0" marL="0">
              <a:buNone/>
            </a:pPr>
            <a:r>
              <a:rPr lang="en-US" sz="1300" b="1" dirty="0">
                <a:solidFill>
                  <a:srgbClr val="18251F"/>
                </a:solidFill>
              </a:rPr>
              <a:t>Action call succeeds</a:t>
            </a:r>
            <a:endParaRPr lang="en-US" sz="1300" dirty="0"/>
          </a:p>
        </p:txBody>
      </p:sp>
      <p:sp>
        <p:nvSpPr>
          <p:cNvPr id="10" name="Shape 8"/>
          <p:cNvSpPr/>
          <p:nvPr/>
        </p:nvSpPr>
        <p:spPr>
          <a:xfrm>
            <a:off x="7178040" y="2679192"/>
            <a:ext cx="685800" cy="0"/>
          </a:xfrm>
          <a:prstGeom prst="line">
            <a:avLst/>
          </a:prstGeom>
          <a:noFill/>
          <a:ln w="25400">
            <a:solidFill>
              <a:srgbClr val="007A53"/>
            </a:solidFill>
            <a:prstDash val="solid"/>
            <a:headEnd type="none"/>
            <a:tailEnd type="triangle"/>
          </a:ln>
        </p:spPr>
      </p:sp>
      <p:sp>
        <p:nvSpPr>
          <p:cNvPr id="11" name="Text 9"/>
          <p:cNvSpPr/>
          <p:nvPr/>
        </p:nvSpPr>
        <p:spPr>
          <a:xfrm>
            <a:off x="7955280" y="2423160"/>
            <a:ext cx="1691640" cy="502920"/>
          </a:xfrm>
          <a:prstGeom prst="rect">
            <a:avLst/>
          </a:prstGeom>
          <a:solidFill>
            <a:srgbClr val="FFFFFF"/>
          </a:solidFill>
          <a:ln>
            <a:solidFill>
              <a:srgbClr val="D8E6DF"/>
            </a:solidFill>
          </a:ln>
        </p:spPr>
        <p:txBody>
          <a:bodyPr wrap="square" lIns="381" tIns="381" rIns="381" bIns="381" rtlCol="0" anchor="ctr"/>
          <a:lstStyle/>
          <a:p>
            <a:pPr algn="ctr" indent="0" marL="0">
              <a:buNone/>
            </a:pPr>
            <a:r>
              <a:rPr lang="en-US" sz="1300" b="1" dirty="0">
                <a:solidFill>
                  <a:srgbClr val="18251F"/>
                </a:solidFill>
              </a:rPr>
              <a:t>Observe result</a:t>
            </a:r>
            <a:endParaRPr lang="en-US" sz="1300" dirty="0"/>
          </a:p>
        </p:txBody>
      </p:sp>
      <p:sp>
        <p:nvSpPr>
          <p:cNvPr id="12" name="Shape 10"/>
          <p:cNvSpPr/>
          <p:nvPr/>
        </p:nvSpPr>
        <p:spPr>
          <a:xfrm>
            <a:off x="9738360" y="2679192"/>
            <a:ext cx="640080" cy="0"/>
          </a:xfrm>
          <a:prstGeom prst="line">
            <a:avLst/>
          </a:prstGeom>
          <a:noFill/>
          <a:ln w="25400">
            <a:solidFill>
              <a:srgbClr val="007A53"/>
            </a:solidFill>
            <a:prstDash val="solid"/>
            <a:headEnd type="none"/>
            <a:tailEnd type="triangle"/>
          </a:ln>
        </p:spPr>
      </p:sp>
      <p:sp>
        <p:nvSpPr>
          <p:cNvPr id="13" name="Text 11"/>
          <p:cNvSpPr/>
          <p:nvPr/>
        </p:nvSpPr>
        <p:spPr>
          <a:xfrm>
            <a:off x="10469880" y="2423160"/>
            <a:ext cx="868680" cy="502920"/>
          </a:xfrm>
          <a:prstGeom prst="rect">
            <a:avLst/>
          </a:prstGeom>
          <a:solidFill>
            <a:srgbClr val="FFF4D6"/>
          </a:solidFill>
          <a:ln>
            <a:solidFill>
              <a:srgbClr val="E5C46E"/>
            </a:solidFill>
          </a:ln>
        </p:spPr>
        <p:txBody>
          <a:bodyPr wrap="square" lIns="381" tIns="381" rIns="381" bIns="381" rtlCol="0" anchor="ctr"/>
          <a:lstStyle/>
          <a:p>
            <a:pPr algn="ctr" indent="0" marL="0">
              <a:buNone/>
            </a:pPr>
            <a:r>
              <a:rPr lang="en-US" sz="1100" b="1" dirty="0">
                <a:solidFill>
                  <a:srgbClr val="18251F"/>
                </a:solidFill>
              </a:rPr>
              <a:t>Validate intent</a:t>
            </a:r>
            <a:endParaRPr lang="en-US" sz="1100" dirty="0"/>
          </a:p>
        </p:txBody>
      </p:sp>
      <p:sp>
        <p:nvSpPr>
          <p:cNvPr id="14" name="Text 12"/>
          <p:cNvSpPr/>
          <p:nvPr/>
        </p:nvSpPr>
        <p:spPr>
          <a:xfrm>
            <a:off x="5257800" y="3657600"/>
            <a:ext cx="5623560" cy="960120"/>
          </a:xfrm>
          <a:prstGeom prst="rect">
            <a:avLst/>
          </a:prstGeom>
          <a:noFill/>
          <a:ln/>
        </p:spPr>
        <p:txBody>
          <a:bodyPr wrap="square" lIns="635" tIns="635" rIns="635" bIns="635" rtlCol="0" anchor="ctr"/>
          <a:lstStyle/>
          <a:p>
            <a:pPr algn="ctr" indent="0" marL="0">
              <a:buNone/>
            </a:pPr>
            <a:r>
              <a:rPr lang="en-US" sz="1300" b="1" dirty="0">
                <a:solidFill>
                  <a:srgbClr val="18251F"/>
                </a:solidFill>
              </a:rPr>
              <a:t>If evidence does not match the intended state, the graph heals or fails even when the MCP tool itself returned successfully.</a:t>
            </a:r>
            <a:endParaRPr lang="en-US" sz="130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Cookie and session controls</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Optional native-cookie workflows for test environments</a:t>
            </a:r>
            <a:endParaRPr lang="en-US" sz="1150" dirty="0"/>
          </a:p>
        </p:txBody>
      </p:sp>
      <p:sp>
        <p:nvSpPr>
          <p:cNvPr id="4" name="Shape 2"/>
          <p:cNvSpPr/>
          <p:nvPr/>
        </p:nvSpPr>
        <p:spPr>
          <a:xfrm>
            <a:off x="685800" y="1371600"/>
            <a:ext cx="3474720" cy="4389120"/>
          </a:xfrm>
          <a:prstGeom prst="roundRect">
            <a:avLst>
              <a:gd name="adj" fmla="val 3158"/>
            </a:avLst>
          </a:prstGeom>
          <a:solidFill>
            <a:srgbClr val="FFFFFF"/>
          </a:solidFill>
          <a:ln w="12700">
            <a:solidFill>
              <a:srgbClr val="D8E6DF"/>
            </a:solidFill>
            <a:prstDash val="solid"/>
          </a:ln>
          <a:effectLst>
            <a:outerShdw sx="100000" sy="100000" kx="0" ky="0" algn="bl" rotWithShape="0" blurRad="6.928901952516129e+258" dist="3.810896073883872e+258" dir="4.750521499722998e+302">
              <a:srgbClr val="000000">
                <a:alpha val="Infinity"/>
              </a:srgbClr>
            </a:outerShdw>
          </a:effectLst>
        </p:spPr>
      </p:sp>
      <p:sp>
        <p:nvSpPr>
          <p:cNvPr id="5" name="Shape 3"/>
          <p:cNvSpPr/>
          <p:nvPr/>
        </p:nvSpPr>
        <p:spPr>
          <a:xfrm>
            <a:off x="886968" y="1572768"/>
            <a:ext cx="384048" cy="384048"/>
          </a:xfrm>
          <a:prstGeom prst="ellipse">
            <a:avLst/>
          </a:prstGeom>
          <a:solidFill>
            <a:srgbClr val="E9F6F0"/>
          </a:solidFill>
          <a:ln w="12700">
            <a:solidFill>
              <a:srgbClr val="E9F6F0"/>
            </a:solidFill>
            <a:prstDash val="solid"/>
          </a:ln>
        </p:spPr>
      </p:sp>
      <p:sp>
        <p:nvSpPr>
          <p:cNvPr id="6" name="Text 4"/>
          <p:cNvSpPr/>
          <p:nvPr/>
        </p:nvSpPr>
        <p:spPr>
          <a:xfrm>
            <a:off x="886968" y="1641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R</a:t>
            </a:r>
            <a:endParaRPr lang="en-US" sz="1100" dirty="0"/>
          </a:p>
        </p:txBody>
      </p:sp>
      <p:sp>
        <p:nvSpPr>
          <p:cNvPr id="7" name="Text 5"/>
          <p:cNvSpPr/>
          <p:nvPr/>
        </p:nvSpPr>
        <p:spPr>
          <a:xfrm>
            <a:off x="1380744" y="1554480"/>
            <a:ext cx="2560320" cy="292608"/>
          </a:xfrm>
          <a:prstGeom prst="rect">
            <a:avLst/>
          </a:prstGeom>
          <a:noFill/>
          <a:ln/>
        </p:spPr>
        <p:txBody>
          <a:bodyPr wrap="square" lIns="0" tIns="0" rIns="0" bIns="0" rtlCol="0" anchor="ctr"/>
          <a:lstStyle/>
          <a:p>
            <a:pPr indent="0" marL="0">
              <a:buNone/>
            </a:pPr>
            <a:r>
              <a:rPr lang="en-US" sz="1400" b="1" dirty="0">
                <a:solidFill>
                  <a:srgbClr val="18251F"/>
                </a:solidFill>
              </a:rPr>
              <a:t>Replace one session cookie</a:t>
            </a:r>
            <a:endParaRPr lang="en-US" sz="1400" dirty="0"/>
          </a:p>
        </p:txBody>
      </p:sp>
      <p:sp>
        <p:nvSpPr>
          <p:cNvPr id="8" name="Text 6"/>
          <p:cNvSpPr/>
          <p:nvPr/>
        </p:nvSpPr>
        <p:spPr>
          <a:xfrm>
            <a:off x="905256" y="1938528"/>
            <a:ext cx="3035808" cy="3657600"/>
          </a:xfrm>
          <a:prstGeom prst="rect">
            <a:avLst/>
          </a:prstGeom>
          <a:noFill/>
          <a:ln/>
        </p:spPr>
        <p:txBody>
          <a:bodyPr wrap="square" lIns="381" tIns="381" rIns="381" bIns="381" rtlCol="0" anchor="t"/>
          <a:lstStyle/>
          <a:p>
            <a:pPr indent="0" marL="0">
              <a:buNone/>
            </a:pPr>
            <a:r>
              <a:rPr lang="en-US" sz="1050" dirty="0">
                <a:solidFill>
                  <a:srgbClr val="66756F"/>
                </a:solidFill>
              </a:rPr>
              <a:t>After the home page opens, the framework reads cookies, matches the configured name, preserves supported attributes, clears cookies, restores that cookie with the new value, refreshes and verifies. Rollback is attempted if setting fails.</a:t>
            </a:r>
            <a:endParaRPr lang="en-US" sz="1050" dirty="0"/>
          </a:p>
        </p:txBody>
      </p:sp>
      <p:sp>
        <p:nvSpPr>
          <p:cNvPr id="9" name="Shape 7"/>
          <p:cNvSpPr/>
          <p:nvPr/>
        </p:nvSpPr>
        <p:spPr>
          <a:xfrm>
            <a:off x="4370832" y="1371600"/>
            <a:ext cx="3474720" cy="4389120"/>
          </a:xfrm>
          <a:prstGeom prst="roundRect">
            <a:avLst>
              <a:gd name="adj" fmla="val 3158"/>
            </a:avLst>
          </a:prstGeom>
          <a:solidFill>
            <a:srgbClr val="FFFFFF"/>
          </a:solidFill>
          <a:ln w="12700">
            <a:solidFill>
              <a:srgbClr val="D8E6DF"/>
            </a:solidFill>
            <a:prstDash val="solid"/>
          </a:ln>
          <a:effectLst>
            <a:outerShdw sx="100000" sy="100000" kx="0" ky="0" algn="bl" rotWithShape="0" blurRad="8.799705479695485e+262" dist="4.8398380138325176e+262" dir="2.850312899833799e+307">
              <a:srgbClr val="000000">
                <a:alpha val="Infinity"/>
              </a:srgbClr>
            </a:outerShdw>
          </a:effectLst>
        </p:spPr>
      </p:sp>
      <p:sp>
        <p:nvSpPr>
          <p:cNvPr id="10" name="Shape 8"/>
          <p:cNvSpPr/>
          <p:nvPr/>
        </p:nvSpPr>
        <p:spPr>
          <a:xfrm>
            <a:off x="4572000" y="1572768"/>
            <a:ext cx="384048" cy="384048"/>
          </a:xfrm>
          <a:prstGeom prst="ellipse">
            <a:avLst/>
          </a:prstGeom>
          <a:solidFill>
            <a:srgbClr val="E9F6F0"/>
          </a:solidFill>
          <a:ln w="12700">
            <a:solidFill>
              <a:srgbClr val="E9F6F0"/>
            </a:solidFill>
            <a:prstDash val="solid"/>
          </a:ln>
        </p:spPr>
      </p:sp>
      <p:sp>
        <p:nvSpPr>
          <p:cNvPr id="11" name="Text 9"/>
          <p:cNvSpPr/>
          <p:nvPr/>
        </p:nvSpPr>
        <p:spPr>
          <a:xfrm>
            <a:off x="4572000" y="1641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a:t>
            </a:r>
            <a:endParaRPr lang="en-US" sz="1100" dirty="0"/>
          </a:p>
        </p:txBody>
      </p:sp>
      <p:sp>
        <p:nvSpPr>
          <p:cNvPr id="12" name="Text 10"/>
          <p:cNvSpPr/>
          <p:nvPr/>
        </p:nvSpPr>
        <p:spPr>
          <a:xfrm>
            <a:off x="5065776" y="1554480"/>
            <a:ext cx="2560320" cy="292608"/>
          </a:xfrm>
          <a:prstGeom prst="rect">
            <a:avLst/>
          </a:prstGeom>
          <a:noFill/>
          <a:ln/>
        </p:spPr>
        <p:txBody>
          <a:bodyPr wrap="square" lIns="0" tIns="0" rIns="0" bIns="0" rtlCol="0" anchor="ctr"/>
          <a:lstStyle/>
          <a:p>
            <a:pPr indent="0" marL="0">
              <a:buNone/>
            </a:pPr>
            <a:r>
              <a:rPr lang="en-US" sz="1400" b="1" dirty="0">
                <a:solidFill>
                  <a:srgbClr val="18251F"/>
                </a:solidFill>
              </a:rPr>
              <a:t>Add up to 10 cookies</a:t>
            </a:r>
            <a:endParaRPr lang="en-US" sz="1400" dirty="0"/>
          </a:p>
        </p:txBody>
      </p:sp>
      <p:sp>
        <p:nvSpPr>
          <p:cNvPr id="13" name="Text 11"/>
          <p:cNvSpPr/>
          <p:nvPr/>
        </p:nvSpPr>
        <p:spPr>
          <a:xfrm>
            <a:off x="4590288" y="1938528"/>
            <a:ext cx="3035808" cy="3657600"/>
          </a:xfrm>
          <a:prstGeom prst="rect">
            <a:avLst/>
          </a:prstGeom>
          <a:noFill/>
          <a:ln/>
        </p:spPr>
        <p:txBody>
          <a:bodyPr wrap="square" lIns="381" tIns="381" rIns="381" bIns="381" rtlCol="0" anchor="t"/>
          <a:lstStyle/>
          <a:p>
            <a:pPr indent="0" marL="0">
              <a:buNone/>
            </a:pPr>
            <a:r>
              <a:rPr lang="en-US" sz="1050" dirty="0">
                <a:solidFill>
                  <a:srgbClr val="66756F"/>
                </a:solidFill>
              </a:rPr>
              <a:t>Additional name/value pairs are added without clearing existing cookies. The framework derives domain/path scope from the current page, refreshes once and verifies all requested values.</a:t>
            </a:r>
            <a:endParaRPr lang="en-US" sz="1050" dirty="0"/>
          </a:p>
        </p:txBody>
      </p:sp>
      <p:sp>
        <p:nvSpPr>
          <p:cNvPr id="14" name="Shape 12"/>
          <p:cNvSpPr/>
          <p:nvPr/>
        </p:nvSpPr>
        <p:spPr>
          <a:xfrm>
            <a:off x="8055864" y="1371600"/>
            <a:ext cx="3474720" cy="4389120"/>
          </a:xfrm>
          <a:prstGeom prst="roundRect">
            <a:avLst>
              <a:gd name="adj" fmla="val 3158"/>
            </a:avLst>
          </a:prstGeom>
          <a:solidFill>
            <a:srgbClr val="FFFFFF"/>
          </a:solidFill>
          <a:ln w="12700">
            <a:solidFill>
              <a:srgbClr val="D8E6DF"/>
            </a:solidFill>
            <a:prstDash val="solid"/>
          </a:ln>
          <a:effectLst>
            <a:outerShdw sx="100000" sy="100000" kx="0" ky="0" algn="bl" rotWithShape="0" blurRad="1.1175625959213265e+267" dist="6.146594277567297e+266" dir="Infinity">
              <a:srgbClr val="000000">
                <a:alpha val="Infinity"/>
              </a:srgbClr>
            </a:outerShdw>
          </a:effectLst>
        </p:spPr>
      </p:sp>
      <p:sp>
        <p:nvSpPr>
          <p:cNvPr id="15" name="Shape 13"/>
          <p:cNvSpPr/>
          <p:nvPr/>
        </p:nvSpPr>
        <p:spPr>
          <a:xfrm>
            <a:off x="8257032" y="1572768"/>
            <a:ext cx="384048" cy="384048"/>
          </a:xfrm>
          <a:prstGeom prst="ellipse">
            <a:avLst/>
          </a:prstGeom>
          <a:solidFill>
            <a:srgbClr val="E9F6F0"/>
          </a:solidFill>
          <a:ln w="12700">
            <a:solidFill>
              <a:srgbClr val="E9F6F0"/>
            </a:solidFill>
            <a:prstDash val="solid"/>
          </a:ln>
        </p:spPr>
      </p:sp>
      <p:sp>
        <p:nvSpPr>
          <p:cNvPr id="16" name="Text 14"/>
          <p:cNvSpPr/>
          <p:nvPr/>
        </p:nvSpPr>
        <p:spPr>
          <a:xfrm>
            <a:off x="8257032" y="1641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S</a:t>
            </a:r>
            <a:endParaRPr lang="en-US" sz="1100" dirty="0"/>
          </a:p>
        </p:txBody>
      </p:sp>
      <p:sp>
        <p:nvSpPr>
          <p:cNvPr id="17" name="Text 15"/>
          <p:cNvSpPr/>
          <p:nvPr/>
        </p:nvSpPr>
        <p:spPr>
          <a:xfrm>
            <a:off x="8750808" y="1554480"/>
            <a:ext cx="2560320" cy="292608"/>
          </a:xfrm>
          <a:prstGeom prst="rect">
            <a:avLst/>
          </a:prstGeom>
          <a:noFill/>
          <a:ln/>
        </p:spPr>
        <p:txBody>
          <a:bodyPr wrap="square" lIns="0" tIns="0" rIns="0" bIns="0" rtlCol="0" anchor="ctr"/>
          <a:lstStyle/>
          <a:p>
            <a:pPr indent="0" marL="0">
              <a:buNone/>
            </a:pPr>
            <a:r>
              <a:rPr lang="en-US" sz="1400" b="1" dirty="0">
                <a:solidFill>
                  <a:srgbClr val="18251F"/>
                </a:solidFill>
              </a:rPr>
              <a:t>Safety behavior</a:t>
            </a:r>
            <a:endParaRPr lang="en-US" sz="1400" dirty="0"/>
          </a:p>
        </p:txBody>
      </p:sp>
      <p:sp>
        <p:nvSpPr>
          <p:cNvPr id="18" name="Text 16"/>
          <p:cNvSpPr/>
          <p:nvPr/>
        </p:nvSpPr>
        <p:spPr>
          <a:xfrm>
            <a:off x="8275320" y="1938528"/>
            <a:ext cx="3035808" cy="3657600"/>
          </a:xfrm>
          <a:prstGeom prst="rect">
            <a:avLst/>
          </a:prstGeom>
          <a:noFill/>
          <a:ln/>
        </p:spPr>
        <p:txBody>
          <a:bodyPr wrap="square" lIns="381" tIns="381" rIns="381" bIns="381" rtlCol="0" anchor="t"/>
          <a:lstStyle/>
          <a:p>
            <a:pPr indent="0" marL="0">
              <a:buNone/>
            </a:pPr>
            <a:r>
              <a:rPr lang="en-US" sz="1050" dirty="0">
                <a:solidFill>
                  <a:srgbClr val="66756F"/>
                </a:solidFill>
              </a:rPr>
              <a:t>Cookie values are redacted from framework reports and MCP transcripts. If native MCP cookie tools are unavailable, normal browser testing still works when cookie setup is disabled.</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UI action recorder</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Capture user interactions and turn them into reusable Excel/JSON steps</a:t>
            </a:r>
            <a:endParaRPr lang="en-US" sz="1150" dirty="0"/>
          </a:p>
        </p:txBody>
      </p:sp>
      <p:sp>
        <p:nvSpPr>
          <p:cNvPr id="4" name="Shape 2"/>
          <p:cNvSpPr/>
          <p:nvPr/>
        </p:nvSpPr>
        <p:spPr>
          <a:xfrm>
            <a:off x="512064" y="1243584"/>
            <a:ext cx="7662672" cy="4965192"/>
          </a:xfrm>
          <a:prstGeom prst="roundRect">
            <a:avLst/>
          </a:prstGeom>
          <a:solidFill>
            <a:srgbClr val="FFFFFF"/>
          </a:solidFill>
          <a:ln w="12700">
            <a:solidFill>
              <a:srgbClr val="D8E6DF"/>
            </a:solidFill>
            <a:prstDash val="solid"/>
          </a:ln>
          <a:effectLst>
            <a:outerShdw sx="100000" sy="100000" kx="0" ky="0" algn="bl" rotWithShape="0" blurRad="1.4193044968200846e+271" dist="7.806174732510467e+270" dir="Infinity">
              <a:srgbClr val="000000">
                <a:alpha val="Infinity"/>
              </a:srgbClr>
            </a:outerShdw>
          </a:effectLst>
        </p:spPr>
      </p:sp>
      <p:pic>
        <p:nvPicPr>
          <p:cNvPr id="5" name="Image 0" descr="/mnt/data/vibium_assets/recorder.png">    </p:cNvPr>
          <p:cNvPicPr>
            <a:picLocks noChangeAspect="1"/>
          </p:cNvPicPr>
          <p:nvPr/>
        </p:nvPicPr>
        <p:blipFill>
          <a:blip r:embed="rId1"/>
          <a:stretch>
            <a:fillRect/>
          </a:stretch>
        </p:blipFill>
        <p:spPr>
          <a:xfrm>
            <a:off x="1005302" y="1280160"/>
            <a:ext cx="6676196" cy="4892040"/>
          </a:xfrm>
          <a:prstGeom prst="rect">
            <a:avLst/>
          </a:prstGeom>
        </p:spPr>
      </p:pic>
      <p:sp>
        <p:nvSpPr>
          <p:cNvPr id="6" name="Shape 3"/>
          <p:cNvSpPr/>
          <p:nvPr/>
        </p:nvSpPr>
        <p:spPr>
          <a:xfrm>
            <a:off x="8458200" y="1417320"/>
            <a:ext cx="3154680" cy="1417320"/>
          </a:xfrm>
          <a:prstGeom prst="roundRect">
            <a:avLst>
              <a:gd name="adj" fmla="val 7742"/>
            </a:avLst>
          </a:prstGeom>
          <a:solidFill>
            <a:srgbClr val="FFFFFF"/>
          </a:solidFill>
          <a:ln w="12700">
            <a:solidFill>
              <a:srgbClr val="D8E6DF"/>
            </a:solidFill>
            <a:prstDash val="solid"/>
          </a:ln>
          <a:effectLst>
            <a:outerShdw sx="100000" sy="100000" kx="0" ky="0" algn="bl" rotWithShape="0" blurRad="1.8025167109615074e+275" dist="9.913841910288293e+274" dir="Infinity">
              <a:srgbClr val="000000">
                <a:alpha val="Infinity"/>
              </a:srgbClr>
            </a:outerShdw>
          </a:effectLst>
        </p:spPr>
      </p:sp>
      <p:sp>
        <p:nvSpPr>
          <p:cNvPr id="7" name="Shape 4"/>
          <p:cNvSpPr/>
          <p:nvPr/>
        </p:nvSpPr>
        <p:spPr>
          <a:xfrm>
            <a:off x="8659368" y="1618488"/>
            <a:ext cx="384048" cy="384048"/>
          </a:xfrm>
          <a:prstGeom prst="ellipse">
            <a:avLst/>
          </a:prstGeom>
          <a:solidFill>
            <a:srgbClr val="E9F6F0"/>
          </a:solidFill>
          <a:ln w="12700">
            <a:solidFill>
              <a:srgbClr val="E9F6F0"/>
            </a:solidFill>
            <a:prstDash val="solid"/>
          </a:ln>
        </p:spPr>
      </p:sp>
      <p:sp>
        <p:nvSpPr>
          <p:cNvPr id="8" name="Text 5"/>
          <p:cNvSpPr/>
          <p:nvPr/>
        </p:nvSpPr>
        <p:spPr>
          <a:xfrm>
            <a:off x="8659368" y="16870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1</a:t>
            </a:r>
            <a:endParaRPr lang="en-US" sz="1100" dirty="0"/>
          </a:p>
        </p:txBody>
      </p:sp>
      <p:sp>
        <p:nvSpPr>
          <p:cNvPr id="9" name="Text 6"/>
          <p:cNvSpPr/>
          <p:nvPr/>
        </p:nvSpPr>
        <p:spPr>
          <a:xfrm>
            <a:off x="9153144" y="1600200"/>
            <a:ext cx="2240280" cy="292608"/>
          </a:xfrm>
          <a:prstGeom prst="rect">
            <a:avLst/>
          </a:prstGeom>
          <a:noFill/>
          <a:ln/>
        </p:spPr>
        <p:txBody>
          <a:bodyPr wrap="square" lIns="0" tIns="0" rIns="0" bIns="0" rtlCol="0" anchor="ctr"/>
          <a:lstStyle/>
          <a:p>
            <a:pPr indent="0" marL="0">
              <a:buNone/>
            </a:pPr>
            <a:r>
              <a:rPr lang="en-US" sz="1400" b="1" dirty="0">
                <a:solidFill>
                  <a:srgbClr val="18251F"/>
                </a:solidFill>
              </a:rPr>
              <a:t>Capture</a:t>
            </a:r>
            <a:endParaRPr lang="en-US" sz="1400" dirty="0"/>
          </a:p>
        </p:txBody>
      </p:sp>
      <p:sp>
        <p:nvSpPr>
          <p:cNvPr id="10" name="Text 7"/>
          <p:cNvSpPr/>
          <p:nvPr/>
        </p:nvSpPr>
        <p:spPr>
          <a:xfrm>
            <a:off x="8677656" y="1984248"/>
            <a:ext cx="2715768" cy="685800"/>
          </a:xfrm>
          <a:prstGeom prst="rect">
            <a:avLst/>
          </a:prstGeom>
          <a:noFill/>
          <a:ln/>
        </p:spPr>
        <p:txBody>
          <a:bodyPr wrap="square" lIns="381" tIns="381" rIns="381" bIns="381" rtlCol="0" anchor="t"/>
          <a:lstStyle/>
          <a:p>
            <a:pPr indent="0" marL="0">
              <a:buNone/>
            </a:pPr>
            <a:r>
              <a:rPr lang="en-US" sz="1050" dirty="0">
                <a:solidFill>
                  <a:srgbClr val="66756F"/>
                </a:solidFill>
              </a:rPr>
              <a:t>Headed browser records click, typing, selection, checkbox, keyboard and upload actions.</a:t>
            </a:r>
            <a:endParaRPr lang="en-US" sz="1050" dirty="0"/>
          </a:p>
        </p:txBody>
      </p:sp>
      <p:sp>
        <p:nvSpPr>
          <p:cNvPr id="11" name="Shape 8"/>
          <p:cNvSpPr/>
          <p:nvPr/>
        </p:nvSpPr>
        <p:spPr>
          <a:xfrm>
            <a:off x="8458200" y="3063240"/>
            <a:ext cx="3154680" cy="1417320"/>
          </a:xfrm>
          <a:prstGeom prst="roundRect">
            <a:avLst>
              <a:gd name="adj" fmla="val 7742"/>
            </a:avLst>
          </a:prstGeom>
          <a:solidFill>
            <a:srgbClr val="FFFFFF"/>
          </a:solidFill>
          <a:ln w="12700">
            <a:solidFill>
              <a:srgbClr val="D8E6DF"/>
            </a:solidFill>
            <a:prstDash val="solid"/>
          </a:ln>
          <a:effectLst>
            <a:outerShdw sx="100000" sy="100000" kx="0" ky="0" algn="bl" rotWithShape="0" blurRad="2.2891962229211143e+279" dist="1.2590579226066132e+279" dir="Infinity">
              <a:srgbClr val="000000">
                <a:alpha val="Infinity"/>
              </a:srgbClr>
            </a:outerShdw>
          </a:effectLst>
        </p:spPr>
      </p:sp>
      <p:sp>
        <p:nvSpPr>
          <p:cNvPr id="12" name="Shape 9"/>
          <p:cNvSpPr/>
          <p:nvPr/>
        </p:nvSpPr>
        <p:spPr>
          <a:xfrm>
            <a:off x="8659368" y="3264408"/>
            <a:ext cx="384048" cy="384048"/>
          </a:xfrm>
          <a:prstGeom prst="ellipse">
            <a:avLst/>
          </a:prstGeom>
          <a:solidFill>
            <a:srgbClr val="E9F6F0"/>
          </a:solidFill>
          <a:ln w="12700">
            <a:solidFill>
              <a:srgbClr val="E9F6F0"/>
            </a:solidFill>
            <a:prstDash val="solid"/>
          </a:ln>
        </p:spPr>
      </p:sp>
      <p:sp>
        <p:nvSpPr>
          <p:cNvPr id="13" name="Text 10"/>
          <p:cNvSpPr/>
          <p:nvPr/>
        </p:nvSpPr>
        <p:spPr>
          <a:xfrm>
            <a:off x="8659368" y="333298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2</a:t>
            </a:r>
            <a:endParaRPr lang="en-US" sz="1100" dirty="0"/>
          </a:p>
        </p:txBody>
      </p:sp>
      <p:sp>
        <p:nvSpPr>
          <p:cNvPr id="14" name="Text 11"/>
          <p:cNvSpPr/>
          <p:nvPr/>
        </p:nvSpPr>
        <p:spPr>
          <a:xfrm>
            <a:off x="9153144" y="3246120"/>
            <a:ext cx="2240280" cy="292608"/>
          </a:xfrm>
          <a:prstGeom prst="rect">
            <a:avLst/>
          </a:prstGeom>
          <a:noFill/>
          <a:ln/>
        </p:spPr>
        <p:txBody>
          <a:bodyPr wrap="square" lIns="0" tIns="0" rIns="0" bIns="0" rtlCol="0" anchor="ctr"/>
          <a:lstStyle/>
          <a:p>
            <a:pPr indent="0" marL="0">
              <a:buNone/>
            </a:pPr>
            <a:r>
              <a:rPr lang="en-US" sz="1400" b="1" dirty="0">
                <a:solidFill>
                  <a:srgbClr val="18251F"/>
                </a:solidFill>
              </a:rPr>
              <a:t>Review</a:t>
            </a:r>
            <a:endParaRPr lang="en-US" sz="1400" dirty="0"/>
          </a:p>
        </p:txBody>
      </p:sp>
      <p:sp>
        <p:nvSpPr>
          <p:cNvPr id="15" name="Text 12"/>
          <p:cNvSpPr/>
          <p:nvPr/>
        </p:nvSpPr>
        <p:spPr>
          <a:xfrm>
            <a:off x="8677656" y="3630168"/>
            <a:ext cx="2715768" cy="685800"/>
          </a:xfrm>
          <a:prstGeom prst="rect">
            <a:avLst/>
          </a:prstGeom>
          <a:noFill/>
          <a:ln/>
        </p:spPr>
        <p:txBody>
          <a:bodyPr wrap="square" lIns="381" tIns="381" rIns="381" bIns="381" rtlCol="0" anchor="t"/>
          <a:lstStyle/>
          <a:p>
            <a:pPr indent="0" marL="0">
              <a:buNone/>
            </a:pPr>
            <a:r>
              <a:rPr lang="en-US" sz="1050" dirty="0">
                <a:solidFill>
                  <a:srgbClr val="66756F"/>
                </a:solidFill>
              </a:rPr>
              <a:t>Captured steps show generated text, locator and page. Individual actions can be deleted.</a:t>
            </a:r>
            <a:endParaRPr lang="en-US" sz="1050" dirty="0"/>
          </a:p>
        </p:txBody>
      </p:sp>
      <p:sp>
        <p:nvSpPr>
          <p:cNvPr id="16" name="Shape 13"/>
          <p:cNvSpPr/>
          <p:nvPr/>
        </p:nvSpPr>
        <p:spPr>
          <a:xfrm>
            <a:off x="8458200" y="4709160"/>
            <a:ext cx="3154680" cy="1051560"/>
          </a:xfrm>
          <a:prstGeom prst="roundRect">
            <a:avLst>
              <a:gd name="adj" fmla="val 10435"/>
            </a:avLst>
          </a:prstGeom>
          <a:solidFill>
            <a:srgbClr val="FFFFFF"/>
          </a:solidFill>
          <a:ln w="12700">
            <a:solidFill>
              <a:srgbClr val="D8E6DF"/>
            </a:solidFill>
            <a:prstDash val="solid"/>
          </a:ln>
          <a:effectLst>
            <a:outerShdw sx="100000" sy="100000" kx="0" ky="0" algn="bl" rotWithShape="0" blurRad="2.9072792031098153e+283" dist="1.5990035617103988e+283" dir="Infinity">
              <a:srgbClr val="000000">
                <a:alpha val="Infinity"/>
              </a:srgbClr>
            </a:outerShdw>
          </a:effectLst>
        </p:spPr>
      </p:sp>
      <p:sp>
        <p:nvSpPr>
          <p:cNvPr id="17" name="Shape 14"/>
          <p:cNvSpPr/>
          <p:nvPr/>
        </p:nvSpPr>
        <p:spPr>
          <a:xfrm>
            <a:off x="8659368" y="4910328"/>
            <a:ext cx="384048" cy="384048"/>
          </a:xfrm>
          <a:prstGeom prst="ellipse">
            <a:avLst/>
          </a:prstGeom>
          <a:solidFill>
            <a:srgbClr val="E9F6F0"/>
          </a:solidFill>
          <a:ln w="12700">
            <a:solidFill>
              <a:srgbClr val="E9F6F0"/>
            </a:solidFill>
            <a:prstDash val="solid"/>
          </a:ln>
        </p:spPr>
      </p:sp>
      <p:sp>
        <p:nvSpPr>
          <p:cNvPr id="18" name="Text 15"/>
          <p:cNvSpPr/>
          <p:nvPr/>
        </p:nvSpPr>
        <p:spPr>
          <a:xfrm>
            <a:off x="8659368" y="497890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3</a:t>
            </a:r>
            <a:endParaRPr lang="en-US" sz="1100" dirty="0"/>
          </a:p>
        </p:txBody>
      </p:sp>
      <p:sp>
        <p:nvSpPr>
          <p:cNvPr id="19" name="Text 16"/>
          <p:cNvSpPr/>
          <p:nvPr/>
        </p:nvSpPr>
        <p:spPr>
          <a:xfrm>
            <a:off x="9153144" y="4892040"/>
            <a:ext cx="2240280" cy="292608"/>
          </a:xfrm>
          <a:prstGeom prst="rect">
            <a:avLst/>
          </a:prstGeom>
          <a:noFill/>
          <a:ln/>
        </p:spPr>
        <p:txBody>
          <a:bodyPr wrap="square" lIns="0" tIns="0" rIns="0" bIns="0" rtlCol="0" anchor="ctr"/>
          <a:lstStyle/>
          <a:p>
            <a:pPr indent="0" marL="0">
              <a:buNone/>
            </a:pPr>
            <a:r>
              <a:rPr lang="en-US" sz="1400" b="1" dirty="0">
                <a:solidFill>
                  <a:srgbClr val="18251F"/>
                </a:solidFill>
              </a:rPr>
              <a:t>Export</a:t>
            </a:r>
            <a:endParaRPr lang="en-US" sz="1400" dirty="0"/>
          </a:p>
        </p:txBody>
      </p:sp>
      <p:sp>
        <p:nvSpPr>
          <p:cNvPr id="20" name="Text 17"/>
          <p:cNvSpPr/>
          <p:nvPr/>
        </p:nvSpPr>
        <p:spPr>
          <a:xfrm>
            <a:off x="8677656" y="5276088"/>
            <a:ext cx="2715768" cy="320040"/>
          </a:xfrm>
          <a:prstGeom prst="rect">
            <a:avLst/>
          </a:prstGeom>
          <a:noFill/>
          <a:ln/>
        </p:spPr>
        <p:txBody>
          <a:bodyPr wrap="square" lIns="381" tIns="381" rIns="381" bIns="381" rtlCol="0" anchor="t"/>
          <a:lstStyle/>
          <a:p>
            <a:pPr indent="0" marL="0">
              <a:buNone/>
            </a:pPr>
            <a:r>
              <a:rPr lang="en-US" sz="1050" dirty="0">
                <a:solidFill>
                  <a:srgbClr val="66756F"/>
                </a:solidFill>
              </a:rPr>
              <a:t>Copy steps or download recorded Excel / JSON.</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Browser behavior and platform fallback</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Maximize is automatic for headed browsers; custom zoom is deliberately optional</a:t>
            </a:r>
            <a:endParaRPr lang="en-US" sz="1150" dirty="0"/>
          </a:p>
        </p:txBody>
      </p:sp>
      <p:sp>
        <p:nvSpPr>
          <p:cNvPr id="4" name="Shape 2"/>
          <p:cNvSpPr/>
          <p:nvPr/>
        </p:nvSpPr>
        <p:spPr>
          <a:xfrm>
            <a:off x="557784" y="1243584"/>
            <a:ext cx="5696712" cy="2084832"/>
          </a:xfrm>
          <a:prstGeom prst="roundRect">
            <a:avLst/>
          </a:prstGeom>
          <a:solidFill>
            <a:srgbClr val="FFFFFF"/>
          </a:solidFill>
          <a:ln w="12700">
            <a:solidFill>
              <a:srgbClr val="D8E6DF"/>
            </a:solidFill>
            <a:prstDash val="solid"/>
          </a:ln>
          <a:effectLst>
            <a:outerShdw sx="100000" sy="100000" kx="0" ky="0" algn="bl" rotWithShape="0" blurRad="3.6922445879494656e+287" dist="2.0307345233722064e+287" dir="Infinity">
              <a:srgbClr val="000000">
                <a:alpha val="Infinity"/>
              </a:srgbClr>
            </a:outerShdw>
          </a:effectLst>
        </p:spPr>
      </p:sp>
      <p:pic>
        <p:nvPicPr>
          <p:cNvPr id="5" name="Image 0" descr="/mnt/data/vibium_assets/browser_card.png">    </p:cNvPr>
          <p:cNvPicPr>
            <a:picLocks noChangeAspect="1"/>
          </p:cNvPicPr>
          <p:nvPr/>
        </p:nvPicPr>
        <p:blipFill>
          <a:blip r:embed="rId1"/>
          <a:stretch>
            <a:fillRect/>
          </a:stretch>
        </p:blipFill>
        <p:spPr>
          <a:xfrm>
            <a:off x="594360" y="1406017"/>
            <a:ext cx="5623560" cy="1759966"/>
          </a:xfrm>
          <a:prstGeom prst="rect">
            <a:avLst/>
          </a:prstGeom>
        </p:spPr>
      </p:pic>
      <p:sp>
        <p:nvSpPr>
          <p:cNvPr id="6" name="Shape 3"/>
          <p:cNvSpPr/>
          <p:nvPr/>
        </p:nvSpPr>
        <p:spPr>
          <a:xfrm>
            <a:off x="685800" y="3657600"/>
            <a:ext cx="3566160" cy="1828800"/>
          </a:xfrm>
          <a:prstGeom prst="roundRect">
            <a:avLst>
              <a:gd name="adj" fmla="val 6000"/>
            </a:avLst>
          </a:prstGeom>
          <a:solidFill>
            <a:srgbClr val="FFFFFF"/>
          </a:solidFill>
          <a:ln w="12700">
            <a:solidFill>
              <a:srgbClr val="D8E6DF"/>
            </a:solidFill>
            <a:prstDash val="solid"/>
          </a:ln>
          <a:effectLst>
            <a:outerShdw sx="100000" sy="100000" kx="0" ky="0" algn="bl" rotWithShape="0" blurRad="4.6891506266958215e+291" dist="2.579032844682702e+291" dir="Infinity">
              <a:srgbClr val="000000">
                <a:alpha val="Infinity"/>
              </a:srgbClr>
            </a:outerShdw>
          </a:effectLst>
        </p:spPr>
      </p:sp>
      <p:sp>
        <p:nvSpPr>
          <p:cNvPr id="7" name="Shape 4"/>
          <p:cNvSpPr/>
          <p:nvPr/>
        </p:nvSpPr>
        <p:spPr>
          <a:xfrm>
            <a:off x="886968" y="3858768"/>
            <a:ext cx="384048" cy="384048"/>
          </a:xfrm>
          <a:prstGeom prst="ellipse">
            <a:avLst/>
          </a:prstGeom>
          <a:solidFill>
            <a:srgbClr val="E9F6F0"/>
          </a:solidFill>
          <a:ln w="12700">
            <a:solidFill>
              <a:srgbClr val="E9F6F0"/>
            </a:solidFill>
            <a:prstDash val="solid"/>
          </a:ln>
        </p:spPr>
      </p:sp>
      <p:sp>
        <p:nvSpPr>
          <p:cNvPr id="8" name="Text 5"/>
          <p:cNvSpPr/>
          <p:nvPr/>
        </p:nvSpPr>
        <p:spPr>
          <a:xfrm>
            <a:off x="886968" y="3927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M</a:t>
            </a:r>
            <a:endParaRPr lang="en-US" sz="1100" dirty="0"/>
          </a:p>
        </p:txBody>
      </p:sp>
      <p:sp>
        <p:nvSpPr>
          <p:cNvPr id="9" name="Text 6"/>
          <p:cNvSpPr/>
          <p:nvPr/>
        </p:nvSpPr>
        <p:spPr>
          <a:xfrm>
            <a:off x="1380744" y="3840480"/>
            <a:ext cx="2651760" cy="292608"/>
          </a:xfrm>
          <a:prstGeom prst="rect">
            <a:avLst/>
          </a:prstGeom>
          <a:noFill/>
          <a:ln/>
        </p:spPr>
        <p:txBody>
          <a:bodyPr wrap="square" lIns="0" tIns="0" rIns="0" bIns="0" rtlCol="0" anchor="ctr"/>
          <a:lstStyle/>
          <a:p>
            <a:pPr indent="0" marL="0">
              <a:buNone/>
            </a:pPr>
            <a:r>
              <a:rPr lang="en-US" sz="1400" b="1" dirty="0">
                <a:solidFill>
                  <a:srgbClr val="18251F"/>
                </a:solidFill>
              </a:rPr>
              <a:t>Maximize</a:t>
            </a:r>
            <a:endParaRPr lang="en-US" sz="1400" dirty="0"/>
          </a:p>
        </p:txBody>
      </p:sp>
      <p:sp>
        <p:nvSpPr>
          <p:cNvPr id="10" name="Text 7"/>
          <p:cNvSpPr/>
          <p:nvPr/>
        </p:nvSpPr>
        <p:spPr>
          <a:xfrm>
            <a:off x="905256" y="4224528"/>
            <a:ext cx="3127248" cy="1097280"/>
          </a:xfrm>
          <a:prstGeom prst="rect">
            <a:avLst/>
          </a:prstGeom>
          <a:noFill/>
          <a:ln/>
        </p:spPr>
        <p:txBody>
          <a:bodyPr wrap="square" lIns="381" tIns="381" rIns="381" bIns="381" rtlCol="0" anchor="t"/>
          <a:lstStyle/>
          <a:p>
            <a:pPr indent="0" marL="0">
              <a:buNone/>
            </a:pPr>
            <a:r>
              <a:rPr lang="en-US" sz="1050" dirty="0">
                <a:solidFill>
                  <a:srgbClr val="66756F"/>
                </a:solidFill>
              </a:rPr>
              <a:t>The framework attempts to maximize headed browser windows automatically. This path is independent of custom zoom.</a:t>
            </a:r>
            <a:endParaRPr lang="en-US" sz="1050" dirty="0"/>
          </a:p>
        </p:txBody>
      </p:sp>
      <p:sp>
        <p:nvSpPr>
          <p:cNvPr id="11" name="Shape 8"/>
          <p:cNvSpPr/>
          <p:nvPr/>
        </p:nvSpPr>
        <p:spPr>
          <a:xfrm>
            <a:off x="4416552" y="3657600"/>
            <a:ext cx="3566160" cy="1828800"/>
          </a:xfrm>
          <a:prstGeom prst="roundRect">
            <a:avLst>
              <a:gd name="adj" fmla="val 6000"/>
            </a:avLst>
          </a:prstGeom>
          <a:solidFill>
            <a:srgbClr val="FFFFFF"/>
          </a:solidFill>
          <a:ln w="12700">
            <a:solidFill>
              <a:srgbClr val="D8E6DF"/>
            </a:solidFill>
            <a:prstDash val="solid"/>
          </a:ln>
          <a:effectLst>
            <a:outerShdw sx="100000" sy="100000" kx="0" ky="0" algn="bl" rotWithShape="0" blurRad="5.955221295903693e+295" dist="3.2753717127470314e+295" dir="Infinity">
              <a:srgbClr val="000000">
                <a:alpha val="Infinity"/>
              </a:srgbClr>
            </a:outerShdw>
          </a:effectLst>
        </p:spPr>
      </p:sp>
      <p:sp>
        <p:nvSpPr>
          <p:cNvPr id="12" name="Shape 9"/>
          <p:cNvSpPr/>
          <p:nvPr/>
        </p:nvSpPr>
        <p:spPr>
          <a:xfrm>
            <a:off x="4617720" y="3858768"/>
            <a:ext cx="384048" cy="384048"/>
          </a:xfrm>
          <a:prstGeom prst="ellipse">
            <a:avLst/>
          </a:prstGeom>
          <a:solidFill>
            <a:srgbClr val="E9F6F0"/>
          </a:solidFill>
          <a:ln w="12700">
            <a:solidFill>
              <a:srgbClr val="E9F6F0"/>
            </a:solidFill>
            <a:prstDash val="solid"/>
          </a:ln>
        </p:spPr>
      </p:sp>
      <p:sp>
        <p:nvSpPr>
          <p:cNvPr id="13" name="Text 10"/>
          <p:cNvSpPr/>
          <p:nvPr/>
        </p:nvSpPr>
        <p:spPr>
          <a:xfrm>
            <a:off x="4617720" y="3927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Z</a:t>
            </a:r>
            <a:endParaRPr lang="en-US" sz="1100" dirty="0"/>
          </a:p>
        </p:txBody>
      </p:sp>
      <p:sp>
        <p:nvSpPr>
          <p:cNvPr id="14" name="Text 11"/>
          <p:cNvSpPr/>
          <p:nvPr/>
        </p:nvSpPr>
        <p:spPr>
          <a:xfrm>
            <a:off x="5111496" y="3840480"/>
            <a:ext cx="2651760" cy="292608"/>
          </a:xfrm>
          <a:prstGeom prst="rect">
            <a:avLst/>
          </a:prstGeom>
          <a:noFill/>
          <a:ln/>
        </p:spPr>
        <p:txBody>
          <a:bodyPr wrap="square" lIns="0" tIns="0" rIns="0" bIns="0" rtlCol="0" anchor="ctr"/>
          <a:lstStyle/>
          <a:p>
            <a:pPr indent="0" marL="0">
              <a:buNone/>
            </a:pPr>
            <a:r>
              <a:rPr lang="en-US" sz="1400" b="1" dirty="0">
                <a:solidFill>
                  <a:srgbClr val="18251F"/>
                </a:solidFill>
              </a:rPr>
              <a:t>Custom zoom</a:t>
            </a:r>
            <a:endParaRPr lang="en-US" sz="1400" dirty="0"/>
          </a:p>
        </p:txBody>
      </p:sp>
      <p:sp>
        <p:nvSpPr>
          <p:cNvPr id="15" name="Text 12"/>
          <p:cNvSpPr/>
          <p:nvPr/>
        </p:nvSpPr>
        <p:spPr>
          <a:xfrm>
            <a:off x="4636008" y="4224528"/>
            <a:ext cx="3127248" cy="1097280"/>
          </a:xfrm>
          <a:prstGeom prst="rect">
            <a:avLst/>
          </a:prstGeom>
          <a:noFill/>
          <a:ln/>
        </p:spPr>
        <p:txBody>
          <a:bodyPr wrap="square" lIns="381" tIns="381" rIns="381" bIns="381" rtlCol="0" anchor="t"/>
          <a:lstStyle/>
          <a:p>
            <a:pPr indent="0" marL="0">
              <a:buNone/>
            </a:pPr>
            <a:r>
              <a:rPr lang="en-US" sz="1050" dirty="0">
                <a:solidFill>
                  <a:srgbClr val="66756F"/>
                </a:solidFill>
              </a:rPr>
              <a:t>User may enable 50%–200%. 100% is the default and incurs no native zoom work.</a:t>
            </a:r>
            <a:endParaRPr lang="en-US" sz="1050" dirty="0"/>
          </a:p>
        </p:txBody>
      </p:sp>
      <p:sp>
        <p:nvSpPr>
          <p:cNvPr id="16" name="Shape 13"/>
          <p:cNvSpPr/>
          <p:nvPr/>
        </p:nvSpPr>
        <p:spPr>
          <a:xfrm>
            <a:off x="8138160" y="1280160"/>
            <a:ext cx="3383280" cy="4206240"/>
          </a:xfrm>
          <a:prstGeom prst="roundRect">
            <a:avLst>
              <a:gd name="adj" fmla="val 3243"/>
            </a:avLst>
          </a:prstGeom>
          <a:solidFill>
            <a:srgbClr val="FFFFFF"/>
          </a:solidFill>
          <a:ln w="12700">
            <a:solidFill>
              <a:srgbClr val="D8E6DF"/>
            </a:solidFill>
            <a:prstDash val="solid"/>
          </a:ln>
          <a:effectLst>
            <a:outerShdw sx="100000" sy="100000" kx="0" ky="0" algn="bl" rotWithShape="0" blurRad="7.56313104579769e+299" dist="4.15972207518873e+299" dir="Infinity">
              <a:srgbClr val="000000">
                <a:alpha val="Infinity"/>
              </a:srgbClr>
            </a:outerShdw>
          </a:effectLst>
        </p:spPr>
      </p:sp>
      <p:sp>
        <p:nvSpPr>
          <p:cNvPr id="17" name="Shape 14"/>
          <p:cNvSpPr/>
          <p:nvPr/>
        </p:nvSpPr>
        <p:spPr>
          <a:xfrm>
            <a:off x="8339328" y="1481328"/>
            <a:ext cx="384048" cy="384048"/>
          </a:xfrm>
          <a:prstGeom prst="ellipse">
            <a:avLst/>
          </a:prstGeom>
          <a:solidFill>
            <a:srgbClr val="E9F6F0"/>
          </a:solidFill>
          <a:ln w="12700">
            <a:solidFill>
              <a:srgbClr val="E9F6F0"/>
            </a:solidFill>
            <a:prstDash val="solid"/>
          </a:ln>
        </p:spPr>
      </p:sp>
      <p:sp>
        <p:nvSpPr>
          <p:cNvPr id="18" name="Text 15"/>
          <p:cNvSpPr/>
          <p:nvPr/>
        </p:nvSpPr>
        <p:spPr>
          <a:xfrm>
            <a:off x="8339328" y="154990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OS</a:t>
            </a:r>
            <a:endParaRPr lang="en-US" sz="1100" dirty="0"/>
          </a:p>
        </p:txBody>
      </p:sp>
      <p:sp>
        <p:nvSpPr>
          <p:cNvPr id="19" name="Text 16"/>
          <p:cNvSpPr/>
          <p:nvPr/>
        </p:nvSpPr>
        <p:spPr>
          <a:xfrm>
            <a:off x="8833104" y="1463040"/>
            <a:ext cx="2468880" cy="292608"/>
          </a:xfrm>
          <a:prstGeom prst="rect">
            <a:avLst/>
          </a:prstGeom>
          <a:noFill/>
          <a:ln/>
        </p:spPr>
        <p:txBody>
          <a:bodyPr wrap="square" lIns="0" tIns="0" rIns="0" bIns="0" rtlCol="0" anchor="ctr"/>
          <a:lstStyle/>
          <a:p>
            <a:pPr indent="0" marL="0">
              <a:buNone/>
            </a:pPr>
            <a:r>
              <a:rPr lang="en-US" sz="1400" b="1" dirty="0">
                <a:solidFill>
                  <a:srgbClr val="18251F"/>
                </a:solidFill>
              </a:rPr>
              <a:t>Current platform behavior</a:t>
            </a:r>
            <a:endParaRPr lang="en-US" sz="1400" dirty="0"/>
          </a:p>
        </p:txBody>
      </p:sp>
      <p:sp>
        <p:nvSpPr>
          <p:cNvPr id="20" name="Text 17"/>
          <p:cNvSpPr/>
          <p:nvPr/>
        </p:nvSpPr>
        <p:spPr>
          <a:xfrm>
            <a:off x="8357616" y="1847088"/>
            <a:ext cx="2944368" cy="3474720"/>
          </a:xfrm>
          <a:prstGeom prst="rect">
            <a:avLst/>
          </a:prstGeom>
          <a:noFill/>
          <a:ln/>
        </p:spPr>
        <p:txBody>
          <a:bodyPr wrap="square" lIns="381" tIns="381" rIns="381" bIns="381" rtlCol="0" anchor="t"/>
          <a:lstStyle/>
          <a:p>
            <a:pPr indent="0" marL="0">
              <a:buNone/>
            </a:pPr>
            <a:r>
              <a:rPr lang="en-US" sz="1050" dirty="0">
                <a:solidFill>
                  <a:srgbClr val="66756F"/>
                </a:solidFill>
              </a:rPr>
              <a:t>Windows: native custom zoom is attempted only when PowerShell/pwsh plus WScript support is detected.</a:t>
            </a:r>
            <a:endParaRPr lang="en-US" sz="1050" dirty="0"/>
          </a:p>
          <a:p>
            <a:pPr indent="0" marL="0">
              <a:buNone/>
            </a:pPr>
            <a:endParaRPr lang="en-US" sz="1050" dirty="0"/>
          </a:p>
          <a:p>
            <a:pPr indent="0" marL="0">
              <a:buNone/>
            </a:pPr>
            <a:r>
              <a:rPr lang="en-US" sz="1050" dirty="0">
                <a:solidFill>
                  <a:srgbClr val="66756F"/>
                </a:solidFill>
              </a:rPr>
              <a:t>macOS/Linux: custom zoom is currently treated as unsupported and execution continues at 100%.</a:t>
            </a:r>
            <a:endParaRPr lang="en-US" sz="1050" dirty="0"/>
          </a:p>
          <a:p>
            <a:pPr indent="0" marL="0">
              <a:buNone/>
            </a:pPr>
            <a:endParaRPr lang="en-US" sz="1050" dirty="0"/>
          </a:p>
          <a:p>
            <a:pPr indent="0" marL="0">
              <a:buNone/>
            </a:pPr>
            <a:r>
              <a:rPr lang="en-US" sz="1050" dirty="0">
                <a:solidFill>
                  <a:srgbClr val="66756F"/>
                </a:solidFill>
              </a:rPr>
              <a:t>Failure to apply zoom never fails the test run.</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Security and secret handling</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Designed to avoid accidental credential exposure while keeping the workflow simple</a:t>
            </a:r>
            <a:endParaRPr lang="en-US" sz="1150" dirty="0"/>
          </a:p>
        </p:txBody>
      </p:sp>
      <p:sp>
        <p:nvSpPr>
          <p:cNvPr id="4" name="Shape 2"/>
          <p:cNvSpPr/>
          <p:nvPr/>
        </p:nvSpPr>
        <p:spPr>
          <a:xfrm>
            <a:off x="731520" y="1325880"/>
            <a:ext cx="10698480" cy="685800"/>
          </a:xfrm>
          <a:prstGeom prst="roundRect">
            <a:avLst/>
          </a:prstGeom>
          <a:solidFill>
            <a:srgbClr val="FFFFFF"/>
          </a:solidFill>
          <a:ln w="12700">
            <a:solidFill>
              <a:srgbClr val="D8E6DF"/>
            </a:solidFill>
            <a:prstDash val="solid"/>
          </a:ln>
        </p:spPr>
      </p:sp>
      <p:sp>
        <p:nvSpPr>
          <p:cNvPr id="5" name="Text 3"/>
          <p:cNvSpPr/>
          <p:nvPr/>
        </p:nvSpPr>
        <p:spPr>
          <a:xfrm>
            <a:off x="960120" y="1508760"/>
            <a:ext cx="1828800" cy="219456"/>
          </a:xfrm>
          <a:prstGeom prst="rect">
            <a:avLst/>
          </a:prstGeom>
          <a:noFill/>
          <a:ln/>
        </p:spPr>
        <p:txBody>
          <a:bodyPr wrap="square" lIns="0" tIns="0" rIns="0" bIns="0" rtlCol="0" anchor="ctr"/>
          <a:lstStyle/>
          <a:p>
            <a:pPr indent="0" marL="0">
              <a:buNone/>
            </a:pPr>
            <a:r>
              <a:rPr lang="en-US" sz="1250" b="1" dirty="0">
                <a:solidFill>
                  <a:srgbClr val="007A53"/>
                </a:solidFill>
              </a:rPr>
              <a:t>AI key</a:t>
            </a:r>
            <a:endParaRPr lang="en-US" sz="1250" dirty="0"/>
          </a:p>
        </p:txBody>
      </p:sp>
      <p:sp>
        <p:nvSpPr>
          <p:cNvPr id="6" name="Text 4"/>
          <p:cNvSpPr/>
          <p:nvPr/>
        </p:nvSpPr>
        <p:spPr>
          <a:xfrm>
            <a:off x="2743200" y="1472184"/>
            <a:ext cx="8229600" cy="320040"/>
          </a:xfrm>
          <a:prstGeom prst="rect">
            <a:avLst/>
          </a:prstGeom>
          <a:noFill/>
          <a:ln/>
        </p:spPr>
        <p:txBody>
          <a:bodyPr wrap="square" lIns="0" tIns="0" rIns="0" bIns="0" rtlCol="0" anchor="ctr"/>
          <a:lstStyle/>
          <a:p>
            <a:pPr indent="0" marL="0">
              <a:buNone/>
            </a:pPr>
            <a:r>
              <a:rPr lang="en-US" sz="1050" dirty="0">
                <a:solidFill>
                  <a:srgbClr val="18251F"/>
                </a:solidFill>
              </a:rPr>
              <a:t>Not written to application.properties, generated reports or UI status messages. Home screen does not display it.</a:t>
            </a:r>
            <a:endParaRPr lang="en-US" sz="1050" dirty="0"/>
          </a:p>
        </p:txBody>
      </p:sp>
      <p:sp>
        <p:nvSpPr>
          <p:cNvPr id="7" name="Shape 5"/>
          <p:cNvSpPr/>
          <p:nvPr/>
        </p:nvSpPr>
        <p:spPr>
          <a:xfrm>
            <a:off x="731520" y="2240280"/>
            <a:ext cx="10698480" cy="685800"/>
          </a:xfrm>
          <a:prstGeom prst="roundRect">
            <a:avLst/>
          </a:prstGeom>
          <a:solidFill>
            <a:srgbClr val="FFFFFF"/>
          </a:solidFill>
          <a:ln w="12700">
            <a:solidFill>
              <a:srgbClr val="D8E6DF"/>
            </a:solidFill>
            <a:prstDash val="solid"/>
          </a:ln>
        </p:spPr>
      </p:sp>
      <p:sp>
        <p:nvSpPr>
          <p:cNvPr id="8" name="Text 6"/>
          <p:cNvSpPr/>
          <p:nvPr/>
        </p:nvSpPr>
        <p:spPr>
          <a:xfrm>
            <a:off x="960120" y="2423160"/>
            <a:ext cx="1828800" cy="219456"/>
          </a:xfrm>
          <a:prstGeom prst="rect">
            <a:avLst/>
          </a:prstGeom>
          <a:noFill/>
          <a:ln/>
        </p:spPr>
        <p:txBody>
          <a:bodyPr wrap="square" lIns="0" tIns="0" rIns="0" bIns="0" rtlCol="0" anchor="ctr"/>
          <a:lstStyle/>
          <a:p>
            <a:pPr indent="0" marL="0">
              <a:buNone/>
            </a:pPr>
            <a:r>
              <a:rPr lang="en-US" sz="1250" b="1" dirty="0">
                <a:solidFill>
                  <a:srgbClr val="007A53"/>
                </a:solidFill>
              </a:rPr>
              <a:t>Connection validation</a:t>
            </a:r>
            <a:endParaRPr lang="en-US" sz="1250" dirty="0"/>
          </a:p>
        </p:txBody>
      </p:sp>
      <p:sp>
        <p:nvSpPr>
          <p:cNvPr id="9" name="Text 7"/>
          <p:cNvSpPr/>
          <p:nvPr/>
        </p:nvSpPr>
        <p:spPr>
          <a:xfrm>
            <a:off x="2743200" y="2386584"/>
            <a:ext cx="8229600" cy="320040"/>
          </a:xfrm>
          <a:prstGeom prst="rect">
            <a:avLst/>
          </a:prstGeom>
          <a:noFill/>
          <a:ln/>
        </p:spPr>
        <p:txBody>
          <a:bodyPr wrap="square" lIns="0" tIns="0" rIns="0" bIns="0" rtlCol="0" anchor="ctr"/>
          <a:lstStyle/>
          <a:p>
            <a:pPr indent="0" marL="0">
              <a:buNone/>
            </a:pPr>
            <a:r>
              <a:rPr lang="en-US" sz="1050" dirty="0">
                <a:solidFill>
                  <a:srgbClr val="18251F"/>
                </a:solidFill>
              </a:rPr>
              <a:t>Endpoint, model and key are validated before Home opens. 401/403/404/400 responses are converted to safe user messages.</a:t>
            </a:r>
            <a:endParaRPr lang="en-US" sz="1050" dirty="0"/>
          </a:p>
        </p:txBody>
      </p:sp>
      <p:sp>
        <p:nvSpPr>
          <p:cNvPr id="10" name="Shape 8"/>
          <p:cNvSpPr/>
          <p:nvPr/>
        </p:nvSpPr>
        <p:spPr>
          <a:xfrm>
            <a:off x="731520" y="3154680"/>
            <a:ext cx="10698480" cy="685800"/>
          </a:xfrm>
          <a:prstGeom prst="roundRect">
            <a:avLst/>
          </a:prstGeom>
          <a:solidFill>
            <a:srgbClr val="FFFFFF"/>
          </a:solidFill>
          <a:ln w="12700">
            <a:solidFill>
              <a:srgbClr val="D8E6DF"/>
            </a:solidFill>
            <a:prstDash val="solid"/>
          </a:ln>
        </p:spPr>
      </p:sp>
      <p:sp>
        <p:nvSpPr>
          <p:cNvPr id="11" name="Text 9"/>
          <p:cNvSpPr/>
          <p:nvPr/>
        </p:nvSpPr>
        <p:spPr>
          <a:xfrm>
            <a:off x="960120" y="3337560"/>
            <a:ext cx="1828800" cy="219456"/>
          </a:xfrm>
          <a:prstGeom prst="rect">
            <a:avLst/>
          </a:prstGeom>
          <a:noFill/>
          <a:ln/>
        </p:spPr>
        <p:txBody>
          <a:bodyPr wrap="square" lIns="0" tIns="0" rIns="0" bIns="0" rtlCol="0" anchor="ctr"/>
          <a:lstStyle/>
          <a:p>
            <a:pPr indent="0" marL="0">
              <a:buNone/>
            </a:pPr>
            <a:r>
              <a:rPr lang="en-US" sz="1250" b="1" dirty="0">
                <a:solidFill>
                  <a:srgbClr val="007A53"/>
                </a:solidFill>
              </a:rPr>
              <a:t>Cookie values</a:t>
            </a:r>
            <a:endParaRPr lang="en-US" sz="1250" dirty="0"/>
          </a:p>
        </p:txBody>
      </p:sp>
      <p:sp>
        <p:nvSpPr>
          <p:cNvPr id="12" name="Text 10"/>
          <p:cNvSpPr/>
          <p:nvPr/>
        </p:nvSpPr>
        <p:spPr>
          <a:xfrm>
            <a:off x="2743200" y="3300984"/>
            <a:ext cx="8229600" cy="320040"/>
          </a:xfrm>
          <a:prstGeom prst="rect">
            <a:avLst/>
          </a:prstGeom>
          <a:noFill/>
          <a:ln/>
        </p:spPr>
        <p:txBody>
          <a:bodyPr wrap="square" lIns="0" tIns="0" rIns="0" bIns="0" rtlCol="0" anchor="ctr"/>
          <a:lstStyle/>
          <a:p>
            <a:pPr indent="0" marL="0">
              <a:buNone/>
            </a:pPr>
            <a:r>
              <a:rPr lang="en-US" sz="1050" dirty="0">
                <a:solidFill>
                  <a:srgbClr val="18251F"/>
                </a:solidFill>
              </a:rPr>
              <a:t>Replacement/additional cookie values are redacted from report/transcript artifacts.</a:t>
            </a:r>
            <a:endParaRPr lang="en-US" sz="1050" dirty="0"/>
          </a:p>
        </p:txBody>
      </p:sp>
      <p:sp>
        <p:nvSpPr>
          <p:cNvPr id="13" name="Shape 11"/>
          <p:cNvSpPr/>
          <p:nvPr/>
        </p:nvSpPr>
        <p:spPr>
          <a:xfrm>
            <a:off x="731520" y="4069080"/>
            <a:ext cx="10698480" cy="685800"/>
          </a:xfrm>
          <a:prstGeom prst="roundRect">
            <a:avLst/>
          </a:prstGeom>
          <a:solidFill>
            <a:srgbClr val="FFFFFF"/>
          </a:solidFill>
          <a:ln w="12700">
            <a:solidFill>
              <a:srgbClr val="D8E6DF"/>
            </a:solidFill>
            <a:prstDash val="solid"/>
          </a:ln>
        </p:spPr>
      </p:sp>
      <p:sp>
        <p:nvSpPr>
          <p:cNvPr id="14" name="Text 12"/>
          <p:cNvSpPr/>
          <p:nvPr/>
        </p:nvSpPr>
        <p:spPr>
          <a:xfrm>
            <a:off x="960120" y="4251960"/>
            <a:ext cx="1828800" cy="219456"/>
          </a:xfrm>
          <a:prstGeom prst="rect">
            <a:avLst/>
          </a:prstGeom>
          <a:noFill/>
          <a:ln/>
        </p:spPr>
        <p:txBody>
          <a:bodyPr wrap="square" lIns="0" tIns="0" rIns="0" bIns="0" rtlCol="0" anchor="ctr"/>
          <a:lstStyle/>
          <a:p>
            <a:pPr indent="0" marL="0">
              <a:buNone/>
            </a:pPr>
            <a:r>
              <a:rPr lang="en-US" sz="1250" b="1" dirty="0">
                <a:solidFill>
                  <a:srgbClr val="007A53"/>
                </a:solidFill>
              </a:rPr>
              <a:t>Insecure certificates</a:t>
            </a:r>
            <a:endParaRPr lang="en-US" sz="1250" dirty="0"/>
          </a:p>
        </p:txBody>
      </p:sp>
      <p:sp>
        <p:nvSpPr>
          <p:cNvPr id="15" name="Text 13"/>
          <p:cNvSpPr/>
          <p:nvPr/>
        </p:nvSpPr>
        <p:spPr>
          <a:xfrm>
            <a:off x="2743200" y="4215384"/>
            <a:ext cx="8229600" cy="320040"/>
          </a:xfrm>
          <a:prstGeom prst="rect">
            <a:avLst/>
          </a:prstGeom>
          <a:noFill/>
          <a:ln/>
        </p:spPr>
        <p:txBody>
          <a:bodyPr wrap="square" lIns="0" tIns="0" rIns="0" bIns="0" rtlCol="0" anchor="ctr"/>
          <a:lstStyle/>
          <a:p>
            <a:pPr indent="0" marL="0">
              <a:buNone/>
            </a:pPr>
            <a:r>
              <a:rPr lang="en-US" sz="1050" dirty="0">
                <a:solidFill>
                  <a:srgbClr val="18251F"/>
                </a:solidFill>
              </a:rPr>
              <a:t>Bypass is explicitly configurable and intended only for approved internal/self-signed test environments.</a:t>
            </a:r>
            <a:endParaRPr lang="en-US" sz="1050" dirty="0"/>
          </a:p>
        </p:txBody>
      </p:sp>
      <p:sp>
        <p:nvSpPr>
          <p:cNvPr id="16" name="Shape 14"/>
          <p:cNvSpPr/>
          <p:nvPr/>
        </p:nvSpPr>
        <p:spPr>
          <a:xfrm>
            <a:off x="731520" y="4983480"/>
            <a:ext cx="10698480" cy="685800"/>
          </a:xfrm>
          <a:prstGeom prst="roundRect">
            <a:avLst/>
          </a:prstGeom>
          <a:solidFill>
            <a:srgbClr val="FFF4D6"/>
          </a:solidFill>
          <a:ln w="12700">
            <a:solidFill>
              <a:srgbClr val="E4C36E"/>
            </a:solidFill>
            <a:prstDash val="solid"/>
          </a:ln>
        </p:spPr>
      </p:sp>
      <p:sp>
        <p:nvSpPr>
          <p:cNvPr id="17" name="Text 15"/>
          <p:cNvSpPr/>
          <p:nvPr/>
        </p:nvSpPr>
        <p:spPr>
          <a:xfrm>
            <a:off x="960120" y="5166360"/>
            <a:ext cx="1828800" cy="219456"/>
          </a:xfrm>
          <a:prstGeom prst="rect">
            <a:avLst/>
          </a:prstGeom>
          <a:noFill/>
          <a:ln/>
        </p:spPr>
        <p:txBody>
          <a:bodyPr wrap="square" lIns="0" tIns="0" rIns="0" bIns="0" rtlCol="0" anchor="ctr"/>
          <a:lstStyle/>
          <a:p>
            <a:pPr indent="0" marL="0">
              <a:buNone/>
            </a:pPr>
            <a:r>
              <a:rPr lang="en-US" sz="1250" b="1" dirty="0">
                <a:solidFill>
                  <a:srgbClr val="A36A00"/>
                </a:solidFill>
              </a:rPr>
              <a:t>Runtime boundary</a:t>
            </a:r>
            <a:endParaRPr lang="en-US" sz="1250" dirty="0"/>
          </a:p>
        </p:txBody>
      </p:sp>
      <p:sp>
        <p:nvSpPr>
          <p:cNvPr id="18" name="Text 16"/>
          <p:cNvSpPr/>
          <p:nvPr/>
        </p:nvSpPr>
        <p:spPr>
          <a:xfrm>
            <a:off x="2743200" y="5129784"/>
            <a:ext cx="8229600" cy="320040"/>
          </a:xfrm>
          <a:prstGeom prst="rect">
            <a:avLst/>
          </a:prstGeom>
          <a:noFill/>
          <a:ln/>
        </p:spPr>
        <p:txBody>
          <a:bodyPr wrap="square" lIns="0" tIns="0" rIns="0" bIns="0" rtlCol="0" anchor="ctr"/>
          <a:lstStyle/>
          <a:p>
            <a:pPr indent="0" marL="0">
              <a:buNone/>
            </a:pPr>
            <a:r>
              <a:rPr lang="en-US" sz="1050" dirty="0">
                <a:solidFill>
                  <a:srgbClr val="18251F"/>
                </a:solidFill>
              </a:rPr>
              <a:t>Credentials still exist in current browser page state and in-memory RunConfig during execution; this is not a full secret vault.</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Live execution and rerun controls</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The Home screen doubles as a lightweight run console</a:t>
            </a:r>
            <a:endParaRPr lang="en-US" sz="1150" dirty="0"/>
          </a:p>
        </p:txBody>
      </p:sp>
      <p:sp>
        <p:nvSpPr>
          <p:cNvPr id="4" name="Shape 2"/>
          <p:cNvSpPr/>
          <p:nvPr/>
        </p:nvSpPr>
        <p:spPr>
          <a:xfrm>
            <a:off x="512064" y="1197864"/>
            <a:ext cx="7799832" cy="5056632"/>
          </a:xfrm>
          <a:prstGeom prst="roundRect">
            <a:avLst/>
          </a:prstGeom>
          <a:solidFill>
            <a:srgbClr val="FFFFFF"/>
          </a:solidFill>
          <a:ln w="12700">
            <a:solidFill>
              <a:srgbClr val="D8E6DF"/>
            </a:solidFill>
            <a:prstDash val="solid"/>
          </a:ln>
          <a:effectLst>
            <a:outerShdw sx="100000" sy="100000" kx="0" ky="0" algn="bl" rotWithShape="0" blurRad="9.605176428163068e+303" dist="5.282847035489687e+303" dir="Infinity">
              <a:srgbClr val="000000">
                <a:alpha val="Infinity"/>
              </a:srgbClr>
            </a:outerShdw>
          </a:effectLst>
        </p:spPr>
      </p:sp>
      <p:pic>
        <p:nvPicPr>
          <p:cNvPr id="5" name="Image 0" descr="/mnt/data/vibium_assets/results.png">    </p:cNvPr>
          <p:cNvPicPr>
            <a:picLocks noChangeAspect="1"/>
          </p:cNvPicPr>
          <p:nvPr/>
        </p:nvPicPr>
        <p:blipFill>
          <a:blip r:embed="rId1"/>
          <a:stretch>
            <a:fillRect/>
          </a:stretch>
        </p:blipFill>
        <p:spPr>
          <a:xfrm>
            <a:off x="952859" y="1234440"/>
            <a:ext cx="6918243" cy="4983480"/>
          </a:xfrm>
          <a:prstGeom prst="rect">
            <a:avLst/>
          </a:prstGeom>
        </p:spPr>
      </p:pic>
      <p:sp>
        <p:nvSpPr>
          <p:cNvPr id="6" name="Shape 3"/>
          <p:cNvSpPr/>
          <p:nvPr/>
        </p:nvSpPr>
        <p:spPr>
          <a:xfrm>
            <a:off x="8549640" y="1417320"/>
            <a:ext cx="3017520" cy="1325880"/>
          </a:xfrm>
          <a:prstGeom prst="roundRect">
            <a:avLst>
              <a:gd name="adj" fmla="val 8276"/>
            </a:avLst>
          </a:prstGeom>
          <a:solidFill>
            <a:srgbClr val="FFFFFF"/>
          </a:solidFill>
          <a:ln w="12700">
            <a:solidFill>
              <a:srgbClr val="D8E6DF"/>
            </a:solidFill>
            <a:prstDash val="solid"/>
          </a:ln>
          <a:effectLst>
            <a:outerShdw sx="100000" sy="100000" kx="0" ky="0" algn="bl" rotWithShape="0" blurRad="1.2198574063767096e+308" dist="6.709215735071903e+307" dir="Infinity">
              <a:srgbClr val="000000">
                <a:alpha val="Infinity"/>
              </a:srgbClr>
            </a:outerShdw>
          </a:effectLst>
        </p:spPr>
      </p:sp>
      <p:sp>
        <p:nvSpPr>
          <p:cNvPr id="7" name="Shape 4"/>
          <p:cNvSpPr/>
          <p:nvPr/>
        </p:nvSpPr>
        <p:spPr>
          <a:xfrm>
            <a:off x="8750808" y="1618488"/>
            <a:ext cx="384048" cy="384048"/>
          </a:xfrm>
          <a:prstGeom prst="ellipse">
            <a:avLst/>
          </a:prstGeom>
          <a:solidFill>
            <a:srgbClr val="E9F6F0"/>
          </a:solidFill>
          <a:ln w="12700">
            <a:solidFill>
              <a:srgbClr val="E9F6F0"/>
            </a:solidFill>
            <a:prstDash val="solid"/>
          </a:ln>
        </p:spPr>
      </p:sp>
      <p:sp>
        <p:nvSpPr>
          <p:cNvPr id="8" name="Text 5"/>
          <p:cNvSpPr/>
          <p:nvPr/>
        </p:nvSpPr>
        <p:spPr>
          <a:xfrm>
            <a:off x="8750808" y="16870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K</a:t>
            </a:r>
            <a:endParaRPr lang="en-US" sz="1100" dirty="0"/>
          </a:p>
        </p:txBody>
      </p:sp>
      <p:sp>
        <p:nvSpPr>
          <p:cNvPr id="9" name="Text 6"/>
          <p:cNvSpPr/>
          <p:nvPr/>
        </p:nvSpPr>
        <p:spPr>
          <a:xfrm>
            <a:off x="9244584" y="1600200"/>
            <a:ext cx="2103120" cy="292608"/>
          </a:xfrm>
          <a:prstGeom prst="rect">
            <a:avLst/>
          </a:prstGeom>
          <a:noFill/>
          <a:ln/>
        </p:spPr>
        <p:txBody>
          <a:bodyPr wrap="square" lIns="0" tIns="0" rIns="0" bIns="0" rtlCol="0" anchor="ctr"/>
          <a:lstStyle/>
          <a:p>
            <a:pPr indent="0" marL="0">
              <a:buNone/>
            </a:pPr>
            <a:r>
              <a:rPr lang="en-US" sz="1400" b="1" dirty="0">
                <a:solidFill>
                  <a:srgbClr val="18251F"/>
                </a:solidFill>
              </a:rPr>
              <a:t>Live KPIs</a:t>
            </a:r>
            <a:endParaRPr lang="en-US" sz="1400" dirty="0"/>
          </a:p>
        </p:txBody>
      </p:sp>
      <p:sp>
        <p:nvSpPr>
          <p:cNvPr id="10" name="Text 7"/>
          <p:cNvSpPr/>
          <p:nvPr/>
        </p:nvSpPr>
        <p:spPr>
          <a:xfrm>
            <a:off x="8769096" y="1984248"/>
            <a:ext cx="2578608" cy="594360"/>
          </a:xfrm>
          <a:prstGeom prst="rect">
            <a:avLst/>
          </a:prstGeom>
          <a:noFill/>
          <a:ln/>
        </p:spPr>
        <p:txBody>
          <a:bodyPr wrap="square" lIns="381" tIns="381" rIns="381" bIns="381" rtlCol="0" anchor="t"/>
          <a:lstStyle/>
          <a:p>
            <a:pPr indent="0" marL="0">
              <a:buNone/>
            </a:pPr>
            <a:r>
              <a:rPr lang="en-US" sz="1050" dirty="0">
                <a:solidFill>
                  <a:srgbClr val="66756F"/>
                </a:solidFill>
              </a:rPr>
              <a:t>Total, executed, passed, failed, running, pending and pass percentage update during the run.</a:t>
            </a:r>
            <a:endParaRPr lang="en-US" sz="1050" dirty="0"/>
          </a:p>
        </p:txBody>
      </p:sp>
      <p:sp>
        <p:nvSpPr>
          <p:cNvPr id="11" name="Shape 8"/>
          <p:cNvSpPr/>
          <p:nvPr/>
        </p:nvSpPr>
        <p:spPr>
          <a:xfrm>
            <a:off x="8549640" y="3063240"/>
            <a:ext cx="3017520" cy="1325880"/>
          </a:xfrm>
          <a:prstGeom prst="roundRect">
            <a:avLst>
              <a:gd name="adj" fmla="val 8276"/>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2" name="Shape 9"/>
          <p:cNvSpPr/>
          <p:nvPr/>
        </p:nvSpPr>
        <p:spPr>
          <a:xfrm>
            <a:off x="8750808" y="3264408"/>
            <a:ext cx="384048" cy="384048"/>
          </a:xfrm>
          <a:prstGeom prst="ellipse">
            <a:avLst/>
          </a:prstGeom>
          <a:solidFill>
            <a:srgbClr val="E9F6F0"/>
          </a:solidFill>
          <a:ln w="12700">
            <a:solidFill>
              <a:srgbClr val="E9F6F0"/>
            </a:solidFill>
            <a:prstDash val="solid"/>
          </a:ln>
        </p:spPr>
      </p:sp>
      <p:sp>
        <p:nvSpPr>
          <p:cNvPr id="13" name="Text 10"/>
          <p:cNvSpPr/>
          <p:nvPr/>
        </p:nvSpPr>
        <p:spPr>
          <a:xfrm>
            <a:off x="8750808" y="333298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L</a:t>
            </a:r>
            <a:endParaRPr lang="en-US" sz="1100" dirty="0"/>
          </a:p>
        </p:txBody>
      </p:sp>
      <p:sp>
        <p:nvSpPr>
          <p:cNvPr id="14" name="Text 11"/>
          <p:cNvSpPr/>
          <p:nvPr/>
        </p:nvSpPr>
        <p:spPr>
          <a:xfrm>
            <a:off x="9244584" y="3246120"/>
            <a:ext cx="2103120" cy="292608"/>
          </a:xfrm>
          <a:prstGeom prst="rect">
            <a:avLst/>
          </a:prstGeom>
          <a:noFill/>
          <a:ln/>
        </p:spPr>
        <p:txBody>
          <a:bodyPr wrap="square" lIns="0" tIns="0" rIns="0" bIns="0" rtlCol="0" anchor="ctr"/>
          <a:lstStyle/>
          <a:p>
            <a:pPr indent="0" marL="0">
              <a:buNone/>
            </a:pPr>
            <a:r>
              <a:rPr lang="en-US" sz="1400" b="1" dirty="0">
                <a:solidFill>
                  <a:srgbClr val="18251F"/>
                </a:solidFill>
              </a:rPr>
              <a:t>Scenario lifecycle</a:t>
            </a:r>
            <a:endParaRPr lang="en-US" sz="1400" dirty="0"/>
          </a:p>
        </p:txBody>
      </p:sp>
      <p:sp>
        <p:nvSpPr>
          <p:cNvPr id="15" name="Text 12"/>
          <p:cNvSpPr/>
          <p:nvPr/>
        </p:nvSpPr>
        <p:spPr>
          <a:xfrm>
            <a:off x="8769096" y="3630168"/>
            <a:ext cx="2578608" cy="594360"/>
          </a:xfrm>
          <a:prstGeom prst="rect">
            <a:avLst/>
          </a:prstGeom>
          <a:noFill/>
          <a:ln/>
        </p:spPr>
        <p:txBody>
          <a:bodyPr wrap="square" lIns="381" tIns="381" rIns="381" bIns="381" rtlCol="0" anchor="t"/>
          <a:lstStyle/>
          <a:p>
            <a:pPr indent="0" marL="0">
              <a:buNone/>
            </a:pPr>
            <a:r>
              <a:rPr lang="en-US" sz="1050" dirty="0">
                <a:solidFill>
                  <a:srgbClr val="66756F"/>
                </a:solidFill>
              </a:rPr>
              <a:t>PENDING → RUNNING / RERUNNING → PASSED / FAILED / PASSED_AFTER_RERUN.</a:t>
            </a:r>
            <a:endParaRPr lang="en-US" sz="1050" dirty="0"/>
          </a:p>
        </p:txBody>
      </p:sp>
      <p:sp>
        <p:nvSpPr>
          <p:cNvPr id="16" name="Shape 13"/>
          <p:cNvSpPr/>
          <p:nvPr/>
        </p:nvSpPr>
        <p:spPr>
          <a:xfrm>
            <a:off x="8549640" y="4709160"/>
            <a:ext cx="3017520" cy="1051560"/>
          </a:xfrm>
          <a:prstGeom prst="roundRect">
            <a:avLst>
              <a:gd name="adj" fmla="val 10435"/>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7" name="Shape 14"/>
          <p:cNvSpPr/>
          <p:nvPr/>
        </p:nvSpPr>
        <p:spPr>
          <a:xfrm>
            <a:off x="8750808" y="4910328"/>
            <a:ext cx="384048" cy="384048"/>
          </a:xfrm>
          <a:prstGeom prst="ellipse">
            <a:avLst/>
          </a:prstGeom>
          <a:solidFill>
            <a:srgbClr val="E9F6F0"/>
          </a:solidFill>
          <a:ln w="12700">
            <a:solidFill>
              <a:srgbClr val="E9F6F0"/>
            </a:solidFill>
            <a:prstDash val="solid"/>
          </a:ln>
        </p:spPr>
      </p:sp>
      <p:sp>
        <p:nvSpPr>
          <p:cNvPr id="18" name="Text 15"/>
          <p:cNvSpPr/>
          <p:nvPr/>
        </p:nvSpPr>
        <p:spPr>
          <a:xfrm>
            <a:off x="8750808" y="497890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R</a:t>
            </a:r>
            <a:endParaRPr lang="en-US" sz="1100" dirty="0"/>
          </a:p>
        </p:txBody>
      </p:sp>
      <p:sp>
        <p:nvSpPr>
          <p:cNvPr id="19" name="Text 16"/>
          <p:cNvSpPr/>
          <p:nvPr/>
        </p:nvSpPr>
        <p:spPr>
          <a:xfrm>
            <a:off x="9244584" y="4892040"/>
            <a:ext cx="2103120" cy="292608"/>
          </a:xfrm>
          <a:prstGeom prst="rect">
            <a:avLst/>
          </a:prstGeom>
          <a:noFill/>
          <a:ln/>
        </p:spPr>
        <p:txBody>
          <a:bodyPr wrap="square" lIns="0" tIns="0" rIns="0" bIns="0" rtlCol="0" anchor="ctr"/>
          <a:lstStyle/>
          <a:p>
            <a:pPr indent="0" marL="0">
              <a:buNone/>
            </a:pPr>
            <a:r>
              <a:rPr lang="en-US" sz="1400" b="1" dirty="0">
                <a:solidFill>
                  <a:srgbClr val="18251F"/>
                </a:solidFill>
              </a:rPr>
              <a:t>Manual rerun</a:t>
            </a:r>
            <a:endParaRPr lang="en-US" sz="1400" dirty="0"/>
          </a:p>
        </p:txBody>
      </p:sp>
      <p:sp>
        <p:nvSpPr>
          <p:cNvPr id="20" name="Text 17"/>
          <p:cNvSpPr/>
          <p:nvPr/>
        </p:nvSpPr>
        <p:spPr>
          <a:xfrm>
            <a:off x="8769096" y="5276088"/>
            <a:ext cx="2578608" cy="320040"/>
          </a:xfrm>
          <a:prstGeom prst="rect">
            <a:avLst/>
          </a:prstGeom>
          <a:noFill/>
          <a:ln/>
        </p:spPr>
        <p:txBody>
          <a:bodyPr wrap="square" lIns="381" tIns="381" rIns="381" bIns="381" rtlCol="0" anchor="t"/>
          <a:lstStyle/>
          <a:p>
            <a:pPr indent="0" marL="0">
              <a:buNone/>
            </a:pPr>
            <a:r>
              <a:rPr lang="en-US" sz="1050" dirty="0">
                <a:solidFill>
                  <a:srgbClr val="66756F"/>
                </a:solidFill>
              </a:rPr>
              <a:t>Select failed or individual scenarios and rerun them from the UI.</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Reports and generated artifacts</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Each run produces human-readable evidence and machine-readable diagnostics</a:t>
            </a:r>
            <a:endParaRPr lang="en-US" sz="1150" dirty="0"/>
          </a:p>
        </p:txBody>
      </p:sp>
      <p:sp>
        <p:nvSpPr>
          <p:cNvPr id="4" name="Shape 2"/>
          <p:cNvSpPr/>
          <p:nvPr/>
        </p:nvSpPr>
        <p:spPr>
          <a:xfrm>
            <a:off x="502920" y="1234440"/>
            <a:ext cx="3611880" cy="123444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5" name="Text 3"/>
          <p:cNvSpPr/>
          <p:nvPr/>
        </p:nvSpPr>
        <p:spPr>
          <a:xfrm>
            <a:off x="685800" y="1380744"/>
            <a:ext cx="3246120" cy="228600"/>
          </a:xfrm>
          <a:prstGeom prst="rect">
            <a:avLst/>
          </a:prstGeom>
          <a:noFill/>
          <a:ln/>
        </p:spPr>
        <p:txBody>
          <a:bodyPr wrap="square" lIns="0" tIns="0" rIns="0" bIns="0" rtlCol="0" anchor="ctr"/>
          <a:lstStyle/>
          <a:p>
            <a:pPr indent="0" marL="0">
              <a:buNone/>
            </a:pPr>
            <a:r>
              <a:rPr lang="en-US" sz="1100" b="1" dirty="0">
                <a:solidFill>
                  <a:srgbClr val="007A53"/>
                </a:solidFill>
              </a:rPr>
              <a:t>report.html</a:t>
            </a:r>
            <a:endParaRPr lang="en-US" sz="1100" dirty="0"/>
          </a:p>
        </p:txBody>
      </p:sp>
      <p:sp>
        <p:nvSpPr>
          <p:cNvPr id="6" name="Text 4"/>
          <p:cNvSpPr/>
          <p:nvPr/>
        </p:nvSpPr>
        <p:spPr>
          <a:xfrm>
            <a:off x="685800" y="1682496"/>
            <a:ext cx="3246120" cy="210312"/>
          </a:xfrm>
          <a:prstGeom prst="rect">
            <a:avLst/>
          </a:prstGeom>
          <a:noFill/>
          <a:ln/>
        </p:spPr>
        <p:txBody>
          <a:bodyPr wrap="square" lIns="0" tIns="0" rIns="0" bIns="0" rtlCol="0" anchor="ctr"/>
          <a:lstStyle/>
          <a:p>
            <a:pPr indent="0" marL="0">
              <a:buNone/>
            </a:pPr>
            <a:r>
              <a:rPr lang="en-US" sz="1050" b="1" dirty="0">
                <a:solidFill>
                  <a:srgbClr val="18251F"/>
                </a:solidFill>
              </a:rPr>
              <a:t>Detailed attachment report</a:t>
            </a:r>
            <a:endParaRPr lang="en-US" sz="1050" dirty="0"/>
          </a:p>
        </p:txBody>
      </p:sp>
      <p:sp>
        <p:nvSpPr>
          <p:cNvPr id="7" name="Text 5"/>
          <p:cNvSpPr/>
          <p:nvPr/>
        </p:nvSpPr>
        <p:spPr>
          <a:xfrm>
            <a:off x="685800" y="1947672"/>
            <a:ext cx="3246120" cy="347472"/>
          </a:xfrm>
          <a:prstGeom prst="rect">
            <a:avLst/>
          </a:prstGeom>
          <a:noFill/>
          <a:ln/>
        </p:spPr>
        <p:txBody>
          <a:bodyPr wrap="square" lIns="0" tIns="0" rIns="0" bIns="0" rtlCol="0" anchor="ctr"/>
          <a:lstStyle/>
          <a:p>
            <a:pPr indent="0" marL="0">
              <a:buNone/>
            </a:pPr>
            <a:r>
              <a:rPr lang="en-US" sz="930" dirty="0">
                <a:solidFill>
                  <a:srgbClr val="66756F"/>
                </a:solidFill>
              </a:rPr>
              <a:t>All scenarios, attempts, steps, filters and evidence</a:t>
            </a:r>
            <a:endParaRPr lang="en-US" sz="930" dirty="0"/>
          </a:p>
        </p:txBody>
      </p:sp>
      <p:sp>
        <p:nvSpPr>
          <p:cNvPr id="8" name="Shape 6"/>
          <p:cNvSpPr/>
          <p:nvPr/>
        </p:nvSpPr>
        <p:spPr>
          <a:xfrm>
            <a:off x="4389120" y="1234440"/>
            <a:ext cx="3611880" cy="123444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9" name="Text 7"/>
          <p:cNvSpPr/>
          <p:nvPr/>
        </p:nvSpPr>
        <p:spPr>
          <a:xfrm>
            <a:off x="4572000" y="1380744"/>
            <a:ext cx="3246120" cy="228600"/>
          </a:xfrm>
          <a:prstGeom prst="rect">
            <a:avLst/>
          </a:prstGeom>
          <a:noFill/>
          <a:ln/>
        </p:spPr>
        <p:txBody>
          <a:bodyPr wrap="square" lIns="0" tIns="0" rIns="0" bIns="0" rtlCol="0" anchor="ctr"/>
          <a:lstStyle/>
          <a:p>
            <a:pPr indent="0" marL="0">
              <a:buNone/>
            </a:pPr>
            <a:r>
              <a:rPr lang="en-US" sz="1100" b="1" dirty="0">
                <a:solidFill>
                  <a:srgbClr val="007A53"/>
                </a:solidFill>
              </a:rPr>
              <a:t>outlook-report.html</a:t>
            </a:r>
            <a:endParaRPr lang="en-US" sz="1100" dirty="0"/>
          </a:p>
        </p:txBody>
      </p:sp>
      <p:sp>
        <p:nvSpPr>
          <p:cNvPr id="10" name="Text 8"/>
          <p:cNvSpPr/>
          <p:nvPr/>
        </p:nvSpPr>
        <p:spPr>
          <a:xfrm>
            <a:off x="4572000" y="1682496"/>
            <a:ext cx="3246120" cy="210312"/>
          </a:xfrm>
          <a:prstGeom prst="rect">
            <a:avLst/>
          </a:prstGeom>
          <a:noFill/>
          <a:ln/>
        </p:spPr>
        <p:txBody>
          <a:bodyPr wrap="square" lIns="0" tIns="0" rIns="0" bIns="0" rtlCol="0" anchor="ctr"/>
          <a:lstStyle/>
          <a:p>
            <a:pPr indent="0" marL="0">
              <a:buNone/>
            </a:pPr>
            <a:r>
              <a:rPr lang="en-US" sz="1050" b="1" dirty="0">
                <a:solidFill>
                  <a:srgbClr val="18251F"/>
                </a:solidFill>
              </a:rPr>
              <a:t>Email-body report</a:t>
            </a:r>
            <a:endParaRPr lang="en-US" sz="1050" dirty="0"/>
          </a:p>
        </p:txBody>
      </p:sp>
      <p:sp>
        <p:nvSpPr>
          <p:cNvPr id="11" name="Text 9"/>
          <p:cNvSpPr/>
          <p:nvPr/>
        </p:nvSpPr>
        <p:spPr>
          <a:xfrm>
            <a:off x="4572000" y="1947672"/>
            <a:ext cx="3246120" cy="347472"/>
          </a:xfrm>
          <a:prstGeom prst="rect">
            <a:avLst/>
          </a:prstGeom>
          <a:noFill/>
          <a:ln/>
        </p:spPr>
        <p:txBody>
          <a:bodyPr wrap="square" lIns="0" tIns="0" rIns="0" bIns="0" rtlCol="0" anchor="ctr"/>
          <a:lstStyle/>
          <a:p>
            <a:pPr indent="0" marL="0">
              <a:buNone/>
            </a:pPr>
            <a:r>
              <a:rPr lang="en-US" sz="930" dirty="0">
                <a:solidFill>
                  <a:srgbClr val="66756F"/>
                </a:solidFill>
              </a:rPr>
              <a:t>Compact summary + up to 25 scenario rows</a:t>
            </a:r>
            <a:endParaRPr lang="en-US" sz="930" dirty="0"/>
          </a:p>
        </p:txBody>
      </p:sp>
      <p:sp>
        <p:nvSpPr>
          <p:cNvPr id="12" name="Shape 10"/>
          <p:cNvSpPr/>
          <p:nvPr/>
        </p:nvSpPr>
        <p:spPr>
          <a:xfrm>
            <a:off x="8275320" y="1234440"/>
            <a:ext cx="3611880" cy="123444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3" name="Text 11"/>
          <p:cNvSpPr/>
          <p:nvPr/>
        </p:nvSpPr>
        <p:spPr>
          <a:xfrm>
            <a:off x="8458200" y="1380744"/>
            <a:ext cx="3246120" cy="228600"/>
          </a:xfrm>
          <a:prstGeom prst="rect">
            <a:avLst/>
          </a:prstGeom>
          <a:noFill/>
          <a:ln/>
        </p:spPr>
        <p:txBody>
          <a:bodyPr wrap="square" lIns="0" tIns="0" rIns="0" bIns="0" rtlCol="0" anchor="ctr"/>
          <a:lstStyle/>
          <a:p>
            <a:pPr indent="0" marL="0">
              <a:buNone/>
            </a:pPr>
            <a:r>
              <a:rPr lang="en-US" sz="1100" b="1" dirty="0">
                <a:solidFill>
                  <a:srgbClr val="007A53"/>
                </a:solidFill>
              </a:rPr>
              <a:t>report.xlsx</a:t>
            </a:r>
            <a:endParaRPr lang="en-US" sz="1100" dirty="0"/>
          </a:p>
        </p:txBody>
      </p:sp>
      <p:sp>
        <p:nvSpPr>
          <p:cNvPr id="14" name="Text 12"/>
          <p:cNvSpPr/>
          <p:nvPr/>
        </p:nvSpPr>
        <p:spPr>
          <a:xfrm>
            <a:off x="8458200" y="1682496"/>
            <a:ext cx="3246120" cy="210312"/>
          </a:xfrm>
          <a:prstGeom prst="rect">
            <a:avLst/>
          </a:prstGeom>
          <a:noFill/>
          <a:ln/>
        </p:spPr>
        <p:txBody>
          <a:bodyPr wrap="square" lIns="0" tIns="0" rIns="0" bIns="0" rtlCol="0" anchor="ctr"/>
          <a:lstStyle/>
          <a:p>
            <a:pPr indent="0" marL="0">
              <a:buNone/>
            </a:pPr>
            <a:r>
              <a:rPr lang="en-US" sz="1050" b="1" dirty="0">
                <a:solidFill>
                  <a:srgbClr val="18251F"/>
                </a:solidFill>
              </a:rPr>
              <a:t>Excel report</a:t>
            </a:r>
            <a:endParaRPr lang="en-US" sz="1050" dirty="0"/>
          </a:p>
        </p:txBody>
      </p:sp>
      <p:sp>
        <p:nvSpPr>
          <p:cNvPr id="15" name="Text 13"/>
          <p:cNvSpPr/>
          <p:nvPr/>
        </p:nvSpPr>
        <p:spPr>
          <a:xfrm>
            <a:off x="8458200" y="1947672"/>
            <a:ext cx="3246120" cy="347472"/>
          </a:xfrm>
          <a:prstGeom prst="rect">
            <a:avLst/>
          </a:prstGeom>
          <a:noFill/>
          <a:ln/>
        </p:spPr>
        <p:txBody>
          <a:bodyPr wrap="square" lIns="0" tIns="0" rIns="0" bIns="0" rtlCol="0" anchor="ctr"/>
          <a:lstStyle/>
          <a:p>
            <a:pPr indent="0" marL="0">
              <a:buNone/>
            </a:pPr>
            <a:r>
              <a:rPr lang="en-US" sz="930" dirty="0">
                <a:solidFill>
                  <a:srgbClr val="66756F"/>
                </a:solidFill>
              </a:rPr>
              <a:t>Structured execution/attempt data</a:t>
            </a:r>
            <a:endParaRPr lang="en-US" sz="930" dirty="0"/>
          </a:p>
        </p:txBody>
      </p:sp>
      <p:sp>
        <p:nvSpPr>
          <p:cNvPr id="16" name="Shape 14"/>
          <p:cNvSpPr/>
          <p:nvPr/>
        </p:nvSpPr>
        <p:spPr>
          <a:xfrm>
            <a:off x="502920" y="2743200"/>
            <a:ext cx="3611880" cy="123444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685800" y="2889504"/>
            <a:ext cx="3246120" cy="228600"/>
          </a:xfrm>
          <a:prstGeom prst="rect">
            <a:avLst/>
          </a:prstGeom>
          <a:noFill/>
          <a:ln/>
        </p:spPr>
        <p:txBody>
          <a:bodyPr wrap="square" lIns="0" tIns="0" rIns="0" bIns="0" rtlCol="0" anchor="ctr"/>
          <a:lstStyle/>
          <a:p>
            <a:pPr indent="0" marL="0">
              <a:buNone/>
            </a:pPr>
            <a:r>
              <a:rPr lang="en-US" sz="1100" b="1" dirty="0">
                <a:solidFill>
                  <a:srgbClr val="007A53"/>
                </a:solidFill>
              </a:rPr>
              <a:t>report.json</a:t>
            </a:r>
            <a:endParaRPr lang="en-US" sz="1100" dirty="0"/>
          </a:p>
        </p:txBody>
      </p:sp>
      <p:sp>
        <p:nvSpPr>
          <p:cNvPr id="18" name="Text 16"/>
          <p:cNvSpPr/>
          <p:nvPr/>
        </p:nvSpPr>
        <p:spPr>
          <a:xfrm>
            <a:off x="685800" y="3191256"/>
            <a:ext cx="3246120" cy="210312"/>
          </a:xfrm>
          <a:prstGeom prst="rect">
            <a:avLst/>
          </a:prstGeom>
          <a:noFill/>
          <a:ln/>
        </p:spPr>
        <p:txBody>
          <a:bodyPr wrap="square" lIns="0" tIns="0" rIns="0" bIns="0" rtlCol="0" anchor="ctr"/>
          <a:lstStyle/>
          <a:p>
            <a:pPr indent="0" marL="0">
              <a:buNone/>
            </a:pPr>
            <a:r>
              <a:rPr lang="en-US" sz="1050" b="1" dirty="0">
                <a:solidFill>
                  <a:srgbClr val="18251F"/>
                </a:solidFill>
              </a:rPr>
              <a:t>JSON report</a:t>
            </a:r>
            <a:endParaRPr lang="en-US" sz="1050" dirty="0"/>
          </a:p>
        </p:txBody>
      </p:sp>
      <p:sp>
        <p:nvSpPr>
          <p:cNvPr id="19" name="Text 17"/>
          <p:cNvSpPr/>
          <p:nvPr/>
        </p:nvSpPr>
        <p:spPr>
          <a:xfrm>
            <a:off x="685800" y="3456432"/>
            <a:ext cx="3246120" cy="347472"/>
          </a:xfrm>
          <a:prstGeom prst="rect">
            <a:avLst/>
          </a:prstGeom>
          <a:noFill/>
          <a:ln/>
        </p:spPr>
        <p:txBody>
          <a:bodyPr wrap="square" lIns="0" tIns="0" rIns="0" bIns="0" rtlCol="0" anchor="ctr"/>
          <a:lstStyle/>
          <a:p>
            <a:pPr indent="0" marL="0">
              <a:buNone/>
            </a:pPr>
            <a:r>
              <a:rPr lang="en-US" sz="930" dirty="0">
                <a:solidFill>
                  <a:srgbClr val="66756F"/>
                </a:solidFill>
              </a:rPr>
              <a:t>Machine-readable full result</a:t>
            </a:r>
            <a:endParaRPr lang="en-US" sz="930" dirty="0"/>
          </a:p>
        </p:txBody>
      </p:sp>
      <p:sp>
        <p:nvSpPr>
          <p:cNvPr id="20" name="Shape 18"/>
          <p:cNvSpPr/>
          <p:nvPr/>
        </p:nvSpPr>
        <p:spPr>
          <a:xfrm>
            <a:off x="4389120" y="2743200"/>
            <a:ext cx="3611880" cy="123444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21" name="Text 19"/>
          <p:cNvSpPr/>
          <p:nvPr/>
        </p:nvSpPr>
        <p:spPr>
          <a:xfrm>
            <a:off x="4572000" y="2889504"/>
            <a:ext cx="3246120" cy="228600"/>
          </a:xfrm>
          <a:prstGeom prst="rect">
            <a:avLst/>
          </a:prstGeom>
          <a:noFill/>
          <a:ln/>
        </p:spPr>
        <p:txBody>
          <a:bodyPr wrap="square" lIns="0" tIns="0" rIns="0" bIns="0" rtlCol="0" anchor="ctr"/>
          <a:lstStyle/>
          <a:p>
            <a:pPr indent="0" marL="0">
              <a:buNone/>
            </a:pPr>
            <a:r>
              <a:rPr lang="en-US" sz="1100" b="1" dirty="0">
                <a:solidFill>
                  <a:srgbClr val="007A53"/>
                </a:solidFill>
              </a:rPr>
              <a:t>screenshots-report.html</a:t>
            </a:r>
            <a:endParaRPr lang="en-US" sz="1100" dirty="0"/>
          </a:p>
        </p:txBody>
      </p:sp>
      <p:sp>
        <p:nvSpPr>
          <p:cNvPr id="22" name="Text 20"/>
          <p:cNvSpPr/>
          <p:nvPr/>
        </p:nvSpPr>
        <p:spPr>
          <a:xfrm>
            <a:off x="4572000" y="3191256"/>
            <a:ext cx="3246120" cy="210312"/>
          </a:xfrm>
          <a:prstGeom prst="rect">
            <a:avLst/>
          </a:prstGeom>
          <a:noFill/>
          <a:ln/>
        </p:spPr>
        <p:txBody>
          <a:bodyPr wrap="square" lIns="0" tIns="0" rIns="0" bIns="0" rtlCol="0" anchor="ctr"/>
          <a:lstStyle/>
          <a:p>
            <a:pPr indent="0" marL="0">
              <a:buNone/>
            </a:pPr>
            <a:r>
              <a:rPr lang="en-US" sz="1050" b="1" dirty="0">
                <a:solidFill>
                  <a:srgbClr val="18251F"/>
                </a:solidFill>
              </a:rPr>
              <a:t>Screenshot report</a:t>
            </a:r>
            <a:endParaRPr lang="en-US" sz="1050" dirty="0"/>
          </a:p>
        </p:txBody>
      </p:sp>
      <p:sp>
        <p:nvSpPr>
          <p:cNvPr id="23" name="Text 21"/>
          <p:cNvSpPr/>
          <p:nvPr/>
        </p:nvSpPr>
        <p:spPr>
          <a:xfrm>
            <a:off x="4572000" y="3456432"/>
            <a:ext cx="3246120" cy="347472"/>
          </a:xfrm>
          <a:prstGeom prst="rect">
            <a:avLst/>
          </a:prstGeom>
          <a:noFill/>
          <a:ln/>
        </p:spPr>
        <p:txBody>
          <a:bodyPr wrap="square" lIns="0" tIns="0" rIns="0" bIns="0" rtlCol="0" anchor="ctr"/>
          <a:lstStyle/>
          <a:p>
            <a:pPr indent="0" marL="0">
              <a:buNone/>
            </a:pPr>
            <a:r>
              <a:rPr lang="en-US" sz="930" dirty="0">
                <a:solidFill>
                  <a:srgbClr val="66756F"/>
                </a:solidFill>
              </a:rPr>
              <a:t>Standalone embedded failure/screenshot view</a:t>
            </a:r>
            <a:endParaRPr lang="en-US" sz="930" dirty="0"/>
          </a:p>
        </p:txBody>
      </p:sp>
      <p:sp>
        <p:nvSpPr>
          <p:cNvPr id="24" name="Shape 22"/>
          <p:cNvSpPr/>
          <p:nvPr/>
        </p:nvSpPr>
        <p:spPr>
          <a:xfrm>
            <a:off x="8275320" y="2743200"/>
            <a:ext cx="3611880" cy="123444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25" name="Text 23"/>
          <p:cNvSpPr/>
          <p:nvPr/>
        </p:nvSpPr>
        <p:spPr>
          <a:xfrm>
            <a:off x="8458200" y="2889504"/>
            <a:ext cx="3246120" cy="228600"/>
          </a:xfrm>
          <a:prstGeom prst="rect">
            <a:avLst/>
          </a:prstGeom>
          <a:noFill/>
          <a:ln/>
        </p:spPr>
        <p:txBody>
          <a:bodyPr wrap="square" lIns="0" tIns="0" rIns="0" bIns="0" rtlCol="0" anchor="ctr"/>
          <a:lstStyle/>
          <a:p>
            <a:pPr indent="0" marL="0">
              <a:buNone/>
            </a:pPr>
            <a:r>
              <a:rPr lang="en-US" sz="1100" b="1" dirty="0">
                <a:solidFill>
                  <a:srgbClr val="007A53"/>
                </a:solidFill>
              </a:rPr>
              <a:t>screenshots.zip</a:t>
            </a:r>
            <a:endParaRPr lang="en-US" sz="1100" dirty="0"/>
          </a:p>
        </p:txBody>
      </p:sp>
      <p:sp>
        <p:nvSpPr>
          <p:cNvPr id="26" name="Text 24"/>
          <p:cNvSpPr/>
          <p:nvPr/>
        </p:nvSpPr>
        <p:spPr>
          <a:xfrm>
            <a:off x="8458200" y="3191256"/>
            <a:ext cx="3246120" cy="210312"/>
          </a:xfrm>
          <a:prstGeom prst="rect">
            <a:avLst/>
          </a:prstGeom>
          <a:noFill/>
          <a:ln/>
        </p:spPr>
        <p:txBody>
          <a:bodyPr wrap="square" lIns="0" tIns="0" rIns="0" bIns="0" rtlCol="0" anchor="ctr"/>
          <a:lstStyle/>
          <a:p>
            <a:pPr indent="0" marL="0">
              <a:buNone/>
            </a:pPr>
            <a:r>
              <a:rPr lang="en-US" sz="1050" b="1" dirty="0">
                <a:solidFill>
                  <a:srgbClr val="18251F"/>
                </a:solidFill>
              </a:rPr>
              <a:t>Screenshot archive</a:t>
            </a:r>
            <a:endParaRPr lang="en-US" sz="1050" dirty="0"/>
          </a:p>
        </p:txBody>
      </p:sp>
      <p:sp>
        <p:nvSpPr>
          <p:cNvPr id="27" name="Text 25"/>
          <p:cNvSpPr/>
          <p:nvPr/>
        </p:nvSpPr>
        <p:spPr>
          <a:xfrm>
            <a:off x="8458200" y="3456432"/>
            <a:ext cx="3246120" cy="347472"/>
          </a:xfrm>
          <a:prstGeom prst="rect">
            <a:avLst/>
          </a:prstGeom>
          <a:noFill/>
          <a:ln/>
        </p:spPr>
        <p:txBody>
          <a:bodyPr wrap="square" lIns="0" tIns="0" rIns="0" bIns="0" rtlCol="0" anchor="ctr"/>
          <a:lstStyle/>
          <a:p>
            <a:pPr indent="0" marL="0">
              <a:buNone/>
            </a:pPr>
            <a:r>
              <a:rPr lang="en-US" sz="930" dirty="0">
                <a:solidFill>
                  <a:srgbClr val="66756F"/>
                </a:solidFill>
              </a:rPr>
              <a:t>Downloadable image bundle</a:t>
            </a:r>
            <a:endParaRPr lang="en-US" sz="930" dirty="0"/>
          </a:p>
        </p:txBody>
      </p:sp>
      <p:sp>
        <p:nvSpPr>
          <p:cNvPr id="28" name="Shape 26"/>
          <p:cNvSpPr/>
          <p:nvPr/>
        </p:nvSpPr>
        <p:spPr>
          <a:xfrm>
            <a:off x="502920" y="4251960"/>
            <a:ext cx="3611880" cy="123444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29" name="Text 27"/>
          <p:cNvSpPr/>
          <p:nvPr/>
        </p:nvSpPr>
        <p:spPr>
          <a:xfrm>
            <a:off x="685800" y="4398264"/>
            <a:ext cx="3246120" cy="228600"/>
          </a:xfrm>
          <a:prstGeom prst="rect">
            <a:avLst/>
          </a:prstGeom>
          <a:noFill/>
          <a:ln/>
        </p:spPr>
        <p:txBody>
          <a:bodyPr wrap="square" lIns="0" tIns="0" rIns="0" bIns="0" rtlCol="0" anchor="ctr"/>
          <a:lstStyle/>
          <a:p>
            <a:pPr indent="0" marL="0">
              <a:buNone/>
            </a:pPr>
            <a:r>
              <a:rPr lang="en-US" sz="1100" b="1" dirty="0">
                <a:solidFill>
                  <a:srgbClr val="007A53"/>
                </a:solidFill>
              </a:rPr>
              <a:t>mcp-tools.json</a:t>
            </a:r>
            <a:endParaRPr lang="en-US" sz="1100" dirty="0"/>
          </a:p>
        </p:txBody>
      </p:sp>
      <p:sp>
        <p:nvSpPr>
          <p:cNvPr id="30" name="Text 28"/>
          <p:cNvSpPr/>
          <p:nvPr/>
        </p:nvSpPr>
        <p:spPr>
          <a:xfrm>
            <a:off x="685800" y="4700016"/>
            <a:ext cx="3246120" cy="210312"/>
          </a:xfrm>
          <a:prstGeom prst="rect">
            <a:avLst/>
          </a:prstGeom>
          <a:noFill/>
          <a:ln/>
        </p:spPr>
        <p:txBody>
          <a:bodyPr wrap="square" lIns="0" tIns="0" rIns="0" bIns="0" rtlCol="0" anchor="ctr"/>
          <a:lstStyle/>
          <a:p>
            <a:pPr indent="0" marL="0">
              <a:buNone/>
            </a:pPr>
            <a:r>
              <a:rPr lang="en-US" sz="1050" b="1" dirty="0">
                <a:solidFill>
                  <a:srgbClr val="18251F"/>
                </a:solidFill>
              </a:rPr>
              <a:t>Tool manifest</a:t>
            </a:r>
            <a:endParaRPr lang="en-US" sz="1050" dirty="0"/>
          </a:p>
        </p:txBody>
      </p:sp>
      <p:sp>
        <p:nvSpPr>
          <p:cNvPr id="31" name="Text 29"/>
          <p:cNvSpPr/>
          <p:nvPr/>
        </p:nvSpPr>
        <p:spPr>
          <a:xfrm>
            <a:off x="685800" y="4965192"/>
            <a:ext cx="3246120" cy="347472"/>
          </a:xfrm>
          <a:prstGeom prst="rect">
            <a:avLst/>
          </a:prstGeom>
          <a:noFill/>
          <a:ln/>
        </p:spPr>
        <p:txBody>
          <a:bodyPr wrap="square" lIns="0" tIns="0" rIns="0" bIns="0" rtlCol="0" anchor="ctr"/>
          <a:lstStyle/>
          <a:p>
            <a:pPr indent="0" marL="0">
              <a:buNone/>
            </a:pPr>
            <a:r>
              <a:rPr lang="en-US" sz="930" dirty="0">
                <a:solidFill>
                  <a:srgbClr val="66756F"/>
                </a:solidFill>
              </a:rPr>
              <a:t>Capabilities exposed by the active Vibium MCP</a:t>
            </a:r>
            <a:endParaRPr lang="en-US" sz="930" dirty="0"/>
          </a:p>
        </p:txBody>
      </p:sp>
      <p:sp>
        <p:nvSpPr>
          <p:cNvPr id="32" name="Shape 30"/>
          <p:cNvSpPr/>
          <p:nvPr/>
        </p:nvSpPr>
        <p:spPr>
          <a:xfrm>
            <a:off x="4389120" y="4251960"/>
            <a:ext cx="3611880" cy="123444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33" name="Text 31"/>
          <p:cNvSpPr/>
          <p:nvPr/>
        </p:nvSpPr>
        <p:spPr>
          <a:xfrm>
            <a:off x="4572000" y="4398264"/>
            <a:ext cx="3246120" cy="228600"/>
          </a:xfrm>
          <a:prstGeom prst="rect">
            <a:avLst/>
          </a:prstGeom>
          <a:noFill/>
          <a:ln/>
        </p:spPr>
        <p:txBody>
          <a:bodyPr wrap="square" lIns="0" tIns="0" rIns="0" bIns="0" rtlCol="0" anchor="ctr"/>
          <a:lstStyle/>
          <a:p>
            <a:pPr indent="0" marL="0">
              <a:buNone/>
            </a:pPr>
            <a:r>
              <a:rPr lang="en-US" sz="1100" b="1" dirty="0">
                <a:solidFill>
                  <a:srgbClr val="007A53"/>
                </a:solidFill>
              </a:rPr>
              <a:t>mcp-transcript.json</a:t>
            </a:r>
            <a:endParaRPr lang="en-US" sz="1100" dirty="0"/>
          </a:p>
        </p:txBody>
      </p:sp>
      <p:sp>
        <p:nvSpPr>
          <p:cNvPr id="34" name="Text 32"/>
          <p:cNvSpPr/>
          <p:nvPr/>
        </p:nvSpPr>
        <p:spPr>
          <a:xfrm>
            <a:off x="4572000" y="4700016"/>
            <a:ext cx="3246120" cy="210312"/>
          </a:xfrm>
          <a:prstGeom prst="rect">
            <a:avLst/>
          </a:prstGeom>
          <a:noFill/>
          <a:ln/>
        </p:spPr>
        <p:txBody>
          <a:bodyPr wrap="square" lIns="0" tIns="0" rIns="0" bIns="0" rtlCol="0" anchor="ctr"/>
          <a:lstStyle/>
          <a:p>
            <a:pPr indent="0" marL="0">
              <a:buNone/>
            </a:pPr>
            <a:r>
              <a:rPr lang="en-US" sz="1050" b="1" dirty="0">
                <a:solidFill>
                  <a:srgbClr val="18251F"/>
                </a:solidFill>
              </a:rPr>
              <a:t>JSON-RPC transcript</a:t>
            </a:r>
            <a:endParaRPr lang="en-US" sz="1050" dirty="0"/>
          </a:p>
        </p:txBody>
      </p:sp>
      <p:sp>
        <p:nvSpPr>
          <p:cNvPr id="35" name="Text 33"/>
          <p:cNvSpPr/>
          <p:nvPr/>
        </p:nvSpPr>
        <p:spPr>
          <a:xfrm>
            <a:off x="4572000" y="4965192"/>
            <a:ext cx="3246120" cy="347472"/>
          </a:xfrm>
          <a:prstGeom prst="rect">
            <a:avLst/>
          </a:prstGeom>
          <a:noFill/>
          <a:ln/>
        </p:spPr>
        <p:txBody>
          <a:bodyPr wrap="square" lIns="0" tIns="0" rIns="0" bIns="0" rtlCol="0" anchor="ctr"/>
          <a:lstStyle/>
          <a:p>
            <a:pPr indent="0" marL="0">
              <a:buNone/>
            </a:pPr>
            <a:r>
              <a:rPr lang="en-US" sz="930" dirty="0">
                <a:solidFill>
                  <a:srgbClr val="66756F"/>
                </a:solidFill>
              </a:rPr>
              <a:t>Redacted request/response trail</a:t>
            </a:r>
            <a:endParaRPr lang="en-US" sz="930" dirty="0"/>
          </a:p>
        </p:txBody>
      </p:sp>
      <p:sp>
        <p:nvSpPr>
          <p:cNvPr id="36" name="Shape 34"/>
          <p:cNvSpPr/>
          <p:nvPr/>
        </p:nvSpPr>
        <p:spPr>
          <a:xfrm>
            <a:off x="8275320" y="4251960"/>
            <a:ext cx="3611880" cy="123444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37" name="Text 35"/>
          <p:cNvSpPr/>
          <p:nvPr/>
        </p:nvSpPr>
        <p:spPr>
          <a:xfrm>
            <a:off x="8458200" y="4398264"/>
            <a:ext cx="3246120" cy="228600"/>
          </a:xfrm>
          <a:prstGeom prst="rect">
            <a:avLst/>
          </a:prstGeom>
          <a:noFill/>
          <a:ln/>
        </p:spPr>
        <p:txBody>
          <a:bodyPr wrap="square" lIns="0" tIns="0" rIns="0" bIns="0" rtlCol="0" anchor="ctr"/>
          <a:lstStyle/>
          <a:p>
            <a:pPr indent="0" marL="0">
              <a:buNone/>
            </a:pPr>
            <a:r>
              <a:rPr lang="en-US" sz="1100" b="1" dirty="0">
                <a:solidFill>
                  <a:srgbClr val="007A53"/>
                </a:solidFill>
              </a:rPr>
              <a:t>mcp-process.log</a:t>
            </a:r>
            <a:endParaRPr lang="en-US" sz="1100" dirty="0"/>
          </a:p>
        </p:txBody>
      </p:sp>
      <p:sp>
        <p:nvSpPr>
          <p:cNvPr id="38" name="Text 36"/>
          <p:cNvSpPr/>
          <p:nvPr/>
        </p:nvSpPr>
        <p:spPr>
          <a:xfrm>
            <a:off x="8458200" y="4700016"/>
            <a:ext cx="3246120" cy="210312"/>
          </a:xfrm>
          <a:prstGeom prst="rect">
            <a:avLst/>
          </a:prstGeom>
          <a:noFill/>
          <a:ln/>
        </p:spPr>
        <p:txBody>
          <a:bodyPr wrap="square" lIns="0" tIns="0" rIns="0" bIns="0" rtlCol="0" anchor="ctr"/>
          <a:lstStyle/>
          <a:p>
            <a:pPr indent="0" marL="0">
              <a:buNone/>
            </a:pPr>
            <a:r>
              <a:rPr lang="en-US" sz="1050" b="1" dirty="0">
                <a:solidFill>
                  <a:srgbClr val="18251F"/>
                </a:solidFill>
              </a:rPr>
              <a:t>Process log</a:t>
            </a:r>
            <a:endParaRPr lang="en-US" sz="1050" dirty="0"/>
          </a:p>
        </p:txBody>
      </p:sp>
      <p:sp>
        <p:nvSpPr>
          <p:cNvPr id="39" name="Text 37"/>
          <p:cNvSpPr/>
          <p:nvPr/>
        </p:nvSpPr>
        <p:spPr>
          <a:xfrm>
            <a:off x="8458200" y="4965192"/>
            <a:ext cx="3246120" cy="347472"/>
          </a:xfrm>
          <a:prstGeom prst="rect">
            <a:avLst/>
          </a:prstGeom>
          <a:noFill/>
          <a:ln/>
        </p:spPr>
        <p:txBody>
          <a:bodyPr wrap="square" lIns="0" tIns="0" rIns="0" bIns="0" rtlCol="0" anchor="ctr"/>
          <a:lstStyle/>
          <a:p>
            <a:pPr indent="0" marL="0">
              <a:buNone/>
            </a:pPr>
            <a:r>
              <a:rPr lang="en-US" sz="930" dirty="0">
                <a:solidFill>
                  <a:srgbClr val="66756F"/>
                </a:solidFill>
              </a:rPr>
              <a:t>MCP/bridge diagnostics</a:t>
            </a:r>
            <a:endParaRPr lang="en-US" sz="93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MCP diagnostics and observability</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The framework keeps enough context to answer “what did the browser tool actually do?”</a:t>
            </a:r>
            <a:endParaRPr lang="en-US" sz="1150" dirty="0"/>
          </a:p>
        </p:txBody>
      </p:sp>
      <p:sp>
        <p:nvSpPr>
          <p:cNvPr id="4" name="Shape 2"/>
          <p:cNvSpPr/>
          <p:nvPr/>
        </p:nvSpPr>
        <p:spPr>
          <a:xfrm>
            <a:off x="640080" y="1371600"/>
            <a:ext cx="3337560" cy="4480560"/>
          </a:xfrm>
          <a:prstGeom prst="roundRect">
            <a:avLst>
              <a:gd name="adj" fmla="val 3288"/>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5" name="Shape 3"/>
          <p:cNvSpPr/>
          <p:nvPr/>
        </p:nvSpPr>
        <p:spPr>
          <a:xfrm>
            <a:off x="841248" y="1572768"/>
            <a:ext cx="384048" cy="384048"/>
          </a:xfrm>
          <a:prstGeom prst="ellipse">
            <a:avLst/>
          </a:prstGeom>
          <a:solidFill>
            <a:srgbClr val="E9F6F0"/>
          </a:solidFill>
          <a:ln w="12700">
            <a:solidFill>
              <a:srgbClr val="E9F6F0"/>
            </a:solidFill>
            <a:prstDash val="solid"/>
          </a:ln>
        </p:spPr>
      </p:sp>
      <p:sp>
        <p:nvSpPr>
          <p:cNvPr id="6" name="Text 4"/>
          <p:cNvSpPr/>
          <p:nvPr/>
        </p:nvSpPr>
        <p:spPr>
          <a:xfrm>
            <a:off x="841248" y="1641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T</a:t>
            </a:r>
            <a:endParaRPr lang="en-US" sz="1100" dirty="0"/>
          </a:p>
        </p:txBody>
      </p:sp>
      <p:sp>
        <p:nvSpPr>
          <p:cNvPr id="7" name="Text 5"/>
          <p:cNvSpPr/>
          <p:nvPr/>
        </p:nvSpPr>
        <p:spPr>
          <a:xfrm>
            <a:off x="1335024" y="1554480"/>
            <a:ext cx="2423160" cy="292608"/>
          </a:xfrm>
          <a:prstGeom prst="rect">
            <a:avLst/>
          </a:prstGeom>
          <a:noFill/>
          <a:ln/>
        </p:spPr>
        <p:txBody>
          <a:bodyPr wrap="square" lIns="0" tIns="0" rIns="0" bIns="0" rtlCol="0" anchor="ctr"/>
          <a:lstStyle/>
          <a:p>
            <a:pPr indent="0" marL="0">
              <a:buNone/>
            </a:pPr>
            <a:r>
              <a:rPr lang="en-US" sz="1400" b="1" dirty="0">
                <a:solidFill>
                  <a:srgbClr val="18251F"/>
                </a:solidFill>
              </a:rPr>
              <a:t>Tool manifest</a:t>
            </a:r>
            <a:endParaRPr lang="en-US" sz="1400" dirty="0"/>
          </a:p>
        </p:txBody>
      </p:sp>
      <p:sp>
        <p:nvSpPr>
          <p:cNvPr id="8" name="Text 6"/>
          <p:cNvSpPr/>
          <p:nvPr/>
        </p:nvSpPr>
        <p:spPr>
          <a:xfrm>
            <a:off x="859536" y="1938528"/>
            <a:ext cx="2898648" cy="3749040"/>
          </a:xfrm>
          <a:prstGeom prst="rect">
            <a:avLst/>
          </a:prstGeom>
          <a:noFill/>
          <a:ln/>
        </p:spPr>
        <p:txBody>
          <a:bodyPr wrap="square" lIns="381" tIns="381" rIns="381" bIns="381" rtlCol="0" anchor="t"/>
          <a:lstStyle/>
          <a:p>
            <a:pPr indent="0" marL="0">
              <a:buNone/>
            </a:pPr>
            <a:r>
              <a:rPr lang="en-US" sz="1050" dirty="0">
                <a:solidFill>
                  <a:srgbClr val="66756F"/>
                </a:solidFill>
              </a:rPr>
              <a:t>Captures the active MCP tool schemas. This lets the framework adapt behavior to the Vibium build instead of assuming every tool is available.</a:t>
            </a:r>
            <a:endParaRPr lang="en-US" sz="1050" dirty="0"/>
          </a:p>
        </p:txBody>
      </p:sp>
      <p:sp>
        <p:nvSpPr>
          <p:cNvPr id="9" name="Shape 7"/>
          <p:cNvSpPr/>
          <p:nvPr/>
        </p:nvSpPr>
        <p:spPr>
          <a:xfrm>
            <a:off x="4434840" y="1371600"/>
            <a:ext cx="3337560" cy="4480560"/>
          </a:xfrm>
          <a:prstGeom prst="roundRect">
            <a:avLst>
              <a:gd name="adj" fmla="val 3288"/>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0" name="Shape 8"/>
          <p:cNvSpPr/>
          <p:nvPr/>
        </p:nvSpPr>
        <p:spPr>
          <a:xfrm>
            <a:off x="4636008" y="1572768"/>
            <a:ext cx="384048" cy="384048"/>
          </a:xfrm>
          <a:prstGeom prst="ellipse">
            <a:avLst/>
          </a:prstGeom>
          <a:solidFill>
            <a:srgbClr val="E9F6F0"/>
          </a:solidFill>
          <a:ln w="12700">
            <a:solidFill>
              <a:srgbClr val="E9F6F0"/>
            </a:solidFill>
            <a:prstDash val="solid"/>
          </a:ln>
        </p:spPr>
      </p:sp>
      <p:sp>
        <p:nvSpPr>
          <p:cNvPr id="11" name="Text 9"/>
          <p:cNvSpPr/>
          <p:nvPr/>
        </p:nvSpPr>
        <p:spPr>
          <a:xfrm>
            <a:off x="4636008" y="1641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J</a:t>
            </a:r>
            <a:endParaRPr lang="en-US" sz="1100" dirty="0"/>
          </a:p>
        </p:txBody>
      </p:sp>
      <p:sp>
        <p:nvSpPr>
          <p:cNvPr id="12" name="Text 10"/>
          <p:cNvSpPr/>
          <p:nvPr/>
        </p:nvSpPr>
        <p:spPr>
          <a:xfrm>
            <a:off x="5129784" y="1554480"/>
            <a:ext cx="2423160" cy="292608"/>
          </a:xfrm>
          <a:prstGeom prst="rect">
            <a:avLst/>
          </a:prstGeom>
          <a:noFill/>
          <a:ln/>
        </p:spPr>
        <p:txBody>
          <a:bodyPr wrap="square" lIns="0" tIns="0" rIns="0" bIns="0" rtlCol="0" anchor="ctr"/>
          <a:lstStyle/>
          <a:p>
            <a:pPr indent="0" marL="0">
              <a:buNone/>
            </a:pPr>
            <a:r>
              <a:rPr lang="en-US" sz="1400" b="1" dirty="0">
                <a:solidFill>
                  <a:srgbClr val="18251F"/>
                </a:solidFill>
              </a:rPr>
              <a:t>Transcript</a:t>
            </a:r>
            <a:endParaRPr lang="en-US" sz="1400" dirty="0"/>
          </a:p>
        </p:txBody>
      </p:sp>
      <p:sp>
        <p:nvSpPr>
          <p:cNvPr id="13" name="Text 11"/>
          <p:cNvSpPr/>
          <p:nvPr/>
        </p:nvSpPr>
        <p:spPr>
          <a:xfrm>
            <a:off x="4654296" y="1938528"/>
            <a:ext cx="2898648" cy="3749040"/>
          </a:xfrm>
          <a:prstGeom prst="rect">
            <a:avLst/>
          </a:prstGeom>
          <a:noFill/>
          <a:ln/>
        </p:spPr>
        <p:txBody>
          <a:bodyPr wrap="square" lIns="381" tIns="381" rIns="381" bIns="381" rtlCol="0" anchor="t"/>
          <a:lstStyle/>
          <a:p>
            <a:pPr indent="0" marL="0">
              <a:buNone/>
            </a:pPr>
            <a:r>
              <a:rPr lang="en-US" sz="1050" dirty="0">
                <a:solidFill>
                  <a:srgbClr val="66756F"/>
                </a:solidFill>
              </a:rPr>
              <a:t>Redacted JSON-RPC traffic can be inspected for tool name, arguments, errors and responses. Useful for comparing deterministic and healed attempts.</a:t>
            </a:r>
            <a:endParaRPr lang="en-US" sz="1050" dirty="0"/>
          </a:p>
        </p:txBody>
      </p:sp>
      <p:sp>
        <p:nvSpPr>
          <p:cNvPr id="14" name="Shape 12"/>
          <p:cNvSpPr/>
          <p:nvPr/>
        </p:nvSpPr>
        <p:spPr>
          <a:xfrm>
            <a:off x="8229600" y="1371600"/>
            <a:ext cx="3337560" cy="4480560"/>
          </a:xfrm>
          <a:prstGeom prst="roundRect">
            <a:avLst>
              <a:gd name="adj" fmla="val 3288"/>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5" name="Shape 13"/>
          <p:cNvSpPr/>
          <p:nvPr/>
        </p:nvSpPr>
        <p:spPr>
          <a:xfrm>
            <a:off x="8430768" y="1572768"/>
            <a:ext cx="384048" cy="384048"/>
          </a:xfrm>
          <a:prstGeom prst="ellipse">
            <a:avLst/>
          </a:prstGeom>
          <a:solidFill>
            <a:srgbClr val="E9F6F0"/>
          </a:solidFill>
          <a:ln w="12700">
            <a:solidFill>
              <a:srgbClr val="E9F6F0"/>
            </a:solidFill>
            <a:prstDash val="solid"/>
          </a:ln>
        </p:spPr>
      </p:sp>
      <p:sp>
        <p:nvSpPr>
          <p:cNvPr id="16" name="Text 14"/>
          <p:cNvSpPr/>
          <p:nvPr/>
        </p:nvSpPr>
        <p:spPr>
          <a:xfrm>
            <a:off x="8430768" y="164134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L</a:t>
            </a:r>
            <a:endParaRPr lang="en-US" sz="1100" dirty="0"/>
          </a:p>
        </p:txBody>
      </p:sp>
      <p:sp>
        <p:nvSpPr>
          <p:cNvPr id="17" name="Text 15"/>
          <p:cNvSpPr/>
          <p:nvPr/>
        </p:nvSpPr>
        <p:spPr>
          <a:xfrm>
            <a:off x="8924544" y="1554480"/>
            <a:ext cx="2423160" cy="292608"/>
          </a:xfrm>
          <a:prstGeom prst="rect">
            <a:avLst/>
          </a:prstGeom>
          <a:noFill/>
          <a:ln/>
        </p:spPr>
        <p:txBody>
          <a:bodyPr wrap="square" lIns="0" tIns="0" rIns="0" bIns="0" rtlCol="0" anchor="ctr"/>
          <a:lstStyle/>
          <a:p>
            <a:pPr indent="0" marL="0">
              <a:buNone/>
            </a:pPr>
            <a:r>
              <a:rPr lang="en-US" sz="1400" b="1" dirty="0">
                <a:solidFill>
                  <a:srgbClr val="18251F"/>
                </a:solidFill>
              </a:rPr>
              <a:t>Per-session logs</a:t>
            </a:r>
            <a:endParaRPr lang="en-US" sz="1400" dirty="0"/>
          </a:p>
        </p:txBody>
      </p:sp>
      <p:sp>
        <p:nvSpPr>
          <p:cNvPr id="18" name="Text 16"/>
          <p:cNvSpPr/>
          <p:nvPr/>
        </p:nvSpPr>
        <p:spPr>
          <a:xfrm>
            <a:off x="8449056" y="1938528"/>
            <a:ext cx="2898648" cy="3749040"/>
          </a:xfrm>
          <a:prstGeom prst="rect">
            <a:avLst/>
          </a:prstGeom>
          <a:noFill/>
          <a:ln/>
        </p:spPr>
        <p:txBody>
          <a:bodyPr wrap="square" lIns="381" tIns="381" rIns="381" bIns="381" rtlCol="0" anchor="t"/>
          <a:lstStyle/>
          <a:p>
            <a:pPr indent="0" marL="0">
              <a:buNone/>
            </a:pPr>
            <a:r>
              <a:rPr lang="en-US" sz="1050" dirty="0">
                <a:solidFill>
                  <a:srgbClr val="66756F"/>
                </a:solidFill>
              </a:rPr>
              <a:t>Process/bridge logs and isolated browser session diagnostics help investigate startup failures, timeouts and parallel worker problems.</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5B3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5B3E"/>
          </a:solidFill>
          <a:ln w="12700">
            <a:solidFill>
              <a:srgbClr val="005B3E"/>
            </a:solidFill>
            <a:prstDash val="solid"/>
          </a:ln>
        </p:spPr>
      </p:sp>
      <p:sp>
        <p:nvSpPr>
          <p:cNvPr id="3" name="Shape 1"/>
          <p:cNvSpPr/>
          <p:nvPr/>
        </p:nvSpPr>
        <p:spPr>
          <a:xfrm>
            <a:off x="594360" y="1188720"/>
            <a:ext cx="1005840" cy="109728"/>
          </a:xfrm>
          <a:prstGeom prst="rect">
            <a:avLst/>
          </a:prstGeom>
          <a:solidFill>
            <a:srgbClr val="82C9AA"/>
          </a:solidFill>
          <a:ln w="12700">
            <a:solidFill>
              <a:srgbClr val="82C9AA"/>
            </a:solidFill>
            <a:prstDash val="solid"/>
          </a:ln>
        </p:spPr>
      </p:sp>
      <p:sp>
        <p:nvSpPr>
          <p:cNvPr id="4" name="Text 2"/>
          <p:cNvSpPr/>
          <p:nvPr/>
        </p:nvSpPr>
        <p:spPr>
          <a:xfrm>
            <a:off x="621792" y="1554480"/>
            <a:ext cx="10424160" cy="731520"/>
          </a:xfrm>
          <a:prstGeom prst="rect">
            <a:avLst/>
          </a:prstGeom>
          <a:noFill/>
          <a:ln/>
        </p:spPr>
        <p:txBody>
          <a:bodyPr wrap="square" lIns="0" tIns="0" rIns="0" bIns="0" rtlCol="0" anchor="ctr"/>
          <a:lstStyle/>
          <a:p>
            <a:pPr indent="0" marL="0">
              <a:buNone/>
            </a:pPr>
            <a:r>
              <a:rPr lang="en-US" sz="3200" b="1" dirty="0">
                <a:solidFill>
                  <a:srgbClr val="FFFFFF"/>
                </a:solidFill>
              </a:rPr>
              <a:t>Demo</a:t>
            </a:r>
            <a:endParaRPr lang="en-US" sz="3200" dirty="0"/>
          </a:p>
        </p:txBody>
      </p:sp>
      <p:sp>
        <p:nvSpPr>
          <p:cNvPr id="5" name="Text 3"/>
          <p:cNvSpPr/>
          <p:nvPr/>
        </p:nvSpPr>
        <p:spPr>
          <a:xfrm>
            <a:off x="640080" y="2423160"/>
            <a:ext cx="9509760" cy="594360"/>
          </a:xfrm>
          <a:prstGeom prst="rect">
            <a:avLst/>
          </a:prstGeom>
          <a:noFill/>
          <a:ln/>
        </p:spPr>
        <p:txBody>
          <a:bodyPr wrap="square" lIns="0" tIns="0" rIns="0" bIns="0" rtlCol="0" anchor="ctr"/>
          <a:lstStyle/>
          <a:p>
            <a:pPr indent="0" marL="0">
              <a:buNone/>
            </a:pPr>
            <a:r>
              <a:rPr lang="en-US" sz="1600" dirty="0">
                <a:solidFill>
                  <a:srgbClr val="D9EEE5"/>
                </a:solidFill>
              </a:rPr>
              <a:t>A practical walkthrough using the current Home screen and execution flow</a:t>
            </a:r>
            <a:endParaRPr lang="en-US" sz="1600" dirty="0"/>
          </a:p>
        </p:txBody>
      </p:sp>
      <p:sp>
        <p:nvSpPr>
          <p:cNvPr id="6" name="Text 4"/>
          <p:cNvSpPr/>
          <p:nvPr/>
        </p:nvSpPr>
        <p:spPr>
          <a:xfrm>
            <a:off x="640080" y="6172200"/>
            <a:ext cx="3657600" cy="228600"/>
          </a:xfrm>
          <a:prstGeom prst="rect">
            <a:avLst/>
          </a:prstGeom>
          <a:noFill/>
          <a:ln/>
        </p:spPr>
        <p:txBody>
          <a:bodyPr wrap="square" lIns="0" tIns="0" rIns="0" bIns="0" rtlCol="0" anchor="ctr"/>
          <a:lstStyle/>
          <a:p>
            <a:pPr indent="0" marL="0">
              <a:buNone/>
            </a:pPr>
            <a:r>
              <a:rPr lang="en-US" sz="900" dirty="0">
                <a:solidFill>
                  <a:srgbClr val="B9DDCD"/>
                </a:solidFill>
              </a:rPr>
              <a:t>ITPS VIBIUM Framework</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Demo storyline</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Recommended 8–10 minute walkthrough</a:t>
            </a:r>
            <a:endParaRPr lang="en-US" sz="1150" dirty="0"/>
          </a:p>
        </p:txBody>
      </p:sp>
      <p:sp>
        <p:nvSpPr>
          <p:cNvPr id="4" name="Text 2"/>
          <p:cNvSpPr/>
          <p:nvPr/>
        </p:nvSpPr>
        <p:spPr>
          <a:xfrm>
            <a:off x="685800" y="1234440"/>
            <a:ext cx="731520" cy="219456"/>
          </a:xfrm>
          <a:prstGeom prst="rect">
            <a:avLst/>
          </a:prstGeom>
          <a:noFill/>
          <a:ln/>
        </p:spPr>
        <p:txBody>
          <a:bodyPr wrap="square" lIns="0" tIns="0" rIns="0" bIns="0" rtlCol="0" anchor="ctr"/>
          <a:lstStyle/>
          <a:p>
            <a:pPr indent="0" marL="0">
              <a:buNone/>
            </a:pPr>
            <a:r>
              <a:rPr lang="en-US" sz="1000" b="1" dirty="0">
                <a:solidFill>
                  <a:srgbClr val="007A53"/>
                </a:solidFill>
              </a:rPr>
              <a:t>00:00</a:t>
            </a:r>
            <a:endParaRPr lang="en-US" sz="1000" dirty="0"/>
          </a:p>
        </p:txBody>
      </p:sp>
      <p:sp>
        <p:nvSpPr>
          <p:cNvPr id="5" name="Text 3"/>
          <p:cNvSpPr/>
          <p:nvPr/>
        </p:nvSpPr>
        <p:spPr>
          <a:xfrm>
            <a:off x="1508760" y="1234440"/>
            <a:ext cx="1417320" cy="219456"/>
          </a:xfrm>
          <a:prstGeom prst="rect">
            <a:avLst/>
          </a:prstGeom>
          <a:noFill/>
          <a:ln/>
        </p:spPr>
        <p:txBody>
          <a:bodyPr wrap="square" lIns="0" tIns="0" rIns="0" bIns="0" rtlCol="0" anchor="ctr"/>
          <a:lstStyle/>
          <a:p>
            <a:pPr indent="0" marL="0">
              <a:buNone/>
            </a:pPr>
            <a:r>
              <a:rPr lang="en-US" sz="1120" b="1" dirty="0">
                <a:solidFill>
                  <a:srgbClr val="18251F"/>
                </a:solidFill>
              </a:rPr>
              <a:t>Launch</a:t>
            </a:r>
            <a:endParaRPr lang="en-US" sz="1120" dirty="0"/>
          </a:p>
        </p:txBody>
      </p:sp>
      <p:sp>
        <p:nvSpPr>
          <p:cNvPr id="6" name="Text 4"/>
          <p:cNvSpPr/>
          <p:nvPr/>
        </p:nvSpPr>
        <p:spPr>
          <a:xfrm>
            <a:off x="2926080" y="1234440"/>
            <a:ext cx="8321040" cy="274320"/>
          </a:xfrm>
          <a:prstGeom prst="rect">
            <a:avLst/>
          </a:prstGeom>
          <a:noFill/>
          <a:ln/>
        </p:spPr>
        <p:txBody>
          <a:bodyPr wrap="square" lIns="0" tIns="0" rIns="0" bIns="0" rtlCol="0" anchor="ctr"/>
          <a:lstStyle/>
          <a:p>
            <a:pPr indent="0" marL="0">
              <a:buNone/>
            </a:pPr>
            <a:r>
              <a:rPr lang="en-US" sz="1050" dirty="0">
                <a:solidFill>
                  <a:srgbClr val="66756F"/>
                </a:solidFill>
              </a:rPr>
              <a:t>Start the JAR / application.</a:t>
            </a:r>
            <a:endParaRPr lang="en-US" sz="1050" dirty="0"/>
          </a:p>
        </p:txBody>
      </p:sp>
      <p:sp>
        <p:nvSpPr>
          <p:cNvPr id="7" name="Shape 5"/>
          <p:cNvSpPr/>
          <p:nvPr/>
        </p:nvSpPr>
        <p:spPr>
          <a:xfrm>
            <a:off x="731520" y="1545336"/>
            <a:ext cx="10469880" cy="0"/>
          </a:xfrm>
          <a:prstGeom prst="line">
            <a:avLst/>
          </a:prstGeom>
          <a:noFill/>
          <a:ln w="12700">
            <a:solidFill>
              <a:srgbClr val="E7EFEB"/>
            </a:solidFill>
            <a:prstDash val="solid"/>
          </a:ln>
        </p:spPr>
      </p:sp>
      <p:sp>
        <p:nvSpPr>
          <p:cNvPr id="8" name="Text 6"/>
          <p:cNvSpPr/>
          <p:nvPr/>
        </p:nvSpPr>
        <p:spPr>
          <a:xfrm>
            <a:off x="685800" y="1764792"/>
            <a:ext cx="731520" cy="219456"/>
          </a:xfrm>
          <a:prstGeom prst="rect">
            <a:avLst/>
          </a:prstGeom>
          <a:noFill/>
          <a:ln/>
        </p:spPr>
        <p:txBody>
          <a:bodyPr wrap="square" lIns="0" tIns="0" rIns="0" bIns="0" rtlCol="0" anchor="ctr"/>
          <a:lstStyle/>
          <a:p>
            <a:pPr indent="0" marL="0">
              <a:buNone/>
            </a:pPr>
            <a:r>
              <a:rPr lang="en-US" sz="1000" b="1" dirty="0">
                <a:solidFill>
                  <a:srgbClr val="007A53"/>
                </a:solidFill>
              </a:rPr>
              <a:t>00:30</a:t>
            </a:r>
            <a:endParaRPr lang="en-US" sz="1000" dirty="0"/>
          </a:p>
        </p:txBody>
      </p:sp>
      <p:sp>
        <p:nvSpPr>
          <p:cNvPr id="9" name="Text 7"/>
          <p:cNvSpPr/>
          <p:nvPr/>
        </p:nvSpPr>
        <p:spPr>
          <a:xfrm>
            <a:off x="1508760" y="1764792"/>
            <a:ext cx="1417320" cy="219456"/>
          </a:xfrm>
          <a:prstGeom prst="rect">
            <a:avLst/>
          </a:prstGeom>
          <a:noFill/>
          <a:ln/>
        </p:spPr>
        <p:txBody>
          <a:bodyPr wrap="square" lIns="0" tIns="0" rIns="0" bIns="0" rtlCol="0" anchor="ctr"/>
          <a:lstStyle/>
          <a:p>
            <a:pPr indent="0" marL="0">
              <a:buNone/>
            </a:pPr>
            <a:r>
              <a:rPr lang="en-US" sz="1120" b="1" dirty="0">
                <a:solidFill>
                  <a:srgbClr val="18251F"/>
                </a:solidFill>
              </a:rPr>
              <a:t>Connect AI</a:t>
            </a:r>
            <a:endParaRPr lang="en-US" sz="1120" dirty="0"/>
          </a:p>
        </p:txBody>
      </p:sp>
      <p:sp>
        <p:nvSpPr>
          <p:cNvPr id="10" name="Text 8"/>
          <p:cNvSpPr/>
          <p:nvPr/>
        </p:nvSpPr>
        <p:spPr>
          <a:xfrm>
            <a:off x="2926080" y="1764792"/>
            <a:ext cx="8321040" cy="274320"/>
          </a:xfrm>
          <a:prstGeom prst="rect">
            <a:avLst/>
          </a:prstGeom>
          <a:noFill/>
          <a:ln/>
        </p:spPr>
        <p:txBody>
          <a:bodyPr wrap="square" lIns="0" tIns="0" rIns="0" bIns="0" rtlCol="0" anchor="ctr"/>
          <a:lstStyle/>
          <a:p>
            <a:pPr indent="0" marL="0">
              <a:buNone/>
            </a:pPr>
            <a:r>
              <a:rPr lang="en-US" sz="1050" dirty="0">
                <a:solidFill>
                  <a:srgbClr val="66756F"/>
                </a:solidFill>
              </a:rPr>
              <a:t>Enter endpoint, model and key; validate.</a:t>
            </a:r>
            <a:endParaRPr lang="en-US" sz="1050" dirty="0"/>
          </a:p>
        </p:txBody>
      </p:sp>
      <p:sp>
        <p:nvSpPr>
          <p:cNvPr id="11" name="Shape 9"/>
          <p:cNvSpPr/>
          <p:nvPr/>
        </p:nvSpPr>
        <p:spPr>
          <a:xfrm>
            <a:off x="731520" y="2075688"/>
            <a:ext cx="10469880" cy="0"/>
          </a:xfrm>
          <a:prstGeom prst="line">
            <a:avLst/>
          </a:prstGeom>
          <a:noFill/>
          <a:ln w="12700">
            <a:solidFill>
              <a:srgbClr val="E7EFEB"/>
            </a:solidFill>
            <a:prstDash val="solid"/>
          </a:ln>
        </p:spPr>
      </p:sp>
      <p:sp>
        <p:nvSpPr>
          <p:cNvPr id="12" name="Text 10"/>
          <p:cNvSpPr/>
          <p:nvPr/>
        </p:nvSpPr>
        <p:spPr>
          <a:xfrm>
            <a:off x="685800" y="2295144"/>
            <a:ext cx="731520" cy="219456"/>
          </a:xfrm>
          <a:prstGeom prst="rect">
            <a:avLst/>
          </a:prstGeom>
          <a:noFill/>
          <a:ln/>
        </p:spPr>
        <p:txBody>
          <a:bodyPr wrap="square" lIns="0" tIns="0" rIns="0" bIns="0" rtlCol="0" anchor="ctr"/>
          <a:lstStyle/>
          <a:p>
            <a:pPr indent="0" marL="0">
              <a:buNone/>
            </a:pPr>
            <a:r>
              <a:rPr lang="en-US" sz="1000" b="1" dirty="0">
                <a:solidFill>
                  <a:srgbClr val="007A53"/>
                </a:solidFill>
              </a:rPr>
              <a:t>01:30</a:t>
            </a:r>
            <a:endParaRPr lang="en-US" sz="1000" dirty="0"/>
          </a:p>
        </p:txBody>
      </p:sp>
      <p:sp>
        <p:nvSpPr>
          <p:cNvPr id="13" name="Text 11"/>
          <p:cNvSpPr/>
          <p:nvPr/>
        </p:nvSpPr>
        <p:spPr>
          <a:xfrm>
            <a:off x="1508760" y="2295144"/>
            <a:ext cx="1417320" cy="219456"/>
          </a:xfrm>
          <a:prstGeom prst="rect">
            <a:avLst/>
          </a:prstGeom>
          <a:noFill/>
          <a:ln/>
        </p:spPr>
        <p:txBody>
          <a:bodyPr wrap="square" lIns="0" tIns="0" rIns="0" bIns="0" rtlCol="0" anchor="ctr"/>
          <a:lstStyle/>
          <a:p>
            <a:pPr indent="0" marL="0">
              <a:buNone/>
            </a:pPr>
            <a:r>
              <a:rPr lang="en-US" sz="1120" b="1" dirty="0">
                <a:solidFill>
                  <a:srgbClr val="18251F"/>
                </a:solidFill>
              </a:rPr>
              <a:t>Load scenarios</a:t>
            </a:r>
            <a:endParaRPr lang="en-US" sz="1120" dirty="0"/>
          </a:p>
        </p:txBody>
      </p:sp>
      <p:sp>
        <p:nvSpPr>
          <p:cNvPr id="14" name="Text 12"/>
          <p:cNvSpPr/>
          <p:nvPr/>
        </p:nvSpPr>
        <p:spPr>
          <a:xfrm>
            <a:off x="2926080" y="2295144"/>
            <a:ext cx="8321040" cy="274320"/>
          </a:xfrm>
          <a:prstGeom prst="rect">
            <a:avLst/>
          </a:prstGeom>
          <a:noFill/>
          <a:ln/>
        </p:spPr>
        <p:txBody>
          <a:bodyPr wrap="square" lIns="0" tIns="0" rIns="0" bIns="0" rtlCol="0" anchor="ctr"/>
          <a:lstStyle/>
          <a:p>
            <a:pPr indent="0" marL="0">
              <a:buNone/>
            </a:pPr>
            <a:r>
              <a:rPr lang="en-US" sz="1050" dirty="0">
                <a:solidFill>
                  <a:srgbClr val="66756F"/>
                </a:solidFill>
              </a:rPr>
              <a:t>Upload Excel and select Smoke + Regression sheets.</a:t>
            </a:r>
            <a:endParaRPr lang="en-US" sz="1050" dirty="0"/>
          </a:p>
        </p:txBody>
      </p:sp>
      <p:sp>
        <p:nvSpPr>
          <p:cNvPr id="15" name="Shape 13"/>
          <p:cNvSpPr/>
          <p:nvPr/>
        </p:nvSpPr>
        <p:spPr>
          <a:xfrm>
            <a:off x="731520" y="2606040"/>
            <a:ext cx="10469880" cy="0"/>
          </a:xfrm>
          <a:prstGeom prst="line">
            <a:avLst/>
          </a:prstGeom>
          <a:noFill/>
          <a:ln w="12700">
            <a:solidFill>
              <a:srgbClr val="E7EFEB"/>
            </a:solidFill>
            <a:prstDash val="solid"/>
          </a:ln>
        </p:spPr>
      </p:sp>
      <p:sp>
        <p:nvSpPr>
          <p:cNvPr id="16" name="Text 14"/>
          <p:cNvSpPr/>
          <p:nvPr/>
        </p:nvSpPr>
        <p:spPr>
          <a:xfrm>
            <a:off x="685800" y="2825496"/>
            <a:ext cx="731520" cy="219456"/>
          </a:xfrm>
          <a:prstGeom prst="rect">
            <a:avLst/>
          </a:prstGeom>
          <a:noFill/>
          <a:ln/>
        </p:spPr>
        <p:txBody>
          <a:bodyPr wrap="square" lIns="0" tIns="0" rIns="0" bIns="0" rtlCol="0" anchor="ctr"/>
          <a:lstStyle/>
          <a:p>
            <a:pPr indent="0" marL="0">
              <a:buNone/>
            </a:pPr>
            <a:r>
              <a:rPr lang="en-US" sz="1000" b="1" dirty="0">
                <a:solidFill>
                  <a:srgbClr val="007A53"/>
                </a:solidFill>
              </a:rPr>
              <a:t>02:30</a:t>
            </a:r>
            <a:endParaRPr lang="en-US" sz="1000" dirty="0"/>
          </a:p>
        </p:txBody>
      </p:sp>
      <p:sp>
        <p:nvSpPr>
          <p:cNvPr id="17" name="Text 15"/>
          <p:cNvSpPr/>
          <p:nvPr/>
        </p:nvSpPr>
        <p:spPr>
          <a:xfrm>
            <a:off x="1508760" y="2825496"/>
            <a:ext cx="1417320" cy="219456"/>
          </a:xfrm>
          <a:prstGeom prst="rect">
            <a:avLst/>
          </a:prstGeom>
          <a:noFill/>
          <a:ln/>
        </p:spPr>
        <p:txBody>
          <a:bodyPr wrap="square" lIns="0" tIns="0" rIns="0" bIns="0" rtlCol="0" anchor="ctr"/>
          <a:lstStyle/>
          <a:p>
            <a:pPr indent="0" marL="0">
              <a:buNone/>
            </a:pPr>
            <a:r>
              <a:rPr lang="en-US" sz="1120" b="1" dirty="0">
                <a:solidFill>
                  <a:srgbClr val="18251F"/>
                </a:solidFill>
              </a:rPr>
              <a:t>Configure browser</a:t>
            </a:r>
            <a:endParaRPr lang="en-US" sz="1120" dirty="0"/>
          </a:p>
        </p:txBody>
      </p:sp>
      <p:sp>
        <p:nvSpPr>
          <p:cNvPr id="18" name="Text 16"/>
          <p:cNvSpPr/>
          <p:nvPr/>
        </p:nvSpPr>
        <p:spPr>
          <a:xfrm>
            <a:off x="2926080" y="2825496"/>
            <a:ext cx="8321040" cy="274320"/>
          </a:xfrm>
          <a:prstGeom prst="rect">
            <a:avLst/>
          </a:prstGeom>
          <a:noFill/>
          <a:ln/>
        </p:spPr>
        <p:txBody>
          <a:bodyPr wrap="square" lIns="0" tIns="0" rIns="0" bIns="0" rtlCol="0" anchor="ctr"/>
          <a:lstStyle/>
          <a:p>
            <a:pPr indent="0" marL="0">
              <a:buNone/>
            </a:pPr>
            <a:r>
              <a:rPr lang="en-US" sz="1050" dirty="0">
                <a:solidFill>
                  <a:srgbClr val="66756F"/>
                </a:solidFill>
              </a:rPr>
              <a:t>Choose managed Chrome; optionally set zoom; select 3-browser parallel pool.</a:t>
            </a:r>
            <a:endParaRPr lang="en-US" sz="1050" dirty="0"/>
          </a:p>
        </p:txBody>
      </p:sp>
      <p:sp>
        <p:nvSpPr>
          <p:cNvPr id="19" name="Shape 17"/>
          <p:cNvSpPr/>
          <p:nvPr/>
        </p:nvSpPr>
        <p:spPr>
          <a:xfrm>
            <a:off x="731520" y="3136392"/>
            <a:ext cx="10469880" cy="0"/>
          </a:xfrm>
          <a:prstGeom prst="line">
            <a:avLst/>
          </a:prstGeom>
          <a:noFill/>
          <a:ln w="12700">
            <a:solidFill>
              <a:srgbClr val="E7EFEB"/>
            </a:solidFill>
            <a:prstDash val="solid"/>
          </a:ln>
        </p:spPr>
      </p:sp>
      <p:sp>
        <p:nvSpPr>
          <p:cNvPr id="20" name="Text 18"/>
          <p:cNvSpPr/>
          <p:nvPr/>
        </p:nvSpPr>
        <p:spPr>
          <a:xfrm>
            <a:off x="685800" y="3355848"/>
            <a:ext cx="731520" cy="219456"/>
          </a:xfrm>
          <a:prstGeom prst="rect">
            <a:avLst/>
          </a:prstGeom>
          <a:noFill/>
          <a:ln/>
        </p:spPr>
        <p:txBody>
          <a:bodyPr wrap="square" lIns="0" tIns="0" rIns="0" bIns="0" rtlCol="0" anchor="ctr"/>
          <a:lstStyle/>
          <a:p>
            <a:pPr indent="0" marL="0">
              <a:buNone/>
            </a:pPr>
            <a:r>
              <a:rPr lang="en-US" sz="1000" b="1" dirty="0">
                <a:solidFill>
                  <a:srgbClr val="007A53"/>
                </a:solidFill>
              </a:rPr>
              <a:t>03:30</a:t>
            </a:r>
            <a:endParaRPr lang="en-US" sz="1000" dirty="0"/>
          </a:p>
        </p:txBody>
      </p:sp>
      <p:sp>
        <p:nvSpPr>
          <p:cNvPr id="21" name="Text 19"/>
          <p:cNvSpPr/>
          <p:nvPr/>
        </p:nvSpPr>
        <p:spPr>
          <a:xfrm>
            <a:off x="1508760" y="3355848"/>
            <a:ext cx="1417320" cy="219456"/>
          </a:xfrm>
          <a:prstGeom prst="rect">
            <a:avLst/>
          </a:prstGeom>
          <a:noFill/>
          <a:ln/>
        </p:spPr>
        <p:txBody>
          <a:bodyPr wrap="square" lIns="0" tIns="0" rIns="0" bIns="0" rtlCol="0" anchor="ctr"/>
          <a:lstStyle/>
          <a:p>
            <a:pPr indent="0" marL="0">
              <a:buNone/>
            </a:pPr>
            <a:r>
              <a:rPr lang="en-US" sz="1120" b="1" dirty="0">
                <a:solidFill>
                  <a:srgbClr val="18251F"/>
                </a:solidFill>
              </a:rPr>
              <a:t>Run</a:t>
            </a:r>
            <a:endParaRPr lang="en-US" sz="1120" dirty="0"/>
          </a:p>
        </p:txBody>
      </p:sp>
      <p:sp>
        <p:nvSpPr>
          <p:cNvPr id="22" name="Text 20"/>
          <p:cNvSpPr/>
          <p:nvPr/>
        </p:nvSpPr>
        <p:spPr>
          <a:xfrm>
            <a:off x="2926080" y="3355848"/>
            <a:ext cx="8321040" cy="274320"/>
          </a:xfrm>
          <a:prstGeom prst="rect">
            <a:avLst/>
          </a:prstGeom>
          <a:noFill/>
          <a:ln/>
        </p:spPr>
        <p:txBody>
          <a:bodyPr wrap="square" lIns="0" tIns="0" rIns="0" bIns="0" rtlCol="0" anchor="ctr"/>
          <a:lstStyle/>
          <a:p>
            <a:pPr indent="0" marL="0">
              <a:buNone/>
            </a:pPr>
            <a:r>
              <a:rPr lang="en-US" sz="1050" dirty="0">
                <a:solidFill>
                  <a:srgbClr val="66756F"/>
                </a:solidFill>
              </a:rPr>
              <a:t>Start execution and show three browser workers.</a:t>
            </a:r>
            <a:endParaRPr lang="en-US" sz="1050" dirty="0"/>
          </a:p>
        </p:txBody>
      </p:sp>
      <p:sp>
        <p:nvSpPr>
          <p:cNvPr id="23" name="Shape 21"/>
          <p:cNvSpPr/>
          <p:nvPr/>
        </p:nvSpPr>
        <p:spPr>
          <a:xfrm>
            <a:off x="731520" y="3666744"/>
            <a:ext cx="10469880" cy="0"/>
          </a:xfrm>
          <a:prstGeom prst="line">
            <a:avLst/>
          </a:prstGeom>
          <a:noFill/>
          <a:ln w="12700">
            <a:solidFill>
              <a:srgbClr val="E7EFEB"/>
            </a:solidFill>
            <a:prstDash val="solid"/>
          </a:ln>
        </p:spPr>
      </p:sp>
      <p:sp>
        <p:nvSpPr>
          <p:cNvPr id="24" name="Text 22"/>
          <p:cNvSpPr/>
          <p:nvPr/>
        </p:nvSpPr>
        <p:spPr>
          <a:xfrm>
            <a:off x="685800" y="3886200"/>
            <a:ext cx="731520" cy="219456"/>
          </a:xfrm>
          <a:prstGeom prst="rect">
            <a:avLst/>
          </a:prstGeom>
          <a:noFill/>
          <a:ln/>
        </p:spPr>
        <p:txBody>
          <a:bodyPr wrap="square" lIns="0" tIns="0" rIns="0" bIns="0" rtlCol="0" anchor="ctr"/>
          <a:lstStyle/>
          <a:p>
            <a:pPr indent="0" marL="0">
              <a:buNone/>
            </a:pPr>
            <a:r>
              <a:rPr lang="en-US" sz="1000" b="1" dirty="0">
                <a:solidFill>
                  <a:srgbClr val="007A53"/>
                </a:solidFill>
              </a:rPr>
              <a:t>05:00</a:t>
            </a:r>
            <a:endParaRPr lang="en-US" sz="1000" dirty="0"/>
          </a:p>
        </p:txBody>
      </p:sp>
      <p:sp>
        <p:nvSpPr>
          <p:cNvPr id="25" name="Text 23"/>
          <p:cNvSpPr/>
          <p:nvPr/>
        </p:nvSpPr>
        <p:spPr>
          <a:xfrm>
            <a:off x="1508760" y="3886200"/>
            <a:ext cx="1417320" cy="219456"/>
          </a:xfrm>
          <a:prstGeom prst="rect">
            <a:avLst/>
          </a:prstGeom>
          <a:noFill/>
          <a:ln/>
        </p:spPr>
        <p:txBody>
          <a:bodyPr wrap="square" lIns="0" tIns="0" rIns="0" bIns="0" rtlCol="0" anchor="ctr"/>
          <a:lstStyle/>
          <a:p>
            <a:pPr indent="0" marL="0">
              <a:buNone/>
            </a:pPr>
            <a:r>
              <a:rPr lang="en-US" sz="1120" b="1" dirty="0">
                <a:solidFill>
                  <a:srgbClr val="18251F"/>
                </a:solidFill>
              </a:rPr>
              <a:t>Healing</a:t>
            </a:r>
            <a:endParaRPr lang="en-US" sz="1120" dirty="0"/>
          </a:p>
        </p:txBody>
      </p:sp>
      <p:sp>
        <p:nvSpPr>
          <p:cNvPr id="26" name="Text 24"/>
          <p:cNvSpPr/>
          <p:nvPr/>
        </p:nvSpPr>
        <p:spPr>
          <a:xfrm>
            <a:off x="2926080" y="3886200"/>
            <a:ext cx="8321040" cy="274320"/>
          </a:xfrm>
          <a:prstGeom prst="rect">
            <a:avLst/>
          </a:prstGeom>
          <a:noFill/>
          <a:ln/>
        </p:spPr>
        <p:txBody>
          <a:bodyPr wrap="square" lIns="0" tIns="0" rIns="0" bIns="0" rtlCol="0" anchor="ctr"/>
          <a:lstStyle/>
          <a:p>
            <a:pPr indent="0" marL="0">
              <a:buNone/>
            </a:pPr>
            <a:r>
              <a:rPr lang="en-US" sz="1050" dirty="0">
                <a:solidFill>
                  <a:srgbClr val="66756F"/>
                </a:solidFill>
              </a:rPr>
              <a:t>Demonstrate one locator/action failure and a recovery attempt.</a:t>
            </a:r>
            <a:endParaRPr lang="en-US" sz="1050" dirty="0"/>
          </a:p>
        </p:txBody>
      </p:sp>
      <p:sp>
        <p:nvSpPr>
          <p:cNvPr id="27" name="Shape 25"/>
          <p:cNvSpPr/>
          <p:nvPr/>
        </p:nvSpPr>
        <p:spPr>
          <a:xfrm>
            <a:off x="731520" y="4197096"/>
            <a:ext cx="10469880" cy="0"/>
          </a:xfrm>
          <a:prstGeom prst="line">
            <a:avLst/>
          </a:prstGeom>
          <a:noFill/>
          <a:ln w="12700">
            <a:solidFill>
              <a:srgbClr val="E7EFEB"/>
            </a:solidFill>
            <a:prstDash val="solid"/>
          </a:ln>
        </p:spPr>
      </p:sp>
      <p:sp>
        <p:nvSpPr>
          <p:cNvPr id="28" name="Text 26"/>
          <p:cNvSpPr/>
          <p:nvPr/>
        </p:nvSpPr>
        <p:spPr>
          <a:xfrm>
            <a:off x="685800" y="4416552"/>
            <a:ext cx="731520" cy="219456"/>
          </a:xfrm>
          <a:prstGeom prst="rect">
            <a:avLst/>
          </a:prstGeom>
          <a:noFill/>
          <a:ln/>
        </p:spPr>
        <p:txBody>
          <a:bodyPr wrap="square" lIns="0" tIns="0" rIns="0" bIns="0" rtlCol="0" anchor="ctr"/>
          <a:lstStyle/>
          <a:p>
            <a:pPr indent="0" marL="0">
              <a:buNone/>
            </a:pPr>
            <a:r>
              <a:rPr lang="en-US" sz="1000" b="1" dirty="0">
                <a:solidFill>
                  <a:srgbClr val="007A53"/>
                </a:solidFill>
              </a:rPr>
              <a:t>06:30</a:t>
            </a:r>
            <a:endParaRPr lang="en-US" sz="1000" dirty="0"/>
          </a:p>
        </p:txBody>
      </p:sp>
      <p:sp>
        <p:nvSpPr>
          <p:cNvPr id="29" name="Text 27"/>
          <p:cNvSpPr/>
          <p:nvPr/>
        </p:nvSpPr>
        <p:spPr>
          <a:xfrm>
            <a:off x="1508760" y="4416552"/>
            <a:ext cx="1417320" cy="219456"/>
          </a:xfrm>
          <a:prstGeom prst="rect">
            <a:avLst/>
          </a:prstGeom>
          <a:noFill/>
          <a:ln/>
        </p:spPr>
        <p:txBody>
          <a:bodyPr wrap="square" lIns="0" tIns="0" rIns="0" bIns="0" rtlCol="0" anchor="ctr"/>
          <a:lstStyle/>
          <a:p>
            <a:pPr indent="0" marL="0">
              <a:buNone/>
            </a:pPr>
            <a:r>
              <a:rPr lang="en-US" sz="1120" b="1" dirty="0">
                <a:solidFill>
                  <a:srgbClr val="18251F"/>
                </a:solidFill>
              </a:rPr>
              <a:t>Live results</a:t>
            </a:r>
            <a:endParaRPr lang="en-US" sz="1120" dirty="0"/>
          </a:p>
        </p:txBody>
      </p:sp>
      <p:sp>
        <p:nvSpPr>
          <p:cNvPr id="30" name="Text 28"/>
          <p:cNvSpPr/>
          <p:nvPr/>
        </p:nvSpPr>
        <p:spPr>
          <a:xfrm>
            <a:off x="2926080" y="4416552"/>
            <a:ext cx="8321040" cy="274320"/>
          </a:xfrm>
          <a:prstGeom prst="rect">
            <a:avLst/>
          </a:prstGeom>
          <a:noFill/>
          <a:ln/>
        </p:spPr>
        <p:txBody>
          <a:bodyPr wrap="square" lIns="0" tIns="0" rIns="0" bIns="0" rtlCol="0" anchor="ctr"/>
          <a:lstStyle/>
          <a:p>
            <a:pPr indent="0" marL="0">
              <a:buNone/>
            </a:pPr>
            <a:r>
              <a:rPr lang="en-US" sz="1050" dirty="0">
                <a:solidFill>
                  <a:srgbClr val="66756F"/>
                </a:solidFill>
              </a:rPr>
              <a:t>Show KPIs, attempts and manual rerun control.</a:t>
            </a:r>
            <a:endParaRPr lang="en-US" sz="1050" dirty="0"/>
          </a:p>
        </p:txBody>
      </p:sp>
      <p:sp>
        <p:nvSpPr>
          <p:cNvPr id="31" name="Shape 29"/>
          <p:cNvSpPr/>
          <p:nvPr/>
        </p:nvSpPr>
        <p:spPr>
          <a:xfrm>
            <a:off x="731520" y="4727448"/>
            <a:ext cx="10469880" cy="0"/>
          </a:xfrm>
          <a:prstGeom prst="line">
            <a:avLst/>
          </a:prstGeom>
          <a:noFill/>
          <a:ln w="12700">
            <a:solidFill>
              <a:srgbClr val="E7EFEB"/>
            </a:solidFill>
            <a:prstDash val="solid"/>
          </a:ln>
        </p:spPr>
      </p:sp>
      <p:sp>
        <p:nvSpPr>
          <p:cNvPr id="32" name="Text 30"/>
          <p:cNvSpPr/>
          <p:nvPr/>
        </p:nvSpPr>
        <p:spPr>
          <a:xfrm>
            <a:off x="685800" y="4946904"/>
            <a:ext cx="731520" cy="219456"/>
          </a:xfrm>
          <a:prstGeom prst="rect">
            <a:avLst/>
          </a:prstGeom>
          <a:noFill/>
          <a:ln/>
        </p:spPr>
        <p:txBody>
          <a:bodyPr wrap="square" lIns="0" tIns="0" rIns="0" bIns="0" rtlCol="0" anchor="ctr"/>
          <a:lstStyle/>
          <a:p>
            <a:pPr indent="0" marL="0">
              <a:buNone/>
            </a:pPr>
            <a:r>
              <a:rPr lang="en-US" sz="1000" b="1" dirty="0">
                <a:solidFill>
                  <a:srgbClr val="007A53"/>
                </a:solidFill>
              </a:rPr>
              <a:t>07:30</a:t>
            </a:r>
            <a:endParaRPr lang="en-US" sz="1000" dirty="0"/>
          </a:p>
        </p:txBody>
      </p:sp>
      <p:sp>
        <p:nvSpPr>
          <p:cNvPr id="33" name="Text 31"/>
          <p:cNvSpPr/>
          <p:nvPr/>
        </p:nvSpPr>
        <p:spPr>
          <a:xfrm>
            <a:off x="1508760" y="4946904"/>
            <a:ext cx="1417320" cy="219456"/>
          </a:xfrm>
          <a:prstGeom prst="rect">
            <a:avLst/>
          </a:prstGeom>
          <a:noFill/>
          <a:ln/>
        </p:spPr>
        <p:txBody>
          <a:bodyPr wrap="square" lIns="0" tIns="0" rIns="0" bIns="0" rtlCol="0" anchor="ctr"/>
          <a:lstStyle/>
          <a:p>
            <a:pPr indent="0" marL="0">
              <a:buNone/>
            </a:pPr>
            <a:r>
              <a:rPr lang="en-US" sz="1120" b="1" dirty="0">
                <a:solidFill>
                  <a:srgbClr val="18251F"/>
                </a:solidFill>
              </a:rPr>
              <a:t>Artifacts</a:t>
            </a:r>
            <a:endParaRPr lang="en-US" sz="1120" dirty="0"/>
          </a:p>
        </p:txBody>
      </p:sp>
      <p:sp>
        <p:nvSpPr>
          <p:cNvPr id="34" name="Text 32"/>
          <p:cNvSpPr/>
          <p:nvPr/>
        </p:nvSpPr>
        <p:spPr>
          <a:xfrm>
            <a:off x="2926080" y="4946904"/>
            <a:ext cx="8321040" cy="274320"/>
          </a:xfrm>
          <a:prstGeom prst="rect">
            <a:avLst/>
          </a:prstGeom>
          <a:noFill/>
          <a:ln/>
        </p:spPr>
        <p:txBody>
          <a:bodyPr wrap="square" lIns="0" tIns="0" rIns="0" bIns="0" rtlCol="0" anchor="ctr"/>
          <a:lstStyle/>
          <a:p>
            <a:pPr indent="0" marL="0">
              <a:buNone/>
            </a:pPr>
            <a:r>
              <a:rPr lang="en-US" sz="1050" dirty="0">
                <a:solidFill>
                  <a:srgbClr val="66756F"/>
                </a:solidFill>
              </a:rPr>
              <a:t>Open detailed report, screenshot report and MCP transcript.</a:t>
            </a:r>
            <a:endParaRPr lang="en-US" sz="1050" dirty="0"/>
          </a:p>
        </p:txBody>
      </p:sp>
      <p:sp>
        <p:nvSpPr>
          <p:cNvPr id="35" name="Shape 33"/>
          <p:cNvSpPr/>
          <p:nvPr/>
        </p:nvSpPr>
        <p:spPr>
          <a:xfrm>
            <a:off x="731520" y="5257800"/>
            <a:ext cx="10469880" cy="0"/>
          </a:xfrm>
          <a:prstGeom prst="line">
            <a:avLst/>
          </a:prstGeom>
          <a:noFill/>
          <a:ln w="12700">
            <a:solidFill>
              <a:srgbClr val="E7EFEB"/>
            </a:solidFill>
            <a:prstDash val="solid"/>
          </a:ln>
        </p:spPr>
      </p:sp>
      <p:sp>
        <p:nvSpPr>
          <p:cNvPr id="36" name="Text 34"/>
          <p:cNvSpPr/>
          <p:nvPr/>
        </p:nvSpPr>
        <p:spPr>
          <a:xfrm>
            <a:off x="685800" y="5477256"/>
            <a:ext cx="731520" cy="219456"/>
          </a:xfrm>
          <a:prstGeom prst="rect">
            <a:avLst/>
          </a:prstGeom>
          <a:noFill/>
          <a:ln/>
        </p:spPr>
        <p:txBody>
          <a:bodyPr wrap="square" lIns="0" tIns="0" rIns="0" bIns="0" rtlCol="0" anchor="ctr"/>
          <a:lstStyle/>
          <a:p>
            <a:pPr indent="0" marL="0">
              <a:buNone/>
            </a:pPr>
            <a:r>
              <a:rPr lang="en-US" sz="1000" b="1" dirty="0">
                <a:solidFill>
                  <a:srgbClr val="007A53"/>
                </a:solidFill>
              </a:rPr>
              <a:t>09:00</a:t>
            </a:r>
            <a:endParaRPr lang="en-US" sz="1000" dirty="0"/>
          </a:p>
        </p:txBody>
      </p:sp>
      <p:sp>
        <p:nvSpPr>
          <p:cNvPr id="37" name="Text 35"/>
          <p:cNvSpPr/>
          <p:nvPr/>
        </p:nvSpPr>
        <p:spPr>
          <a:xfrm>
            <a:off x="1508760" y="5477256"/>
            <a:ext cx="1417320" cy="219456"/>
          </a:xfrm>
          <a:prstGeom prst="rect">
            <a:avLst/>
          </a:prstGeom>
          <a:noFill/>
          <a:ln/>
        </p:spPr>
        <p:txBody>
          <a:bodyPr wrap="square" lIns="0" tIns="0" rIns="0" bIns="0" rtlCol="0" anchor="ctr"/>
          <a:lstStyle/>
          <a:p>
            <a:pPr indent="0" marL="0">
              <a:buNone/>
            </a:pPr>
            <a:r>
              <a:rPr lang="en-US" sz="1120" b="1" dirty="0">
                <a:solidFill>
                  <a:srgbClr val="18251F"/>
                </a:solidFill>
              </a:rPr>
              <a:t>Recorder</a:t>
            </a:r>
            <a:endParaRPr lang="en-US" sz="1120" dirty="0"/>
          </a:p>
        </p:txBody>
      </p:sp>
      <p:sp>
        <p:nvSpPr>
          <p:cNvPr id="38" name="Text 36"/>
          <p:cNvSpPr/>
          <p:nvPr/>
        </p:nvSpPr>
        <p:spPr>
          <a:xfrm>
            <a:off x="2926080" y="5477256"/>
            <a:ext cx="8321040" cy="274320"/>
          </a:xfrm>
          <a:prstGeom prst="rect">
            <a:avLst/>
          </a:prstGeom>
          <a:noFill/>
          <a:ln/>
        </p:spPr>
        <p:txBody>
          <a:bodyPr wrap="square" lIns="0" tIns="0" rIns="0" bIns="0" rtlCol="0" anchor="ctr"/>
          <a:lstStyle/>
          <a:p>
            <a:pPr indent="0" marL="0">
              <a:buNone/>
            </a:pPr>
            <a:r>
              <a:rPr lang="en-US" sz="1050" dirty="0">
                <a:solidFill>
                  <a:srgbClr val="66756F"/>
                </a:solidFill>
              </a:rPr>
              <a:t>Record a short flow and export Excel/JSON.</a:t>
            </a:r>
            <a:endParaRPr lang="en-US" sz="1050" dirty="0"/>
          </a:p>
        </p:txBody>
      </p:sp>
      <p:sp>
        <p:nvSpPr>
          <p:cNvPr id="39" name="Shape 37"/>
          <p:cNvSpPr/>
          <p:nvPr/>
        </p:nvSpPr>
        <p:spPr>
          <a:xfrm>
            <a:off x="731520" y="5788152"/>
            <a:ext cx="10469880" cy="0"/>
          </a:xfrm>
          <a:prstGeom prst="line">
            <a:avLst/>
          </a:prstGeom>
          <a:noFill/>
          <a:ln w="12700">
            <a:solidFill>
              <a:srgbClr val="E7EFEB"/>
            </a:solidFill>
            <a:prstDash val="solid"/>
          </a:ln>
        </p:spPr>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Demo 1 — connect the AI model</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The application will not expose Home until the connection is validated</a:t>
            </a:r>
            <a:endParaRPr lang="en-US" sz="1150" dirty="0"/>
          </a:p>
        </p:txBody>
      </p:sp>
      <p:sp>
        <p:nvSpPr>
          <p:cNvPr id="4" name="Shape 2"/>
          <p:cNvSpPr/>
          <p:nvPr/>
        </p:nvSpPr>
        <p:spPr>
          <a:xfrm>
            <a:off x="557784" y="1197864"/>
            <a:ext cx="6245352" cy="5056632"/>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pic>
        <p:nvPicPr>
          <p:cNvPr id="5" name="Image 0" descr="/mnt/data/vibium_assets/connection.png">    </p:cNvPr>
          <p:cNvPicPr>
            <a:picLocks noChangeAspect="1"/>
          </p:cNvPicPr>
          <p:nvPr/>
        </p:nvPicPr>
        <p:blipFill>
          <a:blip r:embed="rId1"/>
          <a:stretch>
            <a:fillRect/>
          </a:stretch>
        </p:blipFill>
        <p:spPr>
          <a:xfrm>
            <a:off x="594360" y="1583055"/>
            <a:ext cx="6172200" cy="4286250"/>
          </a:xfrm>
          <a:prstGeom prst="rect">
            <a:avLst/>
          </a:prstGeom>
        </p:spPr>
      </p:pic>
      <p:sp>
        <p:nvSpPr>
          <p:cNvPr id="6" name="Shape 3"/>
          <p:cNvSpPr/>
          <p:nvPr/>
        </p:nvSpPr>
        <p:spPr>
          <a:xfrm>
            <a:off x="7086600" y="1417320"/>
            <a:ext cx="4434840" cy="1234440"/>
          </a:xfrm>
          <a:prstGeom prst="roundRect">
            <a:avLst>
              <a:gd name="adj" fmla="val 8889"/>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7" name="Shape 4"/>
          <p:cNvSpPr/>
          <p:nvPr/>
        </p:nvSpPr>
        <p:spPr>
          <a:xfrm>
            <a:off x="7287768" y="1618488"/>
            <a:ext cx="384048" cy="384048"/>
          </a:xfrm>
          <a:prstGeom prst="ellipse">
            <a:avLst/>
          </a:prstGeom>
          <a:solidFill>
            <a:srgbClr val="E9F6F0"/>
          </a:solidFill>
          <a:ln w="12700">
            <a:solidFill>
              <a:srgbClr val="E9F6F0"/>
            </a:solidFill>
            <a:prstDash val="solid"/>
          </a:ln>
        </p:spPr>
      </p:sp>
      <p:sp>
        <p:nvSpPr>
          <p:cNvPr id="8" name="Text 5"/>
          <p:cNvSpPr/>
          <p:nvPr/>
        </p:nvSpPr>
        <p:spPr>
          <a:xfrm>
            <a:off x="7287768" y="16870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1</a:t>
            </a:r>
            <a:endParaRPr lang="en-US" sz="1100" dirty="0"/>
          </a:p>
        </p:txBody>
      </p:sp>
      <p:sp>
        <p:nvSpPr>
          <p:cNvPr id="9" name="Text 6"/>
          <p:cNvSpPr/>
          <p:nvPr/>
        </p:nvSpPr>
        <p:spPr>
          <a:xfrm>
            <a:off x="7781544" y="1600200"/>
            <a:ext cx="3520440" cy="292608"/>
          </a:xfrm>
          <a:prstGeom prst="rect">
            <a:avLst/>
          </a:prstGeom>
          <a:noFill/>
          <a:ln/>
        </p:spPr>
        <p:txBody>
          <a:bodyPr wrap="square" lIns="0" tIns="0" rIns="0" bIns="0" rtlCol="0" anchor="ctr"/>
          <a:lstStyle/>
          <a:p>
            <a:pPr indent="0" marL="0">
              <a:buNone/>
            </a:pPr>
            <a:r>
              <a:rPr lang="en-US" sz="1400" b="1" dirty="0">
                <a:solidFill>
                  <a:srgbClr val="18251F"/>
                </a:solidFill>
              </a:rPr>
              <a:t>Narrate</a:t>
            </a:r>
            <a:endParaRPr lang="en-US" sz="1400" dirty="0"/>
          </a:p>
        </p:txBody>
      </p:sp>
      <p:sp>
        <p:nvSpPr>
          <p:cNvPr id="10" name="Text 7"/>
          <p:cNvSpPr/>
          <p:nvPr/>
        </p:nvSpPr>
        <p:spPr>
          <a:xfrm>
            <a:off x="7306056" y="1984248"/>
            <a:ext cx="3995928" cy="502920"/>
          </a:xfrm>
          <a:prstGeom prst="rect">
            <a:avLst/>
          </a:prstGeom>
          <a:noFill/>
          <a:ln/>
        </p:spPr>
        <p:txBody>
          <a:bodyPr wrap="square" lIns="381" tIns="381" rIns="381" bIns="381" rtlCol="0" anchor="t"/>
          <a:lstStyle/>
          <a:p>
            <a:pPr indent="0" marL="0">
              <a:buNone/>
            </a:pPr>
            <a:r>
              <a:rPr lang="en-US" sz="1050" dirty="0">
                <a:solidFill>
                  <a:srgbClr val="66756F"/>
                </a:solidFill>
              </a:rPr>
              <a:t>“Endpoint, model and API key are runtime inputs. We do not hard-code them into the application.”</a:t>
            </a:r>
            <a:endParaRPr lang="en-US" sz="1050" dirty="0"/>
          </a:p>
        </p:txBody>
      </p:sp>
      <p:sp>
        <p:nvSpPr>
          <p:cNvPr id="11" name="Shape 8"/>
          <p:cNvSpPr/>
          <p:nvPr/>
        </p:nvSpPr>
        <p:spPr>
          <a:xfrm>
            <a:off x="7086600" y="2926080"/>
            <a:ext cx="4434840" cy="1234440"/>
          </a:xfrm>
          <a:prstGeom prst="roundRect">
            <a:avLst>
              <a:gd name="adj" fmla="val 8889"/>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2" name="Shape 9"/>
          <p:cNvSpPr/>
          <p:nvPr/>
        </p:nvSpPr>
        <p:spPr>
          <a:xfrm>
            <a:off x="7287768" y="3127248"/>
            <a:ext cx="384048" cy="384048"/>
          </a:xfrm>
          <a:prstGeom prst="ellipse">
            <a:avLst/>
          </a:prstGeom>
          <a:solidFill>
            <a:srgbClr val="E9F6F0"/>
          </a:solidFill>
          <a:ln w="12700">
            <a:solidFill>
              <a:srgbClr val="E9F6F0"/>
            </a:solidFill>
            <a:prstDash val="solid"/>
          </a:ln>
        </p:spPr>
      </p:sp>
      <p:sp>
        <p:nvSpPr>
          <p:cNvPr id="13" name="Text 10"/>
          <p:cNvSpPr/>
          <p:nvPr/>
        </p:nvSpPr>
        <p:spPr>
          <a:xfrm>
            <a:off x="7287768" y="31958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2</a:t>
            </a:r>
            <a:endParaRPr lang="en-US" sz="1100" dirty="0"/>
          </a:p>
        </p:txBody>
      </p:sp>
      <p:sp>
        <p:nvSpPr>
          <p:cNvPr id="14" name="Text 11"/>
          <p:cNvSpPr/>
          <p:nvPr/>
        </p:nvSpPr>
        <p:spPr>
          <a:xfrm>
            <a:off x="7781544" y="3108960"/>
            <a:ext cx="3520440" cy="292608"/>
          </a:xfrm>
          <a:prstGeom prst="rect">
            <a:avLst/>
          </a:prstGeom>
          <a:noFill/>
          <a:ln/>
        </p:spPr>
        <p:txBody>
          <a:bodyPr wrap="square" lIns="0" tIns="0" rIns="0" bIns="0" rtlCol="0" anchor="ctr"/>
          <a:lstStyle/>
          <a:p>
            <a:pPr indent="0" marL="0">
              <a:buNone/>
            </a:pPr>
            <a:r>
              <a:rPr lang="en-US" sz="1400" b="1" dirty="0">
                <a:solidFill>
                  <a:srgbClr val="18251F"/>
                </a:solidFill>
              </a:rPr>
              <a:t>Show failure path</a:t>
            </a:r>
            <a:endParaRPr lang="en-US" sz="1400" dirty="0"/>
          </a:p>
        </p:txBody>
      </p:sp>
      <p:sp>
        <p:nvSpPr>
          <p:cNvPr id="15" name="Text 12"/>
          <p:cNvSpPr/>
          <p:nvPr/>
        </p:nvSpPr>
        <p:spPr>
          <a:xfrm>
            <a:off x="7306056" y="3493008"/>
            <a:ext cx="3995928" cy="502920"/>
          </a:xfrm>
          <a:prstGeom prst="rect">
            <a:avLst/>
          </a:prstGeom>
          <a:noFill/>
          <a:ln/>
        </p:spPr>
        <p:txBody>
          <a:bodyPr wrap="square" lIns="381" tIns="381" rIns="381" bIns="381" rtlCol="0" anchor="t"/>
          <a:lstStyle/>
          <a:p>
            <a:pPr indent="0" marL="0">
              <a:buNone/>
            </a:pPr>
            <a:r>
              <a:rPr lang="en-US" sz="1050" dirty="0">
                <a:solidFill>
                  <a:srgbClr val="66756F"/>
                </a:solidFill>
              </a:rPr>
              <a:t>Use an invalid key or model route once. Home remains hidden and a safe error is displayed.</a:t>
            </a:r>
            <a:endParaRPr lang="en-US" sz="1050" dirty="0"/>
          </a:p>
        </p:txBody>
      </p:sp>
      <p:sp>
        <p:nvSpPr>
          <p:cNvPr id="16" name="Shape 13"/>
          <p:cNvSpPr/>
          <p:nvPr/>
        </p:nvSpPr>
        <p:spPr>
          <a:xfrm>
            <a:off x="7086600" y="4434840"/>
            <a:ext cx="4434840" cy="1234440"/>
          </a:xfrm>
          <a:prstGeom prst="roundRect">
            <a:avLst>
              <a:gd name="adj" fmla="val 8889"/>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7" name="Shape 14"/>
          <p:cNvSpPr/>
          <p:nvPr/>
        </p:nvSpPr>
        <p:spPr>
          <a:xfrm>
            <a:off x="7287768" y="4636008"/>
            <a:ext cx="384048" cy="384048"/>
          </a:xfrm>
          <a:prstGeom prst="ellipse">
            <a:avLst/>
          </a:prstGeom>
          <a:solidFill>
            <a:srgbClr val="E9F6F0"/>
          </a:solidFill>
          <a:ln w="12700">
            <a:solidFill>
              <a:srgbClr val="E9F6F0"/>
            </a:solidFill>
            <a:prstDash val="solid"/>
          </a:ln>
        </p:spPr>
      </p:sp>
      <p:sp>
        <p:nvSpPr>
          <p:cNvPr id="18" name="Text 15"/>
          <p:cNvSpPr/>
          <p:nvPr/>
        </p:nvSpPr>
        <p:spPr>
          <a:xfrm>
            <a:off x="7287768" y="470458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3</a:t>
            </a:r>
            <a:endParaRPr lang="en-US" sz="1100" dirty="0"/>
          </a:p>
        </p:txBody>
      </p:sp>
      <p:sp>
        <p:nvSpPr>
          <p:cNvPr id="19" name="Text 16"/>
          <p:cNvSpPr/>
          <p:nvPr/>
        </p:nvSpPr>
        <p:spPr>
          <a:xfrm>
            <a:off x="7781544" y="4617720"/>
            <a:ext cx="3520440" cy="292608"/>
          </a:xfrm>
          <a:prstGeom prst="rect">
            <a:avLst/>
          </a:prstGeom>
          <a:noFill/>
          <a:ln/>
        </p:spPr>
        <p:txBody>
          <a:bodyPr wrap="square" lIns="0" tIns="0" rIns="0" bIns="0" rtlCol="0" anchor="ctr"/>
          <a:lstStyle/>
          <a:p>
            <a:pPr indent="0" marL="0">
              <a:buNone/>
            </a:pPr>
            <a:r>
              <a:rPr lang="en-US" sz="1400" b="1" dirty="0">
                <a:solidFill>
                  <a:srgbClr val="18251F"/>
                </a:solidFill>
              </a:rPr>
              <a:t>Then validate</a:t>
            </a:r>
            <a:endParaRPr lang="en-US" sz="1400" dirty="0"/>
          </a:p>
        </p:txBody>
      </p:sp>
      <p:sp>
        <p:nvSpPr>
          <p:cNvPr id="20" name="Text 17"/>
          <p:cNvSpPr/>
          <p:nvPr/>
        </p:nvSpPr>
        <p:spPr>
          <a:xfrm>
            <a:off x="7306056" y="5001768"/>
            <a:ext cx="3995928" cy="502920"/>
          </a:xfrm>
          <a:prstGeom prst="rect">
            <a:avLst/>
          </a:prstGeom>
          <a:noFill/>
          <a:ln/>
        </p:spPr>
        <p:txBody>
          <a:bodyPr wrap="square" lIns="381" tIns="381" rIns="381" bIns="381" rtlCol="0" anchor="t"/>
          <a:lstStyle/>
          <a:p>
            <a:pPr indent="0" marL="0">
              <a:buNone/>
            </a:pPr>
            <a:r>
              <a:rPr lang="en-US" sz="1050" dirty="0">
                <a:solidFill>
                  <a:srgbClr val="66756F"/>
                </a:solidFill>
              </a:rPr>
              <a:t>Use valid credentials and continue to Home. The key is no longer shown.</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Demo 2 — configure and start the run</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Show the user-controlled knobs before execution</a:t>
            </a:r>
            <a:endParaRPr lang="en-US" sz="1150" dirty="0"/>
          </a:p>
        </p:txBody>
      </p:sp>
      <p:sp>
        <p:nvSpPr>
          <p:cNvPr id="4" name="Shape 2"/>
          <p:cNvSpPr/>
          <p:nvPr/>
        </p:nvSpPr>
        <p:spPr>
          <a:xfrm>
            <a:off x="466344" y="1197864"/>
            <a:ext cx="5559552" cy="2313432"/>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pic>
        <p:nvPicPr>
          <p:cNvPr id="5" name="Image 0" descr="/mnt/data/vibium_assets/home_top.png">    </p:cNvPr>
          <p:cNvPicPr>
            <a:picLocks noChangeAspect="1"/>
          </p:cNvPicPr>
          <p:nvPr/>
        </p:nvPicPr>
        <p:blipFill>
          <a:blip r:embed="rId1"/>
          <a:srcRect l="0" r="0" t="19053" b="19053"/>
          <a:stretch/>
        </p:blipFill>
        <p:spPr>
          <a:xfrm>
            <a:off x="502920" y="1234440"/>
            <a:ext cx="5486400" cy="2240280"/>
          </a:xfrm>
          <a:prstGeom prst="rect">
            <a:avLst/>
          </a:prstGeom>
        </p:spPr>
      </p:pic>
      <p:sp>
        <p:nvSpPr>
          <p:cNvPr id="6" name="Shape 3"/>
          <p:cNvSpPr/>
          <p:nvPr/>
        </p:nvSpPr>
        <p:spPr>
          <a:xfrm>
            <a:off x="6181344" y="1197864"/>
            <a:ext cx="5513832" cy="3867912"/>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pic>
        <p:nvPicPr>
          <p:cNvPr id="7" name="Image 1" descr="/mnt/data/vibium_assets/execution_card.png">    </p:cNvPr>
          <p:cNvPicPr>
            <a:picLocks noChangeAspect="1"/>
          </p:cNvPicPr>
          <p:nvPr/>
        </p:nvPicPr>
        <p:blipFill>
          <a:blip r:embed="rId2"/>
          <a:stretch>
            <a:fillRect/>
          </a:stretch>
        </p:blipFill>
        <p:spPr>
          <a:xfrm>
            <a:off x="6217920" y="1252770"/>
            <a:ext cx="5440680" cy="3758099"/>
          </a:xfrm>
          <a:prstGeom prst="rect">
            <a:avLst/>
          </a:prstGeom>
        </p:spPr>
      </p:pic>
      <p:sp>
        <p:nvSpPr>
          <p:cNvPr id="8" name="Text 4"/>
          <p:cNvSpPr/>
          <p:nvPr/>
        </p:nvSpPr>
        <p:spPr>
          <a:xfrm>
            <a:off x="777240" y="3840480"/>
            <a:ext cx="4983480" cy="1965960"/>
          </a:xfrm>
          <a:prstGeom prst="rect">
            <a:avLst/>
          </a:prstGeom>
          <a:noFill/>
          <a:ln/>
        </p:spPr>
        <p:txBody>
          <a:bodyPr wrap="square" lIns="254" tIns="254" rIns="254" bIns="254" rtlCol="0" anchor="t"/>
          <a:lstStyle/>
          <a:p>
            <a:pPr marL="203200" indent="-203200">
              <a:buSzPct val="100000"/>
              <a:buChar char="•"/>
            </a:pPr>
            <a:r>
              <a:rPr lang="en-US" sz="1150" dirty="0">
                <a:solidFill>
                  <a:srgbClr val="18251F"/>
                </a:solidFill>
                <a:latin typeface="Noto Sans" pitchFamily="34" charset="0"/>
                <a:ea typeface="Noto Sans" pitchFamily="34" charset="-122"/>
                <a:cs typeface="Noto Sans" pitchFamily="34" charset="-120"/>
              </a:rPr>
              <a:t>Select the required worksheets.</a:t>
            </a:r>
            <a:endParaRPr lang="en-US" sz="1150" dirty="0"/>
          </a:p>
          <a:p>
            <a:pPr marL="203200" indent="-203200">
              <a:buSzPct val="100000"/>
              <a:buChar char="•"/>
            </a:pPr>
            <a:r>
              <a:rPr lang="en-US" sz="1150" dirty="0">
                <a:solidFill>
                  <a:srgbClr val="18251F"/>
                </a:solidFill>
                <a:latin typeface="Noto Sans" pitchFamily="34" charset="0"/>
                <a:ea typeface="Noto Sans" pitchFamily="34" charset="-122"/>
                <a:cs typeface="Noto Sans" pitchFamily="34" charset="-120"/>
              </a:rPr>
              <a:t>Choose shared / isolated / parallel execution.</a:t>
            </a:r>
            <a:endParaRPr lang="en-US" sz="1150" dirty="0"/>
          </a:p>
          <a:p>
            <a:pPr marL="203200" indent="-203200">
              <a:buSzPct val="100000"/>
              <a:buChar char="•"/>
            </a:pPr>
            <a:r>
              <a:rPr lang="en-US" sz="1150" dirty="0">
                <a:solidFill>
                  <a:srgbClr val="18251F"/>
                </a:solidFill>
                <a:latin typeface="Noto Sans" pitchFamily="34" charset="0"/>
                <a:ea typeface="Noto Sans" pitchFamily="34" charset="-122"/>
                <a:cs typeface="Noto Sans" pitchFamily="34" charset="-120"/>
              </a:rPr>
              <a:t>Set screenshot mode, timeout, healing attempts and scenario reruns.</a:t>
            </a:r>
            <a:endParaRPr lang="en-US" sz="1150" dirty="0"/>
          </a:p>
          <a:p>
            <a:pPr marL="203200" indent="-203200">
              <a:buSzPct val="100000"/>
              <a:buChar char="•"/>
            </a:pPr>
            <a:r>
              <a:rPr lang="en-US" sz="1150" dirty="0">
                <a:solidFill>
                  <a:srgbClr val="18251F"/>
                </a:solidFill>
                <a:latin typeface="Noto Sans" pitchFamily="34" charset="0"/>
                <a:ea typeface="Noto Sans" pitchFamily="34" charset="-122"/>
                <a:cs typeface="Noto Sans" pitchFamily="34" charset="-120"/>
              </a:rPr>
              <a:t>Optional: session-cookie replacement or additional cookies.</a:t>
            </a:r>
            <a:endParaRPr lang="en-US" sz="1150" dirty="0"/>
          </a:p>
          <a:p>
            <a:pPr marL="203200" indent="-203200">
              <a:buSzPct val="100000"/>
              <a:buChar char="•"/>
            </a:pPr>
            <a:r>
              <a:rPr lang="en-US" sz="1150" dirty="0">
                <a:solidFill>
                  <a:srgbClr val="18251F"/>
                </a:solidFill>
                <a:latin typeface="Noto Sans" pitchFamily="34" charset="0"/>
                <a:ea typeface="Noto Sans" pitchFamily="34" charset="-122"/>
                <a:cs typeface="Noto Sans" pitchFamily="34" charset="-120"/>
              </a:rPr>
              <a:t>Click Run tests.</a:t>
            </a:r>
            <a:endParaRPr lang="en-US" sz="11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Demo 3 — watch execution and investigate results</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Live status is designed for both execution monitoring and first-line triage</a:t>
            </a:r>
            <a:endParaRPr lang="en-US" sz="1150" dirty="0"/>
          </a:p>
        </p:txBody>
      </p:sp>
      <p:sp>
        <p:nvSpPr>
          <p:cNvPr id="4" name="Shape 2"/>
          <p:cNvSpPr/>
          <p:nvPr/>
        </p:nvSpPr>
        <p:spPr>
          <a:xfrm>
            <a:off x="466344" y="1197864"/>
            <a:ext cx="7205472" cy="5010912"/>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pic>
        <p:nvPicPr>
          <p:cNvPr id="5" name="Image 0" descr="/mnt/data/vibium_assets/results.png">    </p:cNvPr>
          <p:cNvPicPr>
            <a:picLocks noChangeAspect="1"/>
          </p:cNvPicPr>
          <p:nvPr/>
        </p:nvPicPr>
        <p:blipFill>
          <a:blip r:embed="rId1"/>
          <a:stretch>
            <a:fillRect/>
          </a:stretch>
        </p:blipFill>
        <p:spPr>
          <a:xfrm>
            <a:off x="641694" y="1234440"/>
            <a:ext cx="6854773" cy="4937760"/>
          </a:xfrm>
          <a:prstGeom prst="rect">
            <a:avLst/>
          </a:prstGeom>
        </p:spPr>
      </p:pic>
      <p:sp>
        <p:nvSpPr>
          <p:cNvPr id="6" name="Text 3"/>
          <p:cNvSpPr/>
          <p:nvPr/>
        </p:nvSpPr>
        <p:spPr>
          <a:xfrm>
            <a:off x="7955280" y="1645920"/>
            <a:ext cx="3429000" cy="2971800"/>
          </a:xfrm>
          <a:prstGeom prst="rect">
            <a:avLst/>
          </a:prstGeom>
          <a:noFill/>
          <a:ln/>
        </p:spPr>
        <p:txBody>
          <a:bodyPr wrap="square" lIns="254" tIns="254" rIns="254" bIns="254" rtlCol="0" anchor="t"/>
          <a:lstStyle/>
          <a:p>
            <a:pPr marL="203200" indent="-203200">
              <a:buSzPct val="100000"/>
              <a:buChar char="•"/>
            </a:pPr>
            <a:r>
              <a:rPr lang="en-US" sz="1170" dirty="0">
                <a:solidFill>
                  <a:srgbClr val="18251F"/>
                </a:solidFill>
                <a:latin typeface="Noto Sans" pitchFamily="34" charset="0"/>
                <a:ea typeface="Noto Sans" pitchFamily="34" charset="-122"/>
                <a:cs typeface="Noto Sans" pitchFamily="34" charset="-120"/>
              </a:rPr>
              <a:t>Point out RUNNING / PENDING / FAILED / PASSED states.</a:t>
            </a:r>
            <a:endParaRPr lang="en-US" sz="1170" dirty="0"/>
          </a:p>
          <a:p>
            <a:pPr marL="203200" indent="-203200">
              <a:buSzPct val="100000"/>
              <a:buChar char="•"/>
            </a:pPr>
            <a:r>
              <a:rPr lang="en-US" sz="1170" dirty="0">
                <a:solidFill>
                  <a:srgbClr val="18251F"/>
                </a:solidFill>
                <a:latin typeface="Noto Sans" pitchFamily="34" charset="0"/>
                <a:ea typeface="Noto Sans" pitchFamily="34" charset="-122"/>
                <a:cs typeface="Noto Sans" pitchFamily="34" charset="-120"/>
              </a:rPr>
              <a:t>Show attempt counts and immediate scenario rerun behavior.</a:t>
            </a:r>
            <a:endParaRPr lang="en-US" sz="1170" dirty="0"/>
          </a:p>
          <a:p>
            <a:pPr marL="203200" indent="-203200">
              <a:buSzPct val="100000"/>
              <a:buChar char="•"/>
            </a:pPr>
            <a:r>
              <a:rPr lang="en-US" sz="1170" dirty="0">
                <a:solidFill>
                  <a:srgbClr val="18251F"/>
                </a:solidFill>
                <a:latin typeface="Noto Sans" pitchFamily="34" charset="0"/>
                <a:ea typeface="Noto Sans" pitchFamily="34" charset="-122"/>
                <a:cs typeface="Noto Sans" pitchFamily="34" charset="-120"/>
              </a:rPr>
              <a:t>Select a failed test and rerun it manually.</a:t>
            </a:r>
            <a:endParaRPr lang="en-US" sz="1170" dirty="0"/>
          </a:p>
          <a:p>
            <a:pPr marL="203200" indent="-203200">
              <a:buSzPct val="100000"/>
              <a:buChar char="•"/>
            </a:pPr>
            <a:r>
              <a:rPr lang="en-US" sz="1170" dirty="0">
                <a:solidFill>
                  <a:srgbClr val="18251F"/>
                </a:solidFill>
                <a:latin typeface="Noto Sans" pitchFamily="34" charset="0"/>
                <a:ea typeface="Noto Sans" pitchFamily="34" charset="-122"/>
                <a:cs typeface="Noto Sans" pitchFamily="34" charset="-120"/>
              </a:rPr>
              <a:t>Open detailed HTML, screenshot report and MCP transcript.</a:t>
            </a:r>
            <a:endParaRPr lang="en-US" sz="1170" dirty="0"/>
          </a:p>
          <a:p>
            <a:pPr marL="203200" indent="-203200">
              <a:buSzPct val="100000"/>
              <a:buChar char="•"/>
            </a:pPr>
            <a:r>
              <a:rPr lang="en-US" sz="1170" dirty="0">
                <a:solidFill>
                  <a:srgbClr val="18251F"/>
                </a:solidFill>
                <a:latin typeface="Noto Sans" pitchFamily="34" charset="0"/>
                <a:ea typeface="Noto Sans" pitchFamily="34" charset="-122"/>
                <a:cs typeface="Noto Sans" pitchFamily="34" charset="-120"/>
              </a:rPr>
              <a:t>Explain that report artifacts remain even though live run history is in memory.</a:t>
            </a:r>
            <a:endParaRPr lang="en-US" sz="1170" dirty="0"/>
          </a:p>
        </p:txBody>
      </p:sp>
      <p:sp>
        <p:nvSpPr>
          <p:cNvPr id="7" name="Text 4"/>
          <p:cNvSpPr/>
          <p:nvPr/>
        </p:nvSpPr>
        <p:spPr>
          <a:xfrm>
            <a:off x="8001000" y="5029200"/>
            <a:ext cx="3291840" cy="310896"/>
          </a:xfrm>
          <a:prstGeom prst="rect">
            <a:avLst/>
          </a:prstGeom>
          <a:solidFill>
            <a:srgbClr val="FFF4D6"/>
          </a:solidFill>
          <a:ln>
            <a:solidFill>
              <a:srgbClr val="FFF4D6"/>
            </a:solidFill>
          </a:ln>
        </p:spPr>
        <p:txBody>
          <a:bodyPr wrap="square" lIns="254" tIns="254" rIns="254" bIns="254" rtlCol="0" anchor="ctr"/>
          <a:lstStyle/>
          <a:p>
            <a:pPr algn="ctr" indent="0" marL="0">
              <a:buNone/>
            </a:pPr>
            <a:r>
              <a:rPr lang="en-US" sz="950" b="1" dirty="0">
                <a:solidFill>
                  <a:srgbClr val="A36A00"/>
                </a:solidFill>
              </a:rPr>
              <a:t>Demo tip: force one safe locator failure to show healing</a:t>
            </a:r>
            <a:endParaRPr lang="en-US" sz="9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Build and deployment model</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Local-first execution with a Spring Boot JAR and Vibium runtime</a:t>
            </a:r>
            <a:endParaRPr lang="en-US" sz="1150" dirty="0"/>
          </a:p>
        </p:txBody>
      </p:sp>
      <p:sp>
        <p:nvSpPr>
          <p:cNvPr id="4" name="Shape 2"/>
          <p:cNvSpPr/>
          <p:nvPr/>
        </p:nvSpPr>
        <p:spPr>
          <a:xfrm>
            <a:off x="685800" y="1325880"/>
            <a:ext cx="3337560" cy="4434840"/>
          </a:xfrm>
          <a:prstGeom prst="roundRect">
            <a:avLst>
              <a:gd name="adj" fmla="val 3288"/>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5" name="Shape 3"/>
          <p:cNvSpPr/>
          <p:nvPr/>
        </p:nvSpPr>
        <p:spPr>
          <a:xfrm>
            <a:off x="886968" y="1527048"/>
            <a:ext cx="384048" cy="384048"/>
          </a:xfrm>
          <a:prstGeom prst="ellipse">
            <a:avLst/>
          </a:prstGeom>
          <a:solidFill>
            <a:srgbClr val="E9F6F0"/>
          </a:solidFill>
          <a:ln w="12700">
            <a:solidFill>
              <a:srgbClr val="E9F6F0"/>
            </a:solidFill>
            <a:prstDash val="solid"/>
          </a:ln>
        </p:spPr>
      </p:sp>
      <p:sp>
        <p:nvSpPr>
          <p:cNvPr id="6" name="Text 4"/>
          <p:cNvSpPr/>
          <p:nvPr/>
        </p:nvSpPr>
        <p:spPr>
          <a:xfrm>
            <a:off x="88696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P</a:t>
            </a:r>
            <a:endParaRPr lang="en-US" sz="1100" dirty="0"/>
          </a:p>
        </p:txBody>
      </p:sp>
      <p:sp>
        <p:nvSpPr>
          <p:cNvPr id="7" name="Text 5"/>
          <p:cNvSpPr/>
          <p:nvPr/>
        </p:nvSpPr>
        <p:spPr>
          <a:xfrm>
            <a:off x="1380744" y="1508760"/>
            <a:ext cx="2423160" cy="292608"/>
          </a:xfrm>
          <a:prstGeom prst="rect">
            <a:avLst/>
          </a:prstGeom>
          <a:noFill/>
          <a:ln/>
        </p:spPr>
        <p:txBody>
          <a:bodyPr wrap="square" lIns="0" tIns="0" rIns="0" bIns="0" rtlCol="0" anchor="ctr"/>
          <a:lstStyle/>
          <a:p>
            <a:pPr indent="0" marL="0">
              <a:buNone/>
            </a:pPr>
            <a:r>
              <a:rPr lang="en-US" sz="1400" b="1" dirty="0">
                <a:solidFill>
                  <a:srgbClr val="18251F"/>
                </a:solidFill>
              </a:rPr>
              <a:t>Prerequisites</a:t>
            </a:r>
            <a:endParaRPr lang="en-US" sz="1400" dirty="0"/>
          </a:p>
        </p:txBody>
      </p:sp>
      <p:sp>
        <p:nvSpPr>
          <p:cNvPr id="8" name="Text 6"/>
          <p:cNvSpPr/>
          <p:nvPr/>
        </p:nvSpPr>
        <p:spPr>
          <a:xfrm>
            <a:off x="905256" y="1892808"/>
            <a:ext cx="2898648" cy="3703320"/>
          </a:xfrm>
          <a:prstGeom prst="rect">
            <a:avLst/>
          </a:prstGeom>
          <a:noFill/>
          <a:ln/>
        </p:spPr>
        <p:txBody>
          <a:bodyPr wrap="square" lIns="381" tIns="381" rIns="381" bIns="381" rtlCol="0" anchor="t"/>
          <a:lstStyle/>
          <a:p>
            <a:pPr indent="0" marL="0">
              <a:buNone/>
            </a:pPr>
            <a:r>
              <a:rPr lang="en-US" sz="1050" dirty="0">
                <a:solidFill>
                  <a:srgbClr val="66756F"/>
                </a:solidFill>
              </a:rPr>
              <a:t>• Java 17+</a:t>
            </a:r>
            <a:endParaRPr lang="en-US" sz="1050" dirty="0"/>
          </a:p>
          <a:p>
            <a:pPr indent="0" marL="0">
              <a:buNone/>
            </a:pPr>
            <a:r>
              <a:rPr lang="en-US" sz="1050" dirty="0">
                <a:solidFill>
                  <a:srgbClr val="66756F"/>
                </a:solidFill>
              </a:rPr>
              <a:t>• Maven for source build</a:t>
            </a:r>
            <a:endParaRPr lang="en-US" sz="1050" dirty="0"/>
          </a:p>
          <a:p>
            <a:pPr indent="0" marL="0">
              <a:buNone/>
            </a:pPr>
            <a:r>
              <a:rPr lang="en-US" sz="1050" dirty="0">
                <a:solidFill>
                  <a:srgbClr val="66756F"/>
                </a:solidFill>
              </a:rPr>
              <a:t>• Vibium available globally or under tools/vibium-portable</a:t>
            </a:r>
            <a:endParaRPr lang="en-US" sz="1050" dirty="0"/>
          </a:p>
          <a:p>
            <a:pPr indent="0" marL="0">
              <a:buNone/>
            </a:pPr>
            <a:r>
              <a:rPr lang="en-US" sz="1050" dirty="0">
                <a:solidFill>
                  <a:srgbClr val="66756F"/>
                </a:solidFill>
              </a:rPr>
              <a:t>• Node.js for the local TCP bridge used by shared-browser mode</a:t>
            </a:r>
            <a:endParaRPr lang="en-US" sz="1050" dirty="0"/>
          </a:p>
          <a:p>
            <a:pPr indent="0" marL="0">
              <a:buNone/>
            </a:pPr>
            <a:r>
              <a:rPr lang="en-US" sz="1050" dirty="0">
                <a:solidFill>
                  <a:srgbClr val="66756F"/>
                </a:solidFill>
              </a:rPr>
              <a:t>• Network access to AUT and LLM endpoint</a:t>
            </a:r>
            <a:endParaRPr lang="en-US" sz="1050" dirty="0"/>
          </a:p>
        </p:txBody>
      </p:sp>
      <p:sp>
        <p:nvSpPr>
          <p:cNvPr id="9" name="Shape 7"/>
          <p:cNvSpPr/>
          <p:nvPr/>
        </p:nvSpPr>
        <p:spPr>
          <a:xfrm>
            <a:off x="4434840" y="1325880"/>
            <a:ext cx="3337560" cy="4434840"/>
          </a:xfrm>
          <a:prstGeom prst="roundRect">
            <a:avLst>
              <a:gd name="adj" fmla="val 3288"/>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0" name="Shape 8"/>
          <p:cNvSpPr/>
          <p:nvPr/>
        </p:nvSpPr>
        <p:spPr>
          <a:xfrm>
            <a:off x="4636008" y="1527048"/>
            <a:ext cx="384048" cy="384048"/>
          </a:xfrm>
          <a:prstGeom prst="ellipse">
            <a:avLst/>
          </a:prstGeom>
          <a:solidFill>
            <a:srgbClr val="E9F6F0"/>
          </a:solidFill>
          <a:ln w="12700">
            <a:solidFill>
              <a:srgbClr val="E9F6F0"/>
            </a:solidFill>
            <a:prstDash val="solid"/>
          </a:ln>
        </p:spPr>
      </p:sp>
      <p:sp>
        <p:nvSpPr>
          <p:cNvPr id="11" name="Text 9"/>
          <p:cNvSpPr/>
          <p:nvPr/>
        </p:nvSpPr>
        <p:spPr>
          <a:xfrm>
            <a:off x="463600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B</a:t>
            </a:r>
            <a:endParaRPr lang="en-US" sz="1100" dirty="0"/>
          </a:p>
        </p:txBody>
      </p:sp>
      <p:sp>
        <p:nvSpPr>
          <p:cNvPr id="12" name="Text 10"/>
          <p:cNvSpPr/>
          <p:nvPr/>
        </p:nvSpPr>
        <p:spPr>
          <a:xfrm>
            <a:off x="5129784" y="1508760"/>
            <a:ext cx="2423160" cy="292608"/>
          </a:xfrm>
          <a:prstGeom prst="rect">
            <a:avLst/>
          </a:prstGeom>
          <a:noFill/>
          <a:ln/>
        </p:spPr>
        <p:txBody>
          <a:bodyPr wrap="square" lIns="0" tIns="0" rIns="0" bIns="0" rtlCol="0" anchor="ctr"/>
          <a:lstStyle/>
          <a:p>
            <a:pPr indent="0" marL="0">
              <a:buNone/>
            </a:pPr>
            <a:r>
              <a:rPr lang="en-US" sz="1400" b="1" dirty="0">
                <a:solidFill>
                  <a:srgbClr val="18251F"/>
                </a:solidFill>
              </a:rPr>
              <a:t>Build</a:t>
            </a:r>
            <a:endParaRPr lang="en-US" sz="1400" dirty="0"/>
          </a:p>
        </p:txBody>
      </p:sp>
      <p:sp>
        <p:nvSpPr>
          <p:cNvPr id="13" name="Text 11"/>
          <p:cNvSpPr/>
          <p:nvPr/>
        </p:nvSpPr>
        <p:spPr>
          <a:xfrm>
            <a:off x="4654296" y="1892808"/>
            <a:ext cx="2898648" cy="3703320"/>
          </a:xfrm>
          <a:prstGeom prst="rect">
            <a:avLst/>
          </a:prstGeom>
          <a:noFill/>
          <a:ln/>
        </p:spPr>
        <p:txBody>
          <a:bodyPr wrap="square" lIns="381" tIns="381" rIns="381" bIns="381" rtlCol="0" anchor="t"/>
          <a:lstStyle/>
          <a:p>
            <a:pPr indent="0" marL="0">
              <a:buNone/>
            </a:pPr>
            <a:r>
              <a:rPr lang="en-US" sz="1050" dirty="0">
                <a:solidFill>
                  <a:srgbClr val="66756F"/>
                </a:solidFill>
              </a:rPr>
              <a:t>Windows: build-windows.cmd</a:t>
            </a:r>
            <a:endParaRPr lang="en-US" sz="1050" dirty="0"/>
          </a:p>
          <a:p>
            <a:pPr indent="0" marL="0">
              <a:buNone/>
            </a:pPr>
            <a:endParaRPr lang="en-US" sz="1050" dirty="0"/>
          </a:p>
          <a:p>
            <a:pPr indent="0" marL="0">
              <a:buNone/>
            </a:pPr>
            <a:r>
              <a:rPr lang="en-US" sz="1050" dirty="0">
                <a:solidFill>
                  <a:srgbClr val="66756F"/>
                </a:solidFill>
              </a:rPr>
              <a:t>macOS/Linux: build-mac.sh</a:t>
            </a:r>
            <a:endParaRPr lang="en-US" sz="1050" dirty="0"/>
          </a:p>
          <a:p>
            <a:pPr indent="0" marL="0">
              <a:buNone/>
            </a:pPr>
            <a:endParaRPr lang="en-US" sz="1050" dirty="0"/>
          </a:p>
          <a:p>
            <a:pPr indent="0" marL="0">
              <a:buNone/>
            </a:pPr>
            <a:r>
              <a:rPr lang="en-US" sz="1050" dirty="0">
                <a:solidFill>
                  <a:srgbClr val="66756F"/>
                </a:solidFill>
              </a:rPr>
              <a:t>Direct: mvn clean package</a:t>
            </a:r>
            <a:endParaRPr lang="en-US" sz="1050" dirty="0"/>
          </a:p>
          <a:p>
            <a:pPr indent="0" marL="0">
              <a:buNone/>
            </a:pPr>
            <a:endParaRPr lang="en-US" sz="1050" dirty="0"/>
          </a:p>
          <a:p>
            <a:pPr indent="0" marL="0">
              <a:buNone/>
            </a:pPr>
            <a:r>
              <a:rPr lang="en-US" sz="1050" dirty="0">
                <a:solidFill>
                  <a:srgbClr val="66756F"/>
                </a:solidFill>
              </a:rPr>
              <a:t>Output: executable Spring Boot JAR under target/.</a:t>
            </a:r>
            <a:endParaRPr lang="en-US" sz="1050" dirty="0"/>
          </a:p>
        </p:txBody>
      </p:sp>
      <p:sp>
        <p:nvSpPr>
          <p:cNvPr id="14" name="Shape 12"/>
          <p:cNvSpPr/>
          <p:nvPr/>
        </p:nvSpPr>
        <p:spPr>
          <a:xfrm>
            <a:off x="8183880" y="1325880"/>
            <a:ext cx="3337560" cy="4434840"/>
          </a:xfrm>
          <a:prstGeom prst="roundRect">
            <a:avLst>
              <a:gd name="adj" fmla="val 3288"/>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5" name="Shape 13"/>
          <p:cNvSpPr/>
          <p:nvPr/>
        </p:nvSpPr>
        <p:spPr>
          <a:xfrm>
            <a:off x="8385048" y="1527048"/>
            <a:ext cx="384048" cy="384048"/>
          </a:xfrm>
          <a:prstGeom prst="ellipse">
            <a:avLst/>
          </a:prstGeom>
          <a:solidFill>
            <a:srgbClr val="E9F6F0"/>
          </a:solidFill>
          <a:ln w="12700">
            <a:solidFill>
              <a:srgbClr val="E9F6F0"/>
            </a:solidFill>
            <a:prstDash val="solid"/>
          </a:ln>
        </p:spPr>
      </p:sp>
      <p:sp>
        <p:nvSpPr>
          <p:cNvPr id="16" name="Text 14"/>
          <p:cNvSpPr/>
          <p:nvPr/>
        </p:nvSpPr>
        <p:spPr>
          <a:xfrm>
            <a:off x="838504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R</a:t>
            </a:r>
            <a:endParaRPr lang="en-US" sz="1100" dirty="0"/>
          </a:p>
        </p:txBody>
      </p:sp>
      <p:sp>
        <p:nvSpPr>
          <p:cNvPr id="17" name="Text 15"/>
          <p:cNvSpPr/>
          <p:nvPr/>
        </p:nvSpPr>
        <p:spPr>
          <a:xfrm>
            <a:off x="8878824" y="1508760"/>
            <a:ext cx="2423160" cy="292608"/>
          </a:xfrm>
          <a:prstGeom prst="rect">
            <a:avLst/>
          </a:prstGeom>
          <a:noFill/>
          <a:ln/>
        </p:spPr>
        <p:txBody>
          <a:bodyPr wrap="square" lIns="0" tIns="0" rIns="0" bIns="0" rtlCol="0" anchor="ctr"/>
          <a:lstStyle/>
          <a:p>
            <a:pPr indent="0" marL="0">
              <a:buNone/>
            </a:pPr>
            <a:r>
              <a:rPr lang="en-US" sz="1400" b="1" dirty="0">
                <a:solidFill>
                  <a:srgbClr val="18251F"/>
                </a:solidFill>
              </a:rPr>
              <a:t>Run modes</a:t>
            </a:r>
            <a:endParaRPr lang="en-US" sz="1400" dirty="0"/>
          </a:p>
        </p:txBody>
      </p:sp>
      <p:sp>
        <p:nvSpPr>
          <p:cNvPr id="18" name="Text 16"/>
          <p:cNvSpPr/>
          <p:nvPr/>
        </p:nvSpPr>
        <p:spPr>
          <a:xfrm>
            <a:off x="8403336" y="1892808"/>
            <a:ext cx="2898648" cy="3703320"/>
          </a:xfrm>
          <a:prstGeom prst="rect">
            <a:avLst/>
          </a:prstGeom>
          <a:noFill/>
          <a:ln/>
        </p:spPr>
        <p:txBody>
          <a:bodyPr wrap="square" lIns="381" tIns="381" rIns="381" bIns="381" rtlCol="0" anchor="t"/>
          <a:lstStyle/>
          <a:p>
            <a:pPr indent="0" marL="0">
              <a:buNone/>
            </a:pPr>
            <a:r>
              <a:rPr lang="en-US" sz="1050" dirty="0">
                <a:solidFill>
                  <a:srgbClr val="66756F"/>
                </a:solidFill>
              </a:rPr>
              <a:t>Shared-browser / recorder use the localhost TCP bridge. Separate-browser and parallel modes launch direct Vibium stdio processes and do not depend on port 8765.</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Quality and automated test coverage</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The current source includes 13 test classes and 45 @Test methods</a:t>
            </a:r>
            <a:endParaRPr lang="en-US" sz="1150" dirty="0"/>
          </a:p>
        </p:txBody>
      </p:sp>
      <p:sp>
        <p:nvSpPr>
          <p:cNvPr id="4" name="Shape 2"/>
          <p:cNvSpPr/>
          <p:nvPr/>
        </p:nvSpPr>
        <p:spPr>
          <a:xfrm>
            <a:off x="640080" y="1234440"/>
            <a:ext cx="5257800" cy="658368"/>
          </a:xfrm>
          <a:prstGeom prst="roundRect">
            <a:avLst/>
          </a:prstGeom>
          <a:solidFill>
            <a:srgbClr val="FFFFFF"/>
          </a:solidFill>
          <a:ln w="12700">
            <a:solidFill>
              <a:srgbClr val="D8E6DF"/>
            </a:solidFill>
            <a:prstDash val="solid"/>
          </a:ln>
        </p:spPr>
      </p:sp>
      <p:sp>
        <p:nvSpPr>
          <p:cNvPr id="5" name="Text 3"/>
          <p:cNvSpPr/>
          <p:nvPr/>
        </p:nvSpPr>
        <p:spPr>
          <a:xfrm>
            <a:off x="822960" y="13990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Agentic graph</a:t>
            </a:r>
            <a:endParaRPr lang="en-US" sz="1150" dirty="0"/>
          </a:p>
        </p:txBody>
      </p:sp>
      <p:sp>
        <p:nvSpPr>
          <p:cNvPr id="6" name="Text 4"/>
          <p:cNvSpPr/>
          <p:nvPr/>
        </p:nvSpPr>
        <p:spPr>
          <a:xfrm>
            <a:off x="2377440" y="13807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Plan/execute/validate/heal transitions</a:t>
            </a:r>
            <a:endParaRPr lang="en-US" sz="1000" dirty="0"/>
          </a:p>
        </p:txBody>
      </p:sp>
      <p:sp>
        <p:nvSpPr>
          <p:cNvPr id="7" name="Shape 5"/>
          <p:cNvSpPr/>
          <p:nvPr/>
        </p:nvSpPr>
        <p:spPr>
          <a:xfrm>
            <a:off x="6309360" y="1234440"/>
            <a:ext cx="5257800" cy="658368"/>
          </a:xfrm>
          <a:prstGeom prst="roundRect">
            <a:avLst/>
          </a:prstGeom>
          <a:solidFill>
            <a:srgbClr val="FFFFFF"/>
          </a:solidFill>
          <a:ln w="12700">
            <a:solidFill>
              <a:srgbClr val="D8E6DF"/>
            </a:solidFill>
            <a:prstDash val="solid"/>
          </a:ln>
        </p:spPr>
      </p:sp>
      <p:sp>
        <p:nvSpPr>
          <p:cNvPr id="8" name="Text 6"/>
          <p:cNvSpPr/>
          <p:nvPr/>
        </p:nvSpPr>
        <p:spPr>
          <a:xfrm>
            <a:off x="6492240" y="13990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Parallel pool</a:t>
            </a:r>
            <a:endParaRPr lang="en-US" sz="1150" dirty="0"/>
          </a:p>
        </p:txBody>
      </p:sp>
      <p:sp>
        <p:nvSpPr>
          <p:cNvPr id="9" name="Text 7"/>
          <p:cNvSpPr/>
          <p:nvPr/>
        </p:nvSpPr>
        <p:spPr>
          <a:xfrm>
            <a:off x="8046720" y="13807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Worker reuse and same-worker reruns</a:t>
            </a:r>
            <a:endParaRPr lang="en-US" sz="1000" dirty="0"/>
          </a:p>
        </p:txBody>
      </p:sp>
      <p:sp>
        <p:nvSpPr>
          <p:cNvPr id="10" name="Shape 8"/>
          <p:cNvSpPr/>
          <p:nvPr/>
        </p:nvSpPr>
        <p:spPr>
          <a:xfrm>
            <a:off x="640080" y="2148840"/>
            <a:ext cx="5257800" cy="658368"/>
          </a:xfrm>
          <a:prstGeom prst="roundRect">
            <a:avLst/>
          </a:prstGeom>
          <a:solidFill>
            <a:srgbClr val="FFFFFF"/>
          </a:solidFill>
          <a:ln w="12700">
            <a:solidFill>
              <a:srgbClr val="D8E6DF"/>
            </a:solidFill>
            <a:prstDash val="solid"/>
          </a:ln>
        </p:spPr>
      </p:sp>
      <p:sp>
        <p:nvSpPr>
          <p:cNvPr id="11" name="Text 9"/>
          <p:cNvSpPr/>
          <p:nvPr/>
        </p:nvSpPr>
        <p:spPr>
          <a:xfrm>
            <a:off x="822960" y="23134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Connection gate</a:t>
            </a:r>
            <a:endParaRPr lang="en-US" sz="1150" dirty="0"/>
          </a:p>
        </p:txBody>
      </p:sp>
      <p:sp>
        <p:nvSpPr>
          <p:cNvPr id="12" name="Text 10"/>
          <p:cNvSpPr/>
          <p:nvPr/>
        </p:nvSpPr>
        <p:spPr>
          <a:xfrm>
            <a:off x="2377440" y="22951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Success, rejected key, invalid endpoint</a:t>
            </a:r>
            <a:endParaRPr lang="en-US" sz="1000" dirty="0"/>
          </a:p>
        </p:txBody>
      </p:sp>
      <p:sp>
        <p:nvSpPr>
          <p:cNvPr id="13" name="Shape 11"/>
          <p:cNvSpPr/>
          <p:nvPr/>
        </p:nvSpPr>
        <p:spPr>
          <a:xfrm>
            <a:off x="6309360" y="2148840"/>
            <a:ext cx="5257800" cy="658368"/>
          </a:xfrm>
          <a:prstGeom prst="roundRect">
            <a:avLst/>
          </a:prstGeom>
          <a:solidFill>
            <a:srgbClr val="FFFFFF"/>
          </a:solidFill>
          <a:ln w="12700">
            <a:solidFill>
              <a:srgbClr val="D8E6DF"/>
            </a:solidFill>
            <a:prstDash val="solid"/>
          </a:ln>
        </p:spPr>
      </p:sp>
      <p:sp>
        <p:nvSpPr>
          <p:cNvPr id="14" name="Text 12"/>
          <p:cNvSpPr/>
          <p:nvPr/>
        </p:nvSpPr>
        <p:spPr>
          <a:xfrm>
            <a:off x="6492240" y="23134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Cookies</a:t>
            </a:r>
            <a:endParaRPr lang="en-US" sz="1150" dirty="0"/>
          </a:p>
        </p:txBody>
      </p:sp>
      <p:sp>
        <p:nvSpPr>
          <p:cNvPr id="15" name="Text 13"/>
          <p:cNvSpPr/>
          <p:nvPr/>
        </p:nvSpPr>
        <p:spPr>
          <a:xfrm>
            <a:off x="8046720" y="22951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Replacement, addition and safety</a:t>
            </a:r>
            <a:endParaRPr lang="en-US" sz="1000" dirty="0"/>
          </a:p>
        </p:txBody>
      </p:sp>
      <p:sp>
        <p:nvSpPr>
          <p:cNvPr id="16" name="Shape 14"/>
          <p:cNvSpPr/>
          <p:nvPr/>
        </p:nvSpPr>
        <p:spPr>
          <a:xfrm>
            <a:off x="640080" y="3063240"/>
            <a:ext cx="5257800" cy="658368"/>
          </a:xfrm>
          <a:prstGeom prst="roundRect">
            <a:avLst/>
          </a:prstGeom>
          <a:solidFill>
            <a:srgbClr val="FFFFFF"/>
          </a:solidFill>
          <a:ln w="12700">
            <a:solidFill>
              <a:srgbClr val="D8E6DF"/>
            </a:solidFill>
            <a:prstDash val="solid"/>
          </a:ln>
        </p:spPr>
      </p:sp>
      <p:sp>
        <p:nvSpPr>
          <p:cNvPr id="17" name="Text 15"/>
          <p:cNvSpPr/>
          <p:nvPr/>
        </p:nvSpPr>
        <p:spPr>
          <a:xfrm>
            <a:off x="822960" y="32278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Browser zoom</a:t>
            </a:r>
            <a:endParaRPr lang="en-US" sz="1150" dirty="0"/>
          </a:p>
        </p:txBody>
      </p:sp>
      <p:sp>
        <p:nvSpPr>
          <p:cNvPr id="18" name="Text 16"/>
          <p:cNvSpPr/>
          <p:nvPr/>
        </p:nvSpPr>
        <p:spPr>
          <a:xfrm>
            <a:off x="2377440" y="32095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Optional/default configuration</a:t>
            </a:r>
            <a:endParaRPr lang="en-US" sz="1000" dirty="0"/>
          </a:p>
        </p:txBody>
      </p:sp>
      <p:sp>
        <p:nvSpPr>
          <p:cNvPr id="19" name="Shape 17"/>
          <p:cNvSpPr/>
          <p:nvPr/>
        </p:nvSpPr>
        <p:spPr>
          <a:xfrm>
            <a:off x="6309360" y="3063240"/>
            <a:ext cx="5257800" cy="658368"/>
          </a:xfrm>
          <a:prstGeom prst="roundRect">
            <a:avLst/>
          </a:prstGeom>
          <a:solidFill>
            <a:srgbClr val="FFFFFF"/>
          </a:solidFill>
          <a:ln w="12700">
            <a:solidFill>
              <a:srgbClr val="D8E6DF"/>
            </a:solidFill>
            <a:prstDash val="solid"/>
          </a:ln>
        </p:spPr>
      </p:sp>
      <p:sp>
        <p:nvSpPr>
          <p:cNvPr id="20" name="Text 18"/>
          <p:cNvSpPr/>
          <p:nvPr/>
        </p:nvSpPr>
        <p:spPr>
          <a:xfrm>
            <a:off x="6492240" y="32278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Executors</a:t>
            </a:r>
            <a:endParaRPr lang="en-US" sz="1150" dirty="0"/>
          </a:p>
        </p:txBody>
      </p:sp>
      <p:sp>
        <p:nvSpPr>
          <p:cNvPr id="21" name="Text 19"/>
          <p:cNvSpPr/>
          <p:nvPr/>
        </p:nvSpPr>
        <p:spPr>
          <a:xfrm>
            <a:off x="8046720" y="32095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XPath, focused input, dropdown behavior</a:t>
            </a:r>
            <a:endParaRPr lang="en-US" sz="1000" dirty="0"/>
          </a:p>
        </p:txBody>
      </p:sp>
      <p:sp>
        <p:nvSpPr>
          <p:cNvPr id="22" name="Shape 20"/>
          <p:cNvSpPr/>
          <p:nvPr/>
        </p:nvSpPr>
        <p:spPr>
          <a:xfrm>
            <a:off x="640080" y="3977640"/>
            <a:ext cx="5257800" cy="658368"/>
          </a:xfrm>
          <a:prstGeom prst="roundRect">
            <a:avLst/>
          </a:prstGeom>
          <a:solidFill>
            <a:srgbClr val="FFFFFF"/>
          </a:solidFill>
          <a:ln w="12700">
            <a:solidFill>
              <a:srgbClr val="D8E6DF"/>
            </a:solidFill>
            <a:prstDash val="solid"/>
          </a:ln>
        </p:spPr>
      </p:sp>
      <p:sp>
        <p:nvSpPr>
          <p:cNvPr id="23" name="Text 21"/>
          <p:cNvSpPr/>
          <p:nvPr/>
        </p:nvSpPr>
        <p:spPr>
          <a:xfrm>
            <a:off x="822960" y="41422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Certificate recovery</a:t>
            </a:r>
            <a:endParaRPr lang="en-US" sz="1150" dirty="0"/>
          </a:p>
        </p:txBody>
      </p:sp>
      <p:sp>
        <p:nvSpPr>
          <p:cNvPr id="24" name="Text 22"/>
          <p:cNvSpPr/>
          <p:nvPr/>
        </p:nvSpPr>
        <p:spPr>
          <a:xfrm>
            <a:off x="2377440" y="41239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Internal HTTPS interstitial handling</a:t>
            </a:r>
            <a:endParaRPr lang="en-US" sz="1000" dirty="0"/>
          </a:p>
        </p:txBody>
      </p:sp>
      <p:sp>
        <p:nvSpPr>
          <p:cNvPr id="25" name="Shape 23"/>
          <p:cNvSpPr/>
          <p:nvPr/>
        </p:nvSpPr>
        <p:spPr>
          <a:xfrm>
            <a:off x="6309360" y="3977640"/>
            <a:ext cx="5257800" cy="658368"/>
          </a:xfrm>
          <a:prstGeom prst="roundRect">
            <a:avLst/>
          </a:prstGeom>
          <a:solidFill>
            <a:srgbClr val="FFFFFF"/>
          </a:solidFill>
          <a:ln w="12700">
            <a:solidFill>
              <a:srgbClr val="D8E6DF"/>
            </a:solidFill>
            <a:prstDash val="solid"/>
          </a:ln>
        </p:spPr>
      </p:sp>
      <p:sp>
        <p:nvSpPr>
          <p:cNvPr id="26" name="Text 24"/>
          <p:cNvSpPr/>
          <p:nvPr/>
        </p:nvSpPr>
        <p:spPr>
          <a:xfrm>
            <a:off x="6492240" y="41422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Recorder</a:t>
            </a:r>
            <a:endParaRPr lang="en-US" sz="1150" dirty="0"/>
          </a:p>
        </p:txBody>
      </p:sp>
      <p:sp>
        <p:nvSpPr>
          <p:cNvPr id="27" name="Text 25"/>
          <p:cNvSpPr/>
          <p:nvPr/>
        </p:nvSpPr>
        <p:spPr>
          <a:xfrm>
            <a:off x="8046720" y="41239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Prompt/export behavior</a:t>
            </a:r>
            <a:endParaRPr lang="en-US" sz="1000" dirty="0"/>
          </a:p>
        </p:txBody>
      </p:sp>
      <p:sp>
        <p:nvSpPr>
          <p:cNvPr id="28" name="Shape 26"/>
          <p:cNvSpPr/>
          <p:nvPr/>
        </p:nvSpPr>
        <p:spPr>
          <a:xfrm>
            <a:off x="640080" y="4892040"/>
            <a:ext cx="5257800" cy="658368"/>
          </a:xfrm>
          <a:prstGeom prst="roundRect">
            <a:avLst/>
          </a:prstGeom>
          <a:solidFill>
            <a:srgbClr val="FFFFFF"/>
          </a:solidFill>
          <a:ln w="12700">
            <a:solidFill>
              <a:srgbClr val="D8E6DF"/>
            </a:solidFill>
            <a:prstDash val="solid"/>
          </a:ln>
        </p:spPr>
      </p:sp>
      <p:sp>
        <p:nvSpPr>
          <p:cNvPr id="29" name="Text 27"/>
          <p:cNvSpPr/>
          <p:nvPr/>
        </p:nvSpPr>
        <p:spPr>
          <a:xfrm>
            <a:off x="822960" y="50566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Reporting</a:t>
            </a:r>
            <a:endParaRPr lang="en-US" sz="1150" dirty="0"/>
          </a:p>
        </p:txBody>
      </p:sp>
      <p:sp>
        <p:nvSpPr>
          <p:cNvPr id="30" name="Text 28"/>
          <p:cNvSpPr/>
          <p:nvPr/>
        </p:nvSpPr>
        <p:spPr>
          <a:xfrm>
            <a:off x="2377440" y="50383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Standalone report and screenshot attachment rules</a:t>
            </a:r>
            <a:endParaRPr lang="en-US" sz="1000" dirty="0"/>
          </a:p>
        </p:txBody>
      </p:sp>
      <p:sp>
        <p:nvSpPr>
          <p:cNvPr id="31" name="Shape 29"/>
          <p:cNvSpPr/>
          <p:nvPr/>
        </p:nvSpPr>
        <p:spPr>
          <a:xfrm>
            <a:off x="6309360" y="4892040"/>
            <a:ext cx="5257800" cy="658368"/>
          </a:xfrm>
          <a:prstGeom prst="roundRect">
            <a:avLst/>
          </a:prstGeom>
          <a:solidFill>
            <a:srgbClr val="FFFFFF"/>
          </a:solidFill>
          <a:ln w="12700">
            <a:solidFill>
              <a:srgbClr val="D8E6DF"/>
            </a:solidFill>
            <a:prstDash val="solid"/>
          </a:ln>
        </p:spPr>
      </p:sp>
      <p:sp>
        <p:nvSpPr>
          <p:cNvPr id="32" name="Text 30"/>
          <p:cNvSpPr/>
          <p:nvPr/>
        </p:nvSpPr>
        <p:spPr>
          <a:xfrm>
            <a:off x="6492240" y="5056632"/>
            <a:ext cx="1508760" cy="210312"/>
          </a:xfrm>
          <a:prstGeom prst="rect">
            <a:avLst/>
          </a:prstGeom>
          <a:noFill/>
          <a:ln/>
        </p:spPr>
        <p:txBody>
          <a:bodyPr wrap="square" lIns="0" tIns="0" rIns="0" bIns="0" rtlCol="0" anchor="ctr"/>
          <a:lstStyle/>
          <a:p>
            <a:pPr indent="0" marL="0">
              <a:buNone/>
            </a:pPr>
            <a:r>
              <a:rPr lang="en-US" sz="1150" b="1" dirty="0">
                <a:solidFill>
                  <a:srgbClr val="007A53"/>
                </a:solidFill>
              </a:rPr>
              <a:t>MCP catalog</a:t>
            </a:r>
            <a:endParaRPr lang="en-US" sz="1150" dirty="0"/>
          </a:p>
        </p:txBody>
      </p:sp>
      <p:sp>
        <p:nvSpPr>
          <p:cNvPr id="33" name="Text 31"/>
          <p:cNvSpPr/>
          <p:nvPr/>
        </p:nvSpPr>
        <p:spPr>
          <a:xfrm>
            <a:off x="8046720" y="5038344"/>
            <a:ext cx="3246120" cy="256032"/>
          </a:xfrm>
          <a:prstGeom prst="rect">
            <a:avLst/>
          </a:prstGeom>
          <a:noFill/>
          <a:ln/>
        </p:spPr>
        <p:txBody>
          <a:bodyPr wrap="square" lIns="0" tIns="0" rIns="0" bIns="0" rtlCol="0" anchor="ctr"/>
          <a:lstStyle/>
          <a:p>
            <a:pPr indent="0" marL="0">
              <a:buNone/>
            </a:pPr>
            <a:r>
              <a:rPr lang="en-US" sz="1000" dirty="0">
                <a:solidFill>
                  <a:srgbClr val="66756F"/>
                </a:solidFill>
              </a:rPr>
              <a:t>Tool discovery / capability handling</a:t>
            </a:r>
            <a:endParaRPr lang="en-US" sz="1000" dirty="0"/>
          </a:p>
        </p:txBody>
      </p:sp>
      <p:sp>
        <p:nvSpPr>
          <p:cNvPr id="34" name="Text 32"/>
          <p:cNvSpPr/>
          <p:nvPr/>
        </p:nvSpPr>
        <p:spPr>
          <a:xfrm>
            <a:off x="868680" y="5961888"/>
            <a:ext cx="10424160" cy="320040"/>
          </a:xfrm>
          <a:prstGeom prst="rect">
            <a:avLst/>
          </a:prstGeom>
          <a:noFill/>
          <a:ln/>
        </p:spPr>
        <p:txBody>
          <a:bodyPr wrap="square" lIns="0" tIns="0" rIns="0" bIns="0" rtlCol="0" anchor="ctr"/>
          <a:lstStyle/>
          <a:p>
            <a:pPr algn="ctr" indent="0" marL="0">
              <a:buNone/>
            </a:pPr>
            <a:r>
              <a:rPr lang="en-US" sz="1150" b="1" dirty="0">
                <a:solidFill>
                  <a:srgbClr val="005B3E"/>
                </a:solidFill>
              </a:rPr>
              <a:t>Release gate recommendation: run mvn clean test (or clean package) on CI before distributing the JAR.</a:t>
            </a:r>
            <a:endParaRPr lang="en-US" sz="11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Current limitations / missed areas</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Important boundaries to make explicit before wider rollout</a:t>
            </a:r>
            <a:endParaRPr lang="en-US" sz="1150" dirty="0"/>
          </a:p>
        </p:txBody>
      </p:sp>
      <p:sp>
        <p:nvSpPr>
          <p:cNvPr id="4" name="Shape 2"/>
          <p:cNvSpPr/>
          <p:nvPr/>
        </p:nvSpPr>
        <p:spPr>
          <a:xfrm>
            <a:off x="594360" y="1234440"/>
            <a:ext cx="5349240" cy="932688"/>
          </a:xfrm>
          <a:prstGeom prst="roundRect">
            <a:avLst/>
          </a:prstGeom>
          <a:solidFill>
            <a:srgbClr val="FFF4D6"/>
          </a:solidFill>
          <a:ln w="12700">
            <a:solidFill>
              <a:srgbClr val="E4C36E"/>
            </a:solidFill>
            <a:prstDash val="solid"/>
          </a:ln>
        </p:spPr>
      </p:sp>
      <p:sp>
        <p:nvSpPr>
          <p:cNvPr id="5" name="Text 3"/>
          <p:cNvSpPr/>
          <p:nvPr/>
        </p:nvSpPr>
        <p:spPr>
          <a:xfrm>
            <a:off x="758952" y="1362456"/>
            <a:ext cx="1645920" cy="201168"/>
          </a:xfrm>
          <a:prstGeom prst="rect">
            <a:avLst/>
          </a:prstGeom>
          <a:noFill/>
          <a:ln/>
        </p:spPr>
        <p:txBody>
          <a:bodyPr wrap="square" lIns="0" tIns="0" rIns="0" bIns="0" rtlCol="0" anchor="ctr"/>
          <a:lstStyle/>
          <a:p>
            <a:pPr indent="0" marL="0">
              <a:buNone/>
            </a:pPr>
            <a:r>
              <a:rPr lang="en-US" sz="1080" b="1" dirty="0">
                <a:solidFill>
                  <a:srgbClr val="A36A00"/>
                </a:solidFill>
              </a:rPr>
              <a:t>Platform browser discovery</a:t>
            </a:r>
            <a:endParaRPr lang="en-US" sz="1080" dirty="0"/>
          </a:p>
        </p:txBody>
      </p:sp>
      <p:sp>
        <p:nvSpPr>
          <p:cNvPr id="6" name="Text 4"/>
          <p:cNvSpPr/>
          <p:nvPr/>
        </p:nvSpPr>
        <p:spPr>
          <a:xfrm>
            <a:off x="2404872" y="1344168"/>
            <a:ext cx="3310128" cy="585216"/>
          </a:xfrm>
          <a:prstGeom prst="rect">
            <a:avLst/>
          </a:prstGeom>
          <a:noFill/>
          <a:ln/>
        </p:spPr>
        <p:txBody>
          <a:bodyPr wrap="square" lIns="0" tIns="0" rIns="0" bIns="0" rtlCol="0" anchor="ctr"/>
          <a:lstStyle/>
          <a:p>
            <a:pPr indent="0" marL="0">
              <a:buNone/>
            </a:pPr>
            <a:r>
              <a:rPr lang="en-US" sz="920" dirty="0">
                <a:solidFill>
                  <a:srgbClr val="18251F"/>
                </a:solidFill>
              </a:rPr>
              <a:t>Installed Chrome/Edge/Chromium discovery is currently Windows-oriented; macOS/Linux rely mainly on Vibium-managed browser behavior.</a:t>
            </a:r>
            <a:endParaRPr lang="en-US" sz="920" dirty="0"/>
          </a:p>
        </p:txBody>
      </p:sp>
      <p:sp>
        <p:nvSpPr>
          <p:cNvPr id="7" name="Shape 5"/>
          <p:cNvSpPr/>
          <p:nvPr/>
        </p:nvSpPr>
        <p:spPr>
          <a:xfrm>
            <a:off x="6263640" y="1234440"/>
            <a:ext cx="5349240" cy="932688"/>
          </a:xfrm>
          <a:prstGeom prst="roundRect">
            <a:avLst/>
          </a:prstGeom>
          <a:solidFill>
            <a:srgbClr val="FFF4D6"/>
          </a:solidFill>
          <a:ln w="12700">
            <a:solidFill>
              <a:srgbClr val="E4C36E"/>
            </a:solidFill>
            <a:prstDash val="solid"/>
          </a:ln>
        </p:spPr>
      </p:sp>
      <p:sp>
        <p:nvSpPr>
          <p:cNvPr id="8" name="Text 6"/>
          <p:cNvSpPr/>
          <p:nvPr/>
        </p:nvSpPr>
        <p:spPr>
          <a:xfrm>
            <a:off x="6428232" y="1362456"/>
            <a:ext cx="1645920" cy="201168"/>
          </a:xfrm>
          <a:prstGeom prst="rect">
            <a:avLst/>
          </a:prstGeom>
          <a:noFill/>
          <a:ln/>
        </p:spPr>
        <p:txBody>
          <a:bodyPr wrap="square" lIns="0" tIns="0" rIns="0" bIns="0" rtlCol="0" anchor="ctr"/>
          <a:lstStyle/>
          <a:p>
            <a:pPr indent="0" marL="0">
              <a:buNone/>
            </a:pPr>
            <a:r>
              <a:rPr lang="en-US" sz="1080" b="1" dirty="0">
                <a:solidFill>
                  <a:srgbClr val="A36A00"/>
                </a:solidFill>
              </a:rPr>
              <a:t>Custom zoom</a:t>
            </a:r>
            <a:endParaRPr lang="en-US" sz="1080" dirty="0"/>
          </a:p>
        </p:txBody>
      </p:sp>
      <p:sp>
        <p:nvSpPr>
          <p:cNvPr id="9" name="Text 7"/>
          <p:cNvSpPr/>
          <p:nvPr/>
        </p:nvSpPr>
        <p:spPr>
          <a:xfrm>
            <a:off x="8074152" y="1344168"/>
            <a:ext cx="3310128" cy="585216"/>
          </a:xfrm>
          <a:prstGeom prst="rect">
            <a:avLst/>
          </a:prstGeom>
          <a:noFill/>
          <a:ln/>
        </p:spPr>
        <p:txBody>
          <a:bodyPr wrap="square" lIns="0" tIns="0" rIns="0" bIns="0" rtlCol="0" anchor="ctr"/>
          <a:lstStyle/>
          <a:p>
            <a:pPr indent="0" marL="0">
              <a:buNone/>
            </a:pPr>
            <a:r>
              <a:rPr lang="en-US" sz="920" dirty="0">
                <a:solidFill>
                  <a:srgbClr val="18251F"/>
                </a:solidFill>
              </a:rPr>
              <a:t>Native custom zoom is currently Windows-only and depends on PowerShell/pwsh + WScript; other platforms use 100%.</a:t>
            </a:r>
            <a:endParaRPr lang="en-US" sz="920" dirty="0"/>
          </a:p>
        </p:txBody>
      </p:sp>
      <p:sp>
        <p:nvSpPr>
          <p:cNvPr id="10" name="Shape 8"/>
          <p:cNvSpPr/>
          <p:nvPr/>
        </p:nvSpPr>
        <p:spPr>
          <a:xfrm>
            <a:off x="594360" y="2404872"/>
            <a:ext cx="5349240" cy="932688"/>
          </a:xfrm>
          <a:prstGeom prst="roundRect">
            <a:avLst/>
          </a:prstGeom>
          <a:solidFill>
            <a:srgbClr val="FFFFFF"/>
          </a:solidFill>
          <a:ln w="12700">
            <a:solidFill>
              <a:srgbClr val="D8E6DF"/>
            </a:solidFill>
            <a:prstDash val="solid"/>
          </a:ln>
        </p:spPr>
      </p:sp>
      <p:sp>
        <p:nvSpPr>
          <p:cNvPr id="11" name="Text 9"/>
          <p:cNvSpPr/>
          <p:nvPr/>
        </p:nvSpPr>
        <p:spPr>
          <a:xfrm>
            <a:off x="758952" y="2532888"/>
            <a:ext cx="1645920" cy="201168"/>
          </a:xfrm>
          <a:prstGeom prst="rect">
            <a:avLst/>
          </a:prstGeom>
          <a:noFill/>
          <a:ln/>
        </p:spPr>
        <p:txBody>
          <a:bodyPr wrap="square" lIns="0" tIns="0" rIns="0" bIns="0" rtlCol="0" anchor="ctr"/>
          <a:lstStyle/>
          <a:p>
            <a:pPr indent="0" marL="0">
              <a:buNone/>
            </a:pPr>
            <a:r>
              <a:rPr lang="en-US" sz="1080" b="1" dirty="0">
                <a:solidFill>
                  <a:srgbClr val="007A53"/>
                </a:solidFill>
              </a:rPr>
              <a:t>Persistent history</a:t>
            </a:r>
            <a:endParaRPr lang="en-US" sz="1080" dirty="0"/>
          </a:p>
        </p:txBody>
      </p:sp>
      <p:sp>
        <p:nvSpPr>
          <p:cNvPr id="12" name="Text 10"/>
          <p:cNvSpPr/>
          <p:nvPr/>
        </p:nvSpPr>
        <p:spPr>
          <a:xfrm>
            <a:off x="2404872" y="2514600"/>
            <a:ext cx="3310128" cy="585216"/>
          </a:xfrm>
          <a:prstGeom prst="rect">
            <a:avLst/>
          </a:prstGeom>
          <a:noFill/>
          <a:ln/>
        </p:spPr>
        <p:txBody>
          <a:bodyPr wrap="square" lIns="0" tIns="0" rIns="0" bIns="0" rtlCol="0" anchor="ctr"/>
          <a:lstStyle/>
          <a:p>
            <a:pPr indent="0" marL="0">
              <a:buNone/>
            </a:pPr>
            <a:r>
              <a:rPr lang="en-US" sz="920" dirty="0">
                <a:solidFill>
                  <a:srgbClr val="18251F"/>
                </a:solidFill>
              </a:rPr>
              <a:t>RunStore is in-memory. Live run metadata disappears after application restart even though generated files remain on disk.</a:t>
            </a:r>
            <a:endParaRPr lang="en-US" sz="920" dirty="0"/>
          </a:p>
        </p:txBody>
      </p:sp>
      <p:sp>
        <p:nvSpPr>
          <p:cNvPr id="13" name="Shape 11"/>
          <p:cNvSpPr/>
          <p:nvPr/>
        </p:nvSpPr>
        <p:spPr>
          <a:xfrm>
            <a:off x="6263640" y="2404872"/>
            <a:ext cx="5349240" cy="932688"/>
          </a:xfrm>
          <a:prstGeom prst="roundRect">
            <a:avLst/>
          </a:prstGeom>
          <a:solidFill>
            <a:srgbClr val="FFFFFF"/>
          </a:solidFill>
          <a:ln w="12700">
            <a:solidFill>
              <a:srgbClr val="D8E6DF"/>
            </a:solidFill>
            <a:prstDash val="solid"/>
          </a:ln>
        </p:spPr>
      </p:sp>
      <p:sp>
        <p:nvSpPr>
          <p:cNvPr id="14" name="Text 12"/>
          <p:cNvSpPr/>
          <p:nvPr/>
        </p:nvSpPr>
        <p:spPr>
          <a:xfrm>
            <a:off x="6428232" y="2532888"/>
            <a:ext cx="1645920" cy="201168"/>
          </a:xfrm>
          <a:prstGeom prst="rect">
            <a:avLst/>
          </a:prstGeom>
          <a:noFill/>
          <a:ln/>
        </p:spPr>
        <p:txBody>
          <a:bodyPr wrap="square" lIns="0" tIns="0" rIns="0" bIns="0" rtlCol="0" anchor="ctr"/>
          <a:lstStyle/>
          <a:p>
            <a:pPr indent="0" marL="0">
              <a:buNone/>
            </a:pPr>
            <a:r>
              <a:rPr lang="en-US" sz="1080" b="1" dirty="0">
                <a:solidFill>
                  <a:srgbClr val="007A53"/>
                </a:solidFill>
              </a:rPr>
              <a:t>Framework authentication</a:t>
            </a:r>
            <a:endParaRPr lang="en-US" sz="1080" dirty="0"/>
          </a:p>
        </p:txBody>
      </p:sp>
      <p:sp>
        <p:nvSpPr>
          <p:cNvPr id="15" name="Text 13"/>
          <p:cNvSpPr/>
          <p:nvPr/>
        </p:nvSpPr>
        <p:spPr>
          <a:xfrm>
            <a:off x="8074152" y="2514600"/>
            <a:ext cx="3310128" cy="585216"/>
          </a:xfrm>
          <a:prstGeom prst="rect">
            <a:avLst/>
          </a:prstGeom>
          <a:noFill/>
          <a:ln/>
        </p:spPr>
        <p:txBody>
          <a:bodyPr wrap="square" lIns="0" tIns="0" rIns="0" bIns="0" rtlCol="0" anchor="ctr"/>
          <a:lstStyle/>
          <a:p>
            <a:pPr indent="0" marL="0">
              <a:buNone/>
            </a:pPr>
            <a:r>
              <a:rPr lang="en-US" sz="920" dirty="0">
                <a:solidFill>
                  <a:srgbClr val="18251F"/>
                </a:solidFill>
              </a:rPr>
              <a:t>The local UI has no application-level RBAC/login beyond the AI connection gate.</a:t>
            </a:r>
            <a:endParaRPr lang="en-US" sz="920" dirty="0"/>
          </a:p>
        </p:txBody>
      </p:sp>
      <p:sp>
        <p:nvSpPr>
          <p:cNvPr id="16" name="Shape 14"/>
          <p:cNvSpPr/>
          <p:nvPr/>
        </p:nvSpPr>
        <p:spPr>
          <a:xfrm>
            <a:off x="594360" y="3575304"/>
            <a:ext cx="5349240" cy="932688"/>
          </a:xfrm>
          <a:prstGeom prst="roundRect">
            <a:avLst/>
          </a:prstGeom>
          <a:solidFill>
            <a:srgbClr val="FFFFFF"/>
          </a:solidFill>
          <a:ln w="12700">
            <a:solidFill>
              <a:srgbClr val="D8E6DF"/>
            </a:solidFill>
            <a:prstDash val="solid"/>
          </a:ln>
        </p:spPr>
      </p:sp>
      <p:sp>
        <p:nvSpPr>
          <p:cNvPr id="17" name="Text 15"/>
          <p:cNvSpPr/>
          <p:nvPr/>
        </p:nvSpPr>
        <p:spPr>
          <a:xfrm>
            <a:off x="758952" y="3703320"/>
            <a:ext cx="1645920" cy="201168"/>
          </a:xfrm>
          <a:prstGeom prst="rect">
            <a:avLst/>
          </a:prstGeom>
          <a:noFill/>
          <a:ln/>
        </p:spPr>
        <p:txBody>
          <a:bodyPr wrap="square" lIns="0" tIns="0" rIns="0" bIns="0" rtlCol="0" anchor="ctr"/>
          <a:lstStyle/>
          <a:p>
            <a:pPr indent="0" marL="0">
              <a:buNone/>
            </a:pPr>
            <a:r>
              <a:rPr lang="en-US" sz="1080" b="1" dirty="0">
                <a:solidFill>
                  <a:srgbClr val="007A53"/>
                </a:solidFill>
              </a:rPr>
              <a:t>Secret vault</a:t>
            </a:r>
            <a:endParaRPr lang="en-US" sz="1080" dirty="0"/>
          </a:p>
        </p:txBody>
      </p:sp>
      <p:sp>
        <p:nvSpPr>
          <p:cNvPr id="18" name="Text 16"/>
          <p:cNvSpPr/>
          <p:nvPr/>
        </p:nvSpPr>
        <p:spPr>
          <a:xfrm>
            <a:off x="2404872" y="3685032"/>
            <a:ext cx="3310128" cy="585216"/>
          </a:xfrm>
          <a:prstGeom prst="rect">
            <a:avLst/>
          </a:prstGeom>
          <a:noFill/>
          <a:ln/>
        </p:spPr>
        <p:txBody>
          <a:bodyPr wrap="square" lIns="0" tIns="0" rIns="0" bIns="0" rtlCol="0" anchor="ctr"/>
          <a:lstStyle/>
          <a:p>
            <a:pPr indent="0" marL="0">
              <a:buNone/>
            </a:pPr>
            <a:r>
              <a:rPr lang="en-US" sz="920" dirty="0">
                <a:solidFill>
                  <a:srgbClr val="18251F"/>
                </a:solidFill>
              </a:rPr>
              <a:t>API key is not persisted, but there is no Key Vault/OS keychain integration or server-side secret tokenization.</a:t>
            </a:r>
            <a:endParaRPr lang="en-US" sz="920" dirty="0"/>
          </a:p>
        </p:txBody>
      </p:sp>
      <p:sp>
        <p:nvSpPr>
          <p:cNvPr id="19" name="Shape 17"/>
          <p:cNvSpPr/>
          <p:nvPr/>
        </p:nvSpPr>
        <p:spPr>
          <a:xfrm>
            <a:off x="6263640" y="3575304"/>
            <a:ext cx="5349240" cy="932688"/>
          </a:xfrm>
          <a:prstGeom prst="roundRect">
            <a:avLst/>
          </a:prstGeom>
          <a:solidFill>
            <a:srgbClr val="FFFFFF"/>
          </a:solidFill>
          <a:ln w="12700">
            <a:solidFill>
              <a:srgbClr val="D8E6DF"/>
            </a:solidFill>
            <a:prstDash val="solid"/>
          </a:ln>
        </p:spPr>
      </p:sp>
      <p:sp>
        <p:nvSpPr>
          <p:cNvPr id="20" name="Text 18"/>
          <p:cNvSpPr/>
          <p:nvPr/>
        </p:nvSpPr>
        <p:spPr>
          <a:xfrm>
            <a:off x="6428232" y="3703320"/>
            <a:ext cx="1645920" cy="201168"/>
          </a:xfrm>
          <a:prstGeom prst="rect">
            <a:avLst/>
          </a:prstGeom>
          <a:noFill/>
          <a:ln/>
        </p:spPr>
        <p:txBody>
          <a:bodyPr wrap="square" lIns="0" tIns="0" rIns="0" bIns="0" rtlCol="0" anchor="ctr"/>
          <a:lstStyle/>
          <a:p>
            <a:pPr indent="0" marL="0">
              <a:buNone/>
            </a:pPr>
            <a:r>
              <a:rPr lang="en-US" sz="1080" b="1" dirty="0">
                <a:solidFill>
                  <a:srgbClr val="007A53"/>
                </a:solidFill>
              </a:rPr>
              <a:t>Provider contract</a:t>
            </a:r>
            <a:endParaRPr lang="en-US" sz="1080" dirty="0"/>
          </a:p>
        </p:txBody>
      </p:sp>
      <p:sp>
        <p:nvSpPr>
          <p:cNvPr id="21" name="Text 19"/>
          <p:cNvSpPr/>
          <p:nvPr/>
        </p:nvSpPr>
        <p:spPr>
          <a:xfrm>
            <a:off x="8074152" y="3685032"/>
            <a:ext cx="3310128" cy="585216"/>
          </a:xfrm>
          <a:prstGeom prst="rect">
            <a:avLst/>
          </a:prstGeom>
          <a:noFill/>
          <a:ln/>
        </p:spPr>
        <p:txBody>
          <a:bodyPr wrap="square" lIns="0" tIns="0" rIns="0" bIns="0" rtlCol="0" anchor="ctr"/>
          <a:lstStyle/>
          <a:p>
            <a:pPr indent="0" marL="0">
              <a:buNone/>
            </a:pPr>
            <a:r>
              <a:rPr lang="en-US" sz="920" dirty="0">
                <a:solidFill>
                  <a:srgbClr val="18251F"/>
                </a:solidFill>
              </a:rPr>
              <a:t>LLM integration expects an OpenAI-compatible /chat/completions response shape.</a:t>
            </a:r>
            <a:endParaRPr lang="en-US" sz="920" dirty="0"/>
          </a:p>
        </p:txBody>
      </p:sp>
      <p:sp>
        <p:nvSpPr>
          <p:cNvPr id="22" name="Shape 20"/>
          <p:cNvSpPr/>
          <p:nvPr/>
        </p:nvSpPr>
        <p:spPr>
          <a:xfrm>
            <a:off x="594360" y="4745736"/>
            <a:ext cx="5349240" cy="932688"/>
          </a:xfrm>
          <a:prstGeom prst="roundRect">
            <a:avLst/>
          </a:prstGeom>
          <a:solidFill>
            <a:srgbClr val="FFFFFF"/>
          </a:solidFill>
          <a:ln w="12700">
            <a:solidFill>
              <a:srgbClr val="D8E6DF"/>
            </a:solidFill>
            <a:prstDash val="solid"/>
          </a:ln>
        </p:spPr>
      </p:sp>
      <p:sp>
        <p:nvSpPr>
          <p:cNvPr id="23" name="Text 21"/>
          <p:cNvSpPr/>
          <p:nvPr/>
        </p:nvSpPr>
        <p:spPr>
          <a:xfrm>
            <a:off x="758952" y="4873752"/>
            <a:ext cx="1645920" cy="201168"/>
          </a:xfrm>
          <a:prstGeom prst="rect">
            <a:avLst/>
          </a:prstGeom>
          <a:noFill/>
          <a:ln/>
        </p:spPr>
        <p:txBody>
          <a:bodyPr wrap="square" lIns="0" tIns="0" rIns="0" bIns="0" rtlCol="0" anchor="ctr"/>
          <a:lstStyle/>
          <a:p>
            <a:pPr indent="0" marL="0">
              <a:buNone/>
            </a:pPr>
            <a:r>
              <a:rPr lang="en-US" sz="1080" b="1" dirty="0">
                <a:solidFill>
                  <a:srgbClr val="007A53"/>
                </a:solidFill>
              </a:rPr>
              <a:t>Browser security boundaries</a:t>
            </a:r>
            <a:endParaRPr lang="en-US" sz="1080" dirty="0"/>
          </a:p>
        </p:txBody>
      </p:sp>
      <p:sp>
        <p:nvSpPr>
          <p:cNvPr id="24" name="Text 22"/>
          <p:cNvSpPr/>
          <p:nvPr/>
        </p:nvSpPr>
        <p:spPr>
          <a:xfrm>
            <a:off x="2404872" y="4855464"/>
            <a:ext cx="3310128" cy="585216"/>
          </a:xfrm>
          <a:prstGeom prst="rect">
            <a:avLst/>
          </a:prstGeom>
          <a:noFill/>
          <a:ln/>
        </p:spPr>
        <p:txBody>
          <a:bodyPr wrap="square" lIns="0" tIns="0" rIns="0" bIns="0" rtlCol="0" anchor="ctr"/>
          <a:lstStyle/>
          <a:p>
            <a:pPr indent="0" marL="0">
              <a:buNone/>
            </a:pPr>
            <a:r>
              <a:rPr lang="en-US" sz="920" dirty="0">
                <a:solidFill>
                  <a:srgbClr val="18251F"/>
                </a:solidFill>
              </a:rPr>
              <a:t>Closed shadow roots, cross-origin frame internals, CAPTCHA, canvas-only controls and native OS dialogs may need custom support.</a:t>
            </a:r>
            <a:endParaRPr lang="en-US" sz="920" dirty="0"/>
          </a:p>
        </p:txBody>
      </p:sp>
      <p:sp>
        <p:nvSpPr>
          <p:cNvPr id="25" name="Shape 23"/>
          <p:cNvSpPr/>
          <p:nvPr/>
        </p:nvSpPr>
        <p:spPr>
          <a:xfrm>
            <a:off x="6263640" y="4745736"/>
            <a:ext cx="5349240" cy="932688"/>
          </a:xfrm>
          <a:prstGeom prst="roundRect">
            <a:avLst/>
          </a:prstGeom>
          <a:solidFill>
            <a:srgbClr val="FFFFFF"/>
          </a:solidFill>
          <a:ln w="12700">
            <a:solidFill>
              <a:srgbClr val="D8E6DF"/>
            </a:solidFill>
            <a:prstDash val="solid"/>
          </a:ln>
        </p:spPr>
      </p:sp>
      <p:sp>
        <p:nvSpPr>
          <p:cNvPr id="26" name="Text 24"/>
          <p:cNvSpPr/>
          <p:nvPr/>
        </p:nvSpPr>
        <p:spPr>
          <a:xfrm>
            <a:off x="6428232" y="4873752"/>
            <a:ext cx="1645920" cy="201168"/>
          </a:xfrm>
          <a:prstGeom prst="rect">
            <a:avLst/>
          </a:prstGeom>
          <a:noFill/>
          <a:ln/>
        </p:spPr>
        <p:txBody>
          <a:bodyPr wrap="square" lIns="0" tIns="0" rIns="0" bIns="0" rtlCol="0" anchor="ctr"/>
          <a:lstStyle/>
          <a:p>
            <a:pPr indent="0" marL="0">
              <a:buNone/>
            </a:pPr>
            <a:r>
              <a:rPr lang="en-US" sz="1080" b="1" dirty="0">
                <a:solidFill>
                  <a:srgbClr val="007A53"/>
                </a:solidFill>
              </a:rPr>
              <a:t>Distributed execution</a:t>
            </a:r>
            <a:endParaRPr lang="en-US" sz="1080" dirty="0"/>
          </a:p>
        </p:txBody>
      </p:sp>
      <p:sp>
        <p:nvSpPr>
          <p:cNvPr id="27" name="Text 25"/>
          <p:cNvSpPr/>
          <p:nvPr/>
        </p:nvSpPr>
        <p:spPr>
          <a:xfrm>
            <a:off x="8074152" y="4855464"/>
            <a:ext cx="3310128" cy="585216"/>
          </a:xfrm>
          <a:prstGeom prst="rect">
            <a:avLst/>
          </a:prstGeom>
          <a:noFill/>
          <a:ln/>
        </p:spPr>
        <p:txBody>
          <a:bodyPr wrap="square" lIns="0" tIns="0" rIns="0" bIns="0" rtlCol="0" anchor="ctr"/>
          <a:lstStyle/>
          <a:p>
            <a:pPr indent="0" marL="0">
              <a:buNone/>
            </a:pPr>
            <a:r>
              <a:rPr lang="en-US" sz="920" dirty="0">
                <a:solidFill>
                  <a:srgbClr val="18251F"/>
                </a:solidFill>
              </a:rPr>
              <a:t>No remote worker/grid scheduler; parallelism is local workstation capacity.</a:t>
            </a:r>
            <a:endParaRPr lang="en-US" sz="92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Recommended roadmap</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Highest-value improvements for broader team adoption</a:t>
            </a:r>
            <a:endParaRPr lang="en-US" sz="1150" dirty="0"/>
          </a:p>
        </p:txBody>
      </p:sp>
      <p:sp>
        <p:nvSpPr>
          <p:cNvPr id="4" name="Shape 2"/>
          <p:cNvSpPr/>
          <p:nvPr/>
        </p:nvSpPr>
        <p:spPr>
          <a:xfrm>
            <a:off x="640080" y="1325880"/>
            <a:ext cx="3429000" cy="4480560"/>
          </a:xfrm>
          <a:prstGeom prst="roundRect">
            <a:avLst/>
          </a:prstGeom>
          <a:solidFill>
            <a:srgbClr val="DFF3E9"/>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5" name="Text 3"/>
          <p:cNvSpPr/>
          <p:nvPr/>
        </p:nvSpPr>
        <p:spPr>
          <a:xfrm>
            <a:off x="868680" y="1600200"/>
            <a:ext cx="731520" cy="310896"/>
          </a:xfrm>
          <a:prstGeom prst="rect">
            <a:avLst/>
          </a:prstGeom>
          <a:solidFill>
            <a:srgbClr val="E9F6F0"/>
          </a:solidFill>
          <a:ln>
            <a:solidFill>
              <a:srgbClr val="E9F6F0"/>
            </a:solidFill>
          </a:ln>
        </p:spPr>
        <p:txBody>
          <a:bodyPr wrap="square" lIns="254" tIns="254" rIns="254" bIns="254" rtlCol="0" anchor="ctr"/>
          <a:lstStyle/>
          <a:p>
            <a:pPr algn="ctr" indent="0" marL="0">
              <a:buNone/>
            </a:pPr>
            <a:r>
              <a:rPr lang="en-US" sz="950" b="1" dirty="0">
                <a:solidFill>
                  <a:srgbClr val="007A53"/>
                </a:solidFill>
              </a:rPr>
              <a:t>Now</a:t>
            </a:r>
            <a:endParaRPr lang="en-US" sz="950" dirty="0"/>
          </a:p>
        </p:txBody>
      </p:sp>
      <p:sp>
        <p:nvSpPr>
          <p:cNvPr id="6" name="Text 4"/>
          <p:cNvSpPr/>
          <p:nvPr/>
        </p:nvSpPr>
        <p:spPr>
          <a:xfrm>
            <a:off x="868680" y="2057400"/>
            <a:ext cx="2926080" cy="292608"/>
          </a:xfrm>
          <a:prstGeom prst="rect">
            <a:avLst/>
          </a:prstGeom>
          <a:noFill/>
          <a:ln/>
        </p:spPr>
        <p:txBody>
          <a:bodyPr wrap="square" lIns="0" tIns="0" rIns="0" bIns="0" rtlCol="0" anchor="ctr"/>
          <a:lstStyle/>
          <a:p>
            <a:pPr indent="0" marL="0">
              <a:buNone/>
            </a:pPr>
            <a:r>
              <a:rPr lang="en-US" sz="1600" b="1" dirty="0">
                <a:solidFill>
                  <a:srgbClr val="18251F"/>
                </a:solidFill>
              </a:rPr>
              <a:t>Stability &amp; portability</a:t>
            </a:r>
            <a:endParaRPr lang="en-US" sz="1600" dirty="0"/>
          </a:p>
        </p:txBody>
      </p:sp>
      <p:sp>
        <p:nvSpPr>
          <p:cNvPr id="7" name="Text 5"/>
          <p:cNvSpPr/>
          <p:nvPr/>
        </p:nvSpPr>
        <p:spPr>
          <a:xfrm>
            <a:off x="868680" y="2606040"/>
            <a:ext cx="2880360" cy="2514600"/>
          </a:xfrm>
          <a:prstGeom prst="rect">
            <a:avLst/>
          </a:prstGeom>
          <a:noFill/>
          <a:ln/>
        </p:spPr>
        <p:txBody>
          <a:bodyPr wrap="square" lIns="254" tIns="254" rIns="254" bIns="254" rtlCol="0" anchor="t"/>
          <a:lstStyle/>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Update stale README parallel-mode text</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macOS/Linux browser discovery</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Cross-platform zoom abstraction or remove native zoom dependency</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CI build + full Maven test gate</a:t>
            </a:r>
            <a:endParaRPr lang="en-US" sz="1050" dirty="0"/>
          </a:p>
        </p:txBody>
      </p:sp>
      <p:sp>
        <p:nvSpPr>
          <p:cNvPr id="8" name="Shape 6"/>
          <p:cNvSpPr/>
          <p:nvPr/>
        </p:nvSpPr>
        <p:spPr>
          <a:xfrm>
            <a:off x="4434840" y="1325880"/>
            <a:ext cx="3429000" cy="448056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9" name="Text 7"/>
          <p:cNvSpPr/>
          <p:nvPr/>
        </p:nvSpPr>
        <p:spPr>
          <a:xfrm>
            <a:off x="4663440" y="1600200"/>
            <a:ext cx="731520" cy="310896"/>
          </a:xfrm>
          <a:prstGeom prst="rect">
            <a:avLst/>
          </a:prstGeom>
          <a:solidFill>
            <a:srgbClr val="EAF1FC"/>
          </a:solidFill>
          <a:ln>
            <a:solidFill>
              <a:srgbClr val="EAF1FC"/>
            </a:solidFill>
          </a:ln>
        </p:spPr>
        <p:txBody>
          <a:bodyPr wrap="square" lIns="254" tIns="254" rIns="254" bIns="254" rtlCol="0" anchor="ctr"/>
          <a:lstStyle/>
          <a:p>
            <a:pPr algn="ctr" indent="0" marL="0">
              <a:buNone/>
            </a:pPr>
            <a:r>
              <a:rPr lang="en-US" sz="950" b="1" dirty="0">
                <a:solidFill>
                  <a:srgbClr val="2457A6"/>
                </a:solidFill>
              </a:rPr>
              <a:t>Next</a:t>
            </a:r>
            <a:endParaRPr lang="en-US" sz="950" dirty="0"/>
          </a:p>
        </p:txBody>
      </p:sp>
      <p:sp>
        <p:nvSpPr>
          <p:cNvPr id="10" name="Text 8"/>
          <p:cNvSpPr/>
          <p:nvPr/>
        </p:nvSpPr>
        <p:spPr>
          <a:xfrm>
            <a:off x="4663440" y="2057400"/>
            <a:ext cx="2926080" cy="292608"/>
          </a:xfrm>
          <a:prstGeom prst="rect">
            <a:avLst/>
          </a:prstGeom>
          <a:noFill/>
          <a:ln/>
        </p:spPr>
        <p:txBody>
          <a:bodyPr wrap="square" lIns="0" tIns="0" rIns="0" bIns="0" rtlCol="0" anchor="ctr"/>
          <a:lstStyle/>
          <a:p>
            <a:pPr indent="0" marL="0">
              <a:buNone/>
            </a:pPr>
            <a:r>
              <a:rPr lang="en-US" sz="1600" b="1" dirty="0">
                <a:solidFill>
                  <a:srgbClr val="18251F"/>
                </a:solidFill>
              </a:rPr>
              <a:t>Enterprise hardening</a:t>
            </a:r>
            <a:endParaRPr lang="en-US" sz="1600" dirty="0"/>
          </a:p>
        </p:txBody>
      </p:sp>
      <p:sp>
        <p:nvSpPr>
          <p:cNvPr id="11" name="Text 9"/>
          <p:cNvSpPr/>
          <p:nvPr/>
        </p:nvSpPr>
        <p:spPr>
          <a:xfrm>
            <a:off x="4663440" y="2606040"/>
            <a:ext cx="2880360" cy="2514600"/>
          </a:xfrm>
          <a:prstGeom prst="rect">
            <a:avLst/>
          </a:prstGeom>
          <a:noFill/>
          <a:ln/>
        </p:spPr>
        <p:txBody>
          <a:bodyPr wrap="square" lIns="254" tIns="254" rIns="254" bIns="254" rtlCol="0" anchor="t"/>
          <a:lstStyle/>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Persist run history (SQLite/Postgres)</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Framework authentication / RBAC</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Secret vault or OS keychain integration</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Audit/event retention policy</a:t>
            </a:r>
            <a:endParaRPr lang="en-US" sz="1050" dirty="0"/>
          </a:p>
        </p:txBody>
      </p:sp>
      <p:sp>
        <p:nvSpPr>
          <p:cNvPr id="12" name="Shape 10"/>
          <p:cNvSpPr/>
          <p:nvPr/>
        </p:nvSpPr>
        <p:spPr>
          <a:xfrm>
            <a:off x="8229600" y="1325880"/>
            <a:ext cx="3429000" cy="4480560"/>
          </a:xfrm>
          <a:prstGeom prst="roundRect">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3" name="Text 11"/>
          <p:cNvSpPr/>
          <p:nvPr/>
        </p:nvSpPr>
        <p:spPr>
          <a:xfrm>
            <a:off x="8458200" y="1600200"/>
            <a:ext cx="731520" cy="310896"/>
          </a:xfrm>
          <a:prstGeom prst="rect">
            <a:avLst/>
          </a:prstGeom>
          <a:solidFill>
            <a:srgbClr val="EAF1FC"/>
          </a:solidFill>
          <a:ln>
            <a:solidFill>
              <a:srgbClr val="EAF1FC"/>
            </a:solidFill>
          </a:ln>
        </p:spPr>
        <p:txBody>
          <a:bodyPr wrap="square" lIns="254" tIns="254" rIns="254" bIns="254" rtlCol="0" anchor="ctr"/>
          <a:lstStyle/>
          <a:p>
            <a:pPr algn="ctr" indent="0" marL="0">
              <a:buNone/>
            </a:pPr>
            <a:r>
              <a:rPr lang="en-US" sz="950" b="1" dirty="0">
                <a:solidFill>
                  <a:srgbClr val="2457A6"/>
                </a:solidFill>
              </a:rPr>
              <a:t>Later</a:t>
            </a:r>
            <a:endParaRPr lang="en-US" sz="950" dirty="0"/>
          </a:p>
        </p:txBody>
      </p:sp>
      <p:sp>
        <p:nvSpPr>
          <p:cNvPr id="14" name="Text 12"/>
          <p:cNvSpPr/>
          <p:nvPr/>
        </p:nvSpPr>
        <p:spPr>
          <a:xfrm>
            <a:off x="8458200" y="2057400"/>
            <a:ext cx="2926080" cy="292608"/>
          </a:xfrm>
          <a:prstGeom prst="rect">
            <a:avLst/>
          </a:prstGeom>
          <a:noFill/>
          <a:ln/>
        </p:spPr>
        <p:txBody>
          <a:bodyPr wrap="square" lIns="0" tIns="0" rIns="0" bIns="0" rtlCol="0" anchor="ctr"/>
          <a:lstStyle/>
          <a:p>
            <a:pPr indent="0" marL="0">
              <a:buNone/>
            </a:pPr>
            <a:r>
              <a:rPr lang="en-US" sz="1600" b="1" dirty="0">
                <a:solidFill>
                  <a:srgbClr val="18251F"/>
                </a:solidFill>
              </a:rPr>
              <a:t>Scale &amp; intelligence</a:t>
            </a:r>
            <a:endParaRPr lang="en-US" sz="1600" dirty="0"/>
          </a:p>
        </p:txBody>
      </p:sp>
      <p:sp>
        <p:nvSpPr>
          <p:cNvPr id="15" name="Text 13"/>
          <p:cNvSpPr/>
          <p:nvPr/>
        </p:nvSpPr>
        <p:spPr>
          <a:xfrm>
            <a:off x="8458200" y="2606040"/>
            <a:ext cx="2880360" cy="2514600"/>
          </a:xfrm>
          <a:prstGeom prst="rect">
            <a:avLst/>
          </a:prstGeom>
          <a:noFill/>
          <a:ln/>
        </p:spPr>
        <p:txBody>
          <a:bodyPr wrap="square" lIns="254" tIns="254" rIns="254" bIns="254" rtlCol="0" anchor="t"/>
          <a:lstStyle/>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Remote worker execution</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Model routing / planner-executor models</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Token/cost telemetry</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Optional video artifact</a:t>
            </a:r>
            <a:endParaRPr lang="en-US" sz="1050" dirty="0"/>
          </a:p>
          <a:p>
            <a:pPr marL="203200" indent="-203200">
              <a:buSzPct val="100000"/>
              <a:buChar char="•"/>
            </a:pPr>
            <a:r>
              <a:rPr lang="en-US" sz="1050" dirty="0">
                <a:solidFill>
                  <a:srgbClr val="18251F"/>
                </a:solidFill>
                <a:latin typeface="Noto Sans" pitchFamily="34" charset="0"/>
                <a:ea typeface="Noto Sans" pitchFamily="34" charset="-122"/>
                <a:cs typeface="Noto Sans" pitchFamily="34" charset="-120"/>
              </a:rPr>
              <a:t>Smarter locator ranking / app-map memory</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What this framework delivers</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A practical bridge between conventional automation discipline and agentic recovery</a:t>
            </a:r>
            <a:endParaRPr lang="en-US" sz="1150" dirty="0"/>
          </a:p>
        </p:txBody>
      </p:sp>
      <p:sp>
        <p:nvSpPr>
          <p:cNvPr id="4" name="Shape 2"/>
          <p:cNvSpPr/>
          <p:nvPr/>
        </p:nvSpPr>
        <p:spPr>
          <a:xfrm>
            <a:off x="640080" y="132588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5" name="Shape 3"/>
          <p:cNvSpPr/>
          <p:nvPr/>
        </p:nvSpPr>
        <p:spPr>
          <a:xfrm>
            <a:off x="841248" y="1527048"/>
            <a:ext cx="384048" cy="384048"/>
          </a:xfrm>
          <a:prstGeom prst="ellipse">
            <a:avLst/>
          </a:prstGeom>
          <a:solidFill>
            <a:srgbClr val="E9F6F0"/>
          </a:solidFill>
          <a:ln w="12700">
            <a:solidFill>
              <a:srgbClr val="E9F6F0"/>
            </a:solidFill>
            <a:prstDash val="solid"/>
          </a:ln>
        </p:spPr>
      </p:sp>
      <p:sp>
        <p:nvSpPr>
          <p:cNvPr id="6" name="Text 4"/>
          <p:cNvSpPr/>
          <p:nvPr/>
        </p:nvSpPr>
        <p:spPr>
          <a:xfrm>
            <a:off x="84124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1</a:t>
            </a:r>
            <a:endParaRPr lang="en-US" sz="1100" dirty="0"/>
          </a:p>
        </p:txBody>
      </p:sp>
      <p:sp>
        <p:nvSpPr>
          <p:cNvPr id="7" name="Text 5"/>
          <p:cNvSpPr/>
          <p:nvPr/>
        </p:nvSpPr>
        <p:spPr>
          <a:xfrm>
            <a:off x="1335024" y="150876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Faster authoring</a:t>
            </a:r>
            <a:endParaRPr lang="en-US" sz="1400" dirty="0"/>
          </a:p>
        </p:txBody>
      </p:sp>
      <p:sp>
        <p:nvSpPr>
          <p:cNvPr id="8" name="Text 6"/>
          <p:cNvSpPr/>
          <p:nvPr/>
        </p:nvSpPr>
        <p:spPr>
          <a:xfrm>
            <a:off x="859536" y="189280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Recorder + Excel/JSON reduce code-only dependency</a:t>
            </a:r>
            <a:endParaRPr lang="en-US" sz="1050" dirty="0"/>
          </a:p>
        </p:txBody>
      </p:sp>
      <p:sp>
        <p:nvSpPr>
          <p:cNvPr id="9" name="Shape 7"/>
          <p:cNvSpPr/>
          <p:nvPr/>
        </p:nvSpPr>
        <p:spPr>
          <a:xfrm>
            <a:off x="4462272" y="132588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0" name="Shape 8"/>
          <p:cNvSpPr/>
          <p:nvPr/>
        </p:nvSpPr>
        <p:spPr>
          <a:xfrm>
            <a:off x="4663440" y="1527048"/>
            <a:ext cx="384048" cy="384048"/>
          </a:xfrm>
          <a:prstGeom prst="ellipse">
            <a:avLst/>
          </a:prstGeom>
          <a:solidFill>
            <a:srgbClr val="E9F6F0"/>
          </a:solidFill>
          <a:ln w="12700">
            <a:solidFill>
              <a:srgbClr val="E9F6F0"/>
            </a:solidFill>
            <a:prstDash val="solid"/>
          </a:ln>
        </p:spPr>
      </p:sp>
      <p:sp>
        <p:nvSpPr>
          <p:cNvPr id="11" name="Text 9"/>
          <p:cNvSpPr/>
          <p:nvPr/>
        </p:nvSpPr>
        <p:spPr>
          <a:xfrm>
            <a:off x="4663440"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2</a:t>
            </a:r>
            <a:endParaRPr lang="en-US" sz="1100" dirty="0"/>
          </a:p>
        </p:txBody>
      </p:sp>
      <p:sp>
        <p:nvSpPr>
          <p:cNvPr id="12" name="Text 10"/>
          <p:cNvSpPr/>
          <p:nvPr/>
        </p:nvSpPr>
        <p:spPr>
          <a:xfrm>
            <a:off x="5157216" y="150876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Resilience</a:t>
            </a:r>
            <a:endParaRPr lang="en-US" sz="1400" dirty="0"/>
          </a:p>
        </p:txBody>
      </p:sp>
      <p:sp>
        <p:nvSpPr>
          <p:cNvPr id="13" name="Text 11"/>
          <p:cNvSpPr/>
          <p:nvPr/>
        </p:nvSpPr>
        <p:spPr>
          <a:xfrm>
            <a:off x="4681728" y="189280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Self-healing is bounded, evidence-driven and auditable</a:t>
            </a:r>
            <a:endParaRPr lang="en-US" sz="1050" dirty="0"/>
          </a:p>
        </p:txBody>
      </p:sp>
      <p:sp>
        <p:nvSpPr>
          <p:cNvPr id="14" name="Shape 12"/>
          <p:cNvSpPr/>
          <p:nvPr/>
        </p:nvSpPr>
        <p:spPr>
          <a:xfrm>
            <a:off x="8284464" y="132588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5" name="Shape 13"/>
          <p:cNvSpPr/>
          <p:nvPr/>
        </p:nvSpPr>
        <p:spPr>
          <a:xfrm>
            <a:off x="8485632" y="1527048"/>
            <a:ext cx="384048" cy="384048"/>
          </a:xfrm>
          <a:prstGeom prst="ellipse">
            <a:avLst/>
          </a:prstGeom>
          <a:solidFill>
            <a:srgbClr val="E9F6F0"/>
          </a:solidFill>
          <a:ln w="12700">
            <a:solidFill>
              <a:srgbClr val="E9F6F0"/>
            </a:solidFill>
            <a:prstDash val="solid"/>
          </a:ln>
        </p:spPr>
      </p:sp>
      <p:sp>
        <p:nvSpPr>
          <p:cNvPr id="16" name="Text 14"/>
          <p:cNvSpPr/>
          <p:nvPr/>
        </p:nvSpPr>
        <p:spPr>
          <a:xfrm>
            <a:off x="8485632"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3</a:t>
            </a:r>
            <a:endParaRPr lang="en-US" sz="1100" dirty="0"/>
          </a:p>
        </p:txBody>
      </p:sp>
      <p:sp>
        <p:nvSpPr>
          <p:cNvPr id="17" name="Text 15"/>
          <p:cNvSpPr/>
          <p:nvPr/>
        </p:nvSpPr>
        <p:spPr>
          <a:xfrm>
            <a:off x="8979408" y="150876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Controlled scale</a:t>
            </a:r>
            <a:endParaRPr lang="en-US" sz="1400" dirty="0"/>
          </a:p>
        </p:txBody>
      </p:sp>
      <p:sp>
        <p:nvSpPr>
          <p:cNvPr id="18" name="Text 16"/>
          <p:cNvSpPr/>
          <p:nvPr/>
        </p:nvSpPr>
        <p:spPr>
          <a:xfrm>
            <a:off x="8503920" y="189280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Fixed browser pool adds parallelism without uncontrolled browser creation</a:t>
            </a:r>
            <a:endParaRPr lang="en-US" sz="1050" dirty="0"/>
          </a:p>
        </p:txBody>
      </p:sp>
      <p:sp>
        <p:nvSpPr>
          <p:cNvPr id="19" name="Shape 17"/>
          <p:cNvSpPr/>
          <p:nvPr/>
        </p:nvSpPr>
        <p:spPr>
          <a:xfrm>
            <a:off x="640080" y="347472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20" name="Shape 18"/>
          <p:cNvSpPr/>
          <p:nvPr/>
        </p:nvSpPr>
        <p:spPr>
          <a:xfrm>
            <a:off x="841248" y="3675888"/>
            <a:ext cx="384048" cy="384048"/>
          </a:xfrm>
          <a:prstGeom prst="ellipse">
            <a:avLst/>
          </a:prstGeom>
          <a:solidFill>
            <a:srgbClr val="E9F6F0"/>
          </a:solidFill>
          <a:ln w="12700">
            <a:solidFill>
              <a:srgbClr val="E9F6F0"/>
            </a:solidFill>
            <a:prstDash val="solid"/>
          </a:ln>
        </p:spPr>
      </p:sp>
      <p:sp>
        <p:nvSpPr>
          <p:cNvPr id="21" name="Text 19"/>
          <p:cNvSpPr/>
          <p:nvPr/>
        </p:nvSpPr>
        <p:spPr>
          <a:xfrm>
            <a:off x="841248" y="37444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4</a:t>
            </a:r>
            <a:endParaRPr lang="en-US" sz="1100" dirty="0"/>
          </a:p>
        </p:txBody>
      </p:sp>
      <p:sp>
        <p:nvSpPr>
          <p:cNvPr id="22" name="Text 20"/>
          <p:cNvSpPr/>
          <p:nvPr/>
        </p:nvSpPr>
        <p:spPr>
          <a:xfrm>
            <a:off x="1335024" y="365760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Operational clarity</a:t>
            </a:r>
            <a:endParaRPr lang="en-US" sz="1400" dirty="0"/>
          </a:p>
        </p:txBody>
      </p:sp>
      <p:sp>
        <p:nvSpPr>
          <p:cNvPr id="23" name="Text 21"/>
          <p:cNvSpPr/>
          <p:nvPr/>
        </p:nvSpPr>
        <p:spPr>
          <a:xfrm>
            <a:off x="859536" y="404164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Live KPIs, reruns and rich artifacts shorten triage</a:t>
            </a:r>
            <a:endParaRPr lang="en-US" sz="1050" dirty="0"/>
          </a:p>
        </p:txBody>
      </p:sp>
      <p:sp>
        <p:nvSpPr>
          <p:cNvPr id="24" name="Shape 22"/>
          <p:cNvSpPr/>
          <p:nvPr/>
        </p:nvSpPr>
        <p:spPr>
          <a:xfrm>
            <a:off x="4462272" y="347472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25" name="Shape 23"/>
          <p:cNvSpPr/>
          <p:nvPr/>
        </p:nvSpPr>
        <p:spPr>
          <a:xfrm>
            <a:off x="4663440" y="3675888"/>
            <a:ext cx="384048" cy="384048"/>
          </a:xfrm>
          <a:prstGeom prst="ellipse">
            <a:avLst/>
          </a:prstGeom>
          <a:solidFill>
            <a:srgbClr val="E9F6F0"/>
          </a:solidFill>
          <a:ln w="12700">
            <a:solidFill>
              <a:srgbClr val="E9F6F0"/>
            </a:solidFill>
            <a:prstDash val="solid"/>
          </a:ln>
        </p:spPr>
      </p:sp>
      <p:sp>
        <p:nvSpPr>
          <p:cNvPr id="26" name="Text 24"/>
          <p:cNvSpPr/>
          <p:nvPr/>
        </p:nvSpPr>
        <p:spPr>
          <a:xfrm>
            <a:off x="4663440" y="37444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5</a:t>
            </a:r>
            <a:endParaRPr lang="en-US" sz="1100" dirty="0"/>
          </a:p>
        </p:txBody>
      </p:sp>
      <p:sp>
        <p:nvSpPr>
          <p:cNvPr id="27" name="Text 25"/>
          <p:cNvSpPr/>
          <p:nvPr/>
        </p:nvSpPr>
        <p:spPr>
          <a:xfrm>
            <a:off x="5157216" y="365760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Flexibility</a:t>
            </a:r>
            <a:endParaRPr lang="en-US" sz="1400" dirty="0"/>
          </a:p>
        </p:txBody>
      </p:sp>
      <p:sp>
        <p:nvSpPr>
          <p:cNvPr id="28" name="Text 26"/>
          <p:cNvSpPr/>
          <p:nvPr/>
        </p:nvSpPr>
        <p:spPr>
          <a:xfrm>
            <a:off x="4681728" y="404164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OpenAI-compatible model connection is runtime-configurable</a:t>
            </a:r>
            <a:endParaRPr lang="en-US" sz="1050" dirty="0"/>
          </a:p>
        </p:txBody>
      </p:sp>
      <p:sp>
        <p:nvSpPr>
          <p:cNvPr id="29" name="Shape 27"/>
          <p:cNvSpPr/>
          <p:nvPr/>
        </p:nvSpPr>
        <p:spPr>
          <a:xfrm>
            <a:off x="8284464" y="3474720"/>
            <a:ext cx="3401568" cy="1783080"/>
          </a:xfrm>
          <a:prstGeom prst="roundRect">
            <a:avLst>
              <a:gd name="adj" fmla="val 6154"/>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30" name="Shape 28"/>
          <p:cNvSpPr/>
          <p:nvPr/>
        </p:nvSpPr>
        <p:spPr>
          <a:xfrm>
            <a:off x="8485632" y="3675888"/>
            <a:ext cx="384048" cy="384048"/>
          </a:xfrm>
          <a:prstGeom prst="ellipse">
            <a:avLst/>
          </a:prstGeom>
          <a:solidFill>
            <a:srgbClr val="E9F6F0"/>
          </a:solidFill>
          <a:ln w="12700">
            <a:solidFill>
              <a:srgbClr val="E9F6F0"/>
            </a:solidFill>
            <a:prstDash val="solid"/>
          </a:ln>
        </p:spPr>
      </p:sp>
      <p:sp>
        <p:nvSpPr>
          <p:cNvPr id="31" name="Text 29"/>
          <p:cNvSpPr/>
          <p:nvPr/>
        </p:nvSpPr>
        <p:spPr>
          <a:xfrm>
            <a:off x="8485632" y="374446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6</a:t>
            </a:r>
            <a:endParaRPr lang="en-US" sz="1100" dirty="0"/>
          </a:p>
        </p:txBody>
      </p:sp>
      <p:sp>
        <p:nvSpPr>
          <p:cNvPr id="32" name="Text 30"/>
          <p:cNvSpPr/>
          <p:nvPr/>
        </p:nvSpPr>
        <p:spPr>
          <a:xfrm>
            <a:off x="8979408" y="3657600"/>
            <a:ext cx="2487168" cy="292608"/>
          </a:xfrm>
          <a:prstGeom prst="rect">
            <a:avLst/>
          </a:prstGeom>
          <a:noFill/>
          <a:ln/>
        </p:spPr>
        <p:txBody>
          <a:bodyPr wrap="square" lIns="0" tIns="0" rIns="0" bIns="0" rtlCol="0" anchor="ctr"/>
          <a:lstStyle/>
          <a:p>
            <a:pPr indent="0" marL="0">
              <a:buNone/>
            </a:pPr>
            <a:r>
              <a:rPr lang="en-US" sz="1400" b="1" dirty="0">
                <a:solidFill>
                  <a:srgbClr val="18251F"/>
                </a:solidFill>
              </a:rPr>
              <a:t>Extensibility</a:t>
            </a:r>
            <a:endParaRPr lang="en-US" sz="1400" dirty="0"/>
          </a:p>
        </p:txBody>
      </p:sp>
      <p:sp>
        <p:nvSpPr>
          <p:cNvPr id="33" name="Text 31"/>
          <p:cNvSpPr/>
          <p:nvPr/>
        </p:nvSpPr>
        <p:spPr>
          <a:xfrm>
            <a:off x="8503920" y="4041648"/>
            <a:ext cx="2962656" cy="1051560"/>
          </a:xfrm>
          <a:prstGeom prst="rect">
            <a:avLst/>
          </a:prstGeom>
          <a:noFill/>
          <a:ln/>
        </p:spPr>
        <p:txBody>
          <a:bodyPr wrap="square" lIns="381" tIns="381" rIns="381" bIns="381" rtlCol="0" anchor="t"/>
          <a:lstStyle/>
          <a:p>
            <a:pPr indent="0" marL="0">
              <a:buNone/>
            </a:pPr>
            <a:r>
              <a:rPr lang="en-US" sz="1050" dirty="0">
                <a:solidFill>
                  <a:srgbClr val="66756F"/>
                </a:solidFill>
              </a:rPr>
              <a:t>Java/Spring/MCP architecture leaves room for enterprise controls</a:t>
            </a:r>
            <a:endParaRPr lang="en-US" sz="10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384048"/>
            <a:ext cx="11064240" cy="475488"/>
          </a:xfrm>
          <a:prstGeom prst="rect">
            <a:avLst/>
          </a:prstGeom>
          <a:noFill/>
          <a:ln/>
        </p:spPr>
        <p:txBody>
          <a:bodyPr wrap="square" lIns="0" tIns="0" rIns="0" bIns="0" rtlCol="0" anchor="ctr"/>
          <a:lstStyle/>
          <a:p>
            <a:pPr indent="0" marL="0">
              <a:buNone/>
            </a:pPr>
            <a:r>
              <a:rPr lang="en-US" sz="2500" b="1" dirty="0">
                <a:solidFill>
                  <a:srgbClr val="005B3E"/>
                </a:solidFill>
                <a:latin typeface="Noto Sans" pitchFamily="34" charset="0"/>
                <a:ea typeface="Noto Sans" pitchFamily="34" charset="-122"/>
                <a:cs typeface="Noto Sans" pitchFamily="34" charset="-120"/>
              </a:rPr>
              <a:t>References and Q&amp;A</a:t>
            </a:r>
            <a:endParaRPr lang="en-US" sz="2500" dirty="0"/>
          </a:p>
        </p:txBody>
      </p:sp>
      <p:sp>
        <p:nvSpPr>
          <p:cNvPr id="3" name="Text 1"/>
          <p:cNvSpPr/>
          <p:nvPr/>
        </p:nvSpPr>
        <p:spPr>
          <a:xfrm>
            <a:off x="512064" y="896112"/>
            <a:ext cx="10789920" cy="320040"/>
          </a:xfrm>
          <a:prstGeom prst="rect">
            <a:avLst/>
          </a:prstGeom>
          <a:noFill/>
          <a:ln/>
        </p:spPr>
        <p:txBody>
          <a:bodyPr wrap="square" lIns="0" tIns="0" rIns="0" bIns="0" rtlCol="0" anchor="ctr"/>
          <a:lstStyle/>
          <a:p>
            <a:pPr indent="0" marL="0">
              <a:buNone/>
            </a:pPr>
            <a:r>
              <a:rPr lang="en-US" sz="1150" dirty="0">
                <a:solidFill>
                  <a:srgbClr val="66756F"/>
                </a:solidFill>
                <a:latin typeface="Noto Sans" pitchFamily="34" charset="0"/>
                <a:ea typeface="Noto Sans" pitchFamily="34" charset="-122"/>
                <a:cs typeface="Noto Sans" pitchFamily="34" charset="-120"/>
              </a:rPr>
              <a:t>Primary references used for the Vibium overview</a:t>
            </a:r>
            <a:endParaRPr lang="en-US" sz="1150" dirty="0"/>
          </a:p>
        </p:txBody>
      </p:sp>
      <p:sp>
        <p:nvSpPr>
          <p:cNvPr id="4" name="Shape 2"/>
          <p:cNvSpPr/>
          <p:nvPr/>
        </p:nvSpPr>
        <p:spPr>
          <a:xfrm>
            <a:off x="731520" y="1325880"/>
            <a:ext cx="5212080" cy="1828800"/>
          </a:xfrm>
          <a:prstGeom prst="roundRect">
            <a:avLst>
              <a:gd name="adj" fmla="val 6000"/>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5" name="Shape 3"/>
          <p:cNvSpPr/>
          <p:nvPr/>
        </p:nvSpPr>
        <p:spPr>
          <a:xfrm>
            <a:off x="932688" y="1527048"/>
            <a:ext cx="384048" cy="384048"/>
          </a:xfrm>
          <a:prstGeom prst="ellipse">
            <a:avLst/>
          </a:prstGeom>
          <a:solidFill>
            <a:srgbClr val="E9F6F0"/>
          </a:solidFill>
          <a:ln w="12700">
            <a:solidFill>
              <a:srgbClr val="E9F6F0"/>
            </a:solidFill>
            <a:prstDash val="solid"/>
          </a:ln>
        </p:spPr>
      </p:sp>
      <p:sp>
        <p:nvSpPr>
          <p:cNvPr id="6" name="Text 4"/>
          <p:cNvSpPr/>
          <p:nvPr/>
        </p:nvSpPr>
        <p:spPr>
          <a:xfrm>
            <a:off x="93268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V</a:t>
            </a:r>
            <a:endParaRPr lang="en-US" sz="1100" dirty="0"/>
          </a:p>
        </p:txBody>
      </p:sp>
      <p:sp>
        <p:nvSpPr>
          <p:cNvPr id="7" name="Text 5"/>
          <p:cNvSpPr/>
          <p:nvPr/>
        </p:nvSpPr>
        <p:spPr>
          <a:xfrm>
            <a:off x="1426464" y="1508760"/>
            <a:ext cx="4297680" cy="292608"/>
          </a:xfrm>
          <a:prstGeom prst="rect">
            <a:avLst/>
          </a:prstGeom>
          <a:noFill/>
          <a:ln/>
        </p:spPr>
        <p:txBody>
          <a:bodyPr wrap="square" lIns="0" tIns="0" rIns="0" bIns="0" rtlCol="0" anchor="ctr"/>
          <a:lstStyle/>
          <a:p>
            <a:pPr indent="0" marL="0">
              <a:buNone/>
            </a:pPr>
            <a:r>
              <a:rPr lang="en-US" sz="1400" b="1" dirty="0">
                <a:solidFill>
                  <a:srgbClr val="18251F"/>
                </a:solidFill>
              </a:rPr>
              <a:t>Vibium official repository</a:t>
            </a:r>
            <a:endParaRPr lang="en-US" sz="1400" dirty="0"/>
          </a:p>
        </p:txBody>
      </p:sp>
      <p:sp>
        <p:nvSpPr>
          <p:cNvPr id="8" name="Text 6"/>
          <p:cNvSpPr/>
          <p:nvPr/>
        </p:nvSpPr>
        <p:spPr>
          <a:xfrm>
            <a:off x="950976" y="1892808"/>
            <a:ext cx="4773168" cy="1097280"/>
          </a:xfrm>
          <a:prstGeom prst="rect">
            <a:avLst/>
          </a:prstGeom>
          <a:noFill/>
          <a:ln/>
        </p:spPr>
        <p:txBody>
          <a:bodyPr wrap="square" lIns="381" tIns="381" rIns="381" bIns="381" rtlCol="0" anchor="t"/>
          <a:lstStyle/>
          <a:p>
            <a:pPr indent="0" marL="0">
              <a:buNone/>
            </a:pPr>
            <a:r>
              <a:rPr lang="en-US" sz="1050" dirty="0">
                <a:solidFill>
                  <a:srgbClr val="66756F"/>
                </a:solidFill>
              </a:rPr>
              <a:t>VibiumDev/vibium — README, MCP server documentation and WebDriver BiDi explanation.</a:t>
            </a:r>
            <a:endParaRPr lang="en-US" sz="1050" dirty="0"/>
          </a:p>
          <a:p>
            <a:pPr indent="0" marL="0">
              <a:buNone/>
            </a:pPr>
            <a:endParaRPr lang="en-US" sz="1050" dirty="0"/>
          </a:p>
          <a:p>
            <a:pPr indent="0" marL="0">
              <a:buNone/>
            </a:pPr>
            <a:r>
              <a:rPr lang="en-US" sz="1050" dirty="0">
                <a:solidFill>
                  <a:srgbClr val="66756F"/>
                </a:solidFill>
              </a:rPr>
              <a:t>Used for: what Vibium is, MCP positioning, WebDriver BiDi foundation and core browser-tool capabilities.</a:t>
            </a:r>
            <a:endParaRPr lang="en-US" sz="1050" dirty="0"/>
          </a:p>
        </p:txBody>
      </p:sp>
      <p:sp>
        <p:nvSpPr>
          <p:cNvPr id="9" name="Shape 7"/>
          <p:cNvSpPr/>
          <p:nvPr/>
        </p:nvSpPr>
        <p:spPr>
          <a:xfrm>
            <a:off x="6263640" y="1325880"/>
            <a:ext cx="5212080" cy="1828800"/>
          </a:xfrm>
          <a:prstGeom prst="roundRect">
            <a:avLst>
              <a:gd name="adj" fmla="val 6000"/>
            </a:avLst>
          </a:prstGeom>
          <a:solidFill>
            <a:srgbClr val="FFFFFF"/>
          </a:solidFill>
          <a:ln w="12700">
            <a:solidFill>
              <a:srgbClr val="D8E6DF"/>
            </a:solidFill>
            <a:prstDash val="solid"/>
          </a:ln>
          <a:effectLst>
            <a:outerShdw sx="100000" sy="100000" kx="0" ky="0" algn="bl" rotWithShape="0" blurRad="Infinity" dist="Infinity" dir="Infinity">
              <a:srgbClr val="000000">
                <a:alpha val="Infinity"/>
              </a:srgbClr>
            </a:outerShdw>
          </a:effectLst>
        </p:spPr>
      </p:sp>
      <p:sp>
        <p:nvSpPr>
          <p:cNvPr id="10" name="Shape 8"/>
          <p:cNvSpPr/>
          <p:nvPr/>
        </p:nvSpPr>
        <p:spPr>
          <a:xfrm>
            <a:off x="6464808" y="1527048"/>
            <a:ext cx="384048" cy="384048"/>
          </a:xfrm>
          <a:prstGeom prst="ellipse">
            <a:avLst/>
          </a:prstGeom>
          <a:solidFill>
            <a:srgbClr val="E9F6F0"/>
          </a:solidFill>
          <a:ln w="12700">
            <a:solidFill>
              <a:srgbClr val="E9F6F0"/>
            </a:solidFill>
            <a:prstDash val="solid"/>
          </a:ln>
        </p:spPr>
      </p:sp>
      <p:sp>
        <p:nvSpPr>
          <p:cNvPr id="11" name="Text 9"/>
          <p:cNvSpPr/>
          <p:nvPr/>
        </p:nvSpPr>
        <p:spPr>
          <a:xfrm>
            <a:off x="6464808" y="1595628"/>
            <a:ext cx="384048" cy="164592"/>
          </a:xfrm>
          <a:prstGeom prst="rect">
            <a:avLst/>
          </a:prstGeom>
          <a:noFill/>
          <a:ln/>
        </p:spPr>
        <p:txBody>
          <a:bodyPr wrap="square" lIns="0" tIns="0" rIns="0" bIns="0" rtlCol="0" anchor="ctr"/>
          <a:lstStyle/>
          <a:p>
            <a:pPr algn="ctr" indent="0" marL="0">
              <a:buNone/>
            </a:pPr>
            <a:r>
              <a:rPr lang="en-US" sz="1100" b="1" dirty="0">
                <a:solidFill>
                  <a:srgbClr val="007A53"/>
                </a:solidFill>
              </a:rPr>
              <a:t>I</a:t>
            </a:r>
            <a:endParaRPr lang="en-US" sz="1100" dirty="0"/>
          </a:p>
        </p:txBody>
      </p:sp>
      <p:sp>
        <p:nvSpPr>
          <p:cNvPr id="12" name="Text 10"/>
          <p:cNvSpPr/>
          <p:nvPr/>
        </p:nvSpPr>
        <p:spPr>
          <a:xfrm>
            <a:off x="6958584" y="1508760"/>
            <a:ext cx="4297680" cy="292608"/>
          </a:xfrm>
          <a:prstGeom prst="rect">
            <a:avLst/>
          </a:prstGeom>
          <a:noFill/>
          <a:ln/>
        </p:spPr>
        <p:txBody>
          <a:bodyPr wrap="square" lIns="0" tIns="0" rIns="0" bIns="0" rtlCol="0" anchor="ctr"/>
          <a:lstStyle/>
          <a:p>
            <a:pPr indent="0" marL="0">
              <a:buNone/>
            </a:pPr>
            <a:r>
              <a:rPr lang="en-US" sz="1400" b="1" dirty="0">
                <a:solidFill>
                  <a:srgbClr val="18251F"/>
                </a:solidFill>
              </a:rPr>
              <a:t>Current ITPS source package</a:t>
            </a:r>
            <a:endParaRPr lang="en-US" sz="1400" dirty="0"/>
          </a:p>
        </p:txBody>
      </p:sp>
      <p:sp>
        <p:nvSpPr>
          <p:cNvPr id="13" name="Text 11"/>
          <p:cNvSpPr/>
          <p:nvPr/>
        </p:nvSpPr>
        <p:spPr>
          <a:xfrm>
            <a:off x="6483096" y="1892808"/>
            <a:ext cx="4773168" cy="1097280"/>
          </a:xfrm>
          <a:prstGeom prst="rect">
            <a:avLst/>
          </a:prstGeom>
          <a:noFill/>
          <a:ln/>
        </p:spPr>
        <p:txBody>
          <a:bodyPr wrap="square" lIns="381" tIns="381" rIns="381" bIns="381" rtlCol="0" anchor="t"/>
          <a:lstStyle/>
          <a:p>
            <a:pPr indent="0" marL="0">
              <a:buNone/>
            </a:pPr>
            <a:r>
              <a:rPr lang="en-US" sz="1050" dirty="0">
                <a:solidFill>
                  <a:srgbClr val="66756F"/>
                </a:solidFill>
              </a:rPr>
              <a:t>Vibium08_ai_connection_gate_updated source.</a:t>
            </a:r>
            <a:endParaRPr lang="en-US" sz="1050" dirty="0"/>
          </a:p>
          <a:p>
            <a:pPr indent="0" marL="0">
              <a:buNone/>
            </a:pPr>
            <a:endParaRPr lang="en-US" sz="1050" dirty="0"/>
          </a:p>
          <a:p>
            <a:pPr indent="0" marL="0">
              <a:buNone/>
            </a:pPr>
            <a:r>
              <a:rPr lang="en-US" sz="1050" dirty="0">
                <a:solidFill>
                  <a:srgbClr val="66756F"/>
                </a:solidFill>
              </a:rPr>
              <a:t>Used for: architecture, UI, execution modes, connection gate, LangGraph flow, reports, zoom behavior, APIs and unit-test coverage.</a:t>
            </a:r>
            <a:endParaRPr lang="en-US" sz="1050" dirty="0"/>
          </a:p>
        </p:txBody>
      </p:sp>
      <p:sp>
        <p:nvSpPr>
          <p:cNvPr id="14" name="Text 12"/>
          <p:cNvSpPr/>
          <p:nvPr/>
        </p:nvSpPr>
        <p:spPr>
          <a:xfrm>
            <a:off x="731520" y="4023360"/>
            <a:ext cx="10698480" cy="685800"/>
          </a:xfrm>
          <a:prstGeom prst="rect">
            <a:avLst/>
          </a:prstGeom>
          <a:noFill/>
          <a:ln/>
        </p:spPr>
        <p:txBody>
          <a:bodyPr wrap="square" lIns="0" tIns="0" rIns="0" bIns="0" rtlCol="0" anchor="ctr"/>
          <a:lstStyle/>
          <a:p>
            <a:pPr algn="ctr" indent="0" marL="0">
              <a:buNone/>
            </a:pPr>
            <a:r>
              <a:rPr lang="en-US" sz="3400" b="1" dirty="0">
                <a:solidFill>
                  <a:srgbClr val="005B3E"/>
                </a:solidFill>
              </a:rPr>
              <a:t>Questions?</a:t>
            </a:r>
            <a:endParaRPr lang="en-US" sz="3400" dirty="0"/>
          </a:p>
        </p:txBody>
      </p:sp>
      <p:sp>
        <p:nvSpPr>
          <p:cNvPr id="15" name="Text 13"/>
          <p:cNvSpPr/>
          <p:nvPr/>
        </p:nvSpPr>
        <p:spPr>
          <a:xfrm>
            <a:off x="1143000" y="4892040"/>
            <a:ext cx="9875520" cy="365760"/>
          </a:xfrm>
          <a:prstGeom prst="rect">
            <a:avLst/>
          </a:prstGeom>
          <a:noFill/>
          <a:ln/>
        </p:spPr>
        <p:txBody>
          <a:bodyPr wrap="square" lIns="0" tIns="0" rIns="0" bIns="0" rtlCol="0" anchor="ctr"/>
          <a:lstStyle/>
          <a:p>
            <a:pPr algn="ctr" indent="0" marL="0">
              <a:buNone/>
            </a:pPr>
            <a:r>
              <a:rPr lang="en-US" sz="1300" dirty="0">
                <a:solidFill>
                  <a:srgbClr val="66756F"/>
                </a:solidFill>
              </a:rPr>
              <a:t>Suggested discussion: demo environment • rollout model • CI integration • roadmap priorities</a:t>
            </a:r>
            <a:endParaRPr lang="en-US" sz="1300" dirty="0"/>
          </a:p>
        </p:txBody>
      </p:sp>
      <p:sp>
        <p:nvSpPr>
          <p:cNvPr id="16" name="Text 14"/>
          <p:cNvSpPr/>
          <p:nvPr/>
        </p:nvSpPr>
        <p:spPr>
          <a:xfrm>
            <a:off x="548640" y="6199632"/>
            <a:ext cx="10972800" cy="219456"/>
          </a:xfrm>
          <a:prstGeom prst="rect">
            <a:avLst/>
          </a:prstGeom>
          <a:noFill/>
          <a:ln/>
        </p:spPr>
        <p:txBody>
          <a:bodyPr wrap="square" lIns="0" tIns="0" rIns="0" bIns="0" rtlCol="0" anchor="ctr"/>
          <a:lstStyle/>
          <a:p>
            <a:pPr indent="0" marL="0">
              <a:buNone/>
            </a:pPr>
            <a:r>
              <a:rPr lang="en-US" sz="750" i="1" dirty="0">
                <a:solidFill>
                  <a:srgbClr val="7C8A85"/>
                </a:solidFill>
              </a:rPr>
              <a:t>Official Vibium source: github.com/VibiumDev/vibium (accessed Sep 2026).</a:t>
            </a:r>
            <a:endParaRPr lang="en-US" sz="750" dirty="0"/>
          </a:p>
        </p:txBody>
      </p:sp>
      <p:sp>
        <p:nvSpPr>
          <p:cNvPr id="25" name="Slide Number Placeholder 0"/>
          <p:cNvSpPr>
            <a:spLocks noGrp="1"/>
          </p:cNvSpPr>
          <p:nvPr>
            <p:ph type="sldNum" sz="quarter" idx="4294967295"/>
          </p:nvPr>
        </p:nvSpPr>
        <p:spPr>
          <a:xfrm>
            <a:off x="1179576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F8C87"/>
                </a:solidFill>
                <a:latin typeface="Noto Sans"/>
                <a:ea typeface="Noto Sans"/>
                <a:cs typeface="Noto Sans"/>
              </a:defRPr>
            </a:lvl1pPr>
          </a:lstStyle>
          <a:p>
            <a:pPr algn="l"/>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ITPS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ITPS VIBIUM MCP Framework - Complete Presentation</dc:title>
  <dc:subject>ITPS VIBIUM MCP Framework</dc:subject>
  <dc:creator>OpenAI</dc:creator>
  <cp:lastModifiedBy>OpenAI</cp:lastModifiedBy>
  <cp:revision>1</cp:revision>
  <dcterms:created xsi:type="dcterms:W3CDTF">2026-09-15T06:55:49Z</dcterms:created>
  <dcterms:modified xsi:type="dcterms:W3CDTF">2026-09-15T06:55:49Z</dcterms:modified>
</cp:coreProperties>
</file>