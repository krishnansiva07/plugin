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7472" y="109728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4E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S4TP–BMSA Unified Test Automation &amp; Quality Enablement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56616" y="448056"/>
            <a:ext cx="9464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D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Single-slide summary of automation scale, quality accelerators, operational monitoring, and delivery impact</a:t>
            </a:r>
            <a:endParaRPr lang="en-US" sz="1270" dirty="0"/>
          </a:p>
        </p:txBody>
      </p:sp>
      <p:sp>
        <p:nvSpPr>
          <p:cNvPr id="4" name="Shape 2"/>
          <p:cNvSpPr/>
          <p:nvPr/>
        </p:nvSpPr>
        <p:spPr>
          <a:xfrm>
            <a:off x="10104120" y="137160"/>
            <a:ext cx="310896" cy="310896"/>
          </a:xfrm>
          <a:prstGeom prst="parallelogram">
            <a:avLst/>
          </a:prstGeom>
          <a:solidFill>
            <a:srgbClr val="CBEA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05288" y="155448"/>
            <a:ext cx="310896" cy="310896"/>
          </a:xfrm>
          <a:prstGeom prst="parallelogram">
            <a:avLst/>
          </a:prstGeom>
          <a:solidFill>
            <a:srgbClr val="8ED6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06456" y="173736"/>
            <a:ext cx="310896" cy="310896"/>
          </a:xfrm>
          <a:prstGeom prst="parallelogram">
            <a:avLst/>
          </a:prstGeom>
          <a:solidFill>
            <a:srgbClr val="008A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18520" y="118872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83112" y="118872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47704" y="118872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118872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12296" y="118872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94592" y="118872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76888" y="118872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182880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65408" y="182880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182880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12296" y="182880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94592" y="182880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76888" y="182880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246888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83112" y="246888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47704" y="246888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0" y="246888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12296" y="246888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94592" y="246888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76888" y="246888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00816" y="310896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408" y="310896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0" y="310896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512296" y="310896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94592" y="310896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76888" y="310896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18520" y="374904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183112" y="374904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347704" y="374904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30000" y="374904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12296" y="374904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94592" y="374904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76888" y="374904"/>
            <a:ext cx="16459" cy="16459"/>
          </a:xfrm>
          <a:prstGeom prst="ellipse">
            <a:avLst/>
          </a:prstGeom>
          <a:solidFill>
            <a:srgbClr val="B9E8D6"/>
          </a:solidFill>
          <a:ln w="12700">
            <a:solidFill>
              <a:srgbClr val="B9E8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4592" y="749808"/>
            <a:ext cx="11868912" cy="0"/>
          </a:xfrm>
          <a:prstGeom prst="line">
            <a:avLst/>
          </a:prstGeom>
          <a:noFill/>
          <a:ln w="17780">
            <a:solidFill>
              <a:srgbClr val="008A6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64592" y="868680"/>
            <a:ext cx="3950208" cy="438912"/>
          </a:xfrm>
          <a:prstGeom prst="roundRect">
            <a:avLst>
              <a:gd name="adj" fmla="val 12500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960120"/>
            <a:ext cx="256032" cy="256032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1088136"/>
            <a:ext cx="164592" cy="164592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923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Automation Platform</a:t>
            </a:r>
            <a:endParaRPr lang="en-US" sz="1620" dirty="0"/>
          </a:p>
        </p:txBody>
      </p:sp>
      <p:sp>
        <p:nvSpPr>
          <p:cNvPr id="45" name="Shape 43"/>
          <p:cNvSpPr/>
          <p:nvPr/>
        </p:nvSpPr>
        <p:spPr>
          <a:xfrm>
            <a:off x="4224528" y="868680"/>
            <a:ext cx="3950208" cy="438912"/>
          </a:xfrm>
          <a:prstGeom prst="roundRect">
            <a:avLst>
              <a:gd name="adj" fmla="val 12500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4840" y="1143000"/>
            <a:ext cx="64008" cy="914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44568" y="1078992"/>
            <a:ext cx="64008" cy="1554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54296" y="1014984"/>
            <a:ext cx="64008" cy="21945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818888" y="923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Enhancements &amp; Coverage</a:t>
            </a:r>
            <a:endParaRPr lang="en-US" sz="1620" dirty="0"/>
          </a:p>
        </p:txBody>
      </p:sp>
      <p:sp>
        <p:nvSpPr>
          <p:cNvPr id="50" name="Shape 48"/>
          <p:cNvSpPr/>
          <p:nvPr/>
        </p:nvSpPr>
        <p:spPr>
          <a:xfrm>
            <a:off x="8284464" y="868680"/>
            <a:ext cx="3950208" cy="438912"/>
          </a:xfrm>
          <a:prstGeom prst="roundRect">
            <a:avLst>
              <a:gd name="adj" fmla="val 12500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0800000">
            <a:off x="8485632" y="950976"/>
            <a:ext cx="310896" cy="283464"/>
          </a:xfrm>
          <a:prstGeom prst="pent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49640" y="996696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878824" y="923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Assurance</a:t>
            </a:r>
            <a:endParaRPr lang="en-US" sz="1620" dirty="0"/>
          </a:p>
        </p:txBody>
      </p:sp>
      <p:sp>
        <p:nvSpPr>
          <p:cNvPr id="54" name="Shape 52"/>
          <p:cNvSpPr/>
          <p:nvPr/>
        </p:nvSpPr>
        <p:spPr>
          <a:xfrm>
            <a:off x="164592" y="1371600"/>
            <a:ext cx="3950208" cy="4279392"/>
          </a:xfrm>
          <a:prstGeom prst="roundRect">
            <a:avLst>
              <a:gd name="adj" fmla="val 1389"/>
            </a:avLst>
          </a:prstGeom>
          <a:solidFill>
            <a:srgbClr val="F8FCFA"/>
          </a:solidFill>
          <a:ln w="5080">
            <a:solidFill>
              <a:srgbClr val="E6EC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24528" y="1371600"/>
            <a:ext cx="3950208" cy="4279392"/>
          </a:xfrm>
          <a:prstGeom prst="roundRect">
            <a:avLst>
              <a:gd name="adj" fmla="val 1389"/>
            </a:avLst>
          </a:prstGeom>
          <a:solidFill>
            <a:srgbClr val="F8FCFA"/>
          </a:solidFill>
          <a:ln w="5080">
            <a:solidFill>
              <a:srgbClr val="E6EC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84464" y="1371600"/>
            <a:ext cx="3950208" cy="4279392"/>
          </a:xfrm>
          <a:prstGeom prst="roundRect">
            <a:avLst>
              <a:gd name="adj" fmla="val 1389"/>
            </a:avLst>
          </a:prstGeom>
          <a:solidFill>
            <a:srgbClr val="F8FCFA"/>
          </a:solidFill>
          <a:ln w="5080">
            <a:solidFill>
              <a:srgbClr val="E6EC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6032" y="1426464"/>
            <a:ext cx="3767328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1536192"/>
            <a:ext cx="841248" cy="1042416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352" y="1673352"/>
            <a:ext cx="353324" cy="604601"/>
          </a:xfrm>
          <a:prstGeom prst="can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3209" y="2036552"/>
            <a:ext cx="235549" cy="235549"/>
          </a:xfrm>
          <a:prstGeom prst="gear6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43584" y="1499616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335024" y="1499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1353312" y="186994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463040" y="181965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 comprehensive automation framework from scratch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353312" y="212598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463040" y="207568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 end-to-end validation across payment workflows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56032" y="2779776"/>
            <a:ext cx="376732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2889504"/>
            <a:ext cx="841248" cy="1261872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3337560"/>
            <a:ext cx="185075" cy="227137"/>
          </a:xfrm>
          <a:prstGeom prst="roundRect">
            <a:avLst>
              <a:gd name="adj" fmla="val 14822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3847" y="3054096"/>
            <a:ext cx="185075" cy="227137"/>
          </a:xfrm>
          <a:prstGeom prst="roundRect">
            <a:avLst>
              <a:gd name="adj" fmla="val 14822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0984" y="3337560"/>
            <a:ext cx="185075" cy="227137"/>
          </a:xfrm>
          <a:prstGeom prst="roundRect">
            <a:avLst>
              <a:gd name="adj" fmla="val 14822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6384" y="3218688"/>
            <a:ext cx="0" cy="173736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559247" y="3328416"/>
            <a:ext cx="227137" cy="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786384" y="3328416"/>
            <a:ext cx="227137" cy="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1243584" y="2852928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335024" y="28529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&amp; Orchestration</a:t>
            </a:r>
            <a:endParaRPr lang="en-US" sz="1240" dirty="0"/>
          </a:p>
        </p:txBody>
      </p:sp>
      <p:sp>
        <p:nvSpPr>
          <p:cNvPr id="77" name="Shape 75"/>
          <p:cNvSpPr/>
          <p:nvPr/>
        </p:nvSpPr>
        <p:spPr>
          <a:xfrm>
            <a:off x="1353312" y="322326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463040" y="317296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→ Flink → Elasticsearch → API → UI validation</a:t>
            </a:r>
            <a:endParaRPr lang="en-US" sz="980" dirty="0"/>
          </a:p>
        </p:txBody>
      </p:sp>
      <p:sp>
        <p:nvSpPr>
          <p:cNvPr id="79" name="Shape 77"/>
          <p:cNvSpPr/>
          <p:nvPr/>
        </p:nvSpPr>
        <p:spPr>
          <a:xfrm>
            <a:off x="1353312" y="3479292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463040" y="3429000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Injection Framework for complex payment scenarios</a:t>
            </a:r>
            <a:endParaRPr lang="en-US" sz="980" dirty="0"/>
          </a:p>
        </p:txBody>
      </p:sp>
      <p:sp>
        <p:nvSpPr>
          <p:cNvPr id="81" name="Shape 79"/>
          <p:cNvSpPr/>
          <p:nvPr/>
        </p:nvSpPr>
        <p:spPr>
          <a:xfrm>
            <a:off x="1353312" y="3735324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463040" y="368503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Parameterized event generation across cash capsules</a:t>
            </a:r>
            <a:endParaRPr lang="en-US" sz="980" dirty="0"/>
          </a:p>
        </p:txBody>
      </p:sp>
      <p:sp>
        <p:nvSpPr>
          <p:cNvPr id="83" name="Shape 81"/>
          <p:cNvSpPr/>
          <p:nvPr/>
        </p:nvSpPr>
        <p:spPr>
          <a:xfrm>
            <a:off x="256032" y="4352544"/>
            <a:ext cx="376732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5760" y="4462272"/>
            <a:ext cx="841248" cy="950976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2064" y="4626864"/>
            <a:ext cx="563636" cy="570586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006A4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6384" y="4992624"/>
            <a:ext cx="201168" cy="-164592"/>
          </a:xfrm>
          <a:prstGeom prst="line">
            <a:avLst/>
          </a:prstGeom>
          <a:noFill/>
          <a:ln w="381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749808" y="4956048"/>
            <a:ext cx="73152" cy="7315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243584" y="4425696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335024" y="44256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&amp; Synchronization</a:t>
            </a:r>
            <a:endParaRPr lang="en-US" sz="1240" dirty="0"/>
          </a:p>
        </p:txBody>
      </p:sp>
      <p:sp>
        <p:nvSpPr>
          <p:cNvPr id="90" name="Shape 88"/>
          <p:cNvSpPr/>
          <p:nvPr/>
        </p:nvSpPr>
        <p:spPr>
          <a:xfrm>
            <a:off x="1353312" y="479602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463040" y="474573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million events validated in 20 minutes</a:t>
            </a:r>
            <a:endParaRPr lang="en-US" sz="970" dirty="0"/>
          </a:p>
        </p:txBody>
      </p:sp>
      <p:sp>
        <p:nvSpPr>
          <p:cNvPr id="92" name="Shape 90"/>
          <p:cNvSpPr/>
          <p:nvPr/>
        </p:nvSpPr>
        <p:spPr>
          <a:xfrm>
            <a:off x="1353312" y="497890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463040" y="492861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Time-sensitive alert generation and precise delay validation</a:t>
            </a:r>
            <a:endParaRPr lang="en-US" sz="970" dirty="0"/>
          </a:p>
        </p:txBody>
      </p:sp>
      <p:sp>
        <p:nvSpPr>
          <p:cNvPr id="94" name="Shape 92"/>
          <p:cNvSpPr/>
          <p:nvPr/>
        </p:nvSpPr>
        <p:spPr>
          <a:xfrm>
            <a:off x="4315968" y="1426464"/>
            <a:ext cx="3767328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425696" y="1536192"/>
            <a:ext cx="841248" cy="1042416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572000" y="1673352"/>
            <a:ext cx="420624" cy="64629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636008" y="1792224"/>
            <a:ext cx="235549" cy="0"/>
          </a:xfrm>
          <a:prstGeom prst="line">
            <a:avLst/>
          </a:prstGeom>
          <a:noFill/>
          <a:ln w="1905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4636008" y="1892808"/>
            <a:ext cx="193487" cy="0"/>
          </a:xfrm>
          <a:prstGeom prst="line">
            <a:avLst/>
          </a:prstGeom>
          <a:noFill/>
          <a:ln w="1905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4636008" y="1993392"/>
            <a:ext cx="168250" cy="0"/>
          </a:xfrm>
          <a:prstGeom prst="line">
            <a:avLst/>
          </a:prstGeom>
          <a:noFill/>
          <a:ln w="1905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4871557" y="2057400"/>
            <a:ext cx="235549" cy="235549"/>
          </a:xfrm>
          <a:prstGeom prst="gear6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303520" y="1499616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394960" y="1499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Enhancement</a:t>
            </a:r>
            <a:endParaRPr lang="en-US" sz="1240" dirty="0"/>
          </a:p>
        </p:txBody>
      </p:sp>
      <p:sp>
        <p:nvSpPr>
          <p:cNvPr id="103" name="Shape 101"/>
          <p:cNvSpPr/>
          <p:nvPr/>
        </p:nvSpPr>
        <p:spPr>
          <a:xfrm>
            <a:off x="5413248" y="186994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522976" y="181965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605+ test cases</a:t>
            </a:r>
            <a:endParaRPr lang="en-US" sz="980" dirty="0"/>
          </a:p>
        </p:txBody>
      </p:sp>
      <p:sp>
        <p:nvSpPr>
          <p:cNvPr id="105" name="Shape 103"/>
          <p:cNvSpPr/>
          <p:nvPr/>
        </p:nvSpPr>
        <p:spPr>
          <a:xfrm>
            <a:off x="5413248" y="205282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5522976" y="200253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reporting with detailed failure analysis and fix suggestions</a:t>
            </a:r>
            <a:endParaRPr lang="en-US" sz="980" dirty="0"/>
          </a:p>
        </p:txBody>
      </p:sp>
      <p:sp>
        <p:nvSpPr>
          <p:cNvPr id="107" name="Shape 105"/>
          <p:cNvSpPr/>
          <p:nvPr/>
        </p:nvSpPr>
        <p:spPr>
          <a:xfrm>
            <a:off x="5413248" y="230886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522976" y="225856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integrity validation for reference tables</a:t>
            </a:r>
            <a:endParaRPr lang="en-US" sz="980" dirty="0"/>
          </a:p>
        </p:txBody>
      </p:sp>
      <p:sp>
        <p:nvSpPr>
          <p:cNvPr id="109" name="Shape 107"/>
          <p:cNvSpPr/>
          <p:nvPr/>
        </p:nvSpPr>
        <p:spPr>
          <a:xfrm>
            <a:off x="4315968" y="2779776"/>
            <a:ext cx="376732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25696" y="2889504"/>
            <a:ext cx="841248" cy="1261872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53712" y="3054096"/>
            <a:ext cx="572049" cy="605699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864608" y="3493008"/>
            <a:ext cx="0" cy="13716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4745736" y="3630168"/>
            <a:ext cx="237744" cy="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14" name="Text 112"/>
          <p:cNvSpPr txBox="1"/>
          <p:nvPr/>
        </p:nvSpPr>
        <p:spPr>
          <a:xfrm>
            <a:off x="4626864" y="31089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4773168" y="3191256"/>
            <a:ext cx="210312" cy="0"/>
          </a:xfrm>
          <a:prstGeom prst="line">
            <a:avLst/>
          </a:prstGeom>
          <a:noFill/>
          <a:ln w="1905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16" name="Text 114"/>
          <p:cNvSpPr txBox="1"/>
          <p:nvPr/>
        </p:nvSpPr>
        <p:spPr>
          <a:xfrm>
            <a:off x="4626864" y="32735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17" name="Shape 115"/>
          <p:cNvSpPr/>
          <p:nvPr/>
        </p:nvSpPr>
        <p:spPr>
          <a:xfrm>
            <a:off x="4773168" y="3355848"/>
            <a:ext cx="210312" cy="0"/>
          </a:xfrm>
          <a:prstGeom prst="line">
            <a:avLst/>
          </a:prstGeom>
          <a:noFill/>
          <a:ln w="1905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5303520" y="2852928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5394960" y="28529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Enhancement</a:t>
            </a:r>
            <a:endParaRPr lang="en-US" sz="1240" dirty="0"/>
          </a:p>
        </p:txBody>
      </p:sp>
      <p:sp>
        <p:nvSpPr>
          <p:cNvPr id="120" name="Shape 118"/>
          <p:cNvSpPr/>
          <p:nvPr/>
        </p:nvSpPr>
        <p:spPr>
          <a:xfrm>
            <a:off x="5413248" y="322326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5522976" y="317296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348 tests / 15 capsules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5413248" y="340614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5522976" y="335584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UI: 177 tests / 20 capsules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5413248" y="358902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522976" y="353872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runs, clear pass/fail, enhanced HTML report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5413248" y="3845052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522976" y="3794760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to POST conversion and new scenarios added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4315968" y="4352544"/>
            <a:ext cx="376732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425696" y="4462272"/>
            <a:ext cx="841248" cy="950976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44568" y="4608576"/>
            <a:ext cx="555224" cy="551566"/>
          </a:xfrm>
          <a:prstGeom prst="roundRect">
            <a:avLst>
              <a:gd name="adj" fmla="val 3316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44568" y="4608576"/>
            <a:ext cx="555224" cy="95098"/>
          </a:xfrm>
          <a:prstGeom prst="roundRect">
            <a:avLst>
              <a:gd name="adj" fmla="val 19231"/>
            </a:avLst>
          </a:prstGeom>
          <a:solidFill>
            <a:srgbClr val="EAF7F1"/>
          </a:solidFill>
          <a:ln w="15240">
            <a:solidFill>
              <a:srgbClr val="006A4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99432" y="4636008"/>
            <a:ext cx="32004" cy="32004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54296" y="4636008"/>
            <a:ext cx="32004" cy="32004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09160" y="4636008"/>
            <a:ext cx="32004" cy="32004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4608576" y="47731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400" dirty="0"/>
          </a:p>
        </p:txBody>
      </p:sp>
      <p:sp>
        <p:nvSpPr>
          <p:cNvPr id="136" name="Shape 134"/>
          <p:cNvSpPr/>
          <p:nvPr/>
        </p:nvSpPr>
        <p:spPr>
          <a:xfrm>
            <a:off x="4888382" y="4985309"/>
            <a:ext cx="218724" cy="218724"/>
          </a:xfrm>
          <a:prstGeom prst="gear6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303520" y="4425696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5394960" y="44256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VOP UI/API Automation</a:t>
            </a:r>
            <a:endParaRPr lang="en-US" sz="1240" dirty="0"/>
          </a:p>
        </p:txBody>
      </p:sp>
      <p:sp>
        <p:nvSpPr>
          <p:cNvPr id="139" name="Shape 137"/>
          <p:cNvSpPr/>
          <p:nvPr/>
        </p:nvSpPr>
        <p:spPr>
          <a:xfrm>
            <a:off x="5413248" y="479602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5522976" y="474573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requester-to-responder validation flow</a:t>
            </a:r>
            <a:endParaRPr lang="en-US" sz="940" dirty="0"/>
          </a:p>
        </p:txBody>
      </p:sp>
      <p:sp>
        <p:nvSpPr>
          <p:cNvPr id="141" name="Shape 139"/>
          <p:cNvSpPr/>
          <p:nvPr/>
        </p:nvSpPr>
        <p:spPr>
          <a:xfrm>
            <a:off x="5413248" y="505206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522976" y="500176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outcomes: Match, Close Match, No Match, Unable to Validate, 400 Error</a:t>
            </a:r>
            <a:endParaRPr lang="en-US" sz="940" dirty="0"/>
          </a:p>
        </p:txBody>
      </p:sp>
      <p:sp>
        <p:nvSpPr>
          <p:cNvPr id="143" name="Shape 141"/>
          <p:cNvSpPr/>
          <p:nvPr/>
        </p:nvSpPr>
        <p:spPr>
          <a:xfrm>
            <a:off x="8375904" y="1426464"/>
            <a:ext cx="3767328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85632" y="1536192"/>
            <a:ext cx="841248" cy="1042416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604504" y="1691640"/>
            <a:ext cx="555224" cy="479511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677656" y="1911096"/>
            <a:ext cx="91440" cy="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8769096" y="1911096"/>
            <a:ext cx="64008" cy="-109728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48" name="Shape 146"/>
          <p:cNvSpPr/>
          <p:nvPr/>
        </p:nvSpPr>
        <p:spPr>
          <a:xfrm>
            <a:off x="8833104" y="1801368"/>
            <a:ext cx="73152" cy="22860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49" name="Shape 147"/>
          <p:cNvSpPr/>
          <p:nvPr/>
        </p:nvSpPr>
        <p:spPr>
          <a:xfrm>
            <a:off x="8906256" y="2029968"/>
            <a:ext cx="73152" cy="-128016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50" name="Shape 148"/>
          <p:cNvSpPr/>
          <p:nvPr/>
        </p:nvSpPr>
        <p:spPr>
          <a:xfrm>
            <a:off x="8979408" y="1901952"/>
            <a:ext cx="109728" cy="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51" name="Shape 149"/>
          <p:cNvSpPr/>
          <p:nvPr/>
        </p:nvSpPr>
        <p:spPr>
          <a:xfrm>
            <a:off x="8906256" y="2112264"/>
            <a:ext cx="0" cy="118872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52" name="Shape 150"/>
          <p:cNvSpPr/>
          <p:nvPr/>
        </p:nvSpPr>
        <p:spPr>
          <a:xfrm>
            <a:off x="8796528" y="2231136"/>
            <a:ext cx="219456" cy="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53" name="Shape 151"/>
          <p:cNvSpPr/>
          <p:nvPr/>
        </p:nvSpPr>
        <p:spPr>
          <a:xfrm>
            <a:off x="9098280" y="2075688"/>
            <a:ext cx="118872" cy="11887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10800000">
            <a:off x="9079992" y="2039112"/>
            <a:ext cx="155448" cy="146304"/>
          </a:xfrm>
          <a:prstGeom prst="triangl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363456" y="1499616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9454896" y="1499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Watchdog Monitoring</a:t>
            </a:r>
            <a:endParaRPr lang="en-US" sz="1240" dirty="0"/>
          </a:p>
        </p:txBody>
      </p:sp>
      <p:sp>
        <p:nvSpPr>
          <p:cNvPr id="157" name="Shape 155"/>
          <p:cNvSpPr/>
          <p:nvPr/>
        </p:nvSpPr>
        <p:spPr>
          <a:xfrm>
            <a:off x="9473184" y="186994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9582912" y="181965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job monitoring across 24+ capsules</a:t>
            </a:r>
            <a:endParaRPr lang="en-US" sz="990" dirty="0"/>
          </a:p>
        </p:txBody>
      </p:sp>
      <p:sp>
        <p:nvSpPr>
          <p:cNvPr id="159" name="Shape 157"/>
          <p:cNvSpPr/>
          <p:nvPr/>
        </p:nvSpPr>
        <p:spPr>
          <a:xfrm>
            <a:off x="9473184" y="205282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9582912" y="200253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Flink job health checks and exception capture</a:t>
            </a:r>
            <a:endParaRPr lang="en-US" sz="990" dirty="0"/>
          </a:p>
        </p:txBody>
      </p:sp>
      <p:sp>
        <p:nvSpPr>
          <p:cNvPr id="161" name="Shape 159"/>
          <p:cNvSpPr/>
          <p:nvPr/>
        </p:nvSpPr>
        <p:spPr>
          <a:xfrm>
            <a:off x="8375904" y="2779776"/>
            <a:ext cx="376732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485632" y="2889504"/>
            <a:ext cx="841248" cy="1261872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641080" y="3026664"/>
            <a:ext cx="386974" cy="782361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05088" y="3163824"/>
            <a:ext cx="201900" cy="0"/>
          </a:xfrm>
          <a:prstGeom prst="line">
            <a:avLst/>
          </a:prstGeom>
          <a:noFill/>
          <a:ln w="2032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8705088" y="3264408"/>
            <a:ext cx="151425" cy="0"/>
          </a:xfrm>
          <a:prstGeom prst="line">
            <a:avLst/>
          </a:prstGeom>
          <a:noFill/>
          <a:ln w="2032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8705088" y="3364992"/>
            <a:ext cx="126187" cy="0"/>
          </a:xfrm>
          <a:prstGeom prst="line">
            <a:avLst/>
          </a:prstGeom>
          <a:noFill/>
          <a:ln w="2032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8988552" y="3337560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116568" y="3474720"/>
            <a:ext cx="118872" cy="118872"/>
          </a:xfrm>
          <a:prstGeom prst="line">
            <a:avLst/>
          </a:prstGeom>
          <a:noFill/>
          <a:ln w="381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9363456" y="2852928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9454896" y="28529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&amp; API Validation</a:t>
            </a:r>
            <a:endParaRPr lang="en-US" sz="1240" dirty="0"/>
          </a:p>
        </p:txBody>
      </p:sp>
      <p:sp>
        <p:nvSpPr>
          <p:cNvPr id="171" name="Shape 169"/>
          <p:cNvSpPr/>
          <p:nvPr/>
        </p:nvSpPr>
        <p:spPr>
          <a:xfrm>
            <a:off x="9473184" y="3223260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9582912" y="317296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ID validation across Flink, Backend, API, and UI</a:t>
            </a:r>
            <a:endParaRPr lang="en-US" sz="930" dirty="0"/>
          </a:p>
        </p:txBody>
      </p:sp>
      <p:sp>
        <p:nvSpPr>
          <p:cNvPr id="173" name="Shape 171"/>
          <p:cNvSpPr/>
          <p:nvPr/>
        </p:nvSpPr>
        <p:spPr>
          <a:xfrm>
            <a:off x="9473184" y="3479292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9582912" y="3429000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status checks for latestMacroStatus, notificationStatus, and blockingError</a:t>
            </a:r>
            <a:endParaRPr lang="en-US" sz="930" dirty="0"/>
          </a:p>
        </p:txBody>
      </p:sp>
      <p:sp>
        <p:nvSpPr>
          <p:cNvPr id="175" name="Shape 173"/>
          <p:cNvSpPr/>
          <p:nvPr/>
        </p:nvSpPr>
        <p:spPr>
          <a:xfrm>
            <a:off x="9473184" y="3735324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9582912" y="3685032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for PSP team</a:t>
            </a:r>
            <a:endParaRPr lang="en-US" sz="930" dirty="0"/>
          </a:p>
        </p:txBody>
      </p:sp>
      <p:sp>
        <p:nvSpPr>
          <p:cNvPr id="177" name="Shape 175"/>
          <p:cNvSpPr/>
          <p:nvPr/>
        </p:nvSpPr>
        <p:spPr>
          <a:xfrm>
            <a:off x="8375904" y="4352544"/>
            <a:ext cx="376732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0160">
            <a:solidFill>
              <a:srgbClr val="C8E7D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485632" y="4462272"/>
            <a:ext cx="841248" cy="950976"/>
          </a:xfrm>
          <a:prstGeom prst="roundRect">
            <a:avLst>
              <a:gd name="adj" fmla="val 543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668512" y="4636008"/>
            <a:ext cx="128016" cy="128016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869680" y="4590288"/>
            <a:ext cx="146304" cy="146304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098280" y="4636008"/>
            <a:ext cx="128016" cy="128016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595360" y="4791456"/>
            <a:ext cx="219456" cy="201168"/>
          </a:xfrm>
          <a:prstGeom prst="roundRect">
            <a:avLst>
              <a:gd name="adj" fmla="val 36364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796528" y="4754880"/>
            <a:ext cx="274320" cy="237744"/>
          </a:xfrm>
          <a:prstGeom prst="roundRect">
            <a:avLst>
              <a:gd name="adj" fmla="val 30769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052560" y="4791456"/>
            <a:ext cx="219456" cy="201168"/>
          </a:xfrm>
          <a:prstGeom prst="roundRect">
            <a:avLst>
              <a:gd name="adj" fmla="val 36364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31493" y="4994819"/>
            <a:ext cx="201900" cy="201900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363456" y="4425696"/>
            <a:ext cx="2688336" cy="27432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9454896" y="44256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Triage Governance</a:t>
            </a:r>
            <a:endParaRPr lang="en-US" sz="1240" dirty="0"/>
          </a:p>
        </p:txBody>
      </p:sp>
      <p:sp>
        <p:nvSpPr>
          <p:cNvPr id="188" name="Shape 186"/>
          <p:cNvSpPr/>
          <p:nvPr/>
        </p:nvSpPr>
        <p:spPr>
          <a:xfrm>
            <a:off x="9473184" y="479602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9582912" y="474573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review with BA, Scrum Master, and QA</a:t>
            </a:r>
            <a:endParaRPr lang="en-US" sz="920" dirty="0"/>
          </a:p>
        </p:txBody>
      </p:sp>
      <p:sp>
        <p:nvSpPr>
          <p:cNvPr id="190" name="Shape 188"/>
          <p:cNvSpPr/>
          <p:nvPr/>
        </p:nvSpPr>
        <p:spPr>
          <a:xfrm>
            <a:off x="9473184" y="497890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9582912" y="492861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and priority driven refinement</a:t>
            </a:r>
            <a:endParaRPr lang="en-US" sz="920" dirty="0"/>
          </a:p>
        </p:txBody>
      </p:sp>
      <p:sp>
        <p:nvSpPr>
          <p:cNvPr id="192" name="Shape 190"/>
          <p:cNvSpPr/>
          <p:nvPr/>
        </p:nvSpPr>
        <p:spPr>
          <a:xfrm>
            <a:off x="9473184" y="5161788"/>
            <a:ext cx="50292" cy="50292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9582912" y="511149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resolution and smoother delivery flow</a:t>
            </a:r>
            <a:endParaRPr lang="en-US" sz="920" dirty="0"/>
          </a:p>
        </p:txBody>
      </p:sp>
      <p:sp>
        <p:nvSpPr>
          <p:cNvPr id="194" name="Shape 192"/>
          <p:cNvSpPr/>
          <p:nvPr/>
        </p:nvSpPr>
        <p:spPr>
          <a:xfrm>
            <a:off x="164592" y="5742432"/>
            <a:ext cx="11859768" cy="694944"/>
          </a:xfrm>
          <a:prstGeom prst="roundRect">
            <a:avLst>
              <a:gd name="adj" fmla="val 10526"/>
            </a:avLst>
          </a:prstGeom>
          <a:solidFill>
            <a:srgbClr val="F3FBF7"/>
          </a:solidFill>
          <a:ln w="7620">
            <a:solidFill>
              <a:srgbClr val="C8E7D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47472" y="5925312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02336" y="5980176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06A4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02920" y="6044184"/>
            <a:ext cx="137160" cy="-128016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198" name="Shape 196"/>
          <p:cNvSpPr/>
          <p:nvPr/>
        </p:nvSpPr>
        <p:spPr>
          <a:xfrm rot="-2700000">
            <a:off x="585216" y="5888736"/>
            <a:ext cx="91440" cy="91440"/>
          </a:xfrm>
          <a:prstGeom prst="chevron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731520" y="5824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750" dirty="0"/>
          </a:p>
        </p:txBody>
      </p:sp>
      <p:sp>
        <p:nvSpPr>
          <p:cNvPr id="200" name="Text 198"/>
          <p:cNvSpPr txBox="1"/>
          <p:nvPr/>
        </p:nvSpPr>
        <p:spPr>
          <a:xfrm>
            <a:off x="731520" y="609904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Coverage</a:t>
            </a:r>
            <a:endParaRPr lang="en-US" sz="960" dirty="0"/>
          </a:p>
        </p:txBody>
      </p:sp>
      <p:sp>
        <p:nvSpPr>
          <p:cNvPr id="201" name="Shape 199"/>
          <p:cNvSpPr/>
          <p:nvPr/>
        </p:nvSpPr>
        <p:spPr>
          <a:xfrm>
            <a:off x="2039112" y="5888736"/>
            <a:ext cx="0" cy="438912"/>
          </a:xfrm>
          <a:prstGeom prst="line">
            <a:avLst/>
          </a:prstGeom>
          <a:noFill/>
          <a:ln w="10160">
            <a:solidFill>
              <a:srgbClr val="008A64"/>
            </a:solidFill>
            <a:prstDash val="solid"/>
            <a:headEnd type="none"/>
            <a:tailEnd type="none"/>
          </a:ln>
        </p:spPr>
      </p:sp>
      <p:sp>
        <p:nvSpPr>
          <p:cNvPr id="202" name="Shape 200"/>
          <p:cNvSpPr/>
          <p:nvPr/>
        </p:nvSpPr>
        <p:spPr>
          <a:xfrm>
            <a:off x="2130552" y="5925312"/>
            <a:ext cx="246888" cy="310896"/>
          </a:xfrm>
          <a:prstGeom prst="can">
            <a:avLst/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2514600" y="582472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1750" dirty="0"/>
          </a:p>
        </p:txBody>
      </p:sp>
      <p:sp>
        <p:nvSpPr>
          <p:cNvPr id="204" name="Text 202"/>
          <p:cNvSpPr txBox="1"/>
          <p:nvPr/>
        </p:nvSpPr>
        <p:spPr>
          <a:xfrm>
            <a:off x="2514600" y="6099048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/ 20 Min</a:t>
            </a:r>
            <a:endParaRPr lang="en-US" sz="960" dirty="0"/>
          </a:p>
        </p:txBody>
      </p:sp>
      <p:sp>
        <p:nvSpPr>
          <p:cNvPr id="205" name="Shape 203"/>
          <p:cNvSpPr/>
          <p:nvPr/>
        </p:nvSpPr>
        <p:spPr>
          <a:xfrm>
            <a:off x="3877056" y="5888736"/>
            <a:ext cx="0" cy="438912"/>
          </a:xfrm>
          <a:prstGeom prst="line">
            <a:avLst/>
          </a:prstGeom>
          <a:noFill/>
          <a:ln w="10160">
            <a:solidFill>
              <a:srgbClr val="008A64"/>
            </a:solidFill>
            <a:prstDash val="solid"/>
            <a:headEnd type="none"/>
            <a:tailEnd type="none"/>
          </a:ln>
        </p:spPr>
      </p:sp>
      <p:sp>
        <p:nvSpPr>
          <p:cNvPr id="206" name="Shape 204"/>
          <p:cNvSpPr/>
          <p:nvPr/>
        </p:nvSpPr>
        <p:spPr>
          <a:xfrm>
            <a:off x="3968496" y="5925312"/>
            <a:ext cx="246888" cy="3108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1590">
            <a:solidFill>
              <a:srgbClr val="006A4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014216" y="6016752"/>
            <a:ext cx="137160" cy="0"/>
          </a:xfrm>
          <a:prstGeom prst="line">
            <a:avLst/>
          </a:prstGeom>
          <a:noFill/>
          <a:ln w="1778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208" name="Shape 206"/>
          <p:cNvSpPr/>
          <p:nvPr/>
        </p:nvSpPr>
        <p:spPr>
          <a:xfrm>
            <a:off x="4014216" y="6089904"/>
            <a:ext cx="109728" cy="0"/>
          </a:xfrm>
          <a:prstGeom prst="line">
            <a:avLst/>
          </a:prstGeom>
          <a:noFill/>
          <a:ln w="1778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4014216" y="6163056"/>
            <a:ext cx="91440" cy="0"/>
          </a:xfrm>
          <a:prstGeom prst="line">
            <a:avLst/>
          </a:prstGeom>
          <a:noFill/>
          <a:ln w="1778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210" name="Text 208"/>
          <p:cNvSpPr txBox="1"/>
          <p:nvPr/>
        </p:nvSpPr>
        <p:spPr>
          <a:xfrm>
            <a:off x="4352544" y="5824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605+</a:t>
            </a:r>
            <a:endParaRPr lang="en-US" sz="1750" dirty="0"/>
          </a:p>
        </p:txBody>
      </p:sp>
      <p:sp>
        <p:nvSpPr>
          <p:cNvPr id="211" name="Text 209"/>
          <p:cNvSpPr txBox="1"/>
          <p:nvPr/>
        </p:nvSpPr>
        <p:spPr>
          <a:xfrm>
            <a:off x="4352544" y="6099048"/>
            <a:ext cx="1316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Tests</a:t>
            </a:r>
            <a:endParaRPr lang="en-US" sz="960" dirty="0"/>
          </a:p>
        </p:txBody>
      </p:sp>
      <p:sp>
        <p:nvSpPr>
          <p:cNvPr id="212" name="Shape 210"/>
          <p:cNvSpPr/>
          <p:nvPr/>
        </p:nvSpPr>
        <p:spPr>
          <a:xfrm>
            <a:off x="5696712" y="5888736"/>
            <a:ext cx="0" cy="438912"/>
          </a:xfrm>
          <a:prstGeom prst="line">
            <a:avLst/>
          </a:prstGeom>
          <a:noFill/>
          <a:ln w="10160">
            <a:solidFill>
              <a:srgbClr val="008A64"/>
            </a:solidFill>
            <a:prstDash val="solid"/>
            <a:headEnd type="none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5806440" y="5925312"/>
            <a:ext cx="283464" cy="283464"/>
          </a:xfrm>
          <a:prstGeom prst="gear6">
            <a:avLst/>
          </a:prstGeom>
          <a:solidFill>
            <a:srgbClr val="FFFFFF"/>
          </a:solidFill>
          <a:ln w="21590">
            <a:solidFill>
              <a:srgbClr val="006A4E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6190488" y="58247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525</a:t>
            </a:r>
            <a:endParaRPr lang="en-US" sz="1750" dirty="0"/>
          </a:p>
        </p:txBody>
      </p:sp>
      <p:sp>
        <p:nvSpPr>
          <p:cNvPr id="215" name="Text 213"/>
          <p:cNvSpPr txBox="1"/>
          <p:nvPr/>
        </p:nvSpPr>
        <p:spPr>
          <a:xfrm>
            <a:off x="6190488" y="6099048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Tests</a:t>
            </a:r>
            <a:endParaRPr lang="en-US" sz="960" dirty="0"/>
          </a:p>
        </p:txBody>
      </p:sp>
      <p:sp>
        <p:nvSpPr>
          <p:cNvPr id="216" name="Shape 214"/>
          <p:cNvSpPr/>
          <p:nvPr/>
        </p:nvSpPr>
        <p:spPr>
          <a:xfrm>
            <a:off x="7424928" y="5888736"/>
            <a:ext cx="0" cy="438912"/>
          </a:xfrm>
          <a:prstGeom prst="line">
            <a:avLst/>
          </a:prstGeom>
          <a:noFill/>
          <a:ln w="10160">
            <a:solidFill>
              <a:srgbClr val="008A64"/>
            </a:solidFill>
            <a:prstDash val="solid"/>
            <a:headEnd type="none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7580376" y="5943600"/>
            <a:ext cx="237744" cy="237744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006A4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589520" y="6163056"/>
            <a:ext cx="219456" cy="0"/>
          </a:xfrm>
          <a:prstGeom prst="line">
            <a:avLst/>
          </a:prstGeom>
          <a:noFill/>
          <a:ln w="25400">
            <a:solidFill>
              <a:srgbClr val="006A4E"/>
            </a:solidFill>
            <a:prstDash val="solid"/>
            <a:headEnd type="none"/>
            <a:tailEnd type="none"/>
          </a:ln>
        </p:spPr>
      </p:sp>
      <p:sp>
        <p:nvSpPr>
          <p:cNvPr id="219" name="Shape 217"/>
          <p:cNvSpPr/>
          <p:nvPr/>
        </p:nvSpPr>
        <p:spPr>
          <a:xfrm>
            <a:off x="7676388" y="6181344"/>
            <a:ext cx="45720" cy="45720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7936992" y="5824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24+</a:t>
            </a:r>
            <a:endParaRPr lang="en-US" sz="1750" dirty="0"/>
          </a:p>
        </p:txBody>
      </p:sp>
      <p:sp>
        <p:nvSpPr>
          <p:cNvPr id="221" name="Text 219"/>
          <p:cNvSpPr txBox="1"/>
          <p:nvPr/>
        </p:nvSpPr>
        <p:spPr>
          <a:xfrm>
            <a:off x="7936992" y="6099048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Capsules</a:t>
            </a:r>
            <a:endParaRPr lang="en-US" sz="960" dirty="0"/>
          </a:p>
        </p:txBody>
      </p:sp>
      <p:sp>
        <p:nvSpPr>
          <p:cNvPr id="222" name="Shape 220"/>
          <p:cNvSpPr/>
          <p:nvPr/>
        </p:nvSpPr>
        <p:spPr>
          <a:xfrm>
            <a:off x="9125712" y="5815584"/>
            <a:ext cx="2761488" cy="548640"/>
          </a:xfrm>
          <a:prstGeom prst="roundRect">
            <a:avLst>
              <a:gd name="adj" fmla="val 13333"/>
            </a:avLst>
          </a:prstGeom>
          <a:solidFill>
            <a:srgbClr val="E0F3E9"/>
          </a:solidFill>
          <a:ln w="12700">
            <a:solidFill>
              <a:srgbClr val="E0F3E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272016" y="5907024"/>
            <a:ext cx="182880" cy="182880"/>
          </a:xfrm>
          <a:prstGeom prst="ellipse">
            <a:avLst/>
          </a:prstGeom>
          <a:solidFill>
            <a:srgbClr val="73C69F"/>
          </a:solidFill>
          <a:ln w="12700">
            <a:solidFill>
              <a:srgbClr val="73C69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322308" y="6080760"/>
            <a:ext cx="82296" cy="82296"/>
          </a:xfrm>
          <a:prstGeom prst="roundRect">
            <a:avLst>
              <a:gd name="adj" fmla="val 11111"/>
            </a:avLst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9601200" y="586130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006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</a:t>
            </a:r>
            <a:endParaRPr lang="en-US" sz="1040" dirty="0"/>
          </a:p>
        </p:txBody>
      </p:sp>
      <p:sp>
        <p:nvSpPr>
          <p:cNvPr id="226" name="Text 224"/>
          <p:cNvSpPr txBox="1"/>
          <p:nvPr/>
        </p:nvSpPr>
        <p:spPr>
          <a:xfrm>
            <a:off x="10204704" y="583387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defect detection, reduced manual effort, improved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F3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stability, and faster release cycles.</a:t>
            </a:r>
            <a:endParaRPr lang="en-US" sz="930" dirty="0"/>
          </a:p>
        </p:txBody>
      </p:sp>
      <p:sp>
        <p:nvSpPr>
          <p:cNvPr id="227" name="Shape 225"/>
          <p:cNvSpPr/>
          <p:nvPr/>
        </p:nvSpPr>
        <p:spPr>
          <a:xfrm>
            <a:off x="182880" y="6419088"/>
            <a:ext cx="274320" cy="274320"/>
          </a:xfrm>
          <a:prstGeom prst="rect">
            <a:avLst/>
          </a:prstGeom>
          <a:solidFill>
            <a:srgbClr val="008A64"/>
          </a:solidFill>
          <a:ln w="12700">
            <a:solidFill>
              <a:srgbClr val="008A6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24028" y="6441948"/>
            <a:ext cx="64008" cy="64008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33756" y="6478524"/>
            <a:ext cx="54864" cy="54864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60604" y="6533388"/>
            <a:ext cx="54864" cy="54864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512064" y="64373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BNP PARIBAS</a:t>
            </a:r>
            <a:endParaRPr lang="en-US" sz="1130" dirty="0"/>
          </a:p>
        </p:txBody>
      </p:sp>
      <p:sp>
        <p:nvSpPr>
          <p:cNvPr id="232" name="Shape 230"/>
          <p:cNvSpPr/>
          <p:nvPr/>
        </p:nvSpPr>
        <p:spPr>
          <a:xfrm>
            <a:off x="1600200" y="6556248"/>
            <a:ext cx="8321040" cy="0"/>
          </a:xfrm>
          <a:prstGeom prst="line">
            <a:avLst/>
          </a:prstGeom>
          <a:noFill/>
          <a:ln w="8890">
            <a:solidFill>
              <a:srgbClr val="90989F"/>
            </a:solidFill>
            <a:prstDash val="solid"/>
            <a:headEnd type="none"/>
            <a:tailEnd type="none"/>
          </a:ln>
        </p:spPr>
      </p:sp>
      <p:sp>
        <p:nvSpPr>
          <p:cNvPr id="233" name="Text 231"/>
          <p:cNvSpPr txBox="1"/>
          <p:nvPr/>
        </p:nvSpPr>
        <p:spPr>
          <a:xfrm>
            <a:off x="10104120" y="6437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bank for a changing world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9784080" cy="34747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2500" b="1">
                <a:solidFill>
                  <a:srgbClr val="0F3528"/>
                </a:solidFill>
                <a:latin typeface="Arial"/>
              </a:rPr>
              <a:t>S4TP–BMSA Test Automation Excellence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8686800" cy="201168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250" b="0">
                <a:solidFill>
                  <a:srgbClr val="5A6E78"/>
                </a:solidFill>
                <a:latin typeface="Arial"/>
              </a:rPr>
              <a:t>Unified automation, validation, monitoring, and quality governance across the payment platform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10149840" y="146304"/>
            <a:ext cx="128016" cy="256032"/>
          </a:xfrm>
          <a:prstGeom prst="parallelogram">
            <a:avLst/>
          </a:prstGeom>
          <a:solidFill>
            <a:srgbClr val="7BC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259567" y="146304"/>
            <a:ext cx="128016" cy="256032"/>
          </a:xfrm>
          <a:prstGeom prst="parallelogram">
            <a:avLst/>
          </a:prstGeom>
          <a:solidFill>
            <a:srgbClr val="7BC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0369296" y="146304"/>
            <a:ext cx="128016" cy="256032"/>
          </a:xfrm>
          <a:prstGeom prst="parallelogram">
            <a:avLst/>
          </a:prstGeom>
          <a:solidFill>
            <a:srgbClr val="7BC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2880" y="713232"/>
            <a:ext cx="11658600" cy="0"/>
          </a:xfrm>
          <a:prstGeom prst="line">
            <a:avLst/>
          </a:prstGeom>
          <a:ln w="15240">
            <a:solidFill>
              <a:srgbClr val="6BB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6304" y="822960"/>
            <a:ext cx="38862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6512" y="822960"/>
            <a:ext cx="38862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28431" y="822960"/>
            <a:ext cx="3986784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" y="822960"/>
            <a:ext cx="3886200" cy="411480"/>
          </a:xfrm>
          <a:prstGeom prst="roundRect">
            <a:avLst>
              <a:gd name="adj" fmla="val 12000"/>
            </a:avLst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" y="868680"/>
            <a:ext cx="411480" cy="32004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841248"/>
            <a:ext cx="3401568" cy="25603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Automation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069848"/>
            <a:ext cx="3401568" cy="14630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Robust framework to simulate real payment scenarios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822960"/>
            <a:ext cx="3886200" cy="411480"/>
          </a:xfrm>
          <a:prstGeom prst="roundRect">
            <a:avLst>
              <a:gd name="adj" fmla="val 12000"/>
            </a:avLst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4" y="868680"/>
            <a:ext cx="411480" cy="32004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841248"/>
            <a:ext cx="3401568" cy="25603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Coverage &amp; Enhancements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1069848"/>
            <a:ext cx="3401568" cy="14630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Higher coverage, smarter insights, stronger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822960"/>
            <a:ext cx="3986784" cy="411480"/>
          </a:xfrm>
          <a:prstGeom prst="roundRect">
            <a:avLst>
              <a:gd name="adj" fmla="val 12000"/>
            </a:avLst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3" y="868680"/>
            <a:ext cx="411480" cy="32004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841248"/>
            <a:ext cx="3502152" cy="25603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Monitoring, Validation &amp;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069848"/>
            <a:ext cx="3502152" cy="14630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Proactive monitoring, data integrity, and continuous quality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1417320"/>
            <a:ext cx="457200" cy="457200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1508760"/>
            <a:ext cx="45720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600" b="1">
                <a:solidFill>
                  <a:srgbClr val="007A53"/>
                </a:solidFill>
                <a:latin typeface="Arial"/>
              </a:rPr>
              <a:t>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1874520"/>
            <a:ext cx="512064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19" b="1">
                <a:solidFill>
                  <a:srgbClr val="202020"/>
                </a:solidFill>
                <a:latin typeface="Arial"/>
              </a:rPr>
              <a:t>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1490472"/>
            <a:ext cx="16459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800" b="1">
                <a:solidFill>
                  <a:srgbClr val="007A53"/>
                </a:solidFill>
                <a:latin typeface="Arial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298448" y="1417320"/>
            <a:ext cx="457200" cy="457200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1508760"/>
            <a:ext cx="45720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600" b="1">
                <a:solidFill>
                  <a:srgbClr val="007A53"/>
                </a:solidFill>
                <a:latin typeface="Arial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" y="1874520"/>
            <a:ext cx="512064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19" b="1">
                <a:solidFill>
                  <a:srgbClr val="202020"/>
                </a:solidFill>
                <a:latin typeface="Arial"/>
              </a:rPr>
              <a:t>Flink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1490472"/>
            <a:ext cx="16459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800" b="1">
                <a:solidFill>
                  <a:srgbClr val="007A53"/>
                </a:solidFill>
                <a:latin typeface="Arial"/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2084831" y="1417320"/>
            <a:ext cx="457200" cy="457200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84831" y="1508760"/>
            <a:ext cx="45720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600" b="1">
                <a:solidFill>
                  <a:srgbClr val="007A53"/>
                </a:solidFill>
                <a:latin typeface="Arial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399" y="1874520"/>
            <a:ext cx="512064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19" b="1">
                <a:solidFill>
                  <a:srgbClr val="202020"/>
                </a:solidFill>
                <a:latin typeface="Arial"/>
              </a:rPr>
              <a:t>Elastic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9463" y="1490472"/>
            <a:ext cx="16459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800" b="1">
                <a:solidFill>
                  <a:srgbClr val="007A53"/>
                </a:solidFill>
                <a:latin typeface="Arial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2889504" y="1417320"/>
            <a:ext cx="457200" cy="457200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9504" y="1508760"/>
            <a:ext cx="45720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600" b="1">
                <a:solidFill>
                  <a:srgbClr val="007A53"/>
                </a:solidFill>
                <a:latin typeface="Arial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62072" y="1874520"/>
            <a:ext cx="512064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19" b="1">
                <a:solidFill>
                  <a:srgbClr val="202020"/>
                </a:solidFill>
                <a:latin typeface="Arial"/>
              </a:rPr>
              <a:t>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4136" y="1490472"/>
            <a:ext cx="16459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800" b="1">
                <a:solidFill>
                  <a:srgbClr val="007A53"/>
                </a:solidFill>
                <a:latin typeface="Arial"/>
              </a:rPr>
              <a:t>→</a:t>
            </a:r>
          </a:p>
        </p:txBody>
      </p:sp>
      <p:sp>
        <p:nvSpPr>
          <p:cNvPr id="39" name="Oval 38"/>
          <p:cNvSpPr/>
          <p:nvPr/>
        </p:nvSpPr>
        <p:spPr>
          <a:xfrm>
            <a:off x="3611880" y="1417320"/>
            <a:ext cx="457200" cy="457200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1508760"/>
            <a:ext cx="45720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600" b="1">
                <a:solidFill>
                  <a:srgbClr val="007A53"/>
                </a:solidFill>
                <a:latin typeface="Arial"/>
              </a:rPr>
              <a:t>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1874520"/>
            <a:ext cx="512064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19" b="1">
                <a:solidFill>
                  <a:srgbClr val="202020"/>
                </a:solidFill>
                <a:latin typeface="Arial"/>
              </a:rPr>
              <a:t>UI</a:t>
            </a:r>
          </a:p>
        </p:txBody>
      </p:sp>
      <p:sp>
        <p:nvSpPr>
          <p:cNvPr id="42" name="Oval 41"/>
          <p:cNvSpPr/>
          <p:nvPr/>
        </p:nvSpPr>
        <p:spPr>
          <a:xfrm>
            <a:off x="256032" y="2066544"/>
            <a:ext cx="347472" cy="347472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2103120"/>
            <a:ext cx="347472" cy="12801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300" b="1">
                <a:solidFill>
                  <a:srgbClr val="007A53"/>
                </a:solidFill>
                <a:latin typeface="Arial"/>
              </a:rPr>
              <a:t>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2057400"/>
            <a:ext cx="3227832" cy="40233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0">
                <a:solidFill>
                  <a:srgbClr val="202020"/>
                </a:solidFill>
                <a:latin typeface="Arial"/>
              </a:rPr>
              <a:t>End-to-end framework covering
Kafka → Flink → Elasticsearch → API → UI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83464" y="2532887"/>
            <a:ext cx="3611880" cy="0"/>
          </a:xfrm>
          <a:prstGeom prst="line">
            <a:avLst/>
          </a:prstGeom>
          <a:ln w="10160">
            <a:solidFill>
              <a:srgbClr val="C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56032" y="2587751"/>
            <a:ext cx="347472" cy="347472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" y="2624327"/>
            <a:ext cx="347472" cy="12801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300" b="1">
                <a:solidFill>
                  <a:srgbClr val="007A53"/>
                </a:solidFill>
                <a:latin typeface="Arial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2578607"/>
            <a:ext cx="3227832" cy="40233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0">
                <a:solidFill>
                  <a:srgbClr val="202020"/>
                </a:solidFill>
                <a:latin typeface="Arial"/>
              </a:rPr>
              <a:t>Data Injection Framework for complex
payment scenarios with accurate time validation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83464" y="3054094"/>
            <a:ext cx="3611880" cy="0"/>
          </a:xfrm>
          <a:prstGeom prst="line">
            <a:avLst/>
          </a:prstGeom>
          <a:ln w="10160">
            <a:solidFill>
              <a:srgbClr val="C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56032" y="3108958"/>
            <a:ext cx="347472" cy="347472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" y="3145534"/>
            <a:ext cx="347472" cy="12801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300" b="1">
                <a:solidFill>
                  <a:srgbClr val="007A53"/>
                </a:solidFill>
                <a:latin typeface="Arial"/>
              </a:rPr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3099814"/>
            <a:ext cx="3227832" cy="40233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0">
                <a:solidFill>
                  <a:srgbClr val="202020"/>
                </a:solidFill>
                <a:latin typeface="Arial"/>
              </a:rPr>
              <a:t>Parameterized event generation across
diverse cash capsules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83464" y="3575301"/>
            <a:ext cx="3611880" cy="0"/>
          </a:xfrm>
          <a:prstGeom prst="line">
            <a:avLst/>
          </a:prstGeom>
          <a:ln w="10160">
            <a:solidFill>
              <a:srgbClr val="C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56032" y="3630165"/>
            <a:ext cx="347472" cy="347472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3666741"/>
            <a:ext cx="347472" cy="12801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300" b="1">
                <a:solidFill>
                  <a:srgbClr val="007A53"/>
                </a:solidFill>
                <a:latin typeface="Arial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3621021"/>
            <a:ext cx="3227832" cy="40233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0">
                <a:solidFill>
                  <a:srgbClr val="202020"/>
                </a:solidFill>
                <a:latin typeface="Arial"/>
              </a:rPr>
              <a:t>Time-sensitive alert testing with
precision delay calculations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83464" y="4096508"/>
            <a:ext cx="3611880" cy="0"/>
          </a:xfrm>
          <a:prstGeom prst="line">
            <a:avLst/>
          </a:prstGeom>
          <a:ln w="10160">
            <a:solidFill>
              <a:srgbClr val="C5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56032" y="4151372"/>
            <a:ext cx="347472" cy="347472"/>
          </a:xfrm>
          <a:prstGeom prst="ellipse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4187948"/>
            <a:ext cx="347472" cy="12801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100" b="1">
                <a:solidFill>
                  <a:srgbClr val="007A53"/>
                </a:solidFill>
                <a:latin typeface="Arial"/>
              </a:rPr>
              <a:t>1M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4142228"/>
            <a:ext cx="3227832" cy="402336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0">
                <a:solidFill>
                  <a:srgbClr val="202020"/>
                </a:solidFill>
                <a:latin typeface="Arial"/>
              </a:rPr>
              <a:t>Validated 1 million unique events
in 20 minutes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60520" y="1344168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270248" y="1453896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70248" y="1453896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74920" y="1453896"/>
            <a:ext cx="2724911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Regression Enhancement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4920" y="1819656"/>
            <a:ext cx="2724911" cy="256032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605+ test cases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AI-assisted reporting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Detailed error analysis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AI fix suggestions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60520" y="2185416"/>
            <a:ext cx="3749039" cy="658368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270248" y="2295144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70248" y="2295144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74920" y="2295144"/>
            <a:ext cx="2724911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Data Integrity Validation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74920" y="2660904"/>
            <a:ext cx="2724911" cy="109728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Detects accidental deletion</a:t>
            </a:r>
            <a:br/>
            <a:r>
              <a:t>of reference tables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60520" y="2880360"/>
            <a:ext cx="3749039" cy="932688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270248" y="2990088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70248" y="2990088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74920" y="2990088"/>
            <a:ext cx="2724911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Smoke Enhancement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74920" y="3355848"/>
            <a:ext cx="2724911" cy="384048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348 API tests across 15 capsules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177 UI tests across 20 capsules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Daily scheduled runs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Clear pass/fail reporting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60520" y="3849624"/>
            <a:ext cx="3749039" cy="621792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270248" y="3959352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70248" y="3959352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V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74920" y="3959352"/>
            <a:ext cx="2724911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VOP UI/API Automation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74920" y="4325112"/>
            <a:ext cx="2724911" cy="73152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Result categories: Match, Close Match,</a:t>
            </a:r>
            <a:br/>
            <a:r>
              <a:t>No Match, Unable to Validate, 400 Error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60520" y="4507992"/>
            <a:ext cx="3749039" cy="658368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270248" y="4617720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70248" y="4617720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74920" y="4617720"/>
            <a:ext cx="2724911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Additional Enhancements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4920" y="4983480"/>
            <a:ext cx="2724911" cy="109728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Added new scenarios to cash capsules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GET to POST conversion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Enhanced HTML UI report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092439" y="1344168"/>
            <a:ext cx="2148840" cy="804672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202167" y="1453896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02167" y="1453896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W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06839" y="1453896"/>
            <a:ext cx="1124712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Watchdog Monitoring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06839" y="1819656"/>
            <a:ext cx="1124712" cy="256032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For Alert jobs and Flink jobs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Covers 24+ capsules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Captures exception details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92439" y="2185416"/>
            <a:ext cx="2148840" cy="877824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202167" y="2295144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02167" y="2295144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06839" y="2295144"/>
            <a:ext cx="1124712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Product ID Validation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06839" y="2660904"/>
            <a:ext cx="1124712" cy="329184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Across Flink, Backend, API, and UI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Ensures synchronized product data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092439" y="3099816"/>
            <a:ext cx="2148840" cy="877824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202167" y="3209544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02167" y="3209544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API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6839" y="3209544"/>
            <a:ext cx="1124712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API Status Automation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06839" y="3575304"/>
            <a:ext cx="1124712" cy="329184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Validates latestMacroStatus,</a:t>
            </a:r>
            <a:br/>
            <a:r>
              <a:t>notificationStatus, and blockingError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Used by PSP team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92439" y="4014216"/>
            <a:ext cx="2148840" cy="786384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202167" y="4123944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02167" y="4123944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006839" y="4123944"/>
            <a:ext cx="1124712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Weekly Defect Triage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06839" y="4489704"/>
            <a:ext cx="1124712" cy="237744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With BA, Scrum Master, and QA team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Prioritization and sprint alignment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92439" y="4837176"/>
            <a:ext cx="2148840" cy="658368"/>
          </a:xfrm>
          <a:prstGeom prst="roundRect">
            <a:avLst>
              <a:gd name="adj" fmla="val 12000"/>
            </a:avLst>
          </a:prstGeom>
          <a:solidFill>
            <a:srgbClr val="F7FBF8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202167" y="4946904"/>
            <a:ext cx="731520" cy="59436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02167" y="4946904"/>
            <a:ext cx="731520" cy="59436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2000" b="1">
                <a:solidFill>
                  <a:srgbClr val="007A53"/>
                </a:solidFill>
                <a:latin typeface="Arial"/>
              </a:rPr>
              <a:t>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06839" y="4946904"/>
            <a:ext cx="1124712" cy="32004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29260"/>
          <a:lstStyle/>
          <a:p>
            <a:pPr algn="l"/>
            <a:r>
              <a:rPr sz="1600" b="1">
                <a:solidFill>
                  <a:srgbClr val="007A53"/>
                </a:solidFill>
                <a:latin typeface="Arial"/>
              </a:rPr>
              <a:t>Outcome &amp; Impact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06839" y="5312664"/>
            <a:ext cx="1124712" cy="109728"/>
          </a:xfrm>
          <a:prstGeom prst="rect">
            <a:avLst/>
          </a:prstGeom>
          <a:noFill/>
        </p:spPr>
        <p:txBody>
          <a:bodyPr wrap="square" lIns="45720" rIns="18288" tIns="0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Faster defect resolution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Smoother delivery flow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Reduced manual effort</a:t>
            </a:r>
          </a:p>
          <a:p>
            <a:pPr>
              <a:spcAft>
                <a:spcPts val="0"/>
              </a:spcAft>
              <a:defRPr sz="1150">
                <a:solidFill>
                  <a:srgbClr val="202020"/>
                </a:solidFill>
                <a:latin typeface="Arial"/>
              </a:defRPr>
            </a:pPr>
            <a:r>
              <a:t>Higher stability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387583" y="1481328"/>
            <a:ext cx="1536192" cy="23317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524743" y="1591056"/>
            <a:ext cx="1261872" cy="1261872"/>
          </a:xfrm>
          <a:prstGeom prst="ellipse">
            <a:avLst/>
          </a:prstGeom>
          <a:solidFill>
            <a:srgbClr val="00845C"/>
          </a:solidFill>
          <a:ln>
            <a:solidFill>
              <a:srgbClr val="87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890503" y="1956816"/>
            <a:ext cx="530352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899647" y="2075688"/>
            <a:ext cx="512064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500" b="1">
                <a:solidFill>
                  <a:srgbClr val="007A53"/>
                </a:solidFill>
                <a:latin typeface="Arial"/>
              </a:rPr>
              <a:t>Q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155679" y="1609344"/>
            <a:ext cx="0" cy="59436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10616183" y="2203704"/>
            <a:ext cx="539496" cy="3383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1155679" y="2203704"/>
            <a:ext cx="539496" cy="3383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1000231" y="1664208"/>
            <a:ext cx="36576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Sanity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561319" y="2350008"/>
            <a:ext cx="45720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Smoke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265407" y="2350008"/>
            <a:ext cx="457200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Regression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515599" y="2944368"/>
            <a:ext cx="1280160" cy="7315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43891" bIns="29260"/>
          <a:lstStyle/>
          <a:p>
            <a:pPr algn="l"/>
            <a:r>
              <a:rPr sz="1010" b="0">
                <a:solidFill>
                  <a:srgbClr val="202020"/>
                </a:solidFill>
                <a:latin typeface="Arial"/>
              </a:rPr>
              <a:t>✔  Early issue detection
✔  Faster release cycles
✔  Continuous quality
✔  Stable and resilient
    platform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37160" y="5349240"/>
            <a:ext cx="11841480" cy="603504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016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10896" y="5440680"/>
            <a:ext cx="320040" cy="27432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800" b="1">
                <a:solidFill>
                  <a:srgbClr val="007A53"/>
                </a:solidFill>
                <a:latin typeface="Arial"/>
              </a:rPr>
              <a:t>★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368" y="5413248"/>
            <a:ext cx="685800" cy="32004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220" b="1">
                <a:solidFill>
                  <a:srgbClr val="0F3528"/>
                </a:solidFill>
                <a:latin typeface="Arial"/>
              </a:rPr>
              <a:t>Key
Highlights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755648" y="5422392"/>
            <a:ext cx="0" cy="457200"/>
          </a:xfrm>
          <a:prstGeom prst="line">
            <a:avLst/>
          </a:prstGeom>
          <a:ln>
            <a:solidFill>
              <a:srgbClr val="84B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1920240" y="542239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965960" y="5477256"/>
            <a:ext cx="320040" cy="34747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700" b="1">
                <a:solidFill>
                  <a:srgbClr val="007A53"/>
                </a:solidFill>
                <a:latin typeface="Arial"/>
              </a:rPr>
              <a:t>◉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304288" y="5449824"/>
            <a:ext cx="1216152" cy="23774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2000" b="1">
                <a:solidFill>
                  <a:srgbClr val="007A53"/>
                </a:solidFill>
                <a:latin typeface="Arial"/>
              </a:rPr>
              <a:t>100%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304288" y="5696712"/>
            <a:ext cx="121615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Arial"/>
              </a:rPr>
              <a:t>Workflow Coverage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675888" y="542239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21608" y="5477256"/>
            <a:ext cx="320040" cy="34747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700" b="1">
                <a:solidFill>
                  <a:srgbClr val="007A53"/>
                </a:solidFill>
                <a:latin typeface="Arial"/>
              </a:rPr>
              <a:t>◫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59936" y="5449824"/>
            <a:ext cx="1216152" cy="23774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2000" b="1">
                <a:solidFill>
                  <a:srgbClr val="007A53"/>
                </a:solidFill>
                <a:latin typeface="Arial"/>
              </a:rPr>
              <a:t>1M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59936" y="5696712"/>
            <a:ext cx="121615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Arial"/>
              </a:rPr>
              <a:t>Events / 20 Min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431536" y="542239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477256" y="5477256"/>
            <a:ext cx="320040" cy="34747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700" b="1">
                <a:solidFill>
                  <a:srgbClr val="007A53"/>
                </a:solidFill>
                <a:latin typeface="Arial"/>
              </a:rPr>
              <a:t>☰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15584" y="5449824"/>
            <a:ext cx="1216152" cy="23774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2000" b="1">
                <a:solidFill>
                  <a:srgbClr val="007A53"/>
                </a:solidFill>
                <a:latin typeface="Arial"/>
              </a:rPr>
              <a:t>605+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15584" y="5696712"/>
            <a:ext cx="121615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Arial"/>
              </a:rPr>
              <a:t>Regression Tests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187184" y="542239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232904" y="5477256"/>
            <a:ext cx="320040" cy="34747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700" b="1">
                <a:solidFill>
                  <a:srgbClr val="007A53"/>
                </a:solidFill>
                <a:latin typeface="Arial"/>
              </a:rPr>
              <a:t>▣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71232" y="5449824"/>
            <a:ext cx="1216152" cy="23774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2000" b="1">
                <a:solidFill>
                  <a:srgbClr val="007A53"/>
                </a:solidFill>
                <a:latin typeface="Arial"/>
              </a:rPr>
              <a:t>525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71232" y="5696712"/>
            <a:ext cx="121615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Arial"/>
              </a:rPr>
              <a:t>Smoke Tests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942832" y="542239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5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988552" y="5477256"/>
            <a:ext cx="320040" cy="34747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700" b="1">
                <a:solidFill>
                  <a:srgbClr val="007A53"/>
                </a:solidFill>
                <a:latin typeface="Arial"/>
              </a:rPr>
              <a:t>◍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26880" y="5449824"/>
            <a:ext cx="1216152" cy="237744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2000" b="1">
                <a:solidFill>
                  <a:srgbClr val="007A53"/>
                </a:solidFill>
                <a:latin typeface="Arial"/>
              </a:rPr>
              <a:t>24+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26880" y="5696712"/>
            <a:ext cx="1216152" cy="16459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Arial"/>
              </a:rPr>
              <a:t>Alert Capsules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37160" y="6007608"/>
            <a:ext cx="11841480" cy="384048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0896" y="6044184"/>
            <a:ext cx="201168" cy="18288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600" b="1">
                <a:solidFill>
                  <a:srgbClr val="007A53"/>
                </a:solidFill>
                <a:latin typeface="Arial"/>
              </a:rPr>
              <a:t>⚙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8368" y="6062472"/>
            <a:ext cx="1005840" cy="18288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120" b="1">
                <a:solidFill>
                  <a:srgbClr val="0F3528"/>
                </a:solidFill>
                <a:latin typeface="Arial"/>
              </a:rPr>
              <a:t>Key Capabilities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938528" y="6053328"/>
            <a:ext cx="0" cy="292608"/>
          </a:xfrm>
          <a:prstGeom prst="line">
            <a:avLst/>
          </a:prstGeom>
          <a:ln>
            <a:solidFill>
              <a:srgbClr val="84B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2121408" y="6053328"/>
            <a:ext cx="1965960" cy="265176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157984" y="6071616"/>
            <a:ext cx="228600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400" b="1">
                <a:solidFill>
                  <a:srgbClr val="007A53"/>
                </a:solidFill>
                <a:latin typeface="Arial"/>
              </a:rPr>
              <a:t>AI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404872" y="6071616"/>
            <a:ext cx="1636776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1">
                <a:solidFill>
                  <a:srgbClr val="0F3528"/>
                </a:solidFill>
                <a:latin typeface="Arial"/>
              </a:rPr>
              <a:t>AI Enabled Reporting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251960" y="6053328"/>
            <a:ext cx="2286000" cy="265176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288536" y="6071616"/>
            <a:ext cx="228600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400" b="1">
                <a:solidFill>
                  <a:srgbClr val="007A53"/>
                </a:solidFill>
                <a:latin typeface="Arial"/>
              </a:rPr>
              <a:t>E2E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535424" y="6071616"/>
            <a:ext cx="1956816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1">
                <a:solidFill>
                  <a:srgbClr val="0F3528"/>
                </a:solidFill>
                <a:latin typeface="Arial"/>
              </a:rPr>
              <a:t>One-Click E2E Automation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702552" y="6053328"/>
            <a:ext cx="2240280" cy="265176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739128" y="6071616"/>
            <a:ext cx="228600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400" b="1">
                <a:solidFill>
                  <a:srgbClr val="007A53"/>
                </a:solidFill>
                <a:latin typeface="Arial"/>
              </a:rPr>
              <a:t>AL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86016" y="6071616"/>
            <a:ext cx="1911096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1">
                <a:solidFill>
                  <a:srgbClr val="0F3528"/>
                </a:solidFill>
                <a:latin typeface="Arial"/>
              </a:rPr>
              <a:t>Dynamic Alert Generation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098280" y="6053328"/>
            <a:ext cx="1828800" cy="265176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34856" y="6071616"/>
            <a:ext cx="228600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400" b="1">
                <a:solidFill>
                  <a:srgbClr val="007A53"/>
                </a:solidFill>
                <a:latin typeface="Arial"/>
              </a:rPr>
              <a:t>OC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381744" y="6071616"/>
            <a:ext cx="1499616" cy="228600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030" b="1">
                <a:solidFill>
                  <a:srgbClr val="0F3528"/>
                </a:solidFill>
                <a:latin typeface="Arial"/>
              </a:rPr>
              <a:t>Octane Integration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65176" y="6437376"/>
            <a:ext cx="256032" cy="210312"/>
          </a:xfrm>
          <a:prstGeom prst="rect">
            <a:avLst/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65176" y="6419088"/>
            <a:ext cx="256032" cy="21031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7784" y="6419088"/>
            <a:ext cx="1234440" cy="21031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Arial"/>
              </a:rPr>
              <a:t>BNP PARIBAS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1993392" y="6547104"/>
            <a:ext cx="7059168" cy="0"/>
          </a:xfrm>
          <a:prstGeom prst="line">
            <a:avLst/>
          </a:prstGeom>
          <a:ln w="1270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9930384" y="6437376"/>
            <a:ext cx="1828800" cy="210312"/>
          </a:xfrm>
          <a:prstGeom prst="rect">
            <a:avLst/>
          </a:prstGeom>
          <a:noFill/>
        </p:spPr>
        <p:txBody>
          <a:bodyPr wrap="square" anchor="ctr" lIns="73152" rIns="73152" tIns="43891" bIns="2926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Arial"/>
              </a:rPr>
              <a:t>The bank for a changing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S4TP-BMSA Unified Test Automation &amp; Quality Enablement</dc:title>
  <dc:subject>S4TP-BMSA Test Automation &amp; Quality Enablement</dc:subject>
  <dc:creator>OpenAI</dc:creator>
  <cp:lastModifiedBy>OpenAI</cp:lastModifiedBy>
  <cp:revision>1</cp:revision>
  <dcterms:created xsi:type="dcterms:W3CDTF">2026-09-28T06:32:01Z</dcterms:created>
  <dcterms:modified xsi:type="dcterms:W3CDTF">2026-09-28T06:32:01Z</dcterms:modified>
</cp:coreProperties>
</file>