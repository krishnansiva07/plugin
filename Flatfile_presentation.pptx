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5669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05F46"/>
                </a:solidFill>
              </a:rPr>
              <a:t>CASHPOOLING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005F46"/>
                </a:solidFill>
              </a:rPr>
              <a:t>FLAT FILE DATA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005F46"/>
                </a:solidFill>
              </a:rPr>
              <a:t>GENERATOR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294436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762"/>
                </a:solidFill>
              </a:rPr>
              <a:t>Presentation guide for fixed-width test data generation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58368" y="370332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DCEDE6"/>
          </a:solidFill>
          <a:ln>
            <a:solidFill>
              <a:srgbClr val="B8D9C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F46"/>
                </a:solidFill>
              </a:rPr>
              <a:t>Spring Boot + React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834640" y="3703320"/>
            <a:ext cx="1325880" cy="347472"/>
          </a:xfrm>
          <a:prstGeom prst="roundRect">
            <a:avLst>
              <a:gd name="adj" fmla="val 13158"/>
            </a:avLst>
          </a:prstGeom>
          <a:solidFill>
            <a:srgbClr val="DCEDE6"/>
          </a:solidFill>
          <a:ln>
            <a:solidFill>
              <a:srgbClr val="B8D9C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F46"/>
                </a:solidFill>
              </a:rPr>
              <a:t>Single JAR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370832" y="3703320"/>
            <a:ext cx="1508760" cy="347472"/>
          </a:xfrm>
          <a:prstGeom prst="roundRect">
            <a:avLst>
              <a:gd name="adj" fmla="val 13158"/>
            </a:avLst>
          </a:prstGeom>
          <a:solidFill>
            <a:srgbClr val="DCEDE6"/>
          </a:solidFill>
          <a:ln>
            <a:solidFill>
              <a:srgbClr val="B8D9C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F46"/>
                </a:solidFill>
              </a:rPr>
              <a:t>No database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0" y="10515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201B"/>
                </a:solidFill>
              </a:rPr>
              <a:t>Header → Detail Records → Footer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720840" y="1874520"/>
            <a:ext cx="4114800" cy="384048"/>
          </a:xfrm>
          <a:prstGeom prst="roundRect">
            <a:avLst>
              <a:gd name="adj" fmla="val 11905"/>
            </a:avLst>
          </a:prstGeom>
          <a:solidFill>
            <a:srgbClr val="005F46"/>
          </a:solidFill>
          <a:ln>
            <a:solidFill>
              <a:srgbClr val="005F4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HEADER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720840" y="2496312"/>
            <a:ext cx="4114800" cy="384048"/>
          </a:xfrm>
          <a:prstGeom prst="roundRect">
            <a:avLst>
              <a:gd name="adj" fmla="val 11905"/>
            </a:avLst>
          </a:prstGeom>
          <a:solidFill>
            <a:srgbClr val="DCEDE6"/>
          </a:solidFill>
          <a:ln>
            <a:solidFill>
              <a:srgbClr val="005F4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5F46"/>
                </a:solidFill>
              </a:rPr>
              <a:t>DETAIL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720840" y="3118104"/>
            <a:ext cx="4114800" cy="384048"/>
          </a:xfrm>
          <a:prstGeom prst="roundRect">
            <a:avLst>
              <a:gd name="adj" fmla="val 11905"/>
            </a:avLst>
          </a:prstGeom>
          <a:solidFill>
            <a:srgbClr val="DCEDE6"/>
          </a:solidFill>
          <a:ln>
            <a:solidFill>
              <a:srgbClr val="005F4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5F46"/>
                </a:solidFill>
              </a:rPr>
              <a:t>DETAIL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720840" y="3739896"/>
            <a:ext cx="4114800" cy="384048"/>
          </a:xfrm>
          <a:prstGeom prst="roundRect">
            <a:avLst>
              <a:gd name="adj" fmla="val 11905"/>
            </a:avLst>
          </a:prstGeom>
          <a:solidFill>
            <a:srgbClr val="DCEDE6"/>
          </a:solidFill>
          <a:ln>
            <a:solidFill>
              <a:srgbClr val="005F4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5F46"/>
                </a:solidFill>
              </a:rPr>
              <a:t>DETAIL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720840" y="4361688"/>
            <a:ext cx="4114800" cy="384048"/>
          </a:xfrm>
          <a:prstGeom prst="roundRect">
            <a:avLst>
              <a:gd name="adj" fmla="val 11905"/>
            </a:avLst>
          </a:prstGeom>
          <a:solidFill>
            <a:srgbClr val="005F46"/>
          </a:solidFill>
          <a:ln>
            <a:solidFill>
              <a:srgbClr val="005F4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FOOTER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503152" y="6446520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B6762"/>
                </a:solidFill>
              </a:rPr>
              <a:t>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5F46"/>
                </a:solidFill>
              </a:rPr>
              <a:t>CASHPOOLING FLAT FILE DATA GENERATOR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8463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201B"/>
                </a:solidFill>
              </a:rPr>
              <a:t>Why this tool is needed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005F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25880"/>
            <a:ext cx="557784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2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Banking flat files are strict: one wrong position, missing space, or bad footer count can fail downstream processing.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3337560" cy="502920"/>
          </a:xfrm>
          <a:prstGeom prst="roundRect">
            <a:avLst>
              <a:gd name="adj" fmla="val 9091"/>
            </a:avLst>
          </a:prstGeom>
          <a:solidFill>
            <a:srgbClr val="F3F8F6"/>
          </a:solidFill>
          <a:ln>
            <a:solidFill>
              <a:srgbClr val="DCEDE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5F46"/>
                </a:solidFill>
              </a:rPr>
              <a:t>Manual file editing is slow and error-prone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389120" y="2423160"/>
            <a:ext cx="3337560" cy="502920"/>
          </a:xfrm>
          <a:prstGeom prst="roundRect">
            <a:avLst>
              <a:gd name="adj" fmla="val 9091"/>
            </a:avLst>
          </a:prstGeom>
          <a:solidFill>
            <a:srgbClr val="F3F8F6"/>
          </a:solidFill>
          <a:ln>
            <a:solidFill>
              <a:srgbClr val="DCEDE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5F46"/>
                </a:solidFill>
              </a:rPr>
              <a:t>Field dependencies are hard to maintain in Excel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0" y="2423160"/>
            <a:ext cx="3337560" cy="502920"/>
          </a:xfrm>
          <a:prstGeom prst="roundRect">
            <a:avLst>
              <a:gd name="adj" fmla="val 9091"/>
            </a:avLst>
          </a:prstGeom>
          <a:solidFill>
            <a:srgbClr val="F3F8F6"/>
          </a:solidFill>
          <a:ln>
            <a:solidFill>
              <a:srgbClr val="DCEDE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5F46"/>
                </a:solidFill>
              </a:rPr>
              <a:t>Footer count and fixed widths need repeatable validation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54480" y="4160520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05F46"/>
                </a:solidFill>
              </a:rPr>
              <a:t>Solution: configuration-driven generation with validation before download.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11503152" y="6446520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B6762"/>
                </a:solidFill>
              </a:rPr>
              <a:t>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5F46"/>
                </a:solidFill>
              </a:rPr>
              <a:t>CASHPOOLING FLAT FILE DATA GENERATOR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8463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201B"/>
                </a:solidFill>
              </a:rPr>
              <a:t>Application at a glance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005F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5440680" cy="396240"/>
          </a:xfrm>
          <a:prstGeom prst="rect">
            <a:avLst/>
          </a:prstGeom>
          <a:solidFill>
            <a:srgbClr val="005F46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Capability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80760" y="1280160"/>
            <a:ext cx="5440680" cy="396240"/>
          </a:xfrm>
          <a:prstGeom prst="rect">
            <a:avLst/>
          </a:prstGeom>
          <a:solidFill>
            <a:srgbClr val="005F46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Current behavior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676400"/>
            <a:ext cx="5440680" cy="396240"/>
          </a:xfrm>
          <a:prstGeom prst="rect">
            <a:avLst/>
          </a:prstGeom>
          <a:solidFill>
            <a:srgbClr val="FFFFFF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2201B"/>
                </a:solidFill>
              </a:rPr>
              <a:t>Deployment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080760" y="1676400"/>
            <a:ext cx="5440680" cy="396240"/>
          </a:xfrm>
          <a:prstGeom prst="rect">
            <a:avLst/>
          </a:prstGeom>
          <a:solidFill>
            <a:srgbClr val="FFFFFF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2201B"/>
                </a:solidFill>
              </a:rPr>
              <a:t>Single Spring Boot JAR serves backend and UI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072640"/>
            <a:ext cx="5440680" cy="396240"/>
          </a:xfrm>
          <a:prstGeom prst="rect">
            <a:avLst/>
          </a:prstGeom>
          <a:solidFill>
            <a:srgbClr val="EEF7F3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2201B"/>
                </a:solidFill>
              </a:rPr>
              <a:t>Frontend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080760" y="2072640"/>
            <a:ext cx="5440680" cy="396240"/>
          </a:xfrm>
          <a:prstGeom prst="rect">
            <a:avLst/>
          </a:prstGeom>
          <a:solidFill>
            <a:srgbClr val="EEF7F3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2201B"/>
                </a:solidFill>
              </a:rPr>
              <a:t>React UI with BNP green visual theme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468880"/>
            <a:ext cx="5440680" cy="396240"/>
          </a:xfrm>
          <a:prstGeom prst="rect">
            <a:avLst/>
          </a:prstGeom>
          <a:solidFill>
            <a:srgbClr val="FFFFFF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2201B"/>
                </a:solidFill>
              </a:rPr>
              <a:t>Storage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80760" y="2468880"/>
            <a:ext cx="5440680" cy="396240"/>
          </a:xfrm>
          <a:prstGeom prst="rect">
            <a:avLst/>
          </a:prstGeom>
          <a:solidFill>
            <a:srgbClr val="FFFFFF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2201B"/>
                </a:solidFill>
              </a:rPr>
              <a:t>No database; templates are JSON downloads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865120"/>
            <a:ext cx="5440680" cy="396240"/>
          </a:xfrm>
          <a:prstGeom prst="rect">
            <a:avLst/>
          </a:prstGeom>
          <a:solidFill>
            <a:srgbClr val="EEF7F3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2201B"/>
                </a:solidFill>
              </a:rPr>
              <a:t>Output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80760" y="2865120"/>
            <a:ext cx="5440680" cy="396240"/>
          </a:xfrm>
          <a:prstGeom prst="rect">
            <a:avLst/>
          </a:prstGeom>
          <a:solidFill>
            <a:srgbClr val="EEF7F3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2201B"/>
                </a:solidFill>
              </a:rPr>
              <a:t>Plain fixed-width file without extension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3261360"/>
            <a:ext cx="5440680" cy="396240"/>
          </a:xfrm>
          <a:prstGeom prst="rect">
            <a:avLst/>
          </a:prstGeom>
          <a:solidFill>
            <a:srgbClr val="FFFFFF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2201B"/>
                </a:solidFill>
              </a:rPr>
              <a:t>Validation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080760" y="3261360"/>
            <a:ext cx="5440680" cy="396240"/>
          </a:xfrm>
          <a:prstGeom prst="rect">
            <a:avLst/>
          </a:prstGeom>
          <a:solidFill>
            <a:srgbClr val="FFFFFF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2201B"/>
                </a:solidFill>
              </a:rPr>
              <a:t>Widths, positions, dependencies, dates, conditions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331720" y="4160520"/>
            <a:ext cx="7406640" cy="457200"/>
          </a:xfrm>
          <a:prstGeom prst="roundRect">
            <a:avLst>
              <a:gd name="adj" fmla="val 10000"/>
            </a:avLst>
          </a:prstGeom>
          <a:solidFill>
            <a:srgbClr val="DCEDE6"/>
          </a:solidFill>
          <a:ln>
            <a:solidFill>
              <a:srgbClr val="B8D9C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5F46"/>
                </a:solidFill>
              </a:rPr>
              <a:t>Open → Configure → Validate → Generate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03152" y="6446520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B6762"/>
                </a:solidFill>
              </a:rPr>
              <a:t>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5F46"/>
                </a:solidFill>
              </a:rPr>
              <a:t>CASHPOOLING FLAT FILE DATA GENERATOR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8463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201B"/>
                </a:solidFill>
              </a:rPr>
              <a:t>Clean designer UI flow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005F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344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5F46"/>
                </a:solidFill>
              </a:rPr>
              <a:t>Main row stays simple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1737360"/>
            <a:ext cx="1541417" cy="548640"/>
          </a:xfrm>
          <a:prstGeom prst="rect">
            <a:avLst/>
          </a:prstGeom>
          <a:solidFill>
            <a:srgbClr val="005F46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#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27217" y="1737360"/>
            <a:ext cx="1541417" cy="548640"/>
          </a:xfrm>
          <a:prstGeom prst="rect">
            <a:avLst/>
          </a:prstGeom>
          <a:solidFill>
            <a:srgbClr val="005F46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Position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768634" y="1737360"/>
            <a:ext cx="1541417" cy="548640"/>
          </a:xfrm>
          <a:prstGeom prst="rect">
            <a:avLst/>
          </a:prstGeom>
          <a:solidFill>
            <a:srgbClr val="005F46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Name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10051" y="1737360"/>
            <a:ext cx="1541417" cy="548640"/>
          </a:xfrm>
          <a:prstGeom prst="rect">
            <a:avLst/>
          </a:prstGeom>
          <a:solidFill>
            <a:srgbClr val="005F46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Width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1469" y="1737360"/>
            <a:ext cx="1541417" cy="548640"/>
          </a:xfrm>
          <a:prstGeom prst="rect">
            <a:avLst/>
          </a:prstGeom>
          <a:solidFill>
            <a:srgbClr val="005F46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Rule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392886" y="1737360"/>
            <a:ext cx="1541417" cy="548640"/>
          </a:xfrm>
          <a:prstGeom prst="rect">
            <a:avLst/>
          </a:prstGeom>
          <a:solidFill>
            <a:srgbClr val="005F46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Possible Values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934303" y="1737360"/>
            <a:ext cx="1541417" cy="548640"/>
          </a:xfrm>
          <a:prstGeom prst="rect">
            <a:avLst/>
          </a:prstGeom>
          <a:solidFill>
            <a:srgbClr val="005F46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Conditional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2286000"/>
            <a:ext cx="1541417" cy="548640"/>
          </a:xfrm>
          <a:prstGeom prst="rect">
            <a:avLst/>
          </a:prstGeom>
          <a:solidFill>
            <a:srgbClr val="FFFFFF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2201B"/>
                </a:solidFill>
              </a:rPr>
              <a:t>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27217" y="2286000"/>
            <a:ext cx="1541417" cy="548640"/>
          </a:xfrm>
          <a:prstGeom prst="rect">
            <a:avLst/>
          </a:prstGeom>
          <a:solidFill>
            <a:srgbClr val="FFFFFF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2201B"/>
                </a:solidFill>
              </a:rPr>
              <a:t>41-50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68634" y="2286000"/>
            <a:ext cx="1541417" cy="548640"/>
          </a:xfrm>
          <a:prstGeom prst="rect">
            <a:avLst/>
          </a:prstGeom>
          <a:solidFill>
            <a:srgbClr val="FFFFFF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2201B"/>
                </a:solidFill>
              </a:rPr>
              <a:t>P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10051" y="2286000"/>
            <a:ext cx="1541417" cy="548640"/>
          </a:xfrm>
          <a:prstGeom prst="rect">
            <a:avLst/>
          </a:prstGeom>
          <a:solidFill>
            <a:srgbClr val="FFFFFF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2201B"/>
                </a:solidFill>
              </a:rPr>
              <a:t>10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1469" y="2286000"/>
            <a:ext cx="1541417" cy="548640"/>
          </a:xfrm>
          <a:prstGeom prst="rect">
            <a:avLst/>
          </a:prstGeom>
          <a:solidFill>
            <a:srgbClr val="FFFFFF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2201B"/>
                </a:solidFill>
              </a:rPr>
              <a:t>STATIC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392886" y="2286000"/>
            <a:ext cx="1541417" cy="548640"/>
          </a:xfrm>
          <a:prstGeom prst="rect">
            <a:avLst/>
          </a:prstGeom>
          <a:solidFill>
            <a:srgbClr val="FFFFFF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934303" y="2286000"/>
            <a:ext cx="1541417" cy="548640"/>
          </a:xfrm>
          <a:prstGeom prst="rect">
            <a:avLst/>
          </a:prstGeom>
          <a:solidFill>
            <a:srgbClr val="FFFFFF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2201B"/>
                </a:solidFill>
              </a:rPr>
              <a:t>☑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" y="31546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5F46"/>
                </a:solidFill>
              </a:rPr>
              <a:t>Detailed settings open below the field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22960" y="3657600"/>
            <a:ext cx="4114800" cy="914400"/>
          </a:xfrm>
          <a:prstGeom prst="roundRect">
            <a:avLst/>
          </a:prstGeom>
          <a:solidFill>
            <a:srgbClr val="F3F8F6"/>
          </a:solidFill>
          <a:ln>
            <a:solidFill>
              <a:srgbClr val="DCEDE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2201B"/>
                </a:solidFill>
              </a:rPr>
              <a:t>Rule Settings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2201B"/>
                </a:solidFill>
              </a:rPr>
              <a:t>Static Value: Siva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2201B"/>
                </a:solidFill>
              </a:rPr>
              <a:t>Align: LEFT     Pad: space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897880" y="3657600"/>
            <a:ext cx="4526280" cy="914400"/>
          </a:xfrm>
          <a:prstGeom prst="roundRect">
            <a:avLst/>
          </a:prstGeom>
          <a:solidFill>
            <a:srgbClr val="F3F8F6"/>
          </a:solidFill>
          <a:ln>
            <a:solidFill>
              <a:srgbClr val="DCEDE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2201B"/>
                </a:solidFill>
              </a:rPr>
              <a:t>Conditional Rule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2201B"/>
                </a:solidFill>
              </a:rPr>
              <a:t>IF TestField EQUALS 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2201B"/>
                </a:solidFill>
              </a:rPr>
              <a:t>THEN STATIC_VALUE Siva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2201B"/>
                </a:solidFill>
              </a:rPr>
              <a:t>ELSE EMPTY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503152" y="6446520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B6762"/>
                </a:solidFill>
              </a:rPr>
              <a:t>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5F46"/>
                </a:solidFill>
              </a:rPr>
              <a:t>CASHPOOLING FLAT FILE DATA GENERATOR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8463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201B"/>
                </a:solidFill>
              </a:rPr>
              <a:t>Field rule engine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005F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234440"/>
            <a:ext cx="2491740" cy="633549"/>
          </a:xfrm>
          <a:prstGeom prst="rect">
            <a:avLst/>
          </a:prstGeom>
          <a:solidFill>
            <a:srgbClr val="005F46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Rule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150108" y="1234440"/>
            <a:ext cx="2491740" cy="633549"/>
          </a:xfrm>
          <a:prstGeom prst="rect">
            <a:avLst/>
          </a:prstGeom>
          <a:solidFill>
            <a:srgbClr val="005F46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Example output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1867989"/>
            <a:ext cx="2491740" cy="633549"/>
          </a:xfrm>
          <a:prstGeom prst="rect">
            <a:avLst/>
          </a:prstGeom>
          <a:solidFill>
            <a:srgbClr val="FFFFFF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2201B"/>
                </a:solidFill>
              </a:rPr>
              <a:t>STATIC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150108" y="1867989"/>
            <a:ext cx="2491740" cy="633549"/>
          </a:xfrm>
          <a:prstGeom prst="rect">
            <a:avLst/>
          </a:prstGeom>
          <a:solidFill>
            <a:srgbClr val="FFFFFF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2201B"/>
                </a:solidFill>
              </a:rPr>
              <a:t>DTL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" y="2501537"/>
            <a:ext cx="2491740" cy="633549"/>
          </a:xfrm>
          <a:prstGeom prst="rect">
            <a:avLst/>
          </a:prstGeom>
          <a:solidFill>
            <a:srgbClr val="EEF7F3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2201B"/>
                </a:solidFill>
              </a:rPr>
              <a:t>RANDOM_NUMERIC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50108" y="2501537"/>
            <a:ext cx="2491740" cy="633549"/>
          </a:xfrm>
          <a:prstGeom prst="rect">
            <a:avLst/>
          </a:prstGeom>
          <a:solidFill>
            <a:srgbClr val="EEF7F3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2201B"/>
                </a:solidFill>
              </a:rPr>
              <a:t>ACC58310429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" y="3135086"/>
            <a:ext cx="2491740" cy="633549"/>
          </a:xfrm>
          <a:prstGeom prst="rect">
            <a:avLst/>
          </a:prstGeom>
          <a:solidFill>
            <a:srgbClr val="FFFFFF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2201B"/>
                </a:solidFill>
              </a:rPr>
              <a:t>RANDOM_DATE_TIME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150108" y="3135086"/>
            <a:ext cx="2491740" cy="633549"/>
          </a:xfrm>
          <a:prstGeom prst="rect">
            <a:avLst/>
          </a:prstGeom>
          <a:solidFill>
            <a:srgbClr val="FFFFFF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2201B"/>
                </a:solidFill>
              </a:rPr>
              <a:t>20261007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8368" y="3768634"/>
            <a:ext cx="2491740" cy="633549"/>
          </a:xfrm>
          <a:prstGeom prst="rect">
            <a:avLst/>
          </a:prstGeom>
          <a:solidFill>
            <a:srgbClr val="EEF7F3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2201B"/>
                </a:solidFill>
              </a:rPr>
              <a:t>DEPENDENT_DATE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150108" y="3768634"/>
            <a:ext cx="2491740" cy="633549"/>
          </a:xfrm>
          <a:prstGeom prst="rect">
            <a:avLst/>
          </a:prstGeom>
          <a:solidFill>
            <a:srgbClr val="EEF7F3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2201B"/>
                </a:solidFill>
              </a:rPr>
              <a:t>TxnDate + 2 days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" y="4402183"/>
            <a:ext cx="2491740" cy="633549"/>
          </a:xfrm>
          <a:prstGeom prst="rect">
            <a:avLst/>
          </a:prstGeom>
          <a:solidFill>
            <a:srgbClr val="FFFFFF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2201B"/>
                </a:solidFill>
              </a:rPr>
              <a:t>EXPRESSION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150108" y="4402183"/>
            <a:ext cx="2491740" cy="633549"/>
          </a:xfrm>
          <a:prstGeom prst="rect">
            <a:avLst/>
          </a:prstGeom>
          <a:solidFill>
            <a:srgbClr val="FFFFFF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2201B"/>
                </a:solidFill>
              </a:rPr>
              <a:t>A7S9E-12HJ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" y="5035731"/>
            <a:ext cx="2491740" cy="633549"/>
          </a:xfrm>
          <a:prstGeom prst="rect">
            <a:avLst/>
          </a:prstGeom>
          <a:solidFill>
            <a:srgbClr val="EEF7F3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2201B"/>
                </a:solidFill>
              </a:rPr>
              <a:t>RECORD_COUNT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150108" y="5035731"/>
            <a:ext cx="2491740" cy="633549"/>
          </a:xfrm>
          <a:prstGeom prst="rect">
            <a:avLst/>
          </a:prstGeom>
          <a:solidFill>
            <a:srgbClr val="EEF7F3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2201B"/>
                </a:solidFill>
              </a:rPr>
              <a:t>001000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92240" y="14173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201B"/>
                </a:solidFill>
              </a:rPr>
              <a:t>The same field framework is used for Header, Detail and Footer. Empty values keep their width, so downstream fields never move.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537960" y="2788920"/>
            <a:ext cx="1645920" cy="411480"/>
          </a:xfrm>
          <a:prstGeom prst="roundRect">
            <a:avLst>
              <a:gd name="adj" fmla="val 11111"/>
            </a:avLst>
          </a:prstGeom>
          <a:solidFill>
            <a:srgbClr val="DCEDE6"/>
          </a:solidFill>
          <a:ln>
            <a:solidFill>
              <a:srgbClr val="B8D9C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F46"/>
                </a:solidFill>
              </a:rPr>
              <a:t>No overlap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12480" y="2788920"/>
            <a:ext cx="1737360" cy="411480"/>
          </a:xfrm>
          <a:prstGeom prst="roundRect">
            <a:avLst>
              <a:gd name="adj" fmla="val 11111"/>
            </a:avLst>
          </a:prstGeom>
          <a:solidFill>
            <a:srgbClr val="DCEDE6"/>
          </a:solidFill>
          <a:ln>
            <a:solidFill>
              <a:srgbClr val="B8D9C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F46"/>
                </a:solidFill>
              </a:rPr>
              <a:t>Fixed width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60920" y="3520440"/>
            <a:ext cx="1920240" cy="411480"/>
          </a:xfrm>
          <a:prstGeom prst="roundRect">
            <a:avLst>
              <a:gd name="adj" fmla="val 11111"/>
            </a:avLst>
          </a:prstGeom>
          <a:solidFill>
            <a:srgbClr val="DCEDE6"/>
          </a:solidFill>
          <a:ln>
            <a:solidFill>
              <a:srgbClr val="B8D9C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F46"/>
                </a:solidFill>
              </a:rPr>
              <a:t>Repeatable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503152" y="6446520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B6762"/>
                </a:solidFill>
              </a:rPr>
              <a:t>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5F46"/>
                </a:solidFill>
              </a:rPr>
              <a:t>CASHPOOLING FLAT FILE DATA GENERATOR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8463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201B"/>
                </a:solidFill>
              </a:rPr>
              <a:t>Possible values and randomization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005F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34440"/>
            <a:ext cx="694944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2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fields with known business domains, enter comma-separated possible values.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8680" y="1965960"/>
            <a:ext cx="2743200" cy="731520"/>
          </a:xfrm>
          <a:prstGeom prst="roundRect">
            <a:avLst/>
          </a:prstGeom>
          <a:solidFill>
            <a:srgbClr val="DCEDE6"/>
          </a:solidFill>
          <a:ln>
            <a:solidFill>
              <a:srgbClr val="005F46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5F46"/>
                </a:solidFill>
              </a:rPr>
              <a:t>TestField possible values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05F46"/>
                </a:solidFill>
              </a:rPr>
              <a:t>X,Y,Z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26280" y="1965960"/>
            <a:ext cx="3017520" cy="731520"/>
          </a:xfrm>
          <a:prstGeom prst="roundRect">
            <a:avLst/>
          </a:prstGeom>
          <a:solidFill>
            <a:srgbClr val="DCEDE6"/>
          </a:solidFill>
          <a:ln>
            <a:solidFill>
              <a:srgbClr val="005F46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5F46"/>
                </a:solidFill>
              </a:rPr>
              <a:t>Currency possible values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05F46"/>
                </a:solidFill>
              </a:rPr>
              <a:t>INR,USD,EUR,GBP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965960"/>
            <a:ext cx="3200400" cy="731520"/>
          </a:xfrm>
          <a:prstGeom prst="roundRect">
            <a:avLst/>
          </a:prstGeom>
          <a:solidFill>
            <a:srgbClr val="DCEDE6"/>
          </a:solidFill>
          <a:ln>
            <a:solidFill>
              <a:srgbClr val="005F46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5F46"/>
                </a:solidFill>
              </a:rPr>
              <a:t>Status possible values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05F46"/>
                </a:solidFill>
              </a:rPr>
              <a:t>SUCCESS,FAILED,PENDING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43000" y="38404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2201B"/>
                </a:solidFill>
              </a:rPr>
              <a:t>Each generated detail row randomly picks one value from the list, using the current field input at generation time.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1503152" y="6446520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B6762"/>
                </a:solidFill>
              </a:rPr>
              <a:t>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5F46"/>
                </a:solidFill>
              </a:rPr>
              <a:t>CASHPOOLING FLAT FILE DATA GENERATOR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8463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201B"/>
                </a:solidFill>
              </a:rPr>
              <a:t>Conditional values: TestField controls P, Q and 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005F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344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5F46"/>
                </a:solidFill>
              </a:rPr>
              <a:t>Requirement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971800" y="1225296"/>
            <a:ext cx="6263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2201B"/>
                </a:solidFill>
              </a:rPr>
              <a:t>If TestField = X, set P = Siva and keep Q and R empty.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1874520"/>
            <a:ext cx="2663190" cy="731520"/>
          </a:xfrm>
          <a:prstGeom prst="rect">
            <a:avLst/>
          </a:prstGeom>
          <a:solidFill>
            <a:srgbClr val="005F46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Target field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40430" y="1874520"/>
            <a:ext cx="2663190" cy="731520"/>
          </a:xfrm>
          <a:prstGeom prst="rect">
            <a:avLst/>
          </a:prstGeom>
          <a:solidFill>
            <a:srgbClr val="005F46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IF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103620" y="1874520"/>
            <a:ext cx="2663190" cy="731520"/>
          </a:xfrm>
          <a:prstGeom prst="rect">
            <a:avLst/>
          </a:prstGeom>
          <a:solidFill>
            <a:srgbClr val="005F46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THEN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766810" y="1874520"/>
            <a:ext cx="2663190" cy="731520"/>
          </a:xfrm>
          <a:prstGeom prst="rect">
            <a:avLst/>
          </a:prstGeom>
          <a:solidFill>
            <a:srgbClr val="005F46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ELSE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2606040"/>
            <a:ext cx="2663190" cy="731520"/>
          </a:xfrm>
          <a:prstGeom prst="rect">
            <a:avLst/>
          </a:prstGeom>
          <a:solidFill>
            <a:srgbClr val="FFFFFF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2201B"/>
                </a:solidFill>
              </a:rPr>
              <a:t>P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40430" y="2606040"/>
            <a:ext cx="2663190" cy="731520"/>
          </a:xfrm>
          <a:prstGeom prst="rect">
            <a:avLst/>
          </a:prstGeom>
          <a:solidFill>
            <a:srgbClr val="FFFFFF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2201B"/>
                </a:solidFill>
              </a:rPr>
              <a:t>TestField EQUALS X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03620" y="2606040"/>
            <a:ext cx="2663190" cy="731520"/>
          </a:xfrm>
          <a:prstGeom prst="rect">
            <a:avLst/>
          </a:prstGeom>
          <a:solidFill>
            <a:srgbClr val="FFFFFF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2201B"/>
                </a:solidFill>
              </a:rPr>
              <a:t>STATIC_VALUE Siva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766810" y="2606040"/>
            <a:ext cx="2663190" cy="731520"/>
          </a:xfrm>
          <a:prstGeom prst="rect">
            <a:avLst/>
          </a:prstGeom>
          <a:solidFill>
            <a:srgbClr val="FFFFFF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2201B"/>
                </a:solidFill>
              </a:rPr>
              <a:t>EMPTY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3337560"/>
            <a:ext cx="2663190" cy="731520"/>
          </a:xfrm>
          <a:prstGeom prst="rect">
            <a:avLst/>
          </a:prstGeom>
          <a:solidFill>
            <a:srgbClr val="EEF7F3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2201B"/>
                </a:solidFill>
              </a:rPr>
              <a:t>Q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40430" y="3337560"/>
            <a:ext cx="2663190" cy="731520"/>
          </a:xfrm>
          <a:prstGeom prst="rect">
            <a:avLst/>
          </a:prstGeom>
          <a:solidFill>
            <a:srgbClr val="EEF7F3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2201B"/>
                </a:solidFill>
              </a:rPr>
              <a:t>TestField EQUALS X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03620" y="3337560"/>
            <a:ext cx="2663190" cy="731520"/>
          </a:xfrm>
          <a:prstGeom prst="rect">
            <a:avLst/>
          </a:prstGeom>
          <a:solidFill>
            <a:srgbClr val="EEF7F3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2201B"/>
                </a:solidFill>
              </a:rPr>
              <a:t>EMPTY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766810" y="3337560"/>
            <a:ext cx="2663190" cy="731520"/>
          </a:xfrm>
          <a:prstGeom prst="rect">
            <a:avLst/>
          </a:prstGeom>
          <a:solidFill>
            <a:srgbClr val="EEF7F3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2201B"/>
                </a:solidFill>
              </a:rPr>
              <a:t>EMPTY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" y="4069080"/>
            <a:ext cx="2663190" cy="731520"/>
          </a:xfrm>
          <a:prstGeom prst="rect">
            <a:avLst/>
          </a:prstGeom>
          <a:solidFill>
            <a:srgbClr val="FFFFFF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2201B"/>
                </a:solidFill>
              </a:rPr>
              <a:t>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40430" y="4069080"/>
            <a:ext cx="2663190" cy="731520"/>
          </a:xfrm>
          <a:prstGeom prst="rect">
            <a:avLst/>
          </a:prstGeom>
          <a:solidFill>
            <a:srgbClr val="FFFFFF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2201B"/>
                </a:solidFill>
              </a:rPr>
              <a:t>TestField EQUALS X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03620" y="4069080"/>
            <a:ext cx="2663190" cy="731520"/>
          </a:xfrm>
          <a:prstGeom prst="rect">
            <a:avLst/>
          </a:prstGeom>
          <a:solidFill>
            <a:srgbClr val="FFFFFF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2201B"/>
                </a:solidFill>
              </a:rPr>
              <a:t>EMPTY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766810" y="4069080"/>
            <a:ext cx="2663190" cy="731520"/>
          </a:xfrm>
          <a:prstGeom prst="rect">
            <a:avLst/>
          </a:prstGeom>
          <a:solidFill>
            <a:srgbClr val="FFFFFF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2201B"/>
                </a:solidFill>
              </a:rPr>
              <a:t>EMPTY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874520" y="5303520"/>
            <a:ext cx="8138160" cy="502920"/>
          </a:xfrm>
          <a:prstGeom prst="roundRect">
            <a:avLst>
              <a:gd name="adj" fmla="val 9091"/>
            </a:avLst>
          </a:prstGeom>
          <a:solidFill>
            <a:srgbClr val="F3F8F6"/>
          </a:solidFill>
          <a:ln>
            <a:solidFill>
              <a:srgbClr val="DCEDE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5F46"/>
                </a:solidFill>
              </a:rPr>
              <a:t>Empty means spaces within the same configured field width; columns do not shift.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503152" y="6446520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B6762"/>
                </a:solidFill>
              </a:rPr>
              <a:t>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5F46"/>
                </a:solidFill>
              </a:rPr>
              <a:t>CASHPOOLING FLAT FILE DATA GENERATOR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8463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201B"/>
                </a:solidFill>
              </a:rPr>
              <a:t>Header and footer handling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005F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25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5F46"/>
                </a:solidFill>
              </a:rPr>
              <a:t>Header example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4572000" cy="1234440"/>
          </a:xfrm>
          <a:prstGeom prst="roundRect">
            <a:avLst/>
          </a:prstGeom>
          <a:solidFill>
            <a:srgbClr val="F3F8F6"/>
          </a:solidFill>
          <a:ln>
            <a:solidFill>
              <a:srgbClr val="DCEDE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2201B"/>
                </a:solidFill>
              </a:rPr>
              <a:t>Width 20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2201B"/>
                </a:solidFill>
              </a:rPr>
              <a:t>Expression: DERIVATIVE${date:yyMMdd}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2201B"/>
                </a:solidFill>
              </a:rPr>
              <a:t>Output: DERIVATIVE260818    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0" y="1325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5F46"/>
                </a:solidFill>
              </a:rPr>
              <a:t>Footer example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92240" y="1783080"/>
            <a:ext cx="4297680" cy="1234440"/>
          </a:xfrm>
          <a:prstGeom prst="roundRect">
            <a:avLst/>
          </a:prstGeom>
          <a:solidFill>
            <a:srgbClr val="F3F8F6"/>
          </a:solidFill>
          <a:ln>
            <a:solidFill>
              <a:srgbClr val="DCEDE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2201B"/>
                </a:solidFill>
              </a:rPr>
              <a:t>Detail records: 1000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2201B"/>
                </a:solidFill>
              </a:rPr>
              <a:t>Count width: 6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2201B"/>
                </a:solidFill>
              </a:rPr>
              <a:t>Right align + pad 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2201B"/>
                </a:solidFill>
              </a:rPr>
              <a:t>Output: 001000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406908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5F46"/>
                </a:solidFill>
              </a:rPr>
              <a:t>Header and Footer have their own maximum line width and field count.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503152" y="6446520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B6762"/>
                </a:solidFill>
              </a:rPr>
              <a:t>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5F46"/>
                </a:solidFill>
              </a:rPr>
              <a:t>CASHPOOLING FLAT FILE DATA GENERATOR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8463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201B"/>
                </a:solidFill>
              </a:rPr>
              <a:t>Template reuse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005F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48840"/>
            <a:ext cx="1828800" cy="585216"/>
          </a:xfrm>
          <a:prstGeom prst="roundRect">
            <a:avLst/>
          </a:prstGeom>
          <a:solidFill>
            <a:srgbClr val="005F46"/>
          </a:solidFill>
          <a:ln>
            <a:solidFill>
              <a:srgbClr val="005F46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Configure once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383280" y="2148840"/>
            <a:ext cx="1828800" cy="585216"/>
          </a:xfrm>
          <a:prstGeom prst="roundRect">
            <a:avLst/>
          </a:prstGeom>
          <a:solidFill>
            <a:srgbClr val="005F46"/>
          </a:solidFill>
          <a:ln>
            <a:solidFill>
              <a:srgbClr val="005F46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Save Template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52160" y="2148840"/>
            <a:ext cx="1828800" cy="585216"/>
          </a:xfrm>
          <a:prstGeom prst="roundRect">
            <a:avLst/>
          </a:prstGeom>
          <a:solidFill>
            <a:srgbClr val="005F46"/>
          </a:solidFill>
          <a:ln>
            <a:solidFill>
              <a:srgbClr val="005F46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Load Template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321040" y="2148840"/>
            <a:ext cx="1828800" cy="585216"/>
          </a:xfrm>
          <a:prstGeom prst="roundRect">
            <a:avLst/>
          </a:prstGeom>
          <a:solidFill>
            <a:srgbClr val="005F46"/>
          </a:solidFill>
          <a:ln>
            <a:solidFill>
              <a:srgbClr val="005F46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Generate again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816352" y="2441448"/>
            <a:ext cx="411480" cy="0"/>
          </a:xfrm>
          <a:prstGeom prst="line">
            <a:avLst/>
          </a:prstGeom>
          <a:noFill/>
          <a:ln w="12700">
            <a:solidFill>
              <a:srgbClr val="005F46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285232" y="2441448"/>
            <a:ext cx="411480" cy="0"/>
          </a:xfrm>
          <a:prstGeom prst="line">
            <a:avLst/>
          </a:prstGeom>
          <a:noFill/>
          <a:ln w="12700">
            <a:solidFill>
              <a:srgbClr val="005F46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754112" y="2441448"/>
            <a:ext cx="411480" cy="0"/>
          </a:xfrm>
          <a:prstGeom prst="line">
            <a:avLst/>
          </a:prstGeom>
          <a:noFill/>
          <a:ln w="12700">
            <a:solidFill>
              <a:srgbClr val="005F46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143000" y="3657600"/>
            <a:ext cx="987552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 are JSON downloads containing full layout, rules, possible values, date settings and conditional rules. API tokens are not saved.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503152" y="6446520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B6762"/>
                </a:solidFill>
              </a:rPr>
              <a:t>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5F46"/>
                </a:solidFill>
              </a:rPr>
              <a:t>CASHPOOLING FLAT FILE DATA GENERATOR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8463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201B"/>
                </a:solidFill>
              </a:rPr>
              <a:t>Optional LLM assistant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005F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9875520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2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LLM creates configuration from a prompt; the deterministic generator still validates and creates the final file.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5212080" cy="420624"/>
          </a:xfrm>
          <a:prstGeom prst="rect">
            <a:avLst/>
          </a:prstGeom>
          <a:solidFill>
            <a:srgbClr val="005F46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Input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35040" y="2148840"/>
            <a:ext cx="5212080" cy="420624"/>
          </a:xfrm>
          <a:prstGeom prst="rect">
            <a:avLst/>
          </a:prstGeom>
          <a:solidFill>
            <a:srgbClr val="005F46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Purpose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569464"/>
            <a:ext cx="5212080" cy="420624"/>
          </a:xfrm>
          <a:prstGeom prst="rect">
            <a:avLst/>
          </a:prstGeom>
          <a:solidFill>
            <a:srgbClr val="FFFFFF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2201B"/>
                </a:solidFill>
              </a:rPr>
              <a:t>Token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035040" y="2569464"/>
            <a:ext cx="5212080" cy="420624"/>
          </a:xfrm>
          <a:prstGeom prst="rect">
            <a:avLst/>
          </a:prstGeom>
          <a:solidFill>
            <a:srgbClr val="FFFFFF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2201B"/>
                </a:solidFill>
              </a:rPr>
              <a:t>Used only for the current LLM request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990088"/>
            <a:ext cx="5212080" cy="420624"/>
          </a:xfrm>
          <a:prstGeom prst="rect">
            <a:avLst/>
          </a:prstGeom>
          <a:solidFill>
            <a:srgbClr val="EEF7F3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2201B"/>
                </a:solidFill>
              </a:rPr>
              <a:t>Prompt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035040" y="2990088"/>
            <a:ext cx="5212080" cy="420624"/>
          </a:xfrm>
          <a:prstGeom prst="rect">
            <a:avLst/>
          </a:prstGeom>
          <a:solidFill>
            <a:srgbClr val="EEF7F3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2201B"/>
                </a:solidFill>
              </a:rPr>
              <a:t>Describes fields, dates, dependencies and conditions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3410712"/>
            <a:ext cx="5212080" cy="420624"/>
          </a:xfrm>
          <a:prstGeom prst="rect">
            <a:avLst/>
          </a:prstGeom>
          <a:solidFill>
            <a:srgbClr val="FFFFFF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2201B"/>
                </a:solidFill>
              </a:rPr>
              <a:t>Generated configuration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35040" y="3410712"/>
            <a:ext cx="5212080" cy="420624"/>
          </a:xfrm>
          <a:prstGeom prst="rect">
            <a:avLst/>
          </a:prstGeom>
          <a:solidFill>
            <a:srgbClr val="FFFFFF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2201B"/>
                </a:solidFill>
              </a:rPr>
              <a:t>Populates Header, Detail and Footer designers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3831336"/>
            <a:ext cx="5212080" cy="420624"/>
          </a:xfrm>
          <a:prstGeom prst="rect">
            <a:avLst/>
          </a:prstGeom>
          <a:solidFill>
            <a:srgbClr val="EEF7F3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2201B"/>
                </a:solidFill>
              </a:rPr>
              <a:t>Validation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35040" y="3831336"/>
            <a:ext cx="5212080" cy="420624"/>
          </a:xfrm>
          <a:prstGeom prst="rect">
            <a:avLst/>
          </a:prstGeom>
          <a:solidFill>
            <a:srgbClr val="EEF7F3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2201B"/>
                </a:solidFill>
              </a:rPr>
              <a:t>Confirms widths and rules before file download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965960" y="4983480"/>
            <a:ext cx="8046720" cy="457200"/>
          </a:xfrm>
          <a:prstGeom prst="roundRect">
            <a:avLst>
              <a:gd name="adj" fmla="val 10000"/>
            </a:avLst>
          </a:prstGeom>
          <a:solidFill>
            <a:srgbClr val="F3F8F6"/>
          </a:solidFill>
          <a:ln>
            <a:solidFill>
              <a:srgbClr val="DCEDE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5F46"/>
                </a:solidFill>
              </a:rPr>
              <a:t>LLM is optional: manual generation works without token or network.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503152" y="6446520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B6762"/>
                </a:solidFill>
              </a:rPr>
              <a:t>10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5F46"/>
                </a:solidFill>
              </a:rPr>
              <a:t>CASHPOOLING FLAT FILE DATA GENERATOR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8463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201B"/>
                </a:solidFill>
              </a:rPr>
              <a:t>Validation before download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005F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80160"/>
            <a:ext cx="2560320" cy="613954"/>
          </a:xfrm>
          <a:prstGeom prst="rect">
            <a:avLst/>
          </a:prstGeom>
          <a:solidFill>
            <a:srgbClr val="005F46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Validation area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337560" y="1280160"/>
            <a:ext cx="2560320" cy="613954"/>
          </a:xfrm>
          <a:prstGeom prst="rect">
            <a:avLst/>
          </a:prstGeom>
          <a:solidFill>
            <a:srgbClr val="005F46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What it catches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894114"/>
            <a:ext cx="2560320" cy="613954"/>
          </a:xfrm>
          <a:prstGeom prst="rect">
            <a:avLst/>
          </a:prstGeom>
          <a:solidFill>
            <a:srgbClr val="FFFFFF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2201B"/>
                </a:solidFill>
              </a:rPr>
              <a:t>Line width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337560" y="1894114"/>
            <a:ext cx="2560320" cy="613954"/>
          </a:xfrm>
          <a:prstGeom prst="rect">
            <a:avLst/>
          </a:prstGeom>
          <a:solidFill>
            <a:srgbClr val="FFFFFF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2201B"/>
                </a:solidFill>
              </a:rPr>
              <a:t>Fields exceed configured maximum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508069"/>
            <a:ext cx="2560320" cy="613954"/>
          </a:xfrm>
          <a:prstGeom prst="rect">
            <a:avLst/>
          </a:prstGeom>
          <a:solidFill>
            <a:srgbClr val="EEF7F3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2201B"/>
                </a:solidFill>
              </a:rPr>
              <a:t>Field values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37560" y="2508069"/>
            <a:ext cx="2560320" cy="613954"/>
          </a:xfrm>
          <a:prstGeom prst="rect">
            <a:avLst/>
          </a:prstGeom>
          <a:solidFill>
            <a:srgbClr val="EEF7F3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2201B"/>
                </a:solidFill>
              </a:rPr>
              <a:t>Overflow unless truncate is enabled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3122023"/>
            <a:ext cx="2560320" cy="613954"/>
          </a:xfrm>
          <a:prstGeom prst="rect">
            <a:avLst/>
          </a:prstGeom>
          <a:solidFill>
            <a:srgbClr val="FFFFFF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2201B"/>
                </a:solidFill>
              </a:rPr>
              <a:t>Dates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37560" y="3122023"/>
            <a:ext cx="2560320" cy="613954"/>
          </a:xfrm>
          <a:prstGeom prst="rect">
            <a:avLst/>
          </a:prstGeom>
          <a:solidFill>
            <a:srgbClr val="FFFFFF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2201B"/>
                </a:solidFill>
              </a:rPr>
              <a:t>Invalid format or bad range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3735977"/>
            <a:ext cx="2560320" cy="613954"/>
          </a:xfrm>
          <a:prstGeom prst="rect">
            <a:avLst/>
          </a:prstGeom>
          <a:solidFill>
            <a:srgbClr val="EEF7F3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2201B"/>
                </a:solidFill>
              </a:rPr>
              <a:t>Dependencies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37560" y="3735977"/>
            <a:ext cx="2560320" cy="613954"/>
          </a:xfrm>
          <a:prstGeom prst="rect">
            <a:avLst/>
          </a:prstGeom>
          <a:solidFill>
            <a:srgbClr val="EEF7F3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2201B"/>
                </a:solidFill>
              </a:rPr>
              <a:t>Missing or later source fields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4349931"/>
            <a:ext cx="2560320" cy="613954"/>
          </a:xfrm>
          <a:prstGeom prst="rect">
            <a:avLst/>
          </a:prstGeom>
          <a:solidFill>
            <a:srgbClr val="FFFFFF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2201B"/>
                </a:solidFill>
              </a:rPr>
              <a:t>Conditionals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37560" y="4349931"/>
            <a:ext cx="2560320" cy="613954"/>
          </a:xfrm>
          <a:prstGeom prst="rect">
            <a:avLst/>
          </a:prstGeom>
          <a:solidFill>
            <a:srgbClr val="FFFFFF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2201B"/>
                </a:solidFill>
              </a:rPr>
              <a:t>Invalid IF / THEN / ELSE setup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" y="4963886"/>
            <a:ext cx="2560320" cy="613954"/>
          </a:xfrm>
          <a:prstGeom prst="rect">
            <a:avLst/>
          </a:prstGeom>
          <a:solidFill>
            <a:srgbClr val="EEF7F3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2201B"/>
                </a:solidFill>
              </a:rPr>
              <a:t>Footer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37560" y="4963886"/>
            <a:ext cx="2560320" cy="613954"/>
          </a:xfrm>
          <a:prstGeom prst="rect">
            <a:avLst/>
          </a:prstGeom>
          <a:solidFill>
            <a:srgbClr val="EEF7F3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2201B"/>
                </a:solidFill>
              </a:rPr>
              <a:t>Incorrect count padding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0" y="20116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5F46"/>
                </a:solidFill>
              </a:rPr>
              <a:t>Preview first, then generate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46520" y="292608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01B"/>
                </a:solidFill>
              </a:rPr>
              <a:t>This reduces downstream rejection because layout defects are caught before file creation.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503152" y="6446520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B6762"/>
                </a:solidFill>
              </a:rPr>
              <a:t>11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5F46"/>
                </a:solidFill>
              </a:rPr>
              <a:t>CASHPOOLING FLAT FILE DATA GENERATOR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8463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201B"/>
                </a:solidFill>
              </a:rPr>
              <a:t>Demo flow for tomorrow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005F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34440"/>
            <a:ext cx="3596640" cy="594360"/>
          </a:xfrm>
          <a:prstGeom prst="rect">
            <a:avLst/>
          </a:prstGeom>
          <a:solidFill>
            <a:srgbClr val="005F46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282440" y="1234440"/>
            <a:ext cx="3596640" cy="594360"/>
          </a:xfrm>
          <a:prstGeom prst="rect">
            <a:avLst/>
          </a:prstGeom>
          <a:solidFill>
            <a:srgbClr val="005F46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Demo action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879080" y="1234440"/>
            <a:ext cx="3596640" cy="594360"/>
          </a:xfrm>
          <a:prstGeom prst="rect">
            <a:avLst/>
          </a:prstGeom>
          <a:solidFill>
            <a:srgbClr val="005F46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Expected result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828800"/>
            <a:ext cx="35966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2201B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82440" y="1828800"/>
            <a:ext cx="35966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2201B"/>
                </a:solidFill>
              </a:rPr>
              <a:t>Open localhost:8080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879080" y="1828800"/>
            <a:ext cx="35966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2201B"/>
                </a:solidFill>
              </a:rPr>
              <a:t>App loads from the JAR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2423160"/>
            <a:ext cx="3596640" cy="594360"/>
          </a:xfrm>
          <a:prstGeom prst="rect">
            <a:avLst/>
          </a:prstGeom>
          <a:solidFill>
            <a:srgbClr val="EEF7F3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2201B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82440" y="2423160"/>
            <a:ext cx="3596640" cy="594360"/>
          </a:xfrm>
          <a:prstGeom prst="rect">
            <a:avLst/>
          </a:prstGeom>
          <a:solidFill>
            <a:srgbClr val="EEF7F3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2201B"/>
                </a:solidFill>
              </a:rPr>
              <a:t>Configure TestField X,Y,Z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879080" y="2423160"/>
            <a:ext cx="3596640" cy="594360"/>
          </a:xfrm>
          <a:prstGeom prst="rect">
            <a:avLst/>
          </a:prstGeom>
          <a:solidFill>
            <a:srgbClr val="EEF7F3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2201B"/>
                </a:solidFill>
              </a:rPr>
              <a:t>Random scenario driver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3017520"/>
            <a:ext cx="35966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2201B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82440" y="3017520"/>
            <a:ext cx="35966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2201B"/>
                </a:solidFill>
              </a:rPr>
              <a:t>Set P/Q/R conditionals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879080" y="3017520"/>
            <a:ext cx="35966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2201B"/>
                </a:solidFill>
              </a:rPr>
              <a:t>P=Siva only when X; Q/R empty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" y="3611880"/>
            <a:ext cx="3596640" cy="594360"/>
          </a:xfrm>
          <a:prstGeom prst="rect">
            <a:avLst/>
          </a:prstGeom>
          <a:solidFill>
            <a:srgbClr val="EEF7F3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2201B"/>
                </a:solidFill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82440" y="3611880"/>
            <a:ext cx="3596640" cy="594360"/>
          </a:xfrm>
          <a:prstGeom prst="rect">
            <a:avLst/>
          </a:prstGeom>
          <a:solidFill>
            <a:srgbClr val="EEF7F3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2201B"/>
                </a:solidFill>
              </a:rPr>
              <a:t>Add random date + footer count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879080" y="3611880"/>
            <a:ext cx="3596640" cy="594360"/>
          </a:xfrm>
          <a:prstGeom prst="rect">
            <a:avLst/>
          </a:prstGeom>
          <a:solidFill>
            <a:srgbClr val="EEF7F3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2201B"/>
                </a:solidFill>
              </a:rPr>
              <a:t>Date range + 001000 count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" y="4206240"/>
            <a:ext cx="35966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2201B"/>
                </a:solidFill>
              </a:rPr>
              <a:t>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82440" y="4206240"/>
            <a:ext cx="35966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2201B"/>
                </a:solidFill>
              </a:rPr>
              <a:t>Validate &amp; Preview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879080" y="4206240"/>
            <a:ext cx="35966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2201B"/>
                </a:solidFill>
              </a:rPr>
              <a:t>Clean layout, sample output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" y="4800600"/>
            <a:ext cx="3596640" cy="594360"/>
          </a:xfrm>
          <a:prstGeom prst="rect">
            <a:avLst/>
          </a:prstGeom>
          <a:solidFill>
            <a:srgbClr val="EEF7F3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2201B"/>
                </a:solidFill>
              </a:rPr>
              <a:t>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282440" y="4800600"/>
            <a:ext cx="3596640" cy="594360"/>
          </a:xfrm>
          <a:prstGeom prst="rect">
            <a:avLst/>
          </a:prstGeom>
          <a:solidFill>
            <a:srgbClr val="EEF7F3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2201B"/>
                </a:solidFill>
              </a:rPr>
              <a:t>Save Template + Generate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879080" y="4800600"/>
            <a:ext cx="3596640" cy="594360"/>
          </a:xfrm>
          <a:prstGeom prst="rect">
            <a:avLst/>
          </a:prstGeom>
          <a:solidFill>
            <a:srgbClr val="EEF7F3"/>
          </a:solidFill>
          <a:ln>
            <a:solidFill>
              <a:srgbClr val="C5DED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2201B"/>
                </a:solidFill>
              </a:rPr>
              <a:t>Reusable JSON + flat file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057400" y="5715000"/>
            <a:ext cx="8046720" cy="457200"/>
          </a:xfrm>
          <a:prstGeom prst="roundRect">
            <a:avLst>
              <a:gd name="adj" fmla="val 10000"/>
            </a:avLst>
          </a:prstGeom>
          <a:solidFill>
            <a:srgbClr val="F3F8F6"/>
          </a:solidFill>
          <a:ln>
            <a:solidFill>
              <a:srgbClr val="DCEDE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5F46"/>
                </a:solidFill>
              </a:rPr>
              <a:t>Close with: one reusable tool for many fixed-width banking file formats.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1503152" y="6446520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B6762"/>
                </a:solidFill>
              </a:rPr>
              <a:t>12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CASHPOOLING FLAT FILE DATA GENERATOR</dc:title>
  <dc:subject>CASHPOOLING FLAT FILE DATA GENERATOR</dc:subject>
  <dc:creator>OpenAI</dc:creator>
  <cp:lastModifiedBy>OpenAI</cp:lastModifiedBy>
  <cp:revision>1</cp:revision>
  <dcterms:created xsi:type="dcterms:W3CDTF">2026-09-09T10:31:38Z</dcterms:created>
  <dcterms:modified xsi:type="dcterms:W3CDTF">2026-09-09T10:31:38Z</dcterms:modified>
</cp:coreProperties>
</file>